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  <p:sldMasterId id="2147483668" r:id="rId3"/>
  </p:sldMasterIdLst>
  <p:notesMasterIdLst>
    <p:notesMasterId r:id="rId21"/>
  </p:notesMasterIdLst>
  <p:sldIdLst>
    <p:sldId id="790" r:id="rId4"/>
    <p:sldId id="816" r:id="rId5"/>
    <p:sldId id="801" r:id="rId6"/>
    <p:sldId id="797" r:id="rId7"/>
    <p:sldId id="802" r:id="rId8"/>
    <p:sldId id="794" r:id="rId9"/>
    <p:sldId id="798" r:id="rId10"/>
    <p:sldId id="818" r:id="rId11"/>
    <p:sldId id="804" r:id="rId12"/>
    <p:sldId id="819" r:id="rId13"/>
    <p:sldId id="820" r:id="rId14"/>
    <p:sldId id="812" r:id="rId15"/>
    <p:sldId id="811" r:id="rId16"/>
    <p:sldId id="822" r:id="rId17"/>
    <p:sldId id="806" r:id="rId18"/>
    <p:sldId id="809" r:id="rId19"/>
    <p:sldId id="810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56" userDrawn="1">
          <p15:clr>
            <a:srgbClr val="A4A3A4"/>
          </p15:clr>
        </p15:guide>
        <p15:guide id="2" orient="horz" pos="3360" userDrawn="1">
          <p15:clr>
            <a:srgbClr val="A4A3A4"/>
          </p15:clr>
        </p15:guide>
        <p15:guide id="3" orient="horz" pos="1329" userDrawn="1">
          <p15:clr>
            <a:srgbClr val="A4A3A4"/>
          </p15:clr>
        </p15:guide>
        <p15:guide id="4" pos="5472" userDrawn="1">
          <p15:clr>
            <a:srgbClr val="A4A3A4"/>
          </p15:clr>
        </p15:guide>
        <p15:guide id="5" pos="288" userDrawn="1">
          <p15:clr>
            <a:srgbClr val="A4A3A4"/>
          </p15:clr>
        </p15:guide>
        <p15:guide id="6" pos="5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11A5F"/>
    <a:srgbClr val="7030A0"/>
    <a:srgbClr val="0000FF"/>
    <a:srgbClr val="780078"/>
    <a:srgbClr val="3366FF"/>
    <a:srgbClr val="FF6600"/>
    <a:srgbClr val="FF9999"/>
    <a:srgbClr val="FFCCFF"/>
    <a:srgbClr val="99CC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7564" autoAdjust="0"/>
  </p:normalViewPr>
  <p:slideViewPr>
    <p:cSldViewPr showGuides="1">
      <p:cViewPr varScale="1">
        <p:scale>
          <a:sx n="101" d="100"/>
          <a:sy n="101" d="100"/>
        </p:scale>
        <p:origin x="540" y="102"/>
      </p:cViewPr>
      <p:guideLst>
        <p:guide orient="horz" pos="1056"/>
        <p:guide orient="horz" pos="3360"/>
        <p:guide orient="horz" pos="1329"/>
        <p:guide pos="5472"/>
        <p:guide pos="288"/>
        <p:guide pos="575"/>
      </p:guideLst>
    </p:cSldViewPr>
  </p:slideViewPr>
  <p:outlineViewPr>
    <p:cViewPr>
      <p:scale>
        <a:sx n="33" d="100"/>
        <a:sy n="33" d="100"/>
      </p:scale>
      <p:origin x="0" y="5856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64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07EB2C3-9F13-4D65-B011-CAA378618BF9}" type="datetimeFigureOut">
              <a:rPr lang="zh-CN" altLang="en-US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26CE6F5-CD1D-4610-BD8F-935AC84C385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/>
          <p:nvPr userDrawn="1"/>
        </p:nvSpPr>
        <p:spPr>
          <a:xfrm>
            <a:off x="395288" y="3068638"/>
            <a:ext cx="8399462" cy="46037"/>
          </a:xfrm>
          <a:prstGeom prst="rect">
            <a:avLst/>
          </a:prstGeom>
          <a:gradFill>
            <a:gsLst>
              <a:gs pos="0">
                <a:srgbClr val="780078">
                  <a:alpha val="0"/>
                </a:srgbClr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274441"/>
            <a:ext cx="7772400" cy="794519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800" b="1" cap="none" spc="50">
                <a:ln w="11430"/>
                <a:solidFill>
                  <a:srgbClr val="78007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26160"/>
            <a:ext cx="6400800" cy="1919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6172200" y="76200"/>
            <a:ext cx="2880000" cy="119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2432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78007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24138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780078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idx="11"/>
          </p:nvPr>
        </p:nvSpPr>
        <p:spPr>
          <a:xfrm>
            <a:off x="457200" y="1052736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idx="12"/>
          </p:nvPr>
        </p:nvSpPr>
        <p:spPr>
          <a:xfrm>
            <a:off x="4686300" y="1066800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66800"/>
            <a:ext cx="3008313" cy="505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80078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1"/>
          </p:nvPr>
        </p:nvSpPr>
        <p:spPr>
          <a:xfrm>
            <a:off x="3619500" y="1052736"/>
            <a:ext cx="50673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3001963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7239000" y="45603"/>
            <a:ext cx="1800000" cy="74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2362200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/>
          <p:nvPr userDrawn="1"/>
        </p:nvSpPr>
        <p:spPr>
          <a:xfrm>
            <a:off x="395288" y="3068638"/>
            <a:ext cx="8399462" cy="46037"/>
          </a:xfrm>
          <a:prstGeom prst="rect">
            <a:avLst/>
          </a:prstGeom>
          <a:gradFill>
            <a:gsLst>
              <a:gs pos="0">
                <a:srgbClr val="780078">
                  <a:alpha val="0"/>
                </a:srgbClr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274441"/>
            <a:ext cx="7772400" cy="794519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800" b="1" cap="none" spc="50">
                <a:ln w="11430"/>
                <a:solidFill>
                  <a:srgbClr val="78007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26160"/>
            <a:ext cx="6400800" cy="1919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6172200" y="76200"/>
            <a:ext cx="2880000" cy="119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2432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78007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24138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780078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idx="11"/>
          </p:nvPr>
        </p:nvSpPr>
        <p:spPr>
          <a:xfrm>
            <a:off x="457200" y="1052736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idx="12"/>
          </p:nvPr>
        </p:nvSpPr>
        <p:spPr>
          <a:xfrm>
            <a:off x="4686300" y="1066800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66800"/>
            <a:ext cx="3008313" cy="505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80078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1"/>
          </p:nvPr>
        </p:nvSpPr>
        <p:spPr>
          <a:xfrm>
            <a:off x="3619500" y="1052736"/>
            <a:ext cx="50673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3001963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7239000" y="45603"/>
            <a:ext cx="1800000" cy="74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2362200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/>
          <p:nvPr userDrawn="1"/>
        </p:nvSpPr>
        <p:spPr>
          <a:xfrm>
            <a:off x="395288" y="3068638"/>
            <a:ext cx="8399462" cy="46037"/>
          </a:xfrm>
          <a:prstGeom prst="rect">
            <a:avLst/>
          </a:prstGeom>
          <a:gradFill>
            <a:gsLst>
              <a:gs pos="0">
                <a:srgbClr val="780078">
                  <a:alpha val="0"/>
                </a:srgbClr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274441"/>
            <a:ext cx="7772400" cy="794519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800" b="1" cap="none" spc="50">
                <a:ln w="11430"/>
                <a:solidFill>
                  <a:srgbClr val="78007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26160"/>
            <a:ext cx="6400800" cy="1919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6172200" y="76200"/>
            <a:ext cx="2880000" cy="119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2432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78007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24138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780078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ph idx="11"/>
          </p:nvPr>
        </p:nvSpPr>
        <p:spPr>
          <a:xfrm>
            <a:off x="457200" y="1052736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idx="12"/>
          </p:nvPr>
        </p:nvSpPr>
        <p:spPr>
          <a:xfrm>
            <a:off x="4686300" y="1066800"/>
            <a:ext cx="40767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66800"/>
            <a:ext cx="3008313" cy="5059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780078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内容占位符 2"/>
          <p:cNvSpPr>
            <a:spLocks noGrp="1"/>
          </p:cNvSpPr>
          <p:nvPr>
            <p:ph idx="11"/>
          </p:nvPr>
        </p:nvSpPr>
        <p:spPr>
          <a:xfrm>
            <a:off x="3619500" y="1052736"/>
            <a:ext cx="5067300" cy="5303614"/>
          </a:xfrm>
          <a:prstGeom prst="rect">
            <a:avLst/>
          </a:prstGeom>
        </p:spPr>
        <p:txBody>
          <a:bodyPr/>
          <a:lstStyle>
            <a:lvl1pPr>
              <a:buClr>
                <a:srgbClr val="780078"/>
              </a:buClr>
              <a:buFont typeface="Wingdings" panose="05000000000000000000" pitchFamily="2" charset="2"/>
              <a:buChar char="p"/>
              <a:defRPr sz="2200" b="1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2pPr>
            <a:lvl3pPr marL="1143000" indent="-228600">
              <a:buClr>
                <a:srgbClr val="780078"/>
              </a:buClr>
              <a:buFont typeface="Wingdings" panose="05000000000000000000" pitchFamily="2" charset="2"/>
              <a:buChar char="§"/>
              <a:defRPr sz="2000" b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90066"/>
          </a:xfrm>
          <a:prstGeom prst="rect">
            <a:avLst/>
          </a:prstGeo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>
              <a:defRPr sz="2400" b="1" cap="none" spc="50" baseline="0">
                <a:ln w="11430">
                  <a:noFill/>
                </a:ln>
                <a:solidFill>
                  <a:srgbClr val="780078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  <p:sp>
        <p:nvSpPr>
          <p:cNvPr id="3" name="矩形 2"/>
          <p:cNvSpPr/>
          <p:nvPr userDrawn="1"/>
        </p:nvSpPr>
        <p:spPr>
          <a:xfrm>
            <a:off x="0" y="3001963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auto">
              <a:spcBef>
                <a:spcPts val="0"/>
              </a:spcBef>
              <a:spcAft>
                <a:spcPts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9" b="26638"/>
          <a:stretch>
            <a:fillRect/>
          </a:stretch>
        </p:blipFill>
        <p:spPr bwMode="auto">
          <a:xfrm>
            <a:off x="7239000" y="45603"/>
            <a:ext cx="1800000" cy="74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2362200"/>
            <a:ext cx="9124950" cy="1147762"/>
          </a:xfrm>
          <a:prstGeom prst="rect">
            <a:avLst/>
          </a:prstGeom>
          <a:solidFill>
            <a:srgbClr val="711A5F"/>
          </a:solidFill>
          <a:ln w="57150">
            <a:solidFill>
              <a:srgbClr val="711A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11113" y="790575"/>
            <a:ext cx="8399463" cy="46038"/>
          </a:xfrm>
          <a:prstGeom prst="rect">
            <a:avLst/>
          </a:prstGeom>
          <a:gradFill>
            <a:gsLst>
              <a:gs pos="0">
                <a:srgbClr val="780078"/>
              </a:gs>
              <a:gs pos="50000">
                <a:srgbClr val="780078"/>
              </a:gs>
              <a:gs pos="100000">
                <a:srgbClr val="78007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Text Box 10"/>
          <p:cNvSpPr txBox="1">
            <a:spLocks noChangeArrowheads="1"/>
          </p:cNvSpPr>
          <p:nvPr userDrawn="1"/>
        </p:nvSpPr>
        <p:spPr bwMode="auto">
          <a:xfrm>
            <a:off x="0" y="6544328"/>
            <a:ext cx="9144000" cy="2646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南开大学 </a:t>
            </a:r>
            <a:r>
              <a:rPr lang="zh-CN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人工智能学院</a:t>
            </a:r>
            <a:endParaRPr lang="zh-CN" altLang="en-US" sz="1400" kern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Text Box 10"/>
          <p:cNvSpPr txBox="1">
            <a:spLocks noChangeArrowheads="1"/>
          </p:cNvSpPr>
          <p:nvPr userDrawn="1"/>
        </p:nvSpPr>
        <p:spPr bwMode="auto">
          <a:xfrm>
            <a:off x="0" y="6544328"/>
            <a:ext cx="9144000" cy="2646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南开大学 </a:t>
            </a:r>
            <a:r>
              <a:rPr lang="zh-CN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人工智能学院</a:t>
            </a:r>
            <a:endParaRPr lang="zh-CN" altLang="en-US" sz="1400" kern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558213" y="6492875"/>
            <a:ext cx="585787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600">
                <a:latin typeface="+mn-lt"/>
                <a:ea typeface="+mn-ea"/>
              </a:defRPr>
            </a:lvl1pPr>
          </a:lstStyle>
          <a:p>
            <a:pPr>
              <a:defRPr/>
            </a:pPr>
            <a:fld id="{5A34D99D-4537-4F3B-BA64-3CCFD16666C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Text Box 10"/>
          <p:cNvSpPr txBox="1">
            <a:spLocks noChangeArrowheads="1"/>
          </p:cNvSpPr>
          <p:nvPr userDrawn="1"/>
        </p:nvSpPr>
        <p:spPr bwMode="auto">
          <a:xfrm>
            <a:off x="0" y="6544328"/>
            <a:ext cx="9144000" cy="2646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南开大学 </a:t>
            </a:r>
            <a:r>
              <a:rPr lang="zh-CN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人工智能学院</a:t>
            </a:r>
            <a:endParaRPr lang="zh-CN" altLang="en-US" sz="1400" kern="12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7772400" cy="794519"/>
          </a:xfrm>
        </p:spPr>
        <p:txBody>
          <a:bodyPr/>
          <a:lstStyle/>
          <a:p>
            <a:r>
              <a:t>基于WSL2与Kinect的</a:t>
            </a:r>
          </a:p>
          <a:p>
            <a:r>
              <a:t>TurtleBot瓶体自主抓取系统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526160"/>
            <a:ext cx="6400800" cy="2646040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第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组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小组成员：刘振毫、庞运泽、李乐凡</a:t>
            </a:r>
          </a:p>
          <a:p>
            <a:endParaRPr lang="zh-CN" altLang="en-US" dirty="0">
              <a:sym typeface="+mn-ea"/>
            </a:endParaRPr>
          </a:p>
          <a:p>
            <a:r>
              <a:t>南开大学·人工智能学院</a:t>
            </a:r>
          </a:p>
          <a:p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2</a:t>
            </a:fld>
            <a:endParaRPr lang="zh-CN" altLang="en-US" dirty="0"/>
          </a:p>
        </p:txBody>
      </p:sp>
      <p:grpSp>
        <p:nvGrpSpPr>
          <p:cNvPr id="5" name="组合 3"/>
          <p:cNvGrpSpPr/>
          <p:nvPr>
            <p:custDataLst>
              <p:tags r:id="rId1"/>
            </p:custDataLst>
          </p:nvPr>
        </p:nvGrpSpPr>
        <p:grpSpPr>
          <a:xfrm>
            <a:off x="1430733" y="1524000"/>
            <a:ext cx="6248399" cy="673591"/>
            <a:chOff x="1219200" y="1945294"/>
            <a:chExt cx="6248399" cy="514270"/>
          </a:xfrm>
        </p:grpSpPr>
        <p:sp>
          <p:nvSpPr>
            <p:cNvPr id="6" name="MH_Number_1"/>
            <p:cNvSpPr/>
            <p:nvPr>
              <p:custDataLst>
                <p:tags r:id="rId11"/>
              </p:custDataLst>
            </p:nvPr>
          </p:nvSpPr>
          <p:spPr>
            <a:xfrm>
              <a:off x="1219200" y="1945295"/>
              <a:ext cx="859292" cy="514269"/>
            </a:xfrm>
            <a:prstGeom prst="roundRect">
              <a:avLst>
                <a:gd name="adj" fmla="val 7615"/>
              </a:avLst>
            </a:prstGeom>
            <a:solidFill>
              <a:srgbClr val="711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solidFill>
                  <a:srgbClr val="FFFFFF"/>
                </a:solidFill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MH_Entry_1"/>
            <p:cNvSpPr/>
            <p:nvPr>
              <p:custDataLst>
                <p:tags r:id="rId12"/>
              </p:custDataLst>
            </p:nvPr>
          </p:nvSpPr>
          <p:spPr>
            <a:xfrm>
              <a:off x="2376590" y="1945294"/>
              <a:ext cx="5091009" cy="514269"/>
            </a:xfrm>
            <a:prstGeom prst="roundRect">
              <a:avLst>
                <a:gd name="adj" fmla="val 91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400" b="1" spc="200" dirty="0">
                  <a:solidFill>
                    <a:srgbClr val="780078"/>
                  </a:solidFill>
                  <a:latin typeface="+mn-ea"/>
                </a:rPr>
                <a:t>项目背景</a:t>
              </a:r>
              <a:endParaRPr lang="en-US" altLang="zh-CN" sz="2400" b="1" spc="200" dirty="0">
                <a:solidFill>
                  <a:srgbClr val="780078"/>
                </a:solidFill>
                <a:latin typeface="+mn-ea"/>
              </a:endParaRPr>
            </a:p>
          </p:txBody>
        </p:sp>
      </p:grpSp>
      <p:grpSp>
        <p:nvGrpSpPr>
          <p:cNvPr id="8" name="组合 3"/>
          <p:cNvGrpSpPr/>
          <p:nvPr>
            <p:custDataLst>
              <p:tags r:id="rId2"/>
            </p:custDataLst>
          </p:nvPr>
        </p:nvGrpSpPr>
        <p:grpSpPr>
          <a:xfrm>
            <a:off x="1430733" y="2430368"/>
            <a:ext cx="6248399" cy="673591"/>
            <a:chOff x="1219200" y="1945294"/>
            <a:chExt cx="6248399" cy="514270"/>
          </a:xfrm>
        </p:grpSpPr>
        <p:sp>
          <p:nvSpPr>
            <p:cNvPr id="9" name="MH_Number_1"/>
            <p:cNvSpPr/>
            <p:nvPr>
              <p:custDataLst>
                <p:tags r:id="rId9"/>
              </p:custDataLst>
            </p:nvPr>
          </p:nvSpPr>
          <p:spPr>
            <a:xfrm>
              <a:off x="1219200" y="1945295"/>
              <a:ext cx="859292" cy="514269"/>
            </a:xfrm>
            <a:prstGeom prst="roundRect">
              <a:avLst>
                <a:gd name="adj" fmla="val 7615"/>
              </a:avLst>
            </a:prstGeom>
            <a:solidFill>
              <a:srgbClr val="711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en-US" sz="2400" b="1" dirty="0">
                  <a:solidFill>
                    <a:srgbClr val="FFFFFF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rgbClr val="FFFFFF"/>
                </a:solidFill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MH_Entry_1"/>
            <p:cNvSpPr/>
            <p:nvPr>
              <p:custDataLst>
                <p:tags r:id="rId10"/>
              </p:custDataLst>
            </p:nvPr>
          </p:nvSpPr>
          <p:spPr>
            <a:xfrm>
              <a:off x="2376590" y="1945294"/>
              <a:ext cx="5091009" cy="514269"/>
            </a:xfrm>
            <a:prstGeom prst="roundRect">
              <a:avLst>
                <a:gd name="adj" fmla="val 91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400" b="1" spc="200" dirty="0">
                  <a:solidFill>
                    <a:srgbClr val="780078"/>
                  </a:solidFill>
                  <a:latin typeface="+mn-ea"/>
                </a:rPr>
                <a:t>系统架构</a:t>
              </a:r>
            </a:p>
          </p:txBody>
        </p:sp>
      </p:grpSp>
      <p:grpSp>
        <p:nvGrpSpPr>
          <p:cNvPr id="11" name="组合 3"/>
          <p:cNvGrpSpPr/>
          <p:nvPr>
            <p:custDataLst>
              <p:tags r:id="rId3"/>
            </p:custDataLst>
          </p:nvPr>
        </p:nvGrpSpPr>
        <p:grpSpPr>
          <a:xfrm>
            <a:off x="1430733" y="3336736"/>
            <a:ext cx="6248399" cy="673591"/>
            <a:chOff x="1219200" y="1945294"/>
            <a:chExt cx="6248399" cy="514270"/>
          </a:xfrm>
        </p:grpSpPr>
        <p:sp>
          <p:nvSpPr>
            <p:cNvPr id="12" name="MH_Number_1"/>
            <p:cNvSpPr/>
            <p:nvPr>
              <p:custDataLst>
                <p:tags r:id="rId7"/>
              </p:custDataLst>
            </p:nvPr>
          </p:nvSpPr>
          <p:spPr>
            <a:xfrm>
              <a:off x="1219200" y="1945295"/>
              <a:ext cx="859292" cy="514269"/>
            </a:xfrm>
            <a:prstGeom prst="roundRect">
              <a:avLst>
                <a:gd name="adj" fmla="val 7615"/>
              </a:avLst>
            </a:prstGeom>
            <a:solidFill>
              <a:srgbClr val="711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en-US" sz="2400" b="1" dirty="0">
                  <a:solidFill>
                    <a:srgbClr val="FFFFFF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2400" b="1" dirty="0">
                <a:solidFill>
                  <a:srgbClr val="FFFFFF"/>
                </a:solidFill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MH_Entry_1"/>
            <p:cNvSpPr/>
            <p:nvPr>
              <p:custDataLst>
                <p:tags r:id="rId8"/>
              </p:custDataLst>
            </p:nvPr>
          </p:nvSpPr>
          <p:spPr>
            <a:xfrm>
              <a:off x="2376590" y="1945294"/>
              <a:ext cx="5091009" cy="514269"/>
            </a:xfrm>
            <a:prstGeom prst="roundRect">
              <a:avLst>
                <a:gd name="adj" fmla="val 91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400" b="1" spc="200" dirty="0">
                  <a:solidFill>
                    <a:srgbClr val="780078"/>
                  </a:solidFill>
                  <a:latin typeface="+mn-ea"/>
                </a:rPr>
                <a:t>具体实现</a:t>
              </a:r>
            </a:p>
          </p:txBody>
        </p:sp>
      </p:grpSp>
      <p:grpSp>
        <p:nvGrpSpPr>
          <p:cNvPr id="17" name="组合 3"/>
          <p:cNvGrpSpPr/>
          <p:nvPr>
            <p:custDataLst>
              <p:tags r:id="rId4"/>
            </p:custDataLst>
          </p:nvPr>
        </p:nvGrpSpPr>
        <p:grpSpPr>
          <a:xfrm>
            <a:off x="1433273" y="4243256"/>
            <a:ext cx="6248399" cy="673591"/>
            <a:chOff x="1219200" y="1945294"/>
            <a:chExt cx="6248399" cy="514270"/>
          </a:xfrm>
        </p:grpSpPr>
        <p:sp>
          <p:nvSpPr>
            <p:cNvPr id="18" name="MH_Number_1"/>
            <p:cNvSpPr/>
            <p:nvPr>
              <p:custDataLst>
                <p:tags r:id="rId5"/>
              </p:custDataLst>
            </p:nvPr>
          </p:nvSpPr>
          <p:spPr>
            <a:xfrm>
              <a:off x="1219200" y="1945295"/>
              <a:ext cx="859292" cy="514269"/>
            </a:xfrm>
            <a:prstGeom prst="roundRect">
              <a:avLst>
                <a:gd name="adj" fmla="val 7615"/>
              </a:avLst>
            </a:prstGeom>
            <a:solidFill>
              <a:srgbClr val="711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2400" b="1" dirty="0">
                  <a:solidFill>
                    <a:srgbClr val="FFFFFF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" name="MH_Entry_1"/>
            <p:cNvSpPr/>
            <p:nvPr>
              <p:custDataLst>
                <p:tags r:id="rId6"/>
              </p:custDataLst>
            </p:nvPr>
          </p:nvSpPr>
          <p:spPr>
            <a:xfrm>
              <a:off x="2376590" y="1945294"/>
              <a:ext cx="5091009" cy="514269"/>
            </a:xfrm>
            <a:prstGeom prst="roundRect">
              <a:avLst>
                <a:gd name="adj" fmla="val 912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400" b="1" spc="200" dirty="0">
                  <a:solidFill>
                    <a:srgbClr val="780078"/>
                  </a:solidFill>
                  <a:latin typeface="+mn-ea"/>
                </a:rPr>
                <a:t>总结展望</a:t>
              </a:r>
              <a:endParaRPr lang="en-US" altLang="zh-CN" sz="2400" b="1" spc="200" dirty="0">
                <a:solidFill>
                  <a:srgbClr val="780078"/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04875" y="3352800"/>
            <a:ext cx="7315200" cy="6397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sz="2800" b="1" dirty="0" err="1">
                <a:solidFill>
                  <a:srgbClr val="FFFFFF"/>
                </a:solidFill>
              </a:rPr>
              <a:t>项目背景</a:t>
            </a:r>
            <a:endParaRPr sz="2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785989" y="1052736"/>
            <a:ext cx="4076700" cy="5303614"/>
          </a:xfrm>
        </p:spPr>
        <p:txBody>
          <a:bodyPr/>
          <a:lstStyle/>
          <a:p>
            <a:r>
              <a:rPr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服务机器人需求增长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机器人软件工程课程实践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WSL2跨平台开发环境：Win感知 + 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Linux控制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dirty="0">
                <a:latin typeface="黑体" panose="02010609060101010101" pitchFamily="49" charset="-122"/>
                <a:ea typeface="黑体" panose="02010609060101010101" pitchFamily="49" charset="-122"/>
              </a:rPr>
              <a:t>TurtleBot2移动机器人平台</a:t>
            </a:r>
          </a:p>
          <a:p>
            <a:r>
              <a:rPr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YOLOv8深度学习目标检测 + 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</a:t>
            </a:r>
            <a:r>
              <a:rPr lang="en-US" dirty="0" err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D视觉伺服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ROS导航与机械臂控制</a:t>
            </a:r>
            <a:endParaRPr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项目背景</a:t>
            </a:r>
            <a:endParaRPr 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958605" y="5228021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/>
              <a:t>TurtleBot2 + Kinect + 机械臂平台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029200" y="1730375"/>
            <a:ext cx="2672080" cy="33966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mg2.baidu.com/it/u=2488469133,1242088071&amp;fm=253&amp;fmt=auto&amp;app=120&amp;f=JPEG?w=608&amp;h=4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41" y="2626704"/>
            <a:ext cx="2093569" cy="148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fld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785989" y="1052736"/>
            <a:ext cx="4076700" cy="5303614"/>
          </a:xfrm>
        </p:spPr>
        <p:txBody>
          <a:bodyPr/>
          <a:lstStyle/>
          <a:p>
            <a:r>
              <a:rPr dirty="0" err="1">
                <a:latin typeface="黑体" panose="02010609060101010101" pitchFamily="49" charset="-122"/>
                <a:ea typeface="黑体" panose="02010609060101010101" pitchFamily="49" charset="-122"/>
              </a:rPr>
              <a:t>Dynamixel机械臂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项目背景</a:t>
            </a:r>
            <a:endParaRPr lang="en-US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56" y="1941572"/>
            <a:ext cx="2133600" cy="4151870"/>
          </a:xfrm>
          <a:prstGeom prst="rect">
            <a:avLst/>
          </a:prstGeom>
        </p:spPr>
      </p:pic>
      <p:cxnSp>
        <p:nvCxnSpPr>
          <p:cNvPr id="7" name="连接符: 肘形 6"/>
          <p:cNvCxnSpPr/>
          <p:nvPr/>
        </p:nvCxnSpPr>
        <p:spPr>
          <a:xfrm flipV="1">
            <a:off x="2209800" y="1941572"/>
            <a:ext cx="1905000" cy="837533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连接符: 肘形 36"/>
          <p:cNvCxnSpPr/>
          <p:nvPr/>
        </p:nvCxnSpPr>
        <p:spPr>
          <a:xfrm flipV="1">
            <a:off x="2209800" y="2536543"/>
            <a:ext cx="1905000" cy="1432505"/>
          </a:xfrm>
          <a:prstGeom prst="bentConnector3">
            <a:avLst>
              <a:gd name="adj1" fmla="val 55127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连接符: 肘形 39"/>
          <p:cNvCxnSpPr/>
          <p:nvPr/>
        </p:nvCxnSpPr>
        <p:spPr>
          <a:xfrm flipV="1">
            <a:off x="2563284" y="4294308"/>
            <a:ext cx="1551516" cy="1151128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50"/>
          <p:cNvSpPr txBox="1"/>
          <p:nvPr/>
        </p:nvSpPr>
        <p:spPr>
          <a:xfrm>
            <a:off x="4114800" y="1756906"/>
            <a:ext cx="121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机械臂</a:t>
            </a:r>
          </a:p>
        </p:txBody>
      </p:sp>
      <p:sp>
        <p:nvSpPr>
          <p:cNvPr id="44" name="文本框 50"/>
          <p:cNvSpPr txBox="1"/>
          <p:nvPr/>
        </p:nvSpPr>
        <p:spPr>
          <a:xfrm>
            <a:off x="4114800" y="235187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b="1" dirty="0">
                <a:latin typeface="黑体" panose="02010609060101010101" pitchFamily="49" charset="-122"/>
                <a:ea typeface="黑体" panose="02010609060101010101" pitchFamily="49" charset="-122"/>
              </a:rPr>
              <a:t>Kinect v1 </a:t>
            </a:r>
            <a:r>
              <a:rPr b="1" dirty="0" err="1">
                <a:latin typeface="黑体" panose="02010609060101010101" pitchFamily="49" charset="-122"/>
                <a:ea typeface="黑体" panose="02010609060101010101" pitchFamily="49" charset="-122"/>
              </a:rPr>
              <a:t>深度相机</a:t>
            </a:r>
            <a:endParaRPr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50"/>
          <p:cNvSpPr txBox="1"/>
          <p:nvPr/>
        </p:nvSpPr>
        <p:spPr>
          <a:xfrm>
            <a:off x="4114800" y="2946848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b="1">
                <a:latin typeface="黑体" panose="02010609060101010101" pitchFamily="49" charset="-122"/>
                <a:ea typeface="黑体" panose="02010609060101010101" pitchFamily="49" charset="-122"/>
              </a:rPr>
              <a:t>Windows主机+YOLOv8</a:t>
            </a:r>
          </a:p>
        </p:txBody>
      </p:sp>
      <p:sp>
        <p:nvSpPr>
          <p:cNvPr id="46" name="文本框 50"/>
          <p:cNvSpPr txBox="1"/>
          <p:nvPr/>
        </p:nvSpPr>
        <p:spPr>
          <a:xfrm>
            <a:off x="4114800" y="3541819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b="1">
                <a:latin typeface="黑体" panose="02010609060101010101" pitchFamily="49" charset="-122"/>
                <a:ea typeface="黑体" panose="02010609060101010101" pitchFamily="49" charset="-122"/>
              </a:rPr>
              <a:t>WSL2+ROS导航栈</a:t>
            </a:r>
          </a:p>
        </p:txBody>
      </p:sp>
      <p:sp>
        <p:nvSpPr>
          <p:cNvPr id="47" name="文本框 50"/>
          <p:cNvSpPr txBox="1"/>
          <p:nvPr/>
        </p:nvSpPr>
        <p:spPr>
          <a:xfrm>
            <a:off x="4114800" y="408003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b="1">
                <a:latin typeface="黑体" panose="02010609060101010101" pitchFamily="49" charset="-122"/>
                <a:ea typeface="黑体" panose="02010609060101010101" pitchFamily="49" charset="-122"/>
              </a:rPr>
              <a:t>TurtleBot2底盘</a:t>
            </a:r>
          </a:p>
        </p:txBody>
      </p:sp>
      <p:cxnSp>
        <p:nvCxnSpPr>
          <p:cNvPr id="49" name="连接符: 肘形 48"/>
          <p:cNvCxnSpPr>
            <a:stCxn id="45" idx="3"/>
          </p:cNvCxnSpPr>
          <p:nvPr/>
        </p:nvCxnSpPr>
        <p:spPr>
          <a:xfrm>
            <a:off x="5715000" y="3270014"/>
            <a:ext cx="1834225" cy="456471"/>
          </a:xfrm>
          <a:prstGeom prst="bentConnector3">
            <a:avLst>
              <a:gd name="adj1" fmla="val 50000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连接符: 肘形 53"/>
          <p:cNvCxnSpPr/>
          <p:nvPr/>
        </p:nvCxnSpPr>
        <p:spPr>
          <a:xfrm flipV="1">
            <a:off x="5715000" y="3423189"/>
            <a:ext cx="1752600" cy="268537"/>
          </a:xfrm>
          <a:prstGeom prst="bentConnector3">
            <a:avLst>
              <a:gd name="adj1" fmla="val 38856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04875" y="3352800"/>
            <a:ext cx="7315200" cy="6397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sz="2800" b="1">
                <a:solidFill>
                  <a:srgbClr val="FFFFFF"/>
                </a:solidFill>
              </a:rPr>
              <a:t>系统架构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295400" y="1219200"/>
            <a:ext cx="6705600" cy="1905000"/>
          </a:xfrm>
          <a:prstGeom prst="roundRect">
            <a:avLst/>
          </a:prstGeom>
          <a:ln>
            <a:solidFill>
              <a:srgbClr val="711A5F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800" b="0" dirty="0">
                <a:latin typeface="宋体" panose="02010600030101010101" pitchFamily="2" charset="-122"/>
                <a:ea typeface="宋体" panose="02010600030101010101" pitchFamily="2" charset="-122"/>
              </a:rPr>
              <a:t>基于WSL2实现Windows主机与Ubuntu </a:t>
            </a:r>
            <a:r>
              <a:rPr sz="1800" b="0" dirty="0" err="1">
                <a:latin typeface="宋体" panose="02010600030101010101" pitchFamily="2" charset="-122"/>
                <a:ea typeface="宋体" panose="02010600030101010101" pitchFamily="2" charset="-122"/>
              </a:rPr>
              <a:t>ROS的跨平台协同</a:t>
            </a:r>
            <a:r>
              <a:rPr sz="1800" b="0" dirty="0">
                <a:latin typeface="宋体" panose="02010600030101010101" pitchFamily="2" charset="-122"/>
                <a:ea typeface="宋体" panose="02010600030101010101" pitchFamily="2" charset="-122"/>
              </a:rPr>
              <a:t>：
Windows端采集Kinect深度+RGB数据并运行YOLOv8检测，
通过TCP双端口协议将LaserScan和检测结果发送至WSL2，
WSL2端运行ROS导航栈完成避障与路径规划。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18" y="3443426"/>
            <a:ext cx="1808163" cy="1295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119" y="4648200"/>
            <a:ext cx="1853881" cy="12960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3667918" y="5058052"/>
            <a:ext cx="1807200" cy="1296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4648800"/>
            <a:ext cx="1700517" cy="1295400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2100345" y="5660739"/>
            <a:ext cx="90626" cy="9062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667000" y="4957069"/>
            <a:ext cx="90626" cy="9062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跨平台系统架构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990600"/>
            <a:ext cx="6988175" cy="52139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┌──────────────────────────── Windows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主机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────────────────────────────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                                </a:t>
            </a:r>
            <a:r>
              <a:rPr lang="en-US" sz="1200" dirty="0">
                <a:solidFill>
                  <a:srgbClr val="333333"/>
                </a:solidFill>
                <a:latin typeface="Consolas" panose="020B0609020204030204"/>
              </a:rPr>
              <a:t> </a:t>
            </a:r>
            <a:endParaRPr sz="1200" dirty="0">
              <a:solidFill>
                <a:srgbClr val="333333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Kinect v1 ──┬── RGB 帧 ──→ YOLOv8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检测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──→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检测结果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(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BoundingBoxes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)</a:t>
            </a:r>
            <a:r>
              <a:rPr lang="en-US" sz="1200" dirty="0">
                <a:solidFill>
                  <a:srgbClr val="333333"/>
                </a:solidFill>
                <a:latin typeface="Consolas" panose="020B0609020204030204"/>
              </a:rPr>
              <a:t>   </a:t>
            </a:r>
            <a:endParaRPr sz="1200" dirty="0">
              <a:solidFill>
                <a:srgbClr val="333333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│                                         │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└──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深度帧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──→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depth_to_laserscan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──→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LaserScan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│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│                         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filter_radial_noise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│                          (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PCA拟合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+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射线过滤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)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│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TCPSender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 </a:t>
            </a: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(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非阻塞</a:t>
            </a: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)            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               </a:t>
            </a:r>
            <a:endParaRPr sz="1200" dirty="0">
              <a:solidFill>
                <a:srgbClr val="333333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发送队列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独立线程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           </a:t>
            </a:r>
            <a:r>
              <a:rPr lang="en-US" sz="1200" dirty="0">
                <a:solidFill>
                  <a:srgbClr val="333333"/>
                </a:solidFill>
                <a:latin typeface="Consolas" panose="020B0609020204030204"/>
              </a:rPr>
              <a:t> 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│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          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端口9999(</a:t>
            </a:r>
            <a:r>
              <a:rPr sz="1200" dirty="0" err="1">
                <a:solidFill>
                  <a:srgbClr val="333333"/>
                </a:solidFill>
                <a:latin typeface="Consolas" panose="020B0609020204030204"/>
              </a:rPr>
              <a:t>检测</a:t>
            </a: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)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      端口</a:t>
            </a: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9998(</a:t>
            </a:r>
            <a:r>
              <a:rPr lang="zh-CN" altLang="en-US" sz="1200" dirty="0">
                <a:solidFill>
                  <a:srgbClr val="333333"/>
                </a:solidFill>
                <a:latin typeface="Consolas" panose="020B0609020204030204"/>
              </a:rPr>
              <a:t>扫描</a:t>
            </a: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└────────────────────────────────────┬──────────────┬──────────────────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333333"/>
                </a:solidFill>
                <a:latin typeface="Consolas" panose="020B0609020204030204"/>
              </a:rPr>
              <a:t>                                     │              │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2E74B5"/>
                </a:solidFill>
                <a:latin typeface="Consolas" panose="020B0609020204030204"/>
              </a:rPr>
              <a:t>                            TCP (</a:t>
            </a:r>
            <a:r>
              <a:rPr sz="1200" dirty="0" err="1">
                <a:solidFill>
                  <a:srgbClr val="2E74B5"/>
                </a:solidFill>
                <a:latin typeface="Consolas" panose="020B0609020204030204"/>
              </a:rPr>
              <a:t>混合编码</a:t>
            </a:r>
            <a:r>
              <a:rPr sz="1200" dirty="0">
                <a:solidFill>
                  <a:srgbClr val="2E74B5"/>
                </a:solidFill>
                <a:latin typeface="Consolas" panose="020B0609020204030204"/>
              </a:rPr>
              <a:t>)  TCP (</a:t>
            </a:r>
            <a:r>
              <a:rPr sz="1200" dirty="0" err="1">
                <a:solidFill>
                  <a:srgbClr val="2E74B5"/>
                </a:solidFill>
                <a:latin typeface="Consolas" panose="020B0609020204030204"/>
              </a:rPr>
              <a:t>混合编码</a:t>
            </a:r>
            <a:r>
              <a:rPr sz="1200" dirty="0">
                <a:solidFill>
                  <a:srgbClr val="2E74B5"/>
                </a:solidFill>
                <a:latin typeface="Consolas" panose="020B0609020204030204"/>
              </a:rPr>
              <a:t>)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                                     │              │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┌──────────────────────────── WSL2 (Ubuntu + ROS) ─────────────────────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 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kinect_data_receiver.py             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│    ├──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检测通道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→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BoundingBoxes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→ /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detection_result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│    ├──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扫描通道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→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LaserScan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    → /scan →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AMCL定位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│    └── 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连接状态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                 → /</a:t>
            </a:r>
            <a:r>
              <a:rPr sz="1200" dirty="0" err="1">
                <a:solidFill>
                  <a:srgbClr val="0070C0"/>
                </a:solidFill>
                <a:latin typeface="Consolas" panose="020B0609020204030204"/>
              </a:rPr>
              <a:t>kinect_server_status</a:t>
            </a:r>
            <a:r>
              <a:rPr sz="1200" dirty="0">
                <a:solidFill>
                  <a:srgbClr val="0070C0"/>
                </a:solidFill>
                <a:latin typeface="Consolas" panose="020B0609020204030204"/>
              </a:rPr>
              <a:t>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 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│  ROS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导航栈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: AMCL +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move_base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+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costmap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│    └── /scan →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costmap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→ 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避障路径规划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→ /</a:t>
            </a:r>
            <a:r>
              <a:rPr sz="1200" dirty="0" err="1">
                <a:solidFill>
                  <a:srgbClr val="C00000"/>
                </a:solidFill>
                <a:latin typeface="Consolas" panose="020B0609020204030204"/>
              </a:rPr>
              <a:t>cmd_vel</a:t>
            </a:r>
            <a:r>
              <a:rPr sz="1200" dirty="0">
                <a:solidFill>
                  <a:srgbClr val="C00000"/>
                </a:solidFill>
                <a:latin typeface="Consolas" panose="020B0609020204030204"/>
              </a:rPr>
              <a:t>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│                                         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8000"/>
                </a:solidFill>
                <a:latin typeface="Consolas" panose="020B0609020204030204"/>
              </a:rPr>
              <a:t>│  </a:t>
            </a:r>
            <a:r>
              <a:rPr sz="1200" dirty="0" err="1">
                <a:solidFill>
                  <a:srgbClr val="008000"/>
                </a:solidFill>
                <a:latin typeface="Consolas" panose="020B0609020204030204"/>
              </a:rPr>
              <a:t>状态机</a:t>
            </a:r>
            <a:r>
              <a:rPr sz="1200" dirty="0">
                <a:solidFill>
                  <a:srgbClr val="008000"/>
                </a:solidFill>
                <a:latin typeface="Consolas" panose="020B0609020204030204"/>
              </a:rPr>
              <a:t> (state_machine.py): 8状态任务调度            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8000"/>
                </a:solidFill>
                <a:latin typeface="Consolas" panose="020B0609020204030204"/>
              </a:rPr>
              <a:t>│    └── voice/keyboard → </a:t>
            </a:r>
            <a:r>
              <a:rPr sz="1200" dirty="0" err="1">
                <a:solidFill>
                  <a:srgbClr val="008000"/>
                </a:solidFill>
                <a:latin typeface="Consolas" panose="020B0609020204030204"/>
              </a:rPr>
              <a:t>navi</a:t>
            </a:r>
            <a:r>
              <a:rPr sz="1200" dirty="0">
                <a:solidFill>
                  <a:srgbClr val="008000"/>
                </a:solidFill>
                <a:latin typeface="Consolas" panose="020B0609020204030204"/>
              </a:rPr>
              <a:t> → search → approach → grasp → return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333333"/>
                </a:solidFill>
                <a:latin typeface="Consolas" panose="020B0609020204030204"/>
              </a:rPr>
              <a:t>└──────────────────────────────────────────────────────────────────────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cxnSp>
        <p:nvCxnSpPr>
          <p:cNvPr id="9" name="直接连接符 8"/>
          <p:cNvCxnSpPr>
            <a:cxnSpLocks/>
          </p:cNvCxnSpPr>
          <p:nvPr/>
        </p:nvCxnSpPr>
        <p:spPr>
          <a:xfrm>
            <a:off x="6172200" y="1981200"/>
            <a:ext cx="0" cy="114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391400" y="4267200"/>
            <a:ext cx="0" cy="2133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315200" y="1143000"/>
            <a:ext cx="0" cy="2362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04875" y="3352800"/>
            <a:ext cx="7315200" cy="6397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sz="2800" b="1">
                <a:solidFill>
                  <a:srgbClr val="FFFFFF"/>
                </a:solidFill>
              </a:rPr>
              <a:t>具体实现</a:t>
            </a:r>
          </a:p>
          <a:p>
            <a:pPr algn="ctr"/>
            <a:endParaRPr lang="zh-CN" sz="28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97510" y="1052830"/>
            <a:ext cx="8197850" cy="530352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  <a:sym typeface="+mn-ea"/>
              </a:rPr>
              <a:t>KINECT_DET_LASER_V1 </a:t>
            </a:r>
            <a:r>
              <a:rPr dirty="0" err="1">
                <a:solidFill>
                  <a:schemeClr val="tx1"/>
                </a:solidFill>
                <a:sym typeface="+mn-ea"/>
              </a:rPr>
              <a:t>通信协议</a:t>
            </a:r>
            <a:endParaRPr b="1" dirty="0">
              <a:solidFill>
                <a:schemeClr val="tx1"/>
              </a:solidFill>
            </a:endParaRPr>
          </a:p>
          <a:p>
            <a:endParaRPr lang="en-US" altLang="zh-CN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通信协议与数据流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42085"/>
            <a:ext cx="8229600" cy="40722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dirty="0">
              <a:latin typeface="+mn-ea"/>
              <a:ea typeface="+mn-ea"/>
            </a:endParaRPr>
          </a:p>
          <a:p>
            <a:r>
              <a:rPr b="1" dirty="0" err="1">
                <a:solidFill>
                  <a:srgbClr val="2E74B5"/>
                </a:solidFill>
                <a:latin typeface="+mn-ea"/>
                <a:ea typeface="+mn-ea"/>
              </a:rPr>
              <a:t>双端口架构</a:t>
            </a:r>
            <a:endParaRPr b="1" dirty="0">
              <a:solidFill>
                <a:srgbClr val="2E74B5"/>
              </a:solidFill>
              <a:latin typeface="+mn-ea"/>
              <a:ea typeface="+mn-ea"/>
            </a:endParaRPr>
          </a:p>
          <a:p>
            <a:r>
              <a:rPr dirty="0">
                <a:latin typeface="+mn-ea"/>
                <a:ea typeface="+mn-ea"/>
              </a:rPr>
              <a:t>端口9999: YOLOv8检测结果 </a:t>
            </a:r>
            <a:endParaRPr lang="en-US" dirty="0">
              <a:latin typeface="+mn-ea"/>
              <a:ea typeface="+mn-ea"/>
            </a:endParaRPr>
          </a:p>
          <a:p>
            <a:r>
              <a:rPr dirty="0">
                <a:latin typeface="+mn-ea"/>
                <a:ea typeface="+mn-ea"/>
              </a:rPr>
              <a:t>端口9998: </a:t>
            </a:r>
            <a:r>
              <a:rPr dirty="0" err="1">
                <a:latin typeface="+mn-ea"/>
                <a:ea typeface="+mn-ea"/>
              </a:rPr>
              <a:t>LaserScan扫描数据</a:t>
            </a:r>
            <a:endParaRPr lang="en-US" dirty="0">
              <a:latin typeface="+mn-ea"/>
              <a:ea typeface="+mn-ea"/>
            </a:endParaRPr>
          </a:p>
          <a:p>
            <a:endParaRPr dirty="0">
              <a:latin typeface="+mn-ea"/>
              <a:ea typeface="+mn-ea"/>
            </a:endParaRPr>
          </a:p>
          <a:p>
            <a:r>
              <a:rPr b="1" dirty="0" err="1">
                <a:solidFill>
                  <a:srgbClr val="2E74B5"/>
                </a:solidFill>
                <a:latin typeface="+mn-ea"/>
                <a:ea typeface="+mn-ea"/>
              </a:rPr>
              <a:t>混合编码格式</a:t>
            </a:r>
            <a:r>
              <a:rPr b="1" dirty="0">
                <a:solidFill>
                  <a:srgbClr val="2E74B5"/>
                </a:solidFill>
                <a:latin typeface="+mn-ea"/>
                <a:ea typeface="+mn-ea"/>
              </a:rPr>
              <a:t> </a:t>
            </a:r>
            <a:endParaRPr lang="en-US" b="1" dirty="0">
              <a:solidFill>
                <a:srgbClr val="2E74B5"/>
              </a:solidFill>
              <a:latin typeface="+mn-ea"/>
              <a:ea typeface="+mn-ea"/>
            </a:endParaRPr>
          </a:p>
          <a:p>
            <a:r>
              <a:rPr dirty="0" err="1">
                <a:latin typeface="+mn-ea"/>
                <a:ea typeface="+mn-ea"/>
              </a:rPr>
              <a:t>帧头</a:t>
            </a:r>
            <a:r>
              <a:rPr dirty="0">
                <a:latin typeface="+mn-ea"/>
                <a:ea typeface="+mn-ea"/>
              </a:rPr>
              <a:t>: [4字节 </a:t>
            </a:r>
            <a:r>
              <a:rPr dirty="0" err="1">
                <a:latin typeface="+mn-ea"/>
                <a:ea typeface="+mn-ea"/>
              </a:rPr>
              <a:t>payload长度</a:t>
            </a:r>
            <a:r>
              <a:rPr dirty="0">
                <a:latin typeface="+mn-ea"/>
                <a:ea typeface="+mn-ea"/>
              </a:rPr>
              <a:t>][4字节 </a:t>
            </a:r>
            <a:r>
              <a:rPr dirty="0" err="1">
                <a:latin typeface="+mn-ea"/>
                <a:ea typeface="+mn-ea"/>
              </a:rPr>
              <a:t>seq序号</a:t>
            </a:r>
            <a:r>
              <a:rPr dirty="0">
                <a:latin typeface="+mn-ea"/>
                <a:ea typeface="+mn-ea"/>
              </a:rPr>
              <a:t>]</a:t>
            </a:r>
          </a:p>
          <a:p>
            <a:r>
              <a:rPr dirty="0" err="1">
                <a:latin typeface="+mn-ea"/>
                <a:ea typeface="+mn-ea"/>
              </a:rPr>
              <a:t>数据</a:t>
            </a:r>
            <a:r>
              <a:rPr dirty="0">
                <a:latin typeface="+mn-ea"/>
                <a:ea typeface="+mn-ea"/>
              </a:rPr>
              <a:t>: [</a:t>
            </a:r>
            <a:r>
              <a:rPr dirty="0" err="1">
                <a:latin typeface="+mn-ea"/>
                <a:ea typeface="+mn-ea"/>
              </a:rPr>
              <a:t>JSON元数据</a:t>
            </a:r>
            <a:r>
              <a:rPr dirty="0">
                <a:latin typeface="+mn-ea"/>
                <a:ea typeface="+mn-ea"/>
              </a:rPr>
              <a:t>] + [二进制float32 ranges]</a:t>
            </a:r>
          </a:p>
          <a:p>
            <a:r>
              <a:rPr dirty="0">
                <a:latin typeface="+mn-ea"/>
                <a:ea typeface="+mn-ea"/>
              </a:rPr>
              <a:t>节省50-70%传输量，保证实时性</a:t>
            </a:r>
          </a:p>
          <a:p>
            <a:endParaRPr dirty="0">
              <a:latin typeface="+mn-ea"/>
              <a:ea typeface="+mn-ea"/>
            </a:endParaRPr>
          </a:p>
          <a:p>
            <a:r>
              <a:rPr b="1" dirty="0" err="1">
                <a:solidFill>
                  <a:srgbClr val="2E74B5"/>
                </a:solidFill>
                <a:latin typeface="+mn-ea"/>
                <a:ea typeface="+mn-ea"/>
              </a:rPr>
              <a:t>数据可靠性保障</a:t>
            </a:r>
            <a:endParaRPr b="1" dirty="0">
              <a:solidFill>
                <a:srgbClr val="2E74B5"/>
              </a:solidFill>
              <a:latin typeface="+mn-ea"/>
              <a:ea typeface="+mn-ea"/>
            </a:endParaRPr>
          </a:p>
          <a:p>
            <a:r>
              <a:rPr dirty="0">
                <a:latin typeface="+mn-ea"/>
                <a:ea typeface="+mn-ea"/>
              </a:rPr>
              <a:t>MD5前8位checksum校验 | </a:t>
            </a:r>
            <a:r>
              <a:rPr dirty="0" err="1">
                <a:latin typeface="+mn-ea"/>
                <a:ea typeface="+mn-ea"/>
              </a:rPr>
              <a:t>序号跳跃检测</a:t>
            </a:r>
            <a:endParaRPr dirty="0">
              <a:latin typeface="+mn-ea"/>
              <a:ea typeface="+mn-ea"/>
            </a:endParaRPr>
          </a:p>
          <a:p>
            <a:r>
              <a:rPr dirty="0">
                <a:latin typeface="+mn-ea"/>
                <a:ea typeface="+mn-ea"/>
              </a:rPr>
              <a:t>0.0→inf转换: </a:t>
            </a:r>
            <a:r>
              <a:rPr dirty="0" err="1">
                <a:latin typeface="+mn-ea"/>
                <a:ea typeface="+mn-ea"/>
              </a:rPr>
              <a:t>适配ROS</a:t>
            </a:r>
            <a:r>
              <a:rPr dirty="0">
                <a:latin typeface="+mn-ea"/>
                <a:ea typeface="+mn-ea"/>
              </a:rPr>
              <a:t> </a:t>
            </a:r>
            <a:r>
              <a:rPr dirty="0" err="1">
                <a:latin typeface="+mn-ea"/>
                <a:ea typeface="+mn-ea"/>
              </a:rPr>
              <a:t>LaserScan消息标准</a:t>
            </a:r>
            <a:endParaRPr dirty="0">
              <a:latin typeface="+mn-ea"/>
              <a:ea typeface="+mn-ea"/>
            </a:endParaRPr>
          </a:p>
          <a:p>
            <a:endParaRPr dirty="0">
              <a:latin typeface="+mn-ea"/>
              <a:ea typeface="+mn-ea"/>
            </a:endParaRPr>
          </a:p>
          <a:p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连接状态:0=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未连接</a:t>
            </a:r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 1=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检测已连</a:t>
            </a:r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 2=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扫描已连</a:t>
            </a:r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 3=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全部正常</a:t>
            </a:r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 4=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校验失败</a:t>
            </a:r>
            <a:r>
              <a:rPr dirty="0">
                <a:solidFill>
                  <a:srgbClr val="666666"/>
                </a:solidFill>
                <a:latin typeface="+mn-ea"/>
                <a:ea typeface="+mn-ea"/>
              </a:rPr>
              <a:t> 5=</a:t>
            </a:r>
            <a:r>
              <a:rPr dirty="0" err="1">
                <a:solidFill>
                  <a:srgbClr val="666666"/>
                </a:solidFill>
                <a:latin typeface="+mn-ea"/>
                <a:ea typeface="+mn-ea"/>
              </a:rPr>
              <a:t>重连中</a:t>
            </a:r>
            <a:endParaRPr dirty="0">
              <a:solidFill>
                <a:srgbClr val="666666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81000" y="1066800"/>
            <a:ext cx="4076700" cy="906145"/>
          </a:xfrm>
        </p:spPr>
        <p:txBody>
          <a:bodyPr/>
          <a:lstStyle/>
          <a:p>
            <a:r>
              <a:rPr lang="zh-CN" altLang="en-US" dirty="0"/>
              <a:t>整体功能框架</a:t>
            </a:r>
            <a:endParaRPr lang="en-US" altLang="zh-CN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Windows端主程序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88975"/>
            <a:ext cx="8229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b="1">
              <a:solidFill>
                <a:srgbClr val="1F497D"/>
              </a:solidFill>
            </a:endParaRPr>
          </a:p>
          <a:p>
            <a:endParaRPr sz="1400" b="1">
              <a:solidFill>
                <a:srgbClr val="1F497D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071915"/>
              </p:ext>
            </p:extLst>
          </p:nvPr>
        </p:nvGraphicFramePr>
        <p:xfrm>
          <a:off x="533400" y="1905000"/>
          <a:ext cx="8229600" cy="3077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功能模块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实现方式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Kinect RGB/深度采集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KinectCapture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类,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多后端自动切换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pythonnet→SDK→libfreenect→OpenCV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YOLOv8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目标检测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model.predict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实时推理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支持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--target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过滤目标类别bottle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深度转 LaserScan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depth_to_laserscan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向量化实现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取深度图水平扫描行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高度过滤+深度上限</a:t>
                      </a:r>
                      <a:r>
                        <a:rPr lang="zh-CN" altLang="en-US" sz="1400" b="0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，防止地面影响</a:t>
                      </a:r>
                      <a:r>
                        <a:rPr lang="zh-CN" altLang="en-US"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。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噪声过滤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filter_radial_noise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():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PCA拟合邻域点云直线</a:t>
                      </a:r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剔除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距原点</a:t>
                      </a: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&lt;0.3m</a:t>
                      </a: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的点。</a:t>
                      </a:r>
                      <a:endParaRPr sz="1400" b="0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TCP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发送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TCPSender 非阻塞: 发送队列+独立线程, 端口9999(检测)+9998(扫描)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数据校验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MD5前8位十六进制checksum, </a:t>
                      </a:r>
                      <a:r>
                        <a:rPr sz="1400" b="1" dirty="0" err="1"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覆盖JSON+二进制数据</a:t>
                      </a:r>
                      <a:endParaRPr sz="14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矩形: 圆角 5"/>
          <p:cNvSpPr/>
          <p:nvPr/>
        </p:nvSpPr>
        <p:spPr>
          <a:xfrm>
            <a:off x="1143000" y="5181600"/>
            <a:ext cx="6690360" cy="758825"/>
          </a:xfrm>
          <a:prstGeom prst="roundRect">
            <a:avLst/>
          </a:prstGeom>
          <a:noFill/>
          <a:ln>
            <a:solidFill>
              <a:srgbClr val="711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19251" y="5324517"/>
            <a:ext cx="6614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dirty="0" err="1"/>
              <a:t>Windows端</a:t>
            </a:r>
            <a:r>
              <a:rPr sz="1600" dirty="0"/>
              <a:t>: Kinect v1 → </a:t>
            </a:r>
            <a:r>
              <a:rPr sz="1600" dirty="0" err="1"/>
              <a:t>多后端采集</a:t>
            </a:r>
            <a:r>
              <a:rPr sz="1600" dirty="0"/>
              <a:t> → YOLOv8推理 → </a:t>
            </a:r>
            <a:r>
              <a:rPr sz="1600" dirty="0" err="1"/>
              <a:t>噪声过滤</a:t>
            </a:r>
            <a:r>
              <a:rPr sz="1600" dirty="0"/>
              <a:t> → </a:t>
            </a:r>
            <a:r>
              <a:rPr sz="1600" dirty="0" err="1"/>
              <a:t>TCP发送</a:t>
            </a: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sz="2400"/>
              <a:t>建图</a:t>
            </a:r>
            <a:r>
              <a:rPr sz="2400"/>
              <a:t>导航</a:t>
            </a:r>
          </a:p>
        </p:txBody>
      </p:sp>
      <p:sp>
        <p:nvSpPr>
          <p:cNvPr id="2" name="矩形: 圆角 10"/>
          <p:cNvSpPr/>
          <p:nvPr/>
        </p:nvSpPr>
        <p:spPr>
          <a:xfrm>
            <a:off x="990600" y="5562600"/>
            <a:ext cx="6798310" cy="685800"/>
          </a:xfrm>
          <a:prstGeom prst="roundRect">
            <a:avLst/>
          </a:prstGeom>
          <a:noFill/>
          <a:ln>
            <a:solidFill>
              <a:srgbClr val="711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90600" y="5722620"/>
            <a:ext cx="6835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/>
              <a:t>AMCL全局定位 → move_base路径规划 → DWA局部避障 → 到达目标点</a:t>
            </a:r>
          </a:p>
        </p:txBody>
      </p:sp>
      <p:sp>
        <p:nvSpPr>
          <p:cNvPr id="8" name="内容占位符 4"/>
          <p:cNvSpPr>
            <a:spLocks noGrp="1"/>
          </p:cNvSpPr>
          <p:nvPr/>
        </p:nvSpPr>
        <p:spPr>
          <a:xfrm>
            <a:off x="3509963" y="953963"/>
            <a:ext cx="5067300" cy="530361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p"/>
              <a:defRPr sz="22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建图导航</a:t>
            </a:r>
          </a:p>
          <a:p>
            <a:pPr lvl="1"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构建地图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利用</a:t>
            </a:r>
            <a:r>
              <a:rPr lang="en-US" altLang="zh-CN" dirty="0" err="1"/>
              <a:t>Gmapping</a:t>
            </a:r>
            <a:r>
              <a:rPr lang="zh-CN" altLang="en-US" dirty="0"/>
              <a:t>算法构建地图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通过</a:t>
            </a:r>
            <a:r>
              <a:rPr lang="en-US" altLang="zh-CN" dirty="0" err="1"/>
              <a:t>rviz</a:t>
            </a:r>
            <a:r>
              <a:rPr lang="zh-CN" altLang="en-US" dirty="0"/>
              <a:t>读取预设的目标在地图中的位姿</a:t>
            </a:r>
          </a:p>
          <a:p>
            <a:pPr marL="742950" lvl="1" indent="-285750">
              <a:buFont typeface="Wingdings" panose="05000000000000000000" charset="0"/>
              <a:buChar char=""/>
            </a:pPr>
            <a:r>
              <a:rPr lang="zh-CN" altLang="en-US" b="1" dirty="0">
                <a:sym typeface="+mn-ea"/>
              </a:rPr>
              <a:t>导航定位</a:t>
            </a:r>
            <a:endParaRPr lang="zh-CN" altLang="en-US" dirty="0">
              <a:sym typeface="+mn-ea"/>
            </a:endParaRP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初始化将粒子分布全图，通过</a:t>
            </a:r>
            <a:r>
              <a:rPr lang="en-US" altLang="zh-CN" dirty="0"/>
              <a:t>AMCL</a:t>
            </a:r>
            <a:r>
              <a:rPr lang="zh-CN" altLang="en-US" dirty="0"/>
              <a:t>进行导航定位</a:t>
            </a:r>
            <a:endParaRPr lang="en-US" altLang="zh-CN" dirty="0"/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高精度定位，具有高鲁棒性</a:t>
            </a:r>
            <a:endParaRPr lang="zh-CN" altLang="en-US" dirty="0">
              <a:solidFill>
                <a:schemeClr val="tx1"/>
              </a:solidFill>
            </a:endParaRPr>
          </a:p>
          <a:p>
            <a:pPr lvl="1">
              <a:buFont typeface="Wingdings" panose="05000000000000000000" charset="0"/>
              <a:buChar char=""/>
            </a:pPr>
            <a:r>
              <a:rPr lang="zh-CN" altLang="en-US" b="1" dirty="0"/>
              <a:t>路径规划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基于</a:t>
            </a:r>
            <a:r>
              <a:rPr lang="en-US" altLang="zh-CN" dirty="0"/>
              <a:t>DWA</a:t>
            </a:r>
            <a:r>
              <a:rPr lang="zh-CN" altLang="en-US" dirty="0"/>
              <a:t>的路径规划</a:t>
            </a:r>
            <a:endParaRPr lang="zh-CN" altLang="en-US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动态障碍、安全移动</a:t>
            </a:r>
            <a:endParaRPr lang="zh-CN" altLang="en-US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charset="0"/>
              <a:buChar char="p"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55" t="14561" r="14908" b="18772"/>
          <a:stretch>
            <a:fillRect/>
          </a:stretch>
        </p:blipFill>
        <p:spPr>
          <a:xfrm>
            <a:off x="457200" y="1905000"/>
            <a:ext cx="3196590" cy="2748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视觉伺服靠近</a:t>
            </a:r>
          </a:p>
        </p:txBody>
      </p:sp>
      <p:sp>
        <p:nvSpPr>
          <p:cNvPr id="2" name="矩形: 圆角 10"/>
          <p:cNvSpPr/>
          <p:nvPr/>
        </p:nvSpPr>
        <p:spPr>
          <a:xfrm>
            <a:off x="1219200" y="5562600"/>
            <a:ext cx="7096125" cy="707390"/>
          </a:xfrm>
          <a:prstGeom prst="roundRect">
            <a:avLst/>
          </a:prstGeom>
          <a:noFill/>
          <a:ln>
            <a:solidFill>
              <a:srgbClr val="711A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96341" y="5747018"/>
            <a:ext cx="709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dirty="0" err="1"/>
              <a:t>闭环控制：检测框高度</a:t>
            </a:r>
            <a:r>
              <a:rPr sz="1600" dirty="0"/>
              <a:t> → </a:t>
            </a:r>
            <a:r>
              <a:rPr sz="1600" dirty="0" err="1"/>
              <a:t>PD速度控制</a:t>
            </a:r>
            <a:r>
              <a:rPr sz="1600" dirty="0"/>
              <a:t> → </a:t>
            </a:r>
            <a:r>
              <a:rPr sz="1600" dirty="0" err="1"/>
              <a:t>旋转对准</a:t>
            </a:r>
            <a:r>
              <a:rPr sz="1600" dirty="0"/>
              <a:t> → </a:t>
            </a:r>
            <a:r>
              <a:rPr sz="1600" dirty="0" err="1"/>
              <a:t>前后靠近</a:t>
            </a:r>
            <a:r>
              <a:rPr sz="1600" dirty="0"/>
              <a:t> → </a:t>
            </a:r>
            <a:r>
              <a:rPr sz="1600" dirty="0" err="1"/>
              <a:t>触发抓取</a:t>
            </a:r>
            <a:endParaRPr sz="1600" dirty="0"/>
          </a:p>
        </p:txBody>
      </p:sp>
      <p:sp>
        <p:nvSpPr>
          <p:cNvPr id="14" name="内容占位符 4"/>
          <p:cNvSpPr>
            <a:spLocks noGrp="1"/>
          </p:cNvSpPr>
          <p:nvPr/>
        </p:nvSpPr>
        <p:spPr>
          <a:xfrm>
            <a:off x="2514601" y="1371600"/>
            <a:ext cx="6606540" cy="522732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p"/>
              <a:defRPr sz="22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基于检测框高度的闭环</a:t>
            </a:r>
            <a:r>
              <a:rPr lang="en-US" altLang="zh-CN" dirty="0"/>
              <a:t>PD</a:t>
            </a:r>
            <a:r>
              <a:rPr lang="zh-CN" altLang="en-US" dirty="0"/>
              <a:t>控制，两阶段靠近目标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旋转对准瓶子中心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前后移动：粗调 0.15</a:t>
            </a:r>
            <a:r>
              <a:rPr lang="en-US" altLang="zh-CN" dirty="0"/>
              <a:t>m/s → ±20% </a:t>
            </a:r>
            <a:r>
              <a:rPr lang="zh-CN" altLang="en-US" dirty="0"/>
              <a:t>切微调 0.01</a:t>
            </a:r>
            <a:r>
              <a:rPr lang="en-US" altLang="zh-CN" dirty="0"/>
              <a:t>m/s → </a:t>
            </a:r>
            <a:r>
              <a:rPr lang="zh-CN" altLang="en-US" dirty="0"/>
              <a:t>稳定 0.5</a:t>
            </a:r>
            <a:r>
              <a:rPr lang="en-US" altLang="zh-CN" dirty="0"/>
              <a:t>s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二次旋转对准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发布`</a:t>
            </a:r>
            <a:r>
              <a:rPr lang="en-US" altLang="zh-CN" dirty="0"/>
              <a:t>bottle_in_pos=1`，</a:t>
            </a:r>
            <a:r>
              <a:rPr lang="zh-CN" altLang="en-US" dirty="0"/>
              <a:t>触发机械臂伸出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等待 5</a:t>
            </a:r>
            <a:r>
              <a:rPr lang="en-US" altLang="zh-CN" dirty="0"/>
              <a:t>s</a:t>
            </a:r>
            <a:r>
              <a:rPr lang="zh-CN" altLang="en-US" dirty="0"/>
              <a:t>机械臂到位姿 2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开环前进 0.1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等待 5</a:t>
            </a:r>
            <a:r>
              <a:rPr lang="en-US" altLang="zh-CN" dirty="0">
                <a:solidFill>
                  <a:schemeClr val="tx1"/>
                </a:solidFill>
              </a:rPr>
              <a:t>s</a:t>
            </a: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1"/>
                </a:solidFill>
              </a:rPr>
              <a:t>发布`</a:t>
            </a:r>
            <a:r>
              <a:rPr lang="en-US" altLang="zh-CN" dirty="0">
                <a:solidFill>
                  <a:schemeClr val="tx1"/>
                </a:solidFill>
              </a:rPr>
              <a:t>bottle_in_pos=2`，</a:t>
            </a:r>
            <a:r>
              <a:rPr lang="zh-CN" altLang="en-US" dirty="0">
                <a:solidFill>
                  <a:schemeClr val="tx1"/>
                </a:solidFill>
              </a:rPr>
              <a:t>触发机械臂抓取</a:t>
            </a:r>
            <a:endParaRPr lang="en-US" altLang="zh-CN" dirty="0">
              <a:solidFill>
                <a:schemeClr val="tx1"/>
              </a:solidFill>
            </a:endParaRPr>
          </a:p>
          <a:p>
            <a:pPr marL="1200150" lvl="2" indent="-285750">
              <a:buFont typeface="Wingdings" panose="05000000000000000000" charset="0"/>
              <a:buChar char="p"/>
            </a:pPr>
            <a:r>
              <a:rPr lang="zh-CN" altLang="en-US" dirty="0"/>
              <a:t>失败则返回微调重新尝试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3145790" cy="29343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5A34D99D-4537-4F3B-BA64-3CCFD16666C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状态机控制流程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157353"/>
              </p:ext>
            </p:extLst>
          </p:nvPr>
        </p:nvGraphicFramePr>
        <p:xfrm>
          <a:off x="304775" y="1295605"/>
          <a:ext cx="8740000" cy="418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名称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活跃节点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触发条件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动作</a:t>
                      </a:r>
                    </a:p>
                  </a:txBody>
                  <a:tcPr anchor="ctr"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-1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待命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无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系统启动 / 任务完成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等待用户命令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定点导航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/>
                        <a:t>navi</a:t>
                      </a:r>
                      <a:r>
                        <a:rPr lang="en-US" sz="1400" b="1" dirty="0" err="1"/>
                        <a:t>+</a:t>
                      </a:r>
                      <a:r>
                        <a:rPr sz="1400" b="1" dirty="0" err="1"/>
                        <a:t>move_base</a:t>
                      </a:r>
                      <a:endParaRPr sz="1400" b="1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用户发送启动命令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向move_base发送目标点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搜索目标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search_spin.py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navi.py到达目标点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原地旋转等待YOLO检测到瓶子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视觉伺服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visual_approach.py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YOLO检测到bottle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发布controll_msg=1, 旋转对准+靠近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3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机械臂伸出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visual_approach.py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瓶子粗调完成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发布controll_msg=2, 继续精细调整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机械臂抓取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jicheng.py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开环前进完成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/>
                        <a:t>发布controll_msg</a:t>
                      </a:r>
                      <a:r>
                        <a:rPr sz="1400" b="1" dirty="0"/>
                        <a:t>=3, </a:t>
                      </a:r>
                      <a:r>
                        <a:rPr sz="1400" b="1" dirty="0" err="1"/>
                        <a:t>四段位姿插值</a:t>
                      </a:r>
                      <a:endParaRPr sz="1400" b="1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222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5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前往终点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back_2_zero.py + move_base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抓取完成</a:t>
                      </a: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/>
                        <a:t>后退一定距离</a:t>
                      </a:r>
                      <a:r>
                        <a:rPr sz="1400" b="1" dirty="0"/>
                        <a:t> + </a:t>
                      </a:r>
                      <a:r>
                        <a:rPr sz="1400" b="1" dirty="0" err="1"/>
                        <a:t>move_base导航返回</a:t>
                      </a:r>
                      <a:endParaRPr sz="1400" b="1" dirty="0"/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224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/>
                        <a:t>到达终点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/>
                        <a:t>等待5秒后重置为状态-1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39725" y="5562395"/>
            <a:ext cx="84645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 err="1">
                <a:solidFill>
                  <a:schemeClr val="tx1"/>
                </a:solidFill>
              </a:rPr>
              <a:t>语音</a:t>
            </a:r>
            <a:r>
              <a:rPr sz="1400" b="1" dirty="0">
                <a:solidFill>
                  <a:schemeClr val="tx1"/>
                </a:solidFill>
              </a:rPr>
              <a:t>/</a:t>
            </a:r>
            <a:r>
              <a:rPr sz="1400" b="1" dirty="0" err="1">
                <a:solidFill>
                  <a:schemeClr val="tx1"/>
                </a:solidFill>
              </a:rPr>
              <a:t>keyboard</a:t>
            </a:r>
            <a:r>
              <a:rPr sz="1400" b="1" dirty="0" err="1">
                <a:solidFill>
                  <a:schemeClr val="tx1"/>
                </a:solidFill>
                <a:ea typeface="+mn-ea"/>
              </a:rPr>
              <a:t>启动</a:t>
            </a:r>
            <a:r>
              <a:rPr sz="1400" b="1" dirty="0">
                <a:solidFill>
                  <a:schemeClr val="tx1"/>
                </a:solidFill>
              </a:rPr>
              <a:t> → -1待命 → 0导航 → 1搜索 → 2伺服 → 3伸出 → 4抓取 → 5返回 → 6完成 → -1待命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04875" y="3352800"/>
            <a:ext cx="7315200" cy="6397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sz="2800" b="1">
                <a:solidFill>
                  <a:srgbClr val="FFFFFF"/>
                </a:solidFill>
              </a:rPr>
              <a:t>总结展望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A34D99D-4537-4F3B-BA64-3CCFD16666C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/>
                <a:ea typeface="微软雅黑" panose="020B0503020204020204" pitchFamily="34" charset="-122"/>
                <a:cs typeface="+mn-cs"/>
              </a:rPr>
              <a:t>16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7" name="Content Placeholder 2"/>
          <p:cNvSpPr txBox="1"/>
          <p:nvPr/>
        </p:nvSpPr>
        <p:spPr>
          <a:xfrm>
            <a:off x="193285" y="992936"/>
            <a:ext cx="4012703" cy="55602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p"/>
              <a:defRPr sz="22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sz="1800" b="1" dirty="0" err="1"/>
              <a:t>项目收获</a:t>
            </a:r>
            <a:endParaRPr sz="1800" b="1" dirty="0"/>
          </a:p>
          <a:p>
            <a:endParaRPr sz="1800" dirty="0"/>
          </a:p>
          <a:p>
            <a:r>
              <a:rPr sz="1400" dirty="0" err="1"/>
              <a:t>掌握ROS机器人软件系统的完整开发流程</a:t>
            </a:r>
            <a:endParaRPr sz="1400" dirty="0"/>
          </a:p>
          <a:p>
            <a:r>
              <a:rPr sz="1400" dirty="0" err="1"/>
              <a:t>深入理解AMCL定位与move_base导航原理</a:t>
            </a:r>
            <a:endParaRPr sz="1400" dirty="0"/>
          </a:p>
          <a:p>
            <a:r>
              <a:rPr sz="1400" dirty="0" err="1"/>
              <a:t>实践跨平台TCP实时数据传输</a:t>
            </a:r>
            <a:endParaRPr sz="1400" dirty="0"/>
          </a:p>
          <a:p>
            <a:r>
              <a:rPr sz="1400" dirty="0" err="1"/>
              <a:t>实现深度图到激光扫描的完整转换链路</a:t>
            </a:r>
            <a:endParaRPr sz="1400" dirty="0"/>
          </a:p>
          <a:p>
            <a:r>
              <a:rPr sz="1400" dirty="0" err="1"/>
              <a:t>完成感知→规划→控制的闭环机器人系统</a:t>
            </a:r>
            <a:endParaRPr sz="1400" dirty="0"/>
          </a:p>
          <a:p>
            <a:endParaRPr sz="1400" dirty="0"/>
          </a:p>
          <a:p>
            <a:r>
              <a:rPr sz="1800" b="1" dirty="0" err="1"/>
              <a:t>技术创新点</a:t>
            </a:r>
            <a:endParaRPr sz="1800" b="1" dirty="0"/>
          </a:p>
          <a:p>
            <a:endParaRPr sz="1800" dirty="0"/>
          </a:p>
          <a:p>
            <a:r>
              <a:rPr sz="1400" dirty="0" err="1"/>
              <a:t>Kinect噪声处理</a:t>
            </a:r>
            <a:r>
              <a:rPr sz="1400" dirty="0"/>
              <a:t>: </a:t>
            </a:r>
            <a:r>
              <a:rPr sz="1400" dirty="0" err="1"/>
              <a:t>径向噪声过滤+PCA判别</a:t>
            </a:r>
            <a:endParaRPr sz="1400" dirty="0"/>
          </a:p>
          <a:p>
            <a:r>
              <a:rPr sz="1400" dirty="0" err="1"/>
              <a:t>非阻塞TCP</a:t>
            </a:r>
            <a:r>
              <a:rPr sz="1400" dirty="0"/>
              <a:t>: </a:t>
            </a:r>
            <a:r>
              <a:rPr sz="1400" dirty="0" err="1"/>
              <a:t>发送队列+独立线程+混合编码</a:t>
            </a:r>
            <a:endParaRPr sz="1400" dirty="0"/>
          </a:p>
          <a:p>
            <a:r>
              <a:rPr sz="1400" dirty="0" err="1"/>
              <a:t>窄视场定位</a:t>
            </a:r>
            <a:r>
              <a:rPr sz="1400" dirty="0"/>
              <a:t>: 调整AMCL参数适配~57FOV</a:t>
            </a:r>
          </a:p>
          <a:p>
            <a:r>
              <a:rPr sz="1400" dirty="0" err="1"/>
              <a:t>视觉伺服</a:t>
            </a:r>
            <a:r>
              <a:rPr sz="1400" dirty="0"/>
              <a:t>: </a:t>
            </a:r>
            <a:r>
              <a:rPr sz="1400" dirty="0" err="1"/>
              <a:t>两阶段闭环控制</a:t>
            </a:r>
            <a:endParaRPr sz="14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4559423" y="838200"/>
            <a:ext cx="0" cy="5410200"/>
          </a:xfrm>
          <a:prstGeom prst="line">
            <a:avLst/>
          </a:prstGeom>
          <a:ln w="38100">
            <a:solidFill>
              <a:srgbClr val="780078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/>
          <p:cNvSpPr txBox="1"/>
          <p:nvPr/>
        </p:nvSpPr>
        <p:spPr>
          <a:xfrm>
            <a:off x="4692592" y="992936"/>
            <a:ext cx="4012703" cy="55602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p"/>
              <a:defRPr sz="22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Pct val="70000"/>
              <a:buFont typeface="Wingdings" panose="05000000000000000000" pitchFamily="2" charset="2"/>
              <a:buChar char="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Font typeface="Wingdings" panose="05000000000000000000" pitchFamily="2" charset="2"/>
              <a:buChar char="§"/>
              <a:defRPr sz="2000" b="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80078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sz="1800" b="1" dirty="0" err="1"/>
              <a:t>未来展望</a:t>
            </a:r>
            <a:endParaRPr sz="1800" b="1" dirty="0"/>
          </a:p>
          <a:p>
            <a:endParaRPr sz="1800" dirty="0"/>
          </a:p>
          <a:p>
            <a:r>
              <a:rPr sz="1400" dirty="0" err="1"/>
              <a:t>硬件升级</a:t>
            </a:r>
            <a:r>
              <a:rPr sz="1400" dirty="0"/>
              <a:t>: D435i等新型深度传感器替换Kinect v1</a:t>
            </a:r>
          </a:p>
          <a:p>
            <a:r>
              <a:rPr sz="1400" dirty="0" err="1"/>
              <a:t>提升感知精度和可靠性</a:t>
            </a:r>
            <a:endParaRPr sz="1400" dirty="0"/>
          </a:p>
          <a:p>
            <a:r>
              <a:rPr sz="1400" dirty="0" err="1"/>
              <a:t>算法优化</a:t>
            </a:r>
            <a:r>
              <a:rPr sz="1400" dirty="0"/>
              <a:t>: </a:t>
            </a:r>
            <a:r>
              <a:rPr sz="1400" dirty="0" err="1"/>
              <a:t>深度学习方法替代传统视觉伺服</a:t>
            </a:r>
            <a:endParaRPr sz="1400" dirty="0"/>
          </a:p>
          <a:p>
            <a:r>
              <a:rPr sz="1400" dirty="0" err="1"/>
              <a:t>实现端到端的物体抓取</a:t>
            </a:r>
            <a:endParaRPr sz="1400" dirty="0"/>
          </a:p>
          <a:p>
            <a:r>
              <a:rPr sz="1400" dirty="0" err="1"/>
              <a:t>功能扩展</a:t>
            </a:r>
            <a:r>
              <a:rPr sz="1400" dirty="0"/>
              <a:t>: </a:t>
            </a:r>
            <a:r>
              <a:rPr sz="1400" dirty="0" err="1"/>
              <a:t>扩展目标种类bottle→多种物体</a:t>
            </a:r>
            <a:endParaRPr sz="1400" dirty="0"/>
          </a:p>
          <a:p>
            <a:r>
              <a:rPr sz="1400" dirty="0" err="1"/>
              <a:t>语义导航、多机器人协作</a:t>
            </a:r>
            <a:endParaRPr sz="1400" dirty="0"/>
          </a:p>
          <a:p>
            <a:r>
              <a:rPr sz="1400" dirty="0" err="1"/>
              <a:t>工程完善</a:t>
            </a:r>
            <a:r>
              <a:rPr sz="1400" dirty="0"/>
              <a:t>: </a:t>
            </a:r>
            <a:r>
              <a:rPr sz="1400" dirty="0" err="1"/>
              <a:t>容器化部署增加系统监控与日志记录</a:t>
            </a:r>
            <a:endParaRPr sz="1400" dirty="0"/>
          </a:p>
          <a:p>
            <a:endParaRPr sz="1400" dirty="0"/>
          </a:p>
          <a:p>
            <a:r>
              <a:rPr sz="1800" b="1" dirty="0" err="1"/>
              <a:t>改进方向</a:t>
            </a:r>
            <a:endParaRPr sz="1800" b="1" dirty="0"/>
          </a:p>
          <a:p>
            <a:endParaRPr sz="1800" dirty="0"/>
          </a:p>
          <a:p>
            <a:r>
              <a:rPr sz="1400" dirty="0" err="1"/>
              <a:t>语音交互可改用Whisper等更高精度方案</a:t>
            </a:r>
            <a:endParaRPr sz="1400" dirty="0"/>
          </a:p>
          <a:p>
            <a:r>
              <a:rPr sz="1400" dirty="0" err="1"/>
              <a:t>增加可视化监控界面，提高系统可观测性</a:t>
            </a:r>
            <a:endParaRPr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904875" y="3352800"/>
            <a:ext cx="7315200" cy="639762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sz="2800" b="1">
                <a:solidFill>
                  <a:srgbClr val="FFFFFF"/>
                </a:solidFill>
              </a:rPr>
              <a:t>谢谢大家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95330708661425,&quot;left&quot;:112.65614173228346,&quot;top&quot;:120,&quot;width&quot;:492.199921259842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95330708661425,&quot;left&quot;:112.65614173228346,&quot;top&quot;:120,&quot;width&quot;:492.199921259842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95330708661425,&quot;left&quot;:112.65614173228346,&quot;top&quot;:120,&quot;width&quot;:492.199921259842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95330708661425,&quot;left&quot;:112.65614173228346,&quot;top&quot;:120,&quot;width&quot;:492.199921259842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340.95330708661425,&quot;left&quot;:112.65614173228346,&quot;top&quot;:120,&quot;width&quot;:492.199921259842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8*224"/>
  <p:tag name="TABLE_ENDDRAG_RECT" val="42*150*648*224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711A5F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711A5F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自定义 1">
      <a:dk1>
        <a:sysClr val="windowText" lastClr="000000"/>
      </a:dk1>
      <a:lt1>
        <a:sysClr val="window" lastClr="FFFFFF"/>
      </a:lt1>
      <a:dk2>
        <a:srgbClr val="711A5F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课题组通用模板-A</Template>
  <TotalTime>31</TotalTime>
  <Words>953</Words>
  <Application>Microsoft Office PowerPoint</Application>
  <PresentationFormat>全屏显示(4:3)</PresentationFormat>
  <Paragraphs>214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黑体</vt:lpstr>
      <vt:lpstr>华文中宋</vt:lpstr>
      <vt:lpstr>宋体</vt:lpstr>
      <vt:lpstr>微软雅黑</vt:lpstr>
      <vt:lpstr>Arial</vt:lpstr>
      <vt:lpstr>Calibri</vt:lpstr>
      <vt:lpstr>Consolas</vt:lpstr>
      <vt:lpstr>Times New Roman</vt:lpstr>
      <vt:lpstr>Verdana</vt:lpstr>
      <vt:lpstr>Wingdings</vt:lpstr>
      <vt:lpstr>Office 主题</vt:lpstr>
      <vt:lpstr>1_Office 主题</vt:lpstr>
      <vt:lpstr>2_Office 主题</vt:lpstr>
      <vt:lpstr>基于WSL2与Kinect的 TurtleBot瓶体自主抓取系统</vt:lpstr>
      <vt:lpstr>目录</vt:lpstr>
      <vt:lpstr>PowerPoint 演示文稿</vt:lpstr>
      <vt:lpstr>项目背景</vt:lpstr>
      <vt:lpstr>项目背景</vt:lpstr>
      <vt:lpstr>PowerPoint 演示文稿</vt:lpstr>
      <vt:lpstr>系统架构</vt:lpstr>
      <vt:lpstr>跨平台系统架构</vt:lpstr>
      <vt:lpstr>PowerPoint 演示文稿</vt:lpstr>
      <vt:lpstr>通信协议与数据流</vt:lpstr>
      <vt:lpstr>Windows端主程序</vt:lpstr>
      <vt:lpstr>建图导航</vt:lpstr>
      <vt:lpstr>视觉伺服靠近</vt:lpstr>
      <vt:lpstr>状态机控制流程</vt:lpstr>
      <vt:lpstr>PowerPoint 演示文稿</vt:lpstr>
      <vt:lpstr>总结与展望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智能汽车的系统动力学与协同控制</dc:title>
  <dc:creator>Windows 用户</dc:creator>
  <cp:lastModifiedBy>振毫 刘</cp:lastModifiedBy>
  <cp:revision>108</cp:revision>
  <dcterms:created xsi:type="dcterms:W3CDTF">2017-05-16T02:50:00Z</dcterms:created>
  <dcterms:modified xsi:type="dcterms:W3CDTF">2026-06-16T05:46:39Z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F9B5A0030C4D40FB823C227031A0C30D_13</vt:lpwstr>
  </property>
</Properties>
</file>