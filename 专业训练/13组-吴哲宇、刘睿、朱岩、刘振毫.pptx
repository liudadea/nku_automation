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14.xml" ContentType="application/vnd.openxmlformats-officedocument.presentationml.tags+xml"/>
  <Override PartName="/ppt/notesSlides/notesSlide1.xml" ContentType="application/vnd.openxmlformats-officedocument.presentationml.notesSlide+xml"/>
  <Override PartName="/ppt/tags/tag15.xml" ContentType="application/vnd.openxmlformats-officedocument.presentationml.tags+xml"/>
  <Override PartName="/ppt/notesSlides/notesSlide2.xml" ContentType="application/vnd.openxmlformats-officedocument.presentationml.notesSlide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tags/tag18.xml" ContentType="application/vnd.openxmlformats-officedocument.presentationml.tags+xml"/>
  <Override PartName="/ppt/notesSlides/notesSlide5.xml" ContentType="application/vnd.openxmlformats-officedocument.presentationml.notesSlide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notesSlides/notesSlide7.xml" ContentType="application/vnd.openxmlformats-officedocument.presentationml.notesSlide+xml"/>
  <Override PartName="/ppt/tags/tag21.xml" ContentType="application/vnd.openxmlformats-officedocument.presentationml.tags+xml"/>
  <Override PartName="/ppt/notesSlides/notesSlide8.xml" ContentType="application/vnd.openxmlformats-officedocument.presentationml.notesSlide+xml"/>
  <Override PartName="/ppt/tags/tag22.xml" ContentType="application/vnd.openxmlformats-officedocument.presentationml.tags+xml"/>
  <Override PartName="/ppt/notesSlides/notesSlide9.xml" ContentType="application/vnd.openxmlformats-officedocument.presentationml.notesSlide+xml"/>
  <Override PartName="/ppt/tags/tag23.xml" ContentType="application/vnd.openxmlformats-officedocument.presentationml.tags+xml"/>
  <Override PartName="/ppt/notesSlides/notesSlide10.xml" ContentType="application/vnd.openxmlformats-officedocument.presentationml.notesSlide+xml"/>
  <Override PartName="/ppt/tags/tag24.xml" ContentType="application/vnd.openxmlformats-officedocument.presentationml.tags+xml"/>
  <Override PartName="/ppt/notesSlides/notesSlide11.xml" ContentType="application/vnd.openxmlformats-officedocument.presentationml.notesSlide+xml"/>
  <Override PartName="/ppt/tags/tag25.xml" ContentType="application/vnd.openxmlformats-officedocument.presentationml.tags+xml"/>
  <Override PartName="/ppt/notesSlides/notesSlide12.xml" ContentType="application/vnd.openxmlformats-officedocument.presentationml.notesSlide+xml"/>
  <Override PartName="/ppt/tags/tag26.xml" ContentType="application/vnd.openxmlformats-officedocument.presentationml.tags+xml"/>
  <Override PartName="/ppt/notesSlides/notesSlide13.xml" ContentType="application/vnd.openxmlformats-officedocument.presentationml.notesSlide+xml"/>
  <Override PartName="/ppt/tags/tag27.xml" ContentType="application/vnd.openxmlformats-officedocument.presentationml.tags+xml"/>
  <Override PartName="/ppt/notesSlides/notesSlide14.xml" ContentType="application/vnd.openxmlformats-officedocument.presentationml.notesSlide+xml"/>
  <Override PartName="/ppt/tags/tag28.xml" ContentType="application/vnd.openxmlformats-officedocument.presentationml.tags+xml"/>
  <Override PartName="/ppt/notesSlides/notesSlide15.xml" ContentType="application/vnd.openxmlformats-officedocument.presentationml.notesSlide+xml"/>
  <Override PartName="/ppt/tags/tag29.xml" ContentType="application/vnd.openxmlformats-officedocument.presentationml.tags+xml"/>
  <Override PartName="/ppt/notesSlides/notesSlide16.xml" ContentType="application/vnd.openxmlformats-officedocument.presentationml.notesSlide+xml"/>
  <Override PartName="/ppt/tags/tag30.xml" ContentType="application/vnd.openxmlformats-officedocument.presentationml.tags+xml"/>
  <Override PartName="/ppt/notesSlides/notesSlide17.xml" ContentType="application/vnd.openxmlformats-officedocument.presentationml.notesSlide+xml"/>
  <Override PartName="/ppt/tags/tag31.xml" ContentType="application/vnd.openxmlformats-officedocument.presentationml.tags+xml"/>
  <Override PartName="/ppt/notesSlides/notesSlide18.xml" ContentType="application/vnd.openxmlformats-officedocument.presentationml.notesSlide+xml"/>
  <Override PartName="/ppt/tags/tag32.xml" ContentType="application/vnd.openxmlformats-officedocument.presentationml.tags+xml"/>
  <Override PartName="/ppt/notesSlides/notesSlide19.xml" ContentType="application/vnd.openxmlformats-officedocument.presentationml.notesSlide+xml"/>
  <Override PartName="/ppt/tags/tag33.xml" ContentType="application/vnd.openxmlformats-officedocument.presentationml.tags+xml"/>
  <Override PartName="/ppt/notesSlides/notesSlide20.xml" ContentType="application/vnd.openxmlformats-officedocument.presentationml.notesSlide+xml"/>
  <Override PartName="/ppt/tags/tag34.xml" ContentType="application/vnd.openxmlformats-officedocument.presentationml.tags+xml"/>
  <Override PartName="/ppt/notesSlides/notesSlide21.xml" ContentType="application/vnd.openxmlformats-officedocument.presentationml.notesSlid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22.xml" ContentType="application/vnd.openxmlformats-officedocument.presentationml.notesSlide+xml"/>
  <Override PartName="/ppt/tags/tag39.xml" ContentType="application/vnd.openxmlformats-officedocument.presentationml.tags+xml"/>
  <Override PartName="/ppt/notesSlides/notesSlide23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24.xml" ContentType="application/vnd.openxmlformats-officedocument.presentationml.notesSlide+xml"/>
  <Override PartName="/ppt/tags/tag42.xml" ContentType="application/vnd.openxmlformats-officedocument.presentationml.tags+xml"/>
  <Override PartName="/ppt/notesSlides/notesSlide25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34"/>
  </p:notesMasterIdLst>
  <p:handoutMasterIdLst>
    <p:handoutMasterId r:id="rId35"/>
  </p:handoutMasterIdLst>
  <p:sldIdLst>
    <p:sldId id="410" r:id="rId3"/>
    <p:sldId id="411" r:id="rId4"/>
    <p:sldId id="409" r:id="rId5"/>
    <p:sldId id="415" r:id="rId6"/>
    <p:sldId id="417" r:id="rId7"/>
    <p:sldId id="439" r:id="rId8"/>
    <p:sldId id="470" r:id="rId9"/>
    <p:sldId id="522" r:id="rId10"/>
    <p:sldId id="566" r:id="rId11"/>
    <p:sldId id="567" r:id="rId12"/>
    <p:sldId id="523" r:id="rId13"/>
    <p:sldId id="449" r:id="rId14"/>
    <p:sldId id="561" r:id="rId15"/>
    <p:sldId id="562" r:id="rId16"/>
    <p:sldId id="563" r:id="rId17"/>
    <p:sldId id="564" r:id="rId18"/>
    <p:sldId id="565" r:id="rId19"/>
    <p:sldId id="440" r:id="rId20"/>
    <p:sldId id="560" r:id="rId21"/>
    <p:sldId id="471" r:id="rId22"/>
    <p:sldId id="544" r:id="rId23"/>
    <p:sldId id="545" r:id="rId24"/>
    <p:sldId id="553" r:id="rId25"/>
    <p:sldId id="554" r:id="rId26"/>
    <p:sldId id="546" r:id="rId27"/>
    <p:sldId id="548" r:id="rId28"/>
    <p:sldId id="550" r:id="rId29"/>
    <p:sldId id="551" r:id="rId30"/>
    <p:sldId id="552" r:id="rId31"/>
    <p:sldId id="508" r:id="rId32"/>
    <p:sldId id="412" r:id="rId33"/>
  </p:sldIdLst>
  <p:sldSz cx="12192000" cy="6858000"/>
  <p:notesSz cx="6858000" cy="9144000"/>
  <p:custDataLst>
    <p:tags r:id="rId36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02" userDrawn="1">
          <p15:clr>
            <a:srgbClr val="A4A3A4"/>
          </p15:clr>
        </p15:guide>
        <p15:guide id="2" pos="38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962880"/>
    <a:srgbClr val="B761AE"/>
    <a:srgbClr val="A94D9F"/>
    <a:srgbClr val="701E5E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 showGuides="1">
      <p:cViewPr varScale="1">
        <p:scale>
          <a:sx n="77" d="100"/>
          <a:sy n="77" d="100"/>
        </p:scale>
        <p:origin x="114" y="372"/>
      </p:cViewPr>
      <p:guideLst>
        <p:guide orient="horz" pos="2002"/>
        <p:guide pos="382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6" cy="72006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gs" Target="tags/tag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auto"/>
            <a:fld id="{0F9B84EA-7D68-4D60-9CB1-D50884785D1C}" type="datetimeFigureOut">
              <a:rPr lang="zh-CN" altLang="en-US" strike="noStrike" noProof="1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auto"/>
            <a:endParaRPr lang="zh-CN" altLang="en-US" strike="noStrike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auto"/>
            <a:fld id="{8D4E0FC9-F1F8-4FAE-9988-3BA365CFD46F}" type="slidenum">
              <a:rPr lang="zh-CN" altLang="en-US" strike="noStrike" noProof="1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/>
            <a:fld id="{1AC49D05-6128-4D0D-A32A-06A5E73B386C}" type="datetimeFigureOut">
              <a:rPr lang="zh-CN" altLang="en-US" strike="noStrike" noProof="1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 indent="0"/>
            <a:r>
              <a:rPr lang="zh-CN" altLang="en-US"/>
              <a:t>第二级</a:t>
            </a:r>
          </a:p>
          <a:p>
            <a:pPr lvl="2" indent="0"/>
            <a:r>
              <a:rPr lang="zh-CN" altLang="en-US"/>
              <a:t>第三级</a:t>
            </a:r>
          </a:p>
          <a:p>
            <a:pPr lvl="3" indent="0"/>
            <a:r>
              <a:rPr lang="zh-CN" altLang="en-US"/>
              <a:t>第四级</a:t>
            </a:r>
          </a:p>
          <a:p>
            <a:pPr lvl="4" indent="0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fontAlgn="auto"/>
            <a:fld id="{5849F42C-2DAE-424C-A4B8-3140182C3E9F}" type="slidenum">
              <a:rPr lang="zh-CN" altLang="en-US" strike="noStrike" noProof="1" smtClean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介绍组员即可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en-US" altLang="zh-CN"/>
              <a:t>“</a:t>
            </a:r>
            <a:r>
              <a:rPr lang="zh-CN" altLang="en-US"/>
              <a:t>我们将从以下四个方面介绍</a:t>
            </a:r>
            <a:r>
              <a:rPr lang="en-US" altLang="zh-CN"/>
              <a:t>”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首先，是</a:t>
            </a:r>
            <a:r>
              <a:rPr lang="en-US" altLang="zh-CN"/>
              <a:t>PID</a:t>
            </a:r>
            <a:r>
              <a:rPr lang="zh-CN" altLang="en-US"/>
              <a:t>控制器的基本原理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串成一句话即可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传统</a:t>
            </a:r>
            <a:r>
              <a:rPr lang="en-US" altLang="zh-CN"/>
              <a:t>PID</a:t>
            </a:r>
            <a:r>
              <a:rPr lang="zh-CN" altLang="en-US"/>
              <a:t>有什么什么缺点，模糊控制有什么不足，模糊</a:t>
            </a:r>
            <a:r>
              <a:rPr lang="en-US" altLang="zh-CN"/>
              <a:t>PID</a:t>
            </a:r>
            <a:r>
              <a:rPr lang="zh-CN" altLang="en-US"/>
              <a:t>控制器将二者综合，解决了以上问题，具有良好的动态和稳态性能。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首先，是我们磁悬浮部分的成果展示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介绍平衡原理（</a:t>
            </a:r>
            <a:r>
              <a:rPr lang="en-US" altLang="zh-CN"/>
              <a:t>PPT</a:t>
            </a:r>
            <a:r>
              <a:rPr lang="zh-CN" altLang="en-US"/>
              <a:t>上的即可），在实际控制中，采用激光传感器确定小球的悬浮位置，进而确定其稳定情况。通过对于系统物理模型的建模，综合系统</a:t>
            </a:r>
            <a:r>
              <a:rPr lang="zh-CN" altLang="en-US" dirty="0">
                <a:solidFill>
                  <a:schemeClr val="bg1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的动力学方程、系统的电磁力模型和系统平衡边界条件等前提，进行</a:t>
            </a:r>
            <a:r>
              <a:rPr lang="zh-CN" altLang="en-US" dirty="0">
                <a:solidFill>
                  <a:srgbClr val="FF0000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线性化处理和数据带入</a:t>
            </a:r>
            <a:r>
              <a:rPr lang="zh-CN" altLang="en-US" dirty="0">
                <a:solidFill>
                  <a:schemeClr val="bg1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，可以得到系统的近似传递函数，并根据近似传函进行仿真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由实验效果可以看出，动态性能方面上升时间、峰值时间以及过渡过程时间均较短，且超调量在可接受范围内。稳态性能方面，稳态误差接近于</a:t>
            </a:r>
            <a:r>
              <a:rPr lang="en-US" altLang="zh-CN"/>
              <a:t>0%</a:t>
            </a:r>
            <a:r>
              <a:rPr lang="zh-CN" altLang="en-US"/>
              <a:t>，且无波动，故认为动态性能与稳态性能效果均较好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361A3-0FF2-668C-F7BB-0C175F3ED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C8A3E3E-B23F-E698-A672-F2D11174E3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8F1E76-FB71-A94F-209E-26011D508095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由实验效果可以看出，动态性能方面上升时间、峰值时间以及过渡过程时间均较短，且超调量在可接受范围内。稳态性能方面，稳态误差接近于</a:t>
            </a:r>
            <a:r>
              <a:rPr lang="en-US" altLang="zh-CN"/>
              <a:t>0%</a:t>
            </a:r>
            <a:r>
              <a:rPr lang="zh-CN" altLang="en-US"/>
              <a:t>，且无波动，故认为动态性能与稳态性能效果均较好</a:t>
            </a:r>
          </a:p>
        </p:txBody>
      </p:sp>
    </p:spTree>
    <p:extLst>
      <p:ext uri="{BB962C8B-B14F-4D97-AF65-F5344CB8AC3E}">
        <p14:creationId xmlns:p14="http://schemas.microsoft.com/office/powerpoint/2010/main" val="245422028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149CA-A790-46EB-E7D1-92259694E4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9849663-EB29-E0AF-7DE2-65206F0104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A50CB0A-8AC7-4A01-0DBF-F4DEA00A1423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由实验效果可以看出，动态性能方面上升时间、峰值时间以及过渡过程时间均较短，且超调量在可接受范围内。稳态性能方面，稳态误差接近于</a:t>
            </a:r>
            <a:r>
              <a:rPr lang="en-US" altLang="zh-CN"/>
              <a:t>0%</a:t>
            </a:r>
            <a:r>
              <a:rPr lang="zh-CN" altLang="en-US"/>
              <a:t>，且无波动，故认为动态性能与稳态性能效果均较好</a:t>
            </a:r>
          </a:p>
        </p:txBody>
      </p:sp>
    </p:spTree>
    <p:extLst>
      <p:ext uri="{BB962C8B-B14F-4D97-AF65-F5344CB8AC3E}">
        <p14:creationId xmlns:p14="http://schemas.microsoft.com/office/powerpoint/2010/main" val="23489663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在完成</a:t>
            </a:r>
            <a:r>
              <a:rPr lang="en-US" altLang="zh-CN"/>
              <a:t>PID</a:t>
            </a:r>
            <a:r>
              <a:rPr lang="zh-CN" altLang="en-US"/>
              <a:t>仿真后，我们在其基础上加入模糊控制器，进行模糊</a:t>
            </a:r>
            <a:r>
              <a:rPr lang="en-US" altLang="zh-CN"/>
              <a:t>PID</a:t>
            </a:r>
            <a:r>
              <a:rPr lang="zh-CN" altLang="en-US"/>
              <a:t>控制的仿真，这是我们搭建的仿真程序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左图为模糊</a:t>
            </a:r>
            <a:r>
              <a:rPr lang="en-US" altLang="zh-CN"/>
              <a:t>PID</a:t>
            </a:r>
            <a:r>
              <a:rPr lang="zh-CN" altLang="en-US"/>
              <a:t>仿真所得的数据，通过计算动态性能并与</a:t>
            </a:r>
            <a:r>
              <a:rPr lang="en-US" altLang="zh-CN"/>
              <a:t>PID</a:t>
            </a:r>
            <a:r>
              <a:rPr lang="zh-CN" altLang="en-US"/>
              <a:t>的仿真效果比较我们发现，在参数相同的条件下，使用模糊</a:t>
            </a:r>
            <a:r>
              <a:rPr lang="en-US" altLang="zh-CN"/>
              <a:t>PID</a:t>
            </a:r>
            <a:r>
              <a:rPr lang="zh-CN" altLang="en-US"/>
              <a:t>后动态性能改善并不明显，仅有小幅度提升。其中峰值时间和上升时间的缩短较为明显。在稳态性能方面，二者稳态误差均接近于</a:t>
            </a:r>
            <a:r>
              <a:rPr lang="en-US" altLang="zh-CN"/>
              <a:t>0</a:t>
            </a:r>
            <a:r>
              <a:rPr lang="zh-CN" altLang="en-US"/>
              <a:t>，稳态性能较优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接下来，我们进行了磁悬浮设备的实际控制。在实验开始前，我们先平衡了重力，调整real control模块，对初始电压进行调整，使得相应输出为0，确定</a:t>
            </a:r>
            <a:r>
              <a:rPr lang="en-US" altLang="zh-CN"/>
              <a:t>zero</a:t>
            </a:r>
            <a:r>
              <a:rPr lang="zh-CN" altLang="en-US"/>
              <a:t>模块为</a:t>
            </a:r>
            <a:r>
              <a:rPr lang="en-US" altLang="zh-CN"/>
              <a:t>1.9422.</a:t>
            </a:r>
            <a:r>
              <a:rPr lang="zh-CN" altLang="en-US"/>
              <a:t>然后进行实机控制的参数调整，最终参数如图所示。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接下来，我们进行了磁悬浮设备的实际控制。在实验开始前，我们先平衡了重力，调整real control模块，对初始电压进行调整，使得相应输出为0，确定</a:t>
            </a:r>
            <a:r>
              <a:rPr lang="en-US" altLang="zh-CN"/>
              <a:t>zero</a:t>
            </a:r>
            <a:r>
              <a:rPr lang="zh-CN" altLang="en-US"/>
              <a:t>模块为</a:t>
            </a:r>
            <a:r>
              <a:rPr lang="en-US" altLang="zh-CN"/>
              <a:t>1.9422.</a:t>
            </a:r>
            <a:r>
              <a:rPr lang="zh-CN" altLang="en-US"/>
              <a:t>然后进行实机控制的参数调整，最终参数如图所示。</a:t>
            </a:r>
          </a:p>
        </p:txBody>
      </p:sp>
    </p:spTree>
    <p:extLst>
      <p:ext uri="{BB962C8B-B14F-4D97-AF65-F5344CB8AC3E}">
        <p14:creationId xmlns:p14="http://schemas.microsoft.com/office/powerpoint/2010/main" val="25922310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接下来，我们进行了磁悬浮设备的实际控制。在实验开始前，我们先平衡了重力，调整real control模块，对初始电压进行调整，使得相应输出为0，确定</a:t>
            </a:r>
            <a:r>
              <a:rPr lang="en-US" altLang="zh-CN"/>
              <a:t>zero</a:t>
            </a:r>
            <a:r>
              <a:rPr lang="zh-CN" altLang="en-US"/>
              <a:t>模块为</a:t>
            </a:r>
            <a:r>
              <a:rPr lang="en-US" altLang="zh-CN"/>
              <a:t>1.9422.</a:t>
            </a:r>
            <a:r>
              <a:rPr lang="zh-CN" altLang="en-US"/>
              <a:t>然后进行实机控制的参数调整，最终参数如图所示。</a:t>
            </a:r>
          </a:p>
        </p:txBody>
      </p:sp>
    </p:spTree>
    <p:extLst>
      <p:ext uri="{BB962C8B-B14F-4D97-AF65-F5344CB8AC3E}">
        <p14:creationId xmlns:p14="http://schemas.microsoft.com/office/powerpoint/2010/main" val="418716788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在</a:t>
            </a:r>
            <a:r>
              <a:rPr lang="en-US" altLang="zh-CN"/>
              <a:t>PID</a:t>
            </a:r>
            <a:r>
              <a:rPr lang="zh-CN" altLang="en-US"/>
              <a:t>控制的基础上，添加模糊控制器，实现模糊</a:t>
            </a:r>
            <a:r>
              <a:rPr lang="en-US" altLang="zh-CN"/>
              <a:t>PID</a:t>
            </a:r>
            <a:r>
              <a:rPr lang="zh-CN" altLang="en-US"/>
              <a:t>的实机控制</a:t>
            </a:r>
            <a:r>
              <a:rPr lang="en-US" altLang="zh-CN"/>
              <a:t>,</a:t>
            </a:r>
            <a:r>
              <a:rPr lang="zh-CN" altLang="en-US"/>
              <a:t>其中阶跃信号的设置与</a:t>
            </a:r>
            <a:r>
              <a:rPr lang="en-US" altLang="zh-CN"/>
              <a:t>PID</a:t>
            </a:r>
            <a:r>
              <a:rPr lang="zh-CN" altLang="en-US"/>
              <a:t>的参数与</a:t>
            </a:r>
            <a:r>
              <a:rPr lang="en-US" altLang="zh-CN"/>
              <a:t>PID</a:t>
            </a:r>
            <a:r>
              <a:rPr lang="zh-CN" altLang="en-US"/>
              <a:t>控制的相同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左图是我们的实验结果。</a:t>
            </a:r>
            <a:r>
              <a:rPr lang="zh-CN" altLang="en-US">
                <a:sym typeface="+mn-ea"/>
              </a:rPr>
              <a:t>根据模糊PID控制器的工作原理，相比于普通PID控制与模糊控制，使用模糊</a:t>
            </a:r>
            <a:r>
              <a:rPr lang="en-US" altLang="zh-CN">
                <a:sym typeface="+mn-ea"/>
              </a:rPr>
              <a:t>PID</a:t>
            </a:r>
            <a:r>
              <a:rPr lang="zh-CN" altLang="en-US">
                <a:sym typeface="+mn-ea"/>
              </a:rPr>
              <a:t>后系统的动态性能和稳态性能应该有所提升。但我们对数据进行分析后发现，其动态性能指标无明显提升，在误差允许的范围内，可以认为二者效果相似。但使用模糊</a:t>
            </a:r>
            <a:r>
              <a:rPr lang="en-US" altLang="zh-CN">
                <a:sym typeface="+mn-ea"/>
              </a:rPr>
              <a:t>PID</a:t>
            </a:r>
            <a:r>
              <a:rPr lang="zh-CN" altLang="en-US">
                <a:sym typeface="+mn-ea"/>
              </a:rPr>
              <a:t>改善了振荡现象，稳态性能得到了提升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接下来，是三自由度直升机的相关结果展示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介绍平衡原理（</a:t>
            </a:r>
            <a:r>
              <a:rPr lang="en-US" altLang="zh-CN"/>
              <a:t>PPT</a:t>
            </a:r>
            <a:r>
              <a:rPr lang="zh-CN" altLang="en-US"/>
              <a:t>上的即可），在实际控制中，采用激光传感器确定小球的悬浮位置，进而确定其稳定情况。通过对于系统物理模型的建模，综合系统</a:t>
            </a:r>
            <a:r>
              <a:rPr lang="zh-CN" altLang="en-US" dirty="0">
                <a:solidFill>
                  <a:schemeClr val="bg1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的动力学方程、系统的电磁力模型和系统平衡边界条件等前提，进行</a:t>
            </a:r>
            <a:r>
              <a:rPr lang="zh-CN" altLang="en-US" dirty="0">
                <a:solidFill>
                  <a:srgbClr val="FF0000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线性化处理和数据带入</a:t>
            </a:r>
            <a:r>
              <a:rPr lang="zh-CN" altLang="en-US" dirty="0">
                <a:solidFill>
                  <a:schemeClr val="bg1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，可以得到系统的近似传递函数，并根据近似传函进行仿真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俯仰角的转矩由两个螺旋桨的合力产生。根据实验指导书提供的参数和公式可以得到相应传函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横侧角的传函计算同理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上图是我们的实机控制程序，参数</a:t>
            </a:r>
            <a:r>
              <a:rPr lang="en-US" altLang="zh-CN"/>
              <a:t>……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接下来是横侧角的实机控制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完成上述实验后，我们进行了俯仰的模糊</a:t>
            </a:r>
            <a:r>
              <a:rPr lang="en-US" altLang="zh-CN"/>
              <a:t>PID</a:t>
            </a:r>
            <a:r>
              <a:rPr lang="zh-CN" altLang="en-US"/>
              <a:t>控制实验，选用与</a:t>
            </a:r>
            <a:r>
              <a:rPr lang="en-US" altLang="zh-CN"/>
              <a:t>PID</a:t>
            </a:r>
            <a:r>
              <a:rPr lang="zh-CN" altLang="en-US"/>
              <a:t>控制的相同参数，方便进行效果的比对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r>
              <a:rPr lang="zh-CN" altLang="en-US"/>
              <a:t>与俯仰的</a:t>
            </a:r>
            <a:r>
              <a:rPr lang="en-US" altLang="zh-CN"/>
              <a:t>PID</a:t>
            </a:r>
            <a:r>
              <a:rPr lang="zh-CN" altLang="en-US"/>
              <a:t>控制的最后结果进行比较发现，加入模糊</a:t>
            </a:r>
            <a:r>
              <a:rPr lang="en-US" altLang="zh-CN"/>
              <a:t>PID</a:t>
            </a:r>
            <a:r>
              <a:rPr lang="zh-CN" altLang="en-US"/>
              <a:t>后，巴拉巴拉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  <p:pic>
        <p:nvPicPr>
          <p:cNvPr id="6146" name="图片 9" descr="ffe65e1957e0420dab6270b7f3941f41_th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31413" y="-106362"/>
            <a:ext cx="2160587" cy="10302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</a:p>
          <a:p>
            <a:pPr lvl="1" fontAlgn="auto"/>
            <a:r>
              <a:rPr strike="noStrike" noProof="1">
                <a:sym typeface="+mn-ea"/>
              </a:rPr>
              <a:t>第二级</a:t>
            </a:r>
          </a:p>
          <a:p>
            <a:pPr lvl="2" fontAlgn="auto"/>
            <a:r>
              <a:rPr strike="noStrike" noProof="1">
                <a:sym typeface="+mn-ea"/>
              </a:rPr>
              <a:t>第三级</a:t>
            </a:r>
          </a:p>
          <a:p>
            <a:pPr lvl="3" fontAlgn="auto"/>
            <a:r>
              <a:rPr strike="noStrike" noProof="1">
                <a:sym typeface="+mn-ea"/>
              </a:rPr>
              <a:t>第四级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</a:p>
          <a:p>
            <a:pPr lvl="1" fontAlgn="auto"/>
            <a:r>
              <a:rPr strike="noStrike" noProof="1">
                <a:sym typeface="+mn-ea"/>
              </a:rPr>
              <a:t>第二级</a:t>
            </a:r>
          </a:p>
          <a:p>
            <a:pPr lvl="2" fontAlgn="auto"/>
            <a:r>
              <a:rPr strike="noStrike" noProof="1">
                <a:sym typeface="+mn-ea"/>
              </a:rPr>
              <a:t>第三级</a:t>
            </a:r>
          </a:p>
          <a:p>
            <a:pPr lvl="3" fontAlgn="auto"/>
            <a:r>
              <a:rPr strike="noStrike" noProof="1">
                <a:sym typeface="+mn-ea"/>
              </a:rPr>
              <a:t>第四级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strike="noStrike" noProof="1"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</a:p>
          <a:p>
            <a:pPr lvl="1" fontAlgn="auto"/>
            <a:r>
              <a:rPr strike="noStrike" noProof="1">
                <a:sym typeface="+mn-ea"/>
              </a:rPr>
              <a:t>第二级</a:t>
            </a:r>
          </a:p>
          <a:p>
            <a:pPr lvl="2" fontAlgn="auto"/>
            <a:r>
              <a:rPr strike="noStrike" noProof="1">
                <a:sym typeface="+mn-ea"/>
              </a:rPr>
              <a:t>第三级</a:t>
            </a:r>
          </a:p>
          <a:p>
            <a:pPr lvl="3" fontAlgn="auto"/>
            <a:r>
              <a:rPr strike="noStrike" noProof="1">
                <a:sym typeface="+mn-ea"/>
              </a:rPr>
              <a:t>第四级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1264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endParaRPr strike="noStrike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单击此处编辑文本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  <p:pic>
        <p:nvPicPr>
          <p:cNvPr id="6146" name="图片 9" descr="ffe65e1957e0420dab6270b7f3941f41_th"/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031413" y="-106362"/>
            <a:ext cx="2160587" cy="10302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pPr fontAlgn="auto"/>
            <a:r>
              <a:rPr lang="zh-CN" altLang="en-US" strike="noStrike" noProof="1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</a:p>
          <a:p>
            <a:pPr lvl="1" fontAlgn="auto"/>
            <a:r>
              <a:rPr strike="noStrike" noProof="1">
                <a:sym typeface="+mn-ea"/>
              </a:rPr>
              <a:t>第二级</a:t>
            </a:r>
          </a:p>
          <a:p>
            <a:pPr lvl="2" fontAlgn="auto"/>
            <a:r>
              <a:rPr strike="noStrike" noProof="1">
                <a:sym typeface="+mn-ea"/>
              </a:rPr>
              <a:t>第三级</a:t>
            </a:r>
          </a:p>
          <a:p>
            <a:pPr lvl="3" fontAlgn="auto"/>
            <a:r>
              <a:rPr strike="noStrike" noProof="1">
                <a:sym typeface="+mn-ea"/>
              </a:rPr>
              <a:t>第四级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z="1600" spc="15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lnSpc>
                <a:spcPct val="13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</a:p>
          <a:p>
            <a:pPr lvl="1" fontAlgn="auto"/>
            <a:r>
              <a:rPr strike="noStrike" noProof="1">
                <a:sym typeface="+mn-ea"/>
              </a:rPr>
              <a:t>第二级</a:t>
            </a:r>
          </a:p>
          <a:p>
            <a:pPr lvl="2" fontAlgn="auto"/>
            <a:r>
              <a:rPr strike="noStrike" noProof="1">
                <a:sym typeface="+mn-ea"/>
              </a:rPr>
              <a:t>第三级</a:t>
            </a:r>
          </a:p>
          <a:p>
            <a:pPr lvl="3" fontAlgn="auto"/>
            <a:r>
              <a:rPr strike="noStrike" noProof="1">
                <a:sym typeface="+mn-ea"/>
              </a:rPr>
              <a:t>第四级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auto"/>
            <a:r>
              <a:rPr strike="noStrike" noProof="1">
                <a:sym typeface="+mn-ea"/>
              </a:rPr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 fontAlgn="auto"/>
            <a:r>
              <a:rPr strike="noStrike" noProof="1">
                <a:sym typeface="+mn-ea"/>
              </a:rPr>
              <a:t>单击此处编辑母版文本样式</a:t>
            </a:r>
          </a:p>
          <a:p>
            <a:pPr lvl="1" fontAlgn="auto"/>
            <a:r>
              <a:rPr strike="noStrike" noProof="1">
                <a:sym typeface="+mn-ea"/>
              </a:rPr>
              <a:t>第二级</a:t>
            </a:r>
          </a:p>
          <a:p>
            <a:pPr lvl="2" fontAlgn="auto"/>
            <a:r>
              <a:rPr strike="noStrike" noProof="1">
                <a:sym typeface="+mn-ea"/>
              </a:rPr>
              <a:t>第三级</a:t>
            </a:r>
          </a:p>
          <a:p>
            <a:pPr lvl="3" fontAlgn="auto"/>
            <a:r>
              <a:rPr strike="noStrike" noProof="1">
                <a:sym typeface="+mn-ea"/>
              </a:rPr>
              <a:t>第四级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1264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 fontAlgn="auto"/>
            <a:endParaRPr strike="noStrike" noProof="1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单击此处编辑文本</a:t>
            </a:r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pPr fontAlgn="auto"/>
            <a:r>
              <a:rPr lang="zh-CN" altLang="en-US" strike="noStrike" noProof="1"/>
              <a:t>单击此处编辑母版标题样式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indent="0" eaLnBrk="1" fontAlgn="auto" latinLnBrk="0" hangingPunct="1">
              <a:lnSpc>
                <a:spcPct val="160000"/>
              </a:lnSpc>
              <a:spcAft>
                <a:spcPts val="1600"/>
              </a:spcAft>
              <a:buNone/>
              <a:defRPr spc="3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/>
              <a:t>单击此处编辑文本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  <a:p>
            <a:pPr lvl="1" fontAlgn="auto"/>
            <a:r>
              <a:rPr lang="zh-CN" altLang="en-US" strike="noStrike" noProof="1"/>
              <a:t>第二级</a:t>
            </a:r>
          </a:p>
          <a:p>
            <a:pPr lvl="2" fontAlgn="auto"/>
            <a:r>
              <a:rPr lang="zh-CN" altLang="en-US" strike="noStrike" noProof="1"/>
              <a:t>第三级</a:t>
            </a:r>
          </a:p>
          <a:p>
            <a:pPr lvl="3" fontAlgn="auto"/>
            <a:r>
              <a:rPr lang="zh-CN" altLang="en-US" strike="noStrike" noProof="1"/>
              <a:t>第四级</a:t>
            </a:r>
          </a:p>
          <a:p>
            <a:pPr lvl="4" fontAlgn="auto"/>
            <a:r>
              <a:rPr lang="zh-CN" altLang="en-US" strike="noStrike" noProof="1"/>
              <a:t>第五级</a:t>
            </a:r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 fontAlgn="auto"/>
            <a:r>
              <a:rPr strike="noStrike" noProof="1"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pPr fontAlgn="auto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8.xml"/><Relationship Id="rId18" Type="http://schemas.openxmlformats.org/officeDocument/2006/relationships/tags" Target="../tags/tag1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tags" Target="../tags/tag12.xml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1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ags" Target="../tags/tag10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ags" Target="../tags/tag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013" y="608013"/>
            <a:ext cx="10969625" cy="647700"/>
          </a:xfrm>
          <a:prstGeom prst="rect">
            <a:avLst/>
          </a:prstGeom>
          <a:noFill/>
          <a:ln w="9525">
            <a:noFill/>
          </a:ln>
        </p:spPr>
        <p:txBody>
          <a:bodyPr vert="horz" lIns="101600" tIns="38100" rIns="76200" bIns="38100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4"/>
            </p:custDataLst>
          </p:nvPr>
        </p:nvSpPr>
        <p:spPr>
          <a:xfrm>
            <a:off x="608013" y="1516063"/>
            <a:ext cx="10969625" cy="4737100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013" y="608013"/>
            <a:ext cx="10969625" cy="647700"/>
          </a:xfrm>
          <a:prstGeom prst="rect">
            <a:avLst/>
          </a:prstGeom>
          <a:noFill/>
          <a:ln w="9525">
            <a:noFill/>
          </a:ln>
        </p:spPr>
        <p:txBody>
          <a:bodyPr vert="horz" lIns="101600" tIns="38100" rIns="76200" bIns="38100"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  <p:custDataLst>
              <p:tags r:id="rId14"/>
            </p:custDataLst>
          </p:nvPr>
        </p:nvSpPr>
        <p:spPr>
          <a:xfrm>
            <a:off x="608013" y="1516063"/>
            <a:ext cx="10969625" cy="4737100"/>
          </a:xfrm>
          <a:prstGeom prst="rect">
            <a:avLst/>
          </a:prstGeom>
          <a:noFill/>
          <a:ln w="9525">
            <a:noFill/>
          </a:ln>
        </p:spPr>
        <p:txBody>
          <a:bodyPr vert="horz" lIns="90000" tIns="46800" rIns="90000" bIns="46800" anchor="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 indent="-228600"/>
            <a:r>
              <a:rPr lang="zh-CN" altLang="en-US" dirty="0"/>
              <a:t>第二级</a:t>
            </a:r>
          </a:p>
          <a:p>
            <a:pPr lvl="2" indent="-228600"/>
            <a:r>
              <a:rPr lang="zh-CN" altLang="en-US" dirty="0"/>
              <a:t>第三级</a:t>
            </a:r>
          </a:p>
          <a:p>
            <a:pPr lvl="3" indent="-228600"/>
            <a:r>
              <a:rPr lang="zh-CN" altLang="en-US" dirty="0"/>
              <a:t>第四级</a:t>
            </a:r>
          </a:p>
          <a:p>
            <a:pPr lvl="4" indent="-228600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775" y="6315075"/>
            <a:ext cx="2698750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fld id="{760FBDFE-C587-4B4C-A407-44438C67B59E}" type="datetimeFigureOut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2025/11/3</a:t>
            </a:fld>
            <a:endParaRPr lang="zh-CN" altLang="en-US" strike="noStrike" noProof="1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388" y="6315075"/>
            <a:ext cx="3959225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300" y="6315075"/>
            <a:ext cx="2700338" cy="3159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fontAlgn="auto"/>
            <a:fld id="{49AE70B2-8BF9-45C0-BB95-33D1B9D3A854}" type="slidenum">
              <a:rPr lang="zh-CN" altLang="en-US" strike="noStrike" noProof="1" smtClean="0">
                <a:latin typeface="Arial" panose="020B0604020202020204" pitchFamily="34" charset="0"/>
                <a:ea typeface="微软雅黑" panose="020B0503020204020204" pitchFamily="34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  <p:sp>
        <p:nvSpPr>
          <p:cNvPr id="7" name="KSO_TEMPLATE" hidden="1"/>
          <p:cNvSpPr/>
          <p:nvPr>
            <p:custDataLst>
              <p:tags r:id="rId1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0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Relationship Id="rId6" Type="http://schemas.openxmlformats.org/officeDocument/2006/relationships/image" Target="../media/image14.png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6.xml"/><Relationship Id="rId6" Type="http://schemas.openxmlformats.org/officeDocument/2006/relationships/image" Target="../media/image20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Relationship Id="rId6" Type="http://schemas.openxmlformats.org/officeDocument/2006/relationships/image" Target="../media/image20.png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8.xml"/><Relationship Id="rId5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9.xml"/><Relationship Id="rId6" Type="http://schemas.openxmlformats.org/officeDocument/2006/relationships/image" Target="../media/image25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0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notesSlide" Target="../notesSlides/notesSlide19.xml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40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Relationship Id="rId6" Type="http://schemas.openxmlformats.org/officeDocument/2006/relationships/image" Target="../media/image390.png"/><Relationship Id="rId5" Type="http://schemas.openxmlformats.org/officeDocument/2006/relationships/image" Target="../media/image38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7" Type="http://schemas.openxmlformats.org/officeDocument/2006/relationships/image" Target="../media/image42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.xml"/><Relationship Id="rId6" Type="http://schemas.openxmlformats.org/officeDocument/2006/relationships/image" Target="../media/image43.png"/><Relationship Id="rId5" Type="http://schemas.openxmlformats.org/officeDocument/2006/relationships/image" Target="../media/image420.png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.xml"/><Relationship Id="rId6" Type="http://schemas.openxmlformats.org/officeDocument/2006/relationships/image" Target="../media/image45.jpeg"/><Relationship Id="rId5" Type="http://schemas.openxmlformats.org/officeDocument/2006/relationships/image" Target="../media/image44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.xml"/><Relationship Id="rId5" Type="http://schemas.openxmlformats.org/officeDocument/2006/relationships/image" Target="../media/image47.png"/><Relationship Id="rId4" Type="http://schemas.openxmlformats.org/officeDocument/2006/relationships/image" Target="../media/image5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.xml"/><Relationship Id="rId4" Type="http://schemas.openxmlformats.org/officeDocument/2006/relationships/image" Target="../media/image48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7" Type="http://schemas.openxmlformats.org/officeDocument/2006/relationships/image" Target="../media/image52.e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8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7" Type="http://schemas.openxmlformats.org/officeDocument/2006/relationships/image" Target="../media/image56.emf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9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0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1.xml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2.xml"/><Relationship Id="rId4" Type="http://schemas.openxmlformats.org/officeDocument/2006/relationships/image" Target="../media/image6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同侧圆角矩形 6"/>
          <p:cNvSpPr/>
          <p:nvPr/>
        </p:nvSpPr>
        <p:spPr>
          <a:xfrm flipV="1">
            <a:off x="82550" y="2274888"/>
            <a:ext cx="12026900" cy="4491038"/>
          </a:xfrm>
          <a:prstGeom prst="round2SameRect">
            <a:avLst>
              <a:gd name="adj1" fmla="val 6117"/>
              <a:gd name="adj2" fmla="val 0"/>
            </a:avLst>
          </a:prstGeom>
          <a:solidFill>
            <a:srgbClr val="701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pic>
        <p:nvPicPr>
          <p:cNvPr id="8" name="图片 7" descr="198465cd-425a-46a8-b752-ba8414a74e0b"/>
          <p:cNvPicPr>
            <a:picLocks noChangeAspect="1"/>
          </p:cNvPicPr>
          <p:nvPr/>
        </p:nvPicPr>
        <p:blipFill>
          <a:blip r:embed="rId4"/>
          <a:srcRect l="14010" r="12164"/>
          <a:stretch>
            <a:fillRect/>
          </a:stretch>
        </p:blipFill>
        <p:spPr>
          <a:xfrm>
            <a:off x="4908550" y="1088390"/>
            <a:ext cx="2374265" cy="2374262"/>
          </a:xfrm>
          <a:prstGeom prst="ellipse">
            <a:avLst/>
          </a:prstGeom>
        </p:spPr>
      </p:pic>
      <p:sp>
        <p:nvSpPr>
          <p:cNvPr id="4100" name="文本框 10"/>
          <p:cNvSpPr txBox="1"/>
          <p:nvPr/>
        </p:nvSpPr>
        <p:spPr>
          <a:xfrm>
            <a:off x="1665288" y="3346133"/>
            <a:ext cx="8861425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6600">
                <a:solidFill>
                  <a:schemeClr val="bg1"/>
                </a:solidFill>
                <a:latin typeface="字魂105号-简雅黑" panose="00000500000000000000" charset="-122"/>
                <a:ea typeface="字魂105号-简雅黑" panose="00000500000000000000" charset="-122"/>
              </a:rPr>
              <a:t>智能专业实践答辩</a:t>
            </a:r>
          </a:p>
        </p:txBody>
      </p:sp>
      <p:sp>
        <p:nvSpPr>
          <p:cNvPr id="4101" name="文本框 11"/>
          <p:cNvSpPr txBox="1"/>
          <p:nvPr/>
        </p:nvSpPr>
        <p:spPr>
          <a:xfrm>
            <a:off x="4148455" y="6205220"/>
            <a:ext cx="2138680" cy="39878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/>
            <a:r>
              <a:rPr lang="zh-CN" altLang="en-US" sz="20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实验组号：</a:t>
            </a:r>
            <a:r>
              <a:rPr lang="en-US" altLang="zh-CN" sz="2000" dirty="0">
                <a:solidFill>
                  <a:schemeClr val="bg1"/>
                </a:solidFill>
              </a:rPr>
              <a:t>13</a:t>
            </a:r>
            <a:endParaRPr lang="en-US" altLang="zh-CN" sz="20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102" name="文本框 12"/>
          <p:cNvSpPr txBox="1"/>
          <p:nvPr/>
        </p:nvSpPr>
        <p:spPr>
          <a:xfrm>
            <a:off x="4148455" y="4298950"/>
            <a:ext cx="389636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小组成员：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2312097 </a:t>
            </a: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吴哲宇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       2310684 </a:t>
            </a: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刘睿</a:t>
            </a:r>
            <a:r>
              <a:rPr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</a:t>
            </a:r>
          </a:p>
          <a:p>
            <a:pPr algn="just"/>
            <a:r>
              <a:rPr 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       2312167 </a:t>
            </a: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刘振毫</a:t>
            </a:r>
          </a:p>
          <a:p>
            <a:pPr algn="just"/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                  2312158 </a:t>
            </a: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朱岩</a:t>
            </a:r>
          </a:p>
        </p:txBody>
      </p:sp>
      <p:sp>
        <p:nvSpPr>
          <p:cNvPr id="7173" name="文本框 11"/>
          <p:cNvSpPr txBox="1"/>
          <p:nvPr/>
        </p:nvSpPr>
        <p:spPr>
          <a:xfrm>
            <a:off x="4148455" y="5744845"/>
            <a:ext cx="331914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/>
            <a:r>
              <a:rPr lang="zh-CN" altLang="en-US" sz="24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指导教师：</a:t>
            </a:r>
            <a:r>
              <a:rPr lang="en-US" altLang="zh-CN" sz="24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周璐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同侧圆角矩形 6"/>
          <p:cNvSpPr/>
          <p:nvPr/>
        </p:nvSpPr>
        <p:spPr>
          <a:xfrm rot="5400000" flipV="1">
            <a:off x="-1815465" y="2004695"/>
            <a:ext cx="6664325" cy="2849245"/>
          </a:xfrm>
          <a:prstGeom prst="round2SameRect">
            <a:avLst>
              <a:gd name="adj1" fmla="val 6117"/>
              <a:gd name="adj2" fmla="val 0"/>
            </a:avLst>
          </a:prstGeom>
          <a:solidFill>
            <a:srgbClr val="701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5122" name="组合 7"/>
          <p:cNvGrpSpPr/>
          <p:nvPr/>
        </p:nvGrpSpPr>
        <p:grpSpPr>
          <a:xfrm>
            <a:off x="1884998" y="2352675"/>
            <a:ext cx="2119312" cy="2120900"/>
            <a:chOff x="7731" y="3522"/>
            <a:chExt cx="3736" cy="3736"/>
          </a:xfrm>
        </p:grpSpPr>
        <p:sp>
          <p:nvSpPr>
            <p:cNvPr id="20" name="椭圆 19"/>
            <p:cNvSpPr/>
            <p:nvPr/>
          </p:nvSpPr>
          <p:spPr>
            <a:xfrm>
              <a:off x="7731" y="3522"/>
              <a:ext cx="3737" cy="37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grpSp>
          <p:nvGrpSpPr>
            <p:cNvPr id="5124" name="组合 31"/>
            <p:cNvGrpSpPr/>
            <p:nvPr/>
          </p:nvGrpSpPr>
          <p:grpSpPr>
            <a:xfrm>
              <a:off x="7992" y="3783"/>
              <a:ext cx="3216" cy="3216"/>
              <a:chOff x="7991" y="1975"/>
              <a:chExt cx="3216" cy="3216"/>
            </a:xfrm>
          </p:grpSpPr>
          <p:grpSp>
            <p:nvGrpSpPr>
              <p:cNvPr id="5125" name="组合 25"/>
              <p:cNvGrpSpPr/>
              <p:nvPr/>
            </p:nvGrpSpPr>
            <p:grpSpPr>
              <a:xfrm>
                <a:off x="8128" y="3059"/>
                <a:ext cx="2944" cy="1311"/>
                <a:chOff x="4146" y="1979"/>
                <a:chExt cx="7176" cy="3196"/>
              </a:xfrm>
            </p:grpSpPr>
            <p:sp>
              <p:nvSpPr>
                <p:cNvPr id="27" name="任意多边形 26"/>
                <p:cNvSpPr/>
                <p:nvPr/>
              </p:nvSpPr>
              <p:spPr>
                <a:xfrm>
                  <a:off x="5757" y="2731"/>
                  <a:ext cx="3953" cy="2444"/>
                </a:xfrm>
                <a:custGeom>
                  <a:avLst/>
                  <a:gdLst>
                    <a:gd name="connsiteX0" fmla="*/ 0 w 4176"/>
                    <a:gd name="connsiteY0" fmla="*/ 387 h 2444"/>
                    <a:gd name="connsiteX1" fmla="*/ 387 w 4176"/>
                    <a:gd name="connsiteY1" fmla="*/ 0 h 2444"/>
                    <a:gd name="connsiteX2" fmla="*/ 3789 w 4176"/>
                    <a:gd name="connsiteY2" fmla="*/ 0 h 2444"/>
                    <a:gd name="connsiteX3" fmla="*/ 4176 w 4176"/>
                    <a:gd name="connsiteY3" fmla="*/ 387 h 2444"/>
                    <a:gd name="connsiteX4" fmla="*/ 4176 w 4176"/>
                    <a:gd name="connsiteY4" fmla="*/ 1937 h 2444"/>
                    <a:gd name="connsiteX5" fmla="*/ 3789 w 4176"/>
                    <a:gd name="connsiteY5" fmla="*/ 2324 h 2444"/>
                    <a:gd name="connsiteX6" fmla="*/ 2143 w 4176"/>
                    <a:gd name="connsiteY6" fmla="*/ 2442 h 2444"/>
                    <a:gd name="connsiteX7" fmla="*/ 387 w 4176"/>
                    <a:gd name="connsiteY7" fmla="*/ 2324 h 2444"/>
                    <a:gd name="connsiteX8" fmla="*/ 0 w 4176"/>
                    <a:gd name="connsiteY8" fmla="*/ 1937 h 2444"/>
                    <a:gd name="connsiteX9" fmla="*/ 0 w 4176"/>
                    <a:gd name="connsiteY9" fmla="*/ 387 h 24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176" h="2444">
                      <a:moveTo>
                        <a:pt x="0" y="387"/>
                      </a:moveTo>
                      <a:cubicBezTo>
                        <a:pt x="0" y="173"/>
                        <a:pt x="173" y="0"/>
                        <a:pt x="387" y="0"/>
                      </a:cubicBezTo>
                      <a:lnTo>
                        <a:pt x="3789" y="0"/>
                      </a:lnTo>
                      <a:cubicBezTo>
                        <a:pt x="4003" y="0"/>
                        <a:pt x="4176" y="173"/>
                        <a:pt x="4176" y="387"/>
                      </a:cubicBezTo>
                      <a:lnTo>
                        <a:pt x="4176" y="1937"/>
                      </a:lnTo>
                      <a:cubicBezTo>
                        <a:pt x="4176" y="2151"/>
                        <a:pt x="4130" y="2251"/>
                        <a:pt x="3789" y="2324"/>
                      </a:cubicBezTo>
                      <a:cubicBezTo>
                        <a:pt x="3448" y="2397"/>
                        <a:pt x="2593" y="2457"/>
                        <a:pt x="2143" y="2442"/>
                      </a:cubicBezTo>
                      <a:cubicBezTo>
                        <a:pt x="1723" y="2442"/>
                        <a:pt x="688" y="2412"/>
                        <a:pt x="387" y="2324"/>
                      </a:cubicBezTo>
                      <a:cubicBezTo>
                        <a:pt x="86" y="2236"/>
                        <a:pt x="0" y="2151"/>
                        <a:pt x="0" y="1937"/>
                      </a:cubicBezTo>
                      <a:lnTo>
                        <a:pt x="0" y="387"/>
                      </a:lnTo>
                      <a:close/>
                    </a:path>
                  </a:pathLst>
                </a:custGeom>
                <a:solidFill>
                  <a:srgbClr val="701E5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auto"/>
                  <a:endParaRPr lang="zh-CN" altLang="en-US" strike="noStrike" noProof="1"/>
                </a:p>
              </p:txBody>
            </p:sp>
            <p:sp>
              <p:nvSpPr>
                <p:cNvPr id="28" name="菱形 27"/>
                <p:cNvSpPr/>
                <p:nvPr/>
              </p:nvSpPr>
              <p:spPr>
                <a:xfrm>
                  <a:off x="4146" y="1979"/>
                  <a:ext cx="7176" cy="2071"/>
                </a:xfrm>
                <a:prstGeom prst="diamond">
                  <a:avLst/>
                </a:prstGeom>
                <a:solidFill>
                  <a:srgbClr val="701E5E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auto"/>
                  <a:endParaRPr lang="zh-CN" altLang="en-US" strike="noStrike" noProof="1"/>
                </a:p>
              </p:txBody>
            </p:sp>
            <p:sp>
              <p:nvSpPr>
                <p:cNvPr id="29" name="任意多边形 28"/>
                <p:cNvSpPr/>
                <p:nvPr/>
              </p:nvSpPr>
              <p:spPr>
                <a:xfrm rot="18900000">
                  <a:off x="4839" y="4614"/>
                  <a:ext cx="526" cy="518"/>
                </a:xfrm>
                <a:custGeom>
                  <a:avLst/>
                  <a:gdLst>
                    <a:gd name="connsiteX0" fmla="*/ 0 w 1974"/>
                    <a:gd name="connsiteY0" fmla="*/ 1060 h 2004"/>
                    <a:gd name="connsiteX1" fmla="*/ 945 w 1974"/>
                    <a:gd name="connsiteY1" fmla="*/ 115 h 2004"/>
                    <a:gd name="connsiteX2" fmla="*/ 1889 w 1974"/>
                    <a:gd name="connsiteY2" fmla="*/ 115 h 2004"/>
                    <a:gd name="connsiteX3" fmla="*/ 1889 w 1974"/>
                    <a:gd name="connsiteY3" fmla="*/ 1060 h 2004"/>
                    <a:gd name="connsiteX4" fmla="*/ 945 w 1974"/>
                    <a:gd name="connsiteY4" fmla="*/ 2004 h 2004"/>
                    <a:gd name="connsiteX5" fmla="*/ 0 w 1974"/>
                    <a:gd name="connsiteY5" fmla="*/ 1060 h 20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75" h="2004">
                      <a:moveTo>
                        <a:pt x="0" y="1060"/>
                      </a:moveTo>
                      <a:cubicBezTo>
                        <a:pt x="0" y="538"/>
                        <a:pt x="452" y="289"/>
                        <a:pt x="945" y="115"/>
                      </a:cubicBezTo>
                      <a:cubicBezTo>
                        <a:pt x="1251" y="7"/>
                        <a:pt x="1548" y="-78"/>
                        <a:pt x="1889" y="115"/>
                      </a:cubicBezTo>
                      <a:cubicBezTo>
                        <a:pt x="2046" y="378"/>
                        <a:pt x="1951" y="728"/>
                        <a:pt x="1889" y="1060"/>
                      </a:cubicBezTo>
                      <a:cubicBezTo>
                        <a:pt x="1793" y="1573"/>
                        <a:pt x="1466" y="2004"/>
                        <a:pt x="945" y="2004"/>
                      </a:cubicBezTo>
                      <a:cubicBezTo>
                        <a:pt x="423" y="2004"/>
                        <a:pt x="0" y="1581"/>
                        <a:pt x="0" y="1060"/>
                      </a:cubicBezTo>
                      <a:close/>
                    </a:path>
                  </a:pathLst>
                </a:custGeom>
                <a:solidFill>
                  <a:srgbClr val="701E5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auto"/>
                  <a:endParaRPr lang="zh-CN" altLang="en-US" strike="noStrike" noProof="1"/>
                </a:p>
              </p:txBody>
            </p:sp>
            <p:cxnSp>
              <p:nvCxnSpPr>
                <p:cNvPr id="30" name="直接连接符 29"/>
                <p:cNvCxnSpPr/>
                <p:nvPr/>
              </p:nvCxnSpPr>
              <p:spPr>
                <a:xfrm>
                  <a:off x="5102" y="3284"/>
                  <a:ext cx="0" cy="1338"/>
                </a:xfrm>
                <a:prstGeom prst="line">
                  <a:avLst/>
                </a:prstGeom>
                <a:ln w="50800" cap="rnd">
                  <a:solidFill>
                    <a:srgbClr val="701E5E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1" name="椭圆 30"/>
              <p:cNvSpPr/>
              <p:nvPr/>
            </p:nvSpPr>
            <p:spPr>
              <a:xfrm>
                <a:off x="7991" y="1975"/>
                <a:ext cx="3217" cy="3217"/>
              </a:xfrm>
              <a:prstGeom prst="ellipse">
                <a:avLst/>
              </a:prstGeom>
              <a:noFill/>
              <a:ln w="28575">
                <a:solidFill>
                  <a:srgbClr val="701E5E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</p:grpSp>
      </p:grpSp>
      <p:sp>
        <p:nvSpPr>
          <p:cNvPr id="5131" name="文本框 10"/>
          <p:cNvSpPr txBox="1"/>
          <p:nvPr/>
        </p:nvSpPr>
        <p:spPr>
          <a:xfrm>
            <a:off x="692785" y="1792288"/>
            <a:ext cx="1150938" cy="31381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6600">
                <a:solidFill>
                  <a:schemeClr val="bg1"/>
                </a:solidFill>
                <a:latin typeface="字魂105号-简雅黑" panose="00000500000000000000" charset="-122"/>
                <a:ea typeface="字魂105号-简雅黑" panose="00000500000000000000" charset="-122"/>
              </a:rPr>
              <a:t>目</a:t>
            </a:r>
          </a:p>
          <a:p>
            <a:pPr algn="ctr"/>
            <a:endParaRPr lang="zh-CN" altLang="en-US" sz="6600">
              <a:solidFill>
                <a:schemeClr val="bg1"/>
              </a:solidFill>
              <a:latin typeface="字魂105号-简雅黑" panose="00000500000000000000" charset="-122"/>
              <a:ea typeface="字魂105号-简雅黑" panose="00000500000000000000" charset="-122"/>
            </a:endParaRPr>
          </a:p>
          <a:p>
            <a:pPr algn="ctr"/>
            <a:r>
              <a:rPr lang="zh-CN" altLang="en-US" sz="6600">
                <a:solidFill>
                  <a:schemeClr val="bg1"/>
                </a:solidFill>
                <a:latin typeface="字魂105号-简雅黑" panose="00000500000000000000" charset="-122"/>
                <a:ea typeface="字魂105号-简雅黑" panose="00000500000000000000" charset="-122"/>
              </a:rPr>
              <a:t>录</a:t>
            </a:r>
          </a:p>
        </p:txBody>
      </p:sp>
      <p:grpSp>
        <p:nvGrpSpPr>
          <p:cNvPr id="13" name="组合 12"/>
          <p:cNvGrpSpPr/>
          <p:nvPr/>
        </p:nvGrpSpPr>
        <p:grpSpPr>
          <a:xfrm>
            <a:off x="4395471" y="1794723"/>
            <a:ext cx="6958330" cy="706120"/>
            <a:chOff x="7095" y="925"/>
            <a:chExt cx="10958" cy="1112"/>
          </a:xfrm>
        </p:grpSpPr>
        <p:grpSp>
          <p:nvGrpSpPr>
            <p:cNvPr id="4" name="组合 2"/>
            <p:cNvGrpSpPr/>
            <p:nvPr/>
          </p:nvGrpSpPr>
          <p:grpSpPr>
            <a:xfrm>
              <a:off x="8055" y="925"/>
              <a:ext cx="9998" cy="1113"/>
              <a:chOff x="2810" y="3577"/>
              <a:chExt cx="9995" cy="1113"/>
            </a:xfrm>
          </p:grpSpPr>
          <p:sp>
            <p:nvSpPr>
              <p:cNvPr id="5" name="Rectangle 73"/>
              <p:cNvSpPr/>
              <p:nvPr/>
            </p:nvSpPr>
            <p:spPr>
              <a:xfrm>
                <a:off x="4125" y="3760"/>
                <a:ext cx="8680" cy="7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44000" tIns="0" rIns="144000" bIns="0" anchor="t"/>
              <a:lstStyle/>
              <a:p>
                <a:pPr algn="l"/>
                <a:r>
                  <a:rPr lang="en-US" altLang="zh-CN" sz="3200" b="1" dirty="0">
                    <a:solidFill>
                      <a:srgbClr val="701E5E"/>
                    </a:solidFill>
                    <a:latin typeface="字魂105号-简雅黑" panose="00000500000000000000" charset="-122"/>
                    <a:ea typeface="字魂105号-简雅黑" panose="00000500000000000000" charset="-122"/>
                  </a:rPr>
                  <a:t> </a:t>
                </a:r>
                <a:r>
                  <a:rPr lang="zh-CN" altLang="en-US" sz="3200" b="1" dirty="0">
                    <a:solidFill>
                      <a:srgbClr val="701E5E"/>
                    </a:solidFill>
                    <a:latin typeface="字魂105号-简雅黑" panose="00000500000000000000" charset="-122"/>
                    <a:ea typeface="字魂105号-简雅黑" panose="00000500000000000000" charset="-122"/>
                  </a:rPr>
                  <a:t>实验基本原理</a:t>
                </a:r>
              </a:p>
            </p:txBody>
          </p:sp>
          <p:sp>
            <p:nvSpPr>
              <p:cNvPr id="6" name="文本框 50"/>
              <p:cNvSpPr txBox="1"/>
              <p:nvPr/>
            </p:nvSpPr>
            <p:spPr>
              <a:xfrm>
                <a:off x="2810" y="3577"/>
                <a:ext cx="1878" cy="111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lang="en-US" altLang="zh-CN" sz="4000" b="1">
                    <a:solidFill>
                      <a:srgbClr val="701E5E"/>
                    </a:solidFill>
                    <a:latin typeface="字魂105号-简雅黑" panose="00000500000000000000" charset="-122"/>
                    <a:ea typeface="字魂105号-简雅黑" panose="00000500000000000000" charset="-122"/>
                  </a:rPr>
                  <a:t>01</a:t>
                </a:r>
              </a:p>
            </p:txBody>
          </p:sp>
        </p:grpSp>
        <p:sp>
          <p:nvSpPr>
            <p:cNvPr id="8" name="任意多边形 7"/>
            <p:cNvSpPr/>
            <p:nvPr/>
          </p:nvSpPr>
          <p:spPr>
            <a:xfrm rot="20100000">
              <a:off x="7095" y="1112"/>
              <a:ext cx="723" cy="748"/>
            </a:xfrm>
            <a:custGeom>
              <a:avLst/>
              <a:gdLst>
                <a:gd name="connsiteX0" fmla="*/ 93 w 6268"/>
                <a:gd name="connsiteY0" fmla="*/ 5662 h 6482"/>
                <a:gd name="connsiteX1" fmla="*/ 3075 w 6268"/>
                <a:gd name="connsiteY1" fmla="*/ 0 h 6482"/>
                <a:gd name="connsiteX2" fmla="*/ 6148 w 6268"/>
                <a:gd name="connsiteY2" fmla="*/ 5814 h 6482"/>
                <a:gd name="connsiteX3" fmla="*/ 93 w 6268"/>
                <a:gd name="connsiteY3" fmla="*/ 5662 h 6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69" h="6483">
                  <a:moveTo>
                    <a:pt x="93" y="5662"/>
                  </a:moveTo>
                  <a:cubicBezTo>
                    <a:pt x="-480" y="4764"/>
                    <a:pt x="1729" y="29"/>
                    <a:pt x="3075" y="0"/>
                  </a:cubicBezTo>
                  <a:cubicBezTo>
                    <a:pt x="4421" y="-29"/>
                    <a:pt x="6835" y="4754"/>
                    <a:pt x="6148" y="5814"/>
                  </a:cubicBezTo>
                  <a:cubicBezTo>
                    <a:pt x="5461" y="6874"/>
                    <a:pt x="666" y="6560"/>
                    <a:pt x="93" y="5662"/>
                  </a:cubicBezTo>
                  <a:close/>
                </a:path>
              </a:pathLst>
            </a:custGeom>
            <a:solidFill>
              <a:srgbClr val="701E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400551" y="2933913"/>
            <a:ext cx="7063740" cy="706120"/>
            <a:chOff x="7095" y="4199"/>
            <a:chExt cx="11124" cy="1112"/>
          </a:xfrm>
        </p:grpSpPr>
        <p:grpSp>
          <p:nvGrpSpPr>
            <p:cNvPr id="14" name="组合 2"/>
            <p:cNvGrpSpPr/>
            <p:nvPr/>
          </p:nvGrpSpPr>
          <p:grpSpPr>
            <a:xfrm>
              <a:off x="8055" y="4199"/>
              <a:ext cx="10164" cy="1113"/>
              <a:chOff x="2810" y="3577"/>
              <a:chExt cx="10161" cy="1112"/>
            </a:xfrm>
          </p:grpSpPr>
          <p:sp>
            <p:nvSpPr>
              <p:cNvPr id="15" name="Rectangle 73"/>
              <p:cNvSpPr/>
              <p:nvPr/>
            </p:nvSpPr>
            <p:spPr>
              <a:xfrm>
                <a:off x="4125" y="3760"/>
                <a:ext cx="8846" cy="7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44000" tIns="0" rIns="144000" bIns="0" anchor="t"/>
              <a:lstStyle/>
              <a:p>
                <a:pPr algn="l"/>
                <a:r>
                  <a:rPr lang="zh-CN" altLang="en-US" sz="3200" b="1" dirty="0">
                    <a:solidFill>
                      <a:srgbClr val="701E5E"/>
                    </a:solidFill>
                    <a:latin typeface="字魂105号-简雅黑" panose="00000500000000000000" charset="-122"/>
                    <a:ea typeface="字魂105号-简雅黑" panose="00000500000000000000" charset="-122"/>
                  </a:rPr>
                  <a:t>磁悬浮的仿真和控制</a:t>
                </a:r>
              </a:p>
            </p:txBody>
          </p:sp>
          <p:sp>
            <p:nvSpPr>
              <p:cNvPr id="16" name="文本框 50"/>
              <p:cNvSpPr txBox="1"/>
              <p:nvPr/>
            </p:nvSpPr>
            <p:spPr>
              <a:xfrm>
                <a:off x="2810" y="3577"/>
                <a:ext cx="1878" cy="111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lang="en-US" altLang="zh-CN" sz="4000" b="1" dirty="0">
                    <a:solidFill>
                      <a:srgbClr val="701E5E"/>
                    </a:solidFill>
                    <a:latin typeface="字魂105号-简雅黑" panose="00000500000000000000" charset="-122"/>
                    <a:ea typeface="字魂105号-简雅黑" panose="00000500000000000000" charset="-122"/>
                  </a:rPr>
                  <a:t>02</a:t>
                </a:r>
              </a:p>
            </p:txBody>
          </p:sp>
        </p:grpSp>
        <p:sp>
          <p:nvSpPr>
            <p:cNvPr id="17" name="任意多边形 16"/>
            <p:cNvSpPr/>
            <p:nvPr/>
          </p:nvSpPr>
          <p:spPr>
            <a:xfrm rot="20100000">
              <a:off x="7095" y="4384"/>
              <a:ext cx="723" cy="748"/>
            </a:xfrm>
            <a:custGeom>
              <a:avLst/>
              <a:gdLst>
                <a:gd name="connsiteX0" fmla="*/ 93 w 6268"/>
                <a:gd name="connsiteY0" fmla="*/ 5662 h 6482"/>
                <a:gd name="connsiteX1" fmla="*/ 3075 w 6268"/>
                <a:gd name="connsiteY1" fmla="*/ 0 h 6482"/>
                <a:gd name="connsiteX2" fmla="*/ 6148 w 6268"/>
                <a:gd name="connsiteY2" fmla="*/ 5814 h 6482"/>
                <a:gd name="connsiteX3" fmla="*/ 93 w 6268"/>
                <a:gd name="connsiteY3" fmla="*/ 5662 h 6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69" h="6483">
                  <a:moveTo>
                    <a:pt x="93" y="5662"/>
                  </a:moveTo>
                  <a:cubicBezTo>
                    <a:pt x="-480" y="4764"/>
                    <a:pt x="1729" y="29"/>
                    <a:pt x="3075" y="0"/>
                  </a:cubicBezTo>
                  <a:cubicBezTo>
                    <a:pt x="4421" y="-29"/>
                    <a:pt x="6835" y="4754"/>
                    <a:pt x="6148" y="5814"/>
                  </a:cubicBezTo>
                  <a:cubicBezTo>
                    <a:pt x="5461" y="6874"/>
                    <a:pt x="666" y="6560"/>
                    <a:pt x="93" y="5662"/>
                  </a:cubicBezTo>
                  <a:close/>
                </a:path>
              </a:pathLst>
            </a:custGeom>
            <a:solidFill>
              <a:srgbClr val="701E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391660" y="4073103"/>
            <a:ext cx="7107555" cy="706120"/>
            <a:chOff x="7095" y="6074"/>
            <a:chExt cx="10964" cy="1112"/>
          </a:xfrm>
        </p:grpSpPr>
        <p:grpSp>
          <p:nvGrpSpPr>
            <p:cNvPr id="19" name="组合 2"/>
            <p:cNvGrpSpPr/>
            <p:nvPr/>
          </p:nvGrpSpPr>
          <p:grpSpPr>
            <a:xfrm>
              <a:off x="8055" y="6074"/>
              <a:ext cx="10004" cy="1113"/>
              <a:chOff x="2810" y="3577"/>
              <a:chExt cx="10001" cy="1114"/>
            </a:xfrm>
          </p:grpSpPr>
          <p:sp>
            <p:nvSpPr>
              <p:cNvPr id="21" name="Rectangle 73"/>
              <p:cNvSpPr/>
              <p:nvPr/>
            </p:nvSpPr>
            <p:spPr>
              <a:xfrm>
                <a:off x="4125" y="3759"/>
                <a:ext cx="8686" cy="747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144000" tIns="0" rIns="144000" bIns="0" anchor="t"/>
              <a:lstStyle/>
              <a:p>
                <a:pPr algn="l"/>
                <a:r>
                  <a:rPr lang="zh-CN" altLang="en-US" sz="3200" b="1" dirty="0">
                    <a:solidFill>
                      <a:srgbClr val="701E5E"/>
                    </a:solidFill>
                    <a:latin typeface="字魂105号-简雅黑" panose="00000500000000000000" charset="-122"/>
                    <a:ea typeface="字魂105号-简雅黑" panose="00000500000000000000" charset="-122"/>
                  </a:rPr>
                  <a:t>三自由度直升机的仿真和控制</a:t>
                </a:r>
              </a:p>
            </p:txBody>
          </p:sp>
          <p:sp>
            <p:nvSpPr>
              <p:cNvPr id="22" name="文本框 50"/>
              <p:cNvSpPr txBox="1"/>
              <p:nvPr/>
            </p:nvSpPr>
            <p:spPr>
              <a:xfrm>
                <a:off x="2810" y="3577"/>
                <a:ext cx="1878" cy="111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lang="en-US" altLang="zh-CN" sz="4000" b="1">
                    <a:solidFill>
                      <a:srgbClr val="701E5E"/>
                    </a:solidFill>
                    <a:latin typeface="字魂105号-简雅黑" panose="00000500000000000000" charset="-122"/>
                    <a:ea typeface="字魂105号-简雅黑" panose="00000500000000000000" charset="-122"/>
                  </a:rPr>
                  <a:t>03</a:t>
                </a:r>
              </a:p>
            </p:txBody>
          </p:sp>
        </p:grpSp>
        <p:sp>
          <p:nvSpPr>
            <p:cNvPr id="23" name="任意多边形 22"/>
            <p:cNvSpPr/>
            <p:nvPr/>
          </p:nvSpPr>
          <p:spPr>
            <a:xfrm rot="20100000">
              <a:off x="7095" y="6254"/>
              <a:ext cx="723" cy="750"/>
            </a:xfrm>
            <a:custGeom>
              <a:avLst/>
              <a:gdLst>
                <a:gd name="connsiteX0" fmla="*/ 93 w 6268"/>
                <a:gd name="connsiteY0" fmla="*/ 5662 h 6482"/>
                <a:gd name="connsiteX1" fmla="*/ 3075 w 6268"/>
                <a:gd name="connsiteY1" fmla="*/ 0 h 6482"/>
                <a:gd name="connsiteX2" fmla="*/ 6148 w 6268"/>
                <a:gd name="connsiteY2" fmla="*/ 5814 h 6482"/>
                <a:gd name="connsiteX3" fmla="*/ 93 w 6268"/>
                <a:gd name="connsiteY3" fmla="*/ 5662 h 64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69" h="6483">
                  <a:moveTo>
                    <a:pt x="93" y="5662"/>
                  </a:moveTo>
                  <a:cubicBezTo>
                    <a:pt x="-480" y="4764"/>
                    <a:pt x="1729" y="29"/>
                    <a:pt x="3075" y="0"/>
                  </a:cubicBezTo>
                  <a:cubicBezTo>
                    <a:pt x="4421" y="-29"/>
                    <a:pt x="6835" y="4754"/>
                    <a:pt x="6148" y="5814"/>
                  </a:cubicBezTo>
                  <a:cubicBezTo>
                    <a:pt x="5461" y="6874"/>
                    <a:pt x="666" y="6560"/>
                    <a:pt x="93" y="5662"/>
                  </a:cubicBezTo>
                  <a:close/>
                </a:path>
              </a:pathLst>
            </a:custGeom>
            <a:solidFill>
              <a:srgbClr val="701E5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51224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66563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5953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66584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6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291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67836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661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61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461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6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122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481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2630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529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4292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480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595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同侧圆角矩形 6"/>
          <p:cNvSpPr/>
          <p:nvPr/>
        </p:nvSpPr>
        <p:spPr>
          <a:xfrm flipV="1">
            <a:off x="82550" y="2274888"/>
            <a:ext cx="12026900" cy="4491038"/>
          </a:xfrm>
          <a:prstGeom prst="round2SameRect">
            <a:avLst>
              <a:gd name="adj1" fmla="val 6117"/>
              <a:gd name="adj2" fmla="val 0"/>
            </a:avLst>
          </a:prstGeom>
          <a:solidFill>
            <a:srgbClr val="701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6147" name="组合 32"/>
          <p:cNvGrpSpPr/>
          <p:nvPr/>
        </p:nvGrpSpPr>
        <p:grpSpPr>
          <a:xfrm>
            <a:off x="5035550" y="1227138"/>
            <a:ext cx="2120900" cy="2119312"/>
            <a:chOff x="7731" y="3522"/>
            <a:chExt cx="3736" cy="3736"/>
          </a:xfrm>
        </p:grpSpPr>
        <p:sp>
          <p:nvSpPr>
            <p:cNvPr id="34" name="椭圆 33"/>
            <p:cNvSpPr/>
            <p:nvPr/>
          </p:nvSpPr>
          <p:spPr>
            <a:xfrm>
              <a:off x="7731" y="3522"/>
              <a:ext cx="3737" cy="37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grpSp>
          <p:nvGrpSpPr>
            <p:cNvPr id="6149" name="组合 34"/>
            <p:cNvGrpSpPr/>
            <p:nvPr/>
          </p:nvGrpSpPr>
          <p:grpSpPr>
            <a:xfrm>
              <a:off x="7992" y="3783"/>
              <a:ext cx="3216" cy="3216"/>
              <a:chOff x="7991" y="1975"/>
              <a:chExt cx="3216" cy="3216"/>
            </a:xfrm>
          </p:grpSpPr>
          <p:grpSp>
            <p:nvGrpSpPr>
              <p:cNvPr id="6150" name="组合 35"/>
              <p:cNvGrpSpPr/>
              <p:nvPr/>
            </p:nvGrpSpPr>
            <p:grpSpPr>
              <a:xfrm>
                <a:off x="8128" y="3059"/>
                <a:ext cx="2944" cy="1311"/>
                <a:chOff x="4146" y="1979"/>
                <a:chExt cx="7176" cy="3196"/>
              </a:xfrm>
            </p:grpSpPr>
            <p:sp>
              <p:nvSpPr>
                <p:cNvPr id="37" name="任意多边形 36"/>
                <p:cNvSpPr/>
                <p:nvPr/>
              </p:nvSpPr>
              <p:spPr>
                <a:xfrm>
                  <a:off x="5757" y="2731"/>
                  <a:ext cx="3953" cy="2444"/>
                </a:xfrm>
                <a:custGeom>
                  <a:avLst/>
                  <a:gdLst>
                    <a:gd name="connsiteX0" fmla="*/ 0 w 4176"/>
                    <a:gd name="connsiteY0" fmla="*/ 387 h 2444"/>
                    <a:gd name="connsiteX1" fmla="*/ 387 w 4176"/>
                    <a:gd name="connsiteY1" fmla="*/ 0 h 2444"/>
                    <a:gd name="connsiteX2" fmla="*/ 3789 w 4176"/>
                    <a:gd name="connsiteY2" fmla="*/ 0 h 2444"/>
                    <a:gd name="connsiteX3" fmla="*/ 4176 w 4176"/>
                    <a:gd name="connsiteY3" fmla="*/ 387 h 2444"/>
                    <a:gd name="connsiteX4" fmla="*/ 4176 w 4176"/>
                    <a:gd name="connsiteY4" fmla="*/ 1937 h 2444"/>
                    <a:gd name="connsiteX5" fmla="*/ 3789 w 4176"/>
                    <a:gd name="connsiteY5" fmla="*/ 2324 h 2444"/>
                    <a:gd name="connsiteX6" fmla="*/ 2143 w 4176"/>
                    <a:gd name="connsiteY6" fmla="*/ 2442 h 2444"/>
                    <a:gd name="connsiteX7" fmla="*/ 387 w 4176"/>
                    <a:gd name="connsiteY7" fmla="*/ 2324 h 2444"/>
                    <a:gd name="connsiteX8" fmla="*/ 0 w 4176"/>
                    <a:gd name="connsiteY8" fmla="*/ 1937 h 2444"/>
                    <a:gd name="connsiteX9" fmla="*/ 0 w 4176"/>
                    <a:gd name="connsiteY9" fmla="*/ 387 h 24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176" h="2444">
                      <a:moveTo>
                        <a:pt x="0" y="387"/>
                      </a:moveTo>
                      <a:cubicBezTo>
                        <a:pt x="0" y="173"/>
                        <a:pt x="173" y="0"/>
                        <a:pt x="387" y="0"/>
                      </a:cubicBezTo>
                      <a:lnTo>
                        <a:pt x="3789" y="0"/>
                      </a:lnTo>
                      <a:cubicBezTo>
                        <a:pt x="4003" y="0"/>
                        <a:pt x="4176" y="173"/>
                        <a:pt x="4176" y="387"/>
                      </a:cubicBezTo>
                      <a:lnTo>
                        <a:pt x="4176" y="1937"/>
                      </a:lnTo>
                      <a:cubicBezTo>
                        <a:pt x="4176" y="2151"/>
                        <a:pt x="4130" y="2251"/>
                        <a:pt x="3789" y="2324"/>
                      </a:cubicBezTo>
                      <a:cubicBezTo>
                        <a:pt x="3448" y="2397"/>
                        <a:pt x="2593" y="2457"/>
                        <a:pt x="2143" y="2442"/>
                      </a:cubicBezTo>
                      <a:cubicBezTo>
                        <a:pt x="1723" y="2442"/>
                        <a:pt x="688" y="2412"/>
                        <a:pt x="387" y="2324"/>
                      </a:cubicBezTo>
                      <a:cubicBezTo>
                        <a:pt x="86" y="2236"/>
                        <a:pt x="0" y="2151"/>
                        <a:pt x="0" y="1937"/>
                      </a:cubicBezTo>
                      <a:lnTo>
                        <a:pt x="0" y="387"/>
                      </a:lnTo>
                      <a:close/>
                    </a:path>
                  </a:pathLst>
                </a:custGeom>
                <a:solidFill>
                  <a:srgbClr val="701E5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auto"/>
                  <a:endParaRPr lang="zh-CN" altLang="en-US" strike="noStrike" noProof="1"/>
                </a:p>
              </p:txBody>
            </p:sp>
            <p:sp>
              <p:nvSpPr>
                <p:cNvPr id="38" name="菱形 37"/>
                <p:cNvSpPr/>
                <p:nvPr/>
              </p:nvSpPr>
              <p:spPr>
                <a:xfrm>
                  <a:off x="4146" y="1979"/>
                  <a:ext cx="7176" cy="2071"/>
                </a:xfrm>
                <a:prstGeom prst="diamond">
                  <a:avLst/>
                </a:prstGeom>
                <a:solidFill>
                  <a:srgbClr val="701E5E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auto"/>
                  <a:endParaRPr lang="zh-CN" altLang="en-US" strike="noStrike" noProof="1"/>
                </a:p>
              </p:txBody>
            </p:sp>
            <p:sp>
              <p:nvSpPr>
                <p:cNvPr id="39" name="任意多边形 38"/>
                <p:cNvSpPr/>
                <p:nvPr/>
              </p:nvSpPr>
              <p:spPr>
                <a:xfrm rot="18900000">
                  <a:off x="4839" y="4614"/>
                  <a:ext cx="526" cy="518"/>
                </a:xfrm>
                <a:custGeom>
                  <a:avLst/>
                  <a:gdLst>
                    <a:gd name="connsiteX0" fmla="*/ 0 w 1974"/>
                    <a:gd name="connsiteY0" fmla="*/ 1060 h 2004"/>
                    <a:gd name="connsiteX1" fmla="*/ 945 w 1974"/>
                    <a:gd name="connsiteY1" fmla="*/ 115 h 2004"/>
                    <a:gd name="connsiteX2" fmla="*/ 1889 w 1974"/>
                    <a:gd name="connsiteY2" fmla="*/ 115 h 2004"/>
                    <a:gd name="connsiteX3" fmla="*/ 1889 w 1974"/>
                    <a:gd name="connsiteY3" fmla="*/ 1060 h 2004"/>
                    <a:gd name="connsiteX4" fmla="*/ 945 w 1974"/>
                    <a:gd name="connsiteY4" fmla="*/ 2004 h 2004"/>
                    <a:gd name="connsiteX5" fmla="*/ 0 w 1974"/>
                    <a:gd name="connsiteY5" fmla="*/ 1060 h 20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75" h="2004">
                      <a:moveTo>
                        <a:pt x="0" y="1060"/>
                      </a:moveTo>
                      <a:cubicBezTo>
                        <a:pt x="0" y="538"/>
                        <a:pt x="452" y="289"/>
                        <a:pt x="945" y="115"/>
                      </a:cubicBezTo>
                      <a:cubicBezTo>
                        <a:pt x="1251" y="7"/>
                        <a:pt x="1548" y="-78"/>
                        <a:pt x="1889" y="115"/>
                      </a:cubicBezTo>
                      <a:cubicBezTo>
                        <a:pt x="2046" y="378"/>
                        <a:pt x="1951" y="728"/>
                        <a:pt x="1889" y="1060"/>
                      </a:cubicBezTo>
                      <a:cubicBezTo>
                        <a:pt x="1793" y="1573"/>
                        <a:pt x="1466" y="2004"/>
                        <a:pt x="945" y="2004"/>
                      </a:cubicBezTo>
                      <a:cubicBezTo>
                        <a:pt x="423" y="2004"/>
                        <a:pt x="0" y="1581"/>
                        <a:pt x="0" y="1060"/>
                      </a:cubicBezTo>
                      <a:close/>
                    </a:path>
                  </a:pathLst>
                </a:custGeom>
                <a:solidFill>
                  <a:srgbClr val="701E5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auto"/>
                  <a:endParaRPr lang="zh-CN" altLang="en-US" strike="noStrike" noProof="1"/>
                </a:p>
              </p:txBody>
            </p:sp>
            <p:cxnSp>
              <p:nvCxnSpPr>
                <p:cNvPr id="40" name="直接连接符 39"/>
                <p:cNvCxnSpPr/>
                <p:nvPr/>
              </p:nvCxnSpPr>
              <p:spPr>
                <a:xfrm>
                  <a:off x="5102" y="3284"/>
                  <a:ext cx="0" cy="1338"/>
                </a:xfrm>
                <a:prstGeom prst="line">
                  <a:avLst/>
                </a:prstGeom>
                <a:ln w="50800" cap="rnd">
                  <a:solidFill>
                    <a:srgbClr val="701E5E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椭圆 40"/>
              <p:cNvSpPr/>
              <p:nvPr/>
            </p:nvSpPr>
            <p:spPr>
              <a:xfrm>
                <a:off x="7991" y="1975"/>
                <a:ext cx="3217" cy="3217"/>
              </a:xfrm>
              <a:prstGeom prst="ellipse">
                <a:avLst/>
              </a:prstGeom>
              <a:noFill/>
              <a:ln w="28575">
                <a:solidFill>
                  <a:srgbClr val="701E5E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</p:grpSp>
      </p:grpSp>
      <p:sp>
        <p:nvSpPr>
          <p:cNvPr id="6156" name="文本框 10"/>
          <p:cNvSpPr txBox="1"/>
          <p:nvPr/>
        </p:nvSpPr>
        <p:spPr>
          <a:xfrm>
            <a:off x="4311015" y="3594735"/>
            <a:ext cx="356933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dist"/>
            <a:r>
              <a:rPr lang="en-US" altLang="zh-CN" sz="6000">
                <a:solidFill>
                  <a:schemeClr val="bg1"/>
                </a:solidFill>
                <a:latin typeface="字魂105号-简雅黑" panose="00000500000000000000" charset="-122"/>
                <a:ea typeface="字魂105号-简雅黑" panose="00000500000000000000" charset="-122"/>
              </a:rPr>
              <a:t>PART 01</a:t>
            </a:r>
          </a:p>
        </p:txBody>
      </p:sp>
      <p:sp>
        <p:nvSpPr>
          <p:cNvPr id="6157" name="文本框 47"/>
          <p:cNvSpPr txBox="1"/>
          <p:nvPr/>
        </p:nvSpPr>
        <p:spPr>
          <a:xfrm>
            <a:off x="3214053" y="4857115"/>
            <a:ext cx="576262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实验基本原理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258"/>
            <a:ext cx="2433638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algn="l" defTabSz="685800" fontAlgn="auto">
              <a:lnSpc>
                <a:spcPct val="90000"/>
              </a:lnSpc>
            </a:pPr>
            <a:r>
              <a:rPr lang="en-US" altLang="zh-CN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 PID</a:t>
            </a:r>
            <a:r>
              <a:rPr lang="zh-CN" altLang="en-US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控制系统</a:t>
            </a:r>
          </a:p>
        </p:txBody>
      </p:sp>
      <p:pic>
        <p:nvPicPr>
          <p:cNvPr id="101" name="图片 100"/>
          <p:cNvPicPr/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9688" b="12996"/>
          <a:stretch>
            <a:fillRect/>
          </a:stretch>
        </p:blipFill>
        <p:spPr>
          <a:xfrm>
            <a:off x="632954" y="555860"/>
            <a:ext cx="4597044" cy="310919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745244" y="1811918"/>
            <a:ext cx="4499101" cy="73331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446368" y="3316636"/>
            <a:ext cx="9299264" cy="269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比例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控制：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能够</a:t>
            </a:r>
            <a:r>
              <a:rPr lang="zh-CN" altLang="en-US" kern="100" dirty="0">
                <a:solidFill>
                  <a:srgbClr val="FF0000"/>
                </a:solidFill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迅速反映并减小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误差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。但是不能消除稳态误差。比例放大系数的加大，会引起系统的不稳定。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积分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控制：使系统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消除稳态误差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。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在时间足够的情况下可以调节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积分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环节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直至无差。但是加入积分调节可使系统稳定性下降，动态响应变慢，出现震荡。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zh-CN" sz="1800" b="1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微分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控制：微分控制可以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减小超调量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减小调节时间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1800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克服振荡</a:t>
            </a:r>
            <a:r>
              <a:rPr lang="zh-CN" altLang="zh-CN" sz="1800" kern="1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，提高系统稳定性，改善系统的动态性能。</a:t>
            </a:r>
            <a:endParaRPr lang="zh-CN" altLang="zh-CN" sz="1400" kern="100" dirty="0">
              <a:effectLst/>
              <a:latin typeface="Calibri" panose="020F050202020403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575"/>
            <a:ext cx="2872740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algn="l" defTabSz="685800" fontAlgn="auto">
              <a:lnSpc>
                <a:spcPct val="90000"/>
              </a:lnSpc>
            </a:pPr>
            <a:r>
              <a:rPr lang="en-US" altLang="zh-CN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 </a:t>
            </a:r>
            <a:r>
              <a:rPr lang="zh-CN" altLang="en-US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模糊</a:t>
            </a:r>
            <a:r>
              <a:rPr lang="en-US" altLang="zh-CN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PID</a:t>
            </a:r>
            <a:r>
              <a:rPr lang="zh-CN" altLang="en-US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控制器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3079" y="847051"/>
            <a:ext cx="5111431" cy="1349462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608492" y="306443"/>
            <a:ext cx="5653233" cy="19480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439737" y="2254478"/>
            <a:ext cx="10271447" cy="442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tabLst>
                <a:tab pos="3346450" algn="l"/>
              </a:tabLst>
            </a:pPr>
            <a:r>
              <a:rPr lang="zh-CN" altLang="en-US" b="1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模糊控制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是一种采用由</a:t>
            </a:r>
            <a:r>
              <a:rPr lang="zh-CN" altLang="en-US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模糊数学语言</a:t>
            </a:r>
            <a:r>
              <a:rPr lang="zh-CN" altLang="en-US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描述的控制规则来操纵系统工作的控制方式。</a:t>
            </a:r>
            <a:endParaRPr lang="en-US" altLang="zh-CN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2091" y="2697356"/>
            <a:ext cx="11420172" cy="1855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模糊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PID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控制器由</a:t>
            </a:r>
            <a:r>
              <a:rPr lang="zh-CN" alt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参数可调</a:t>
            </a:r>
            <a:r>
              <a:rPr lang="en-US" altLang="zh-CN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PID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模糊控制器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两部分构成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PID</a:t>
            </a:r>
            <a:r>
              <a:rPr lang="zh-CN" altLang="en-US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控制器：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实现对系统的控制</a:t>
            </a:r>
            <a:endParaRPr lang="en-US" altLang="zh-CN" sz="18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模糊控制器：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以偏差 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 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和偏差变化率 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作为输入，采用模糊推理办法对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PID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参数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Kp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Kd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Ki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进行在线整定，以满足不同的偏差</a:t>
            </a:r>
            <a:r>
              <a:rPr lang="en-US" altLang="zh-CN" kern="100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和偏差变化率</a:t>
            </a:r>
            <a:r>
              <a:rPr lang="en-US" altLang="zh-CN" kern="100" dirty="0" err="1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Ec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对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PID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控制器参数的不同要求，从而使被控对象有良好的动态、静态性能。</a:t>
            </a:r>
            <a:endParaRPr lang="zh-CN" altLang="zh-CN" sz="1400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2091" y="4543411"/>
            <a:ext cx="11420172" cy="18556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传统的</a:t>
            </a:r>
            <a:r>
              <a:rPr lang="en-US" altLang="zh-CN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PID</a:t>
            </a:r>
            <a:r>
              <a:rPr lang="zh-CN" alt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动态性能较差，但稳态性能较好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控制得到的数学模型不精确</a:t>
            </a:r>
            <a:endParaRPr lang="zh-CN" altLang="en-US" sz="1800" kern="100" dirty="0"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模糊控制</a:t>
            </a:r>
            <a:r>
              <a:rPr lang="zh-CN" altLang="en-US" sz="1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动态性能好，但稳态性能差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，控制效果受控制规则和变量的量化级别限制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模糊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PID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在常规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PID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的基础上加设模糊参数自整定控制器，自动的在线调整</a:t>
            </a:r>
            <a:r>
              <a:rPr lang="en-US" altLang="zh-CN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PID</a:t>
            </a:r>
            <a:r>
              <a:rPr lang="zh-CN" altLang="en-US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的三个参数，具有良好的动态和稳态性能</a:t>
            </a:r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同侧圆角矩形 6"/>
          <p:cNvSpPr/>
          <p:nvPr/>
        </p:nvSpPr>
        <p:spPr>
          <a:xfrm flipV="1">
            <a:off x="82550" y="2274888"/>
            <a:ext cx="12026900" cy="4491038"/>
          </a:xfrm>
          <a:prstGeom prst="round2SameRect">
            <a:avLst>
              <a:gd name="adj1" fmla="val 6117"/>
              <a:gd name="adj2" fmla="val 0"/>
            </a:avLst>
          </a:prstGeom>
          <a:solidFill>
            <a:srgbClr val="701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6147" name="组合 32"/>
          <p:cNvGrpSpPr/>
          <p:nvPr/>
        </p:nvGrpSpPr>
        <p:grpSpPr>
          <a:xfrm>
            <a:off x="5035550" y="1227138"/>
            <a:ext cx="2120900" cy="2119312"/>
            <a:chOff x="7731" y="3522"/>
            <a:chExt cx="3736" cy="3736"/>
          </a:xfrm>
        </p:grpSpPr>
        <p:sp>
          <p:nvSpPr>
            <p:cNvPr id="34" name="椭圆 33"/>
            <p:cNvSpPr/>
            <p:nvPr/>
          </p:nvSpPr>
          <p:spPr>
            <a:xfrm>
              <a:off x="7731" y="3522"/>
              <a:ext cx="3737" cy="37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grpSp>
          <p:nvGrpSpPr>
            <p:cNvPr id="6149" name="组合 34"/>
            <p:cNvGrpSpPr/>
            <p:nvPr/>
          </p:nvGrpSpPr>
          <p:grpSpPr>
            <a:xfrm>
              <a:off x="7992" y="3783"/>
              <a:ext cx="3216" cy="3216"/>
              <a:chOff x="7991" y="1975"/>
              <a:chExt cx="3216" cy="3216"/>
            </a:xfrm>
          </p:grpSpPr>
          <p:grpSp>
            <p:nvGrpSpPr>
              <p:cNvPr id="6150" name="组合 35"/>
              <p:cNvGrpSpPr/>
              <p:nvPr/>
            </p:nvGrpSpPr>
            <p:grpSpPr>
              <a:xfrm>
                <a:off x="8128" y="3059"/>
                <a:ext cx="2944" cy="1311"/>
                <a:chOff x="4146" y="1979"/>
                <a:chExt cx="7176" cy="3196"/>
              </a:xfrm>
            </p:grpSpPr>
            <p:sp>
              <p:nvSpPr>
                <p:cNvPr id="37" name="任意多边形 36"/>
                <p:cNvSpPr/>
                <p:nvPr/>
              </p:nvSpPr>
              <p:spPr>
                <a:xfrm>
                  <a:off x="5757" y="2731"/>
                  <a:ext cx="3953" cy="2444"/>
                </a:xfrm>
                <a:custGeom>
                  <a:avLst/>
                  <a:gdLst>
                    <a:gd name="connsiteX0" fmla="*/ 0 w 4176"/>
                    <a:gd name="connsiteY0" fmla="*/ 387 h 2444"/>
                    <a:gd name="connsiteX1" fmla="*/ 387 w 4176"/>
                    <a:gd name="connsiteY1" fmla="*/ 0 h 2444"/>
                    <a:gd name="connsiteX2" fmla="*/ 3789 w 4176"/>
                    <a:gd name="connsiteY2" fmla="*/ 0 h 2444"/>
                    <a:gd name="connsiteX3" fmla="*/ 4176 w 4176"/>
                    <a:gd name="connsiteY3" fmla="*/ 387 h 2444"/>
                    <a:gd name="connsiteX4" fmla="*/ 4176 w 4176"/>
                    <a:gd name="connsiteY4" fmla="*/ 1937 h 2444"/>
                    <a:gd name="connsiteX5" fmla="*/ 3789 w 4176"/>
                    <a:gd name="connsiteY5" fmla="*/ 2324 h 2444"/>
                    <a:gd name="connsiteX6" fmla="*/ 2143 w 4176"/>
                    <a:gd name="connsiteY6" fmla="*/ 2442 h 2444"/>
                    <a:gd name="connsiteX7" fmla="*/ 387 w 4176"/>
                    <a:gd name="connsiteY7" fmla="*/ 2324 h 2444"/>
                    <a:gd name="connsiteX8" fmla="*/ 0 w 4176"/>
                    <a:gd name="connsiteY8" fmla="*/ 1937 h 2444"/>
                    <a:gd name="connsiteX9" fmla="*/ 0 w 4176"/>
                    <a:gd name="connsiteY9" fmla="*/ 387 h 24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176" h="2444">
                      <a:moveTo>
                        <a:pt x="0" y="387"/>
                      </a:moveTo>
                      <a:cubicBezTo>
                        <a:pt x="0" y="173"/>
                        <a:pt x="173" y="0"/>
                        <a:pt x="387" y="0"/>
                      </a:cubicBezTo>
                      <a:lnTo>
                        <a:pt x="3789" y="0"/>
                      </a:lnTo>
                      <a:cubicBezTo>
                        <a:pt x="4003" y="0"/>
                        <a:pt x="4176" y="173"/>
                        <a:pt x="4176" y="387"/>
                      </a:cubicBezTo>
                      <a:lnTo>
                        <a:pt x="4176" y="1937"/>
                      </a:lnTo>
                      <a:cubicBezTo>
                        <a:pt x="4176" y="2151"/>
                        <a:pt x="4130" y="2251"/>
                        <a:pt x="3789" y="2324"/>
                      </a:cubicBezTo>
                      <a:cubicBezTo>
                        <a:pt x="3448" y="2397"/>
                        <a:pt x="2593" y="2457"/>
                        <a:pt x="2143" y="2442"/>
                      </a:cubicBezTo>
                      <a:cubicBezTo>
                        <a:pt x="1723" y="2442"/>
                        <a:pt x="688" y="2412"/>
                        <a:pt x="387" y="2324"/>
                      </a:cubicBezTo>
                      <a:cubicBezTo>
                        <a:pt x="86" y="2236"/>
                        <a:pt x="0" y="2151"/>
                        <a:pt x="0" y="1937"/>
                      </a:cubicBezTo>
                      <a:lnTo>
                        <a:pt x="0" y="387"/>
                      </a:lnTo>
                      <a:close/>
                    </a:path>
                  </a:pathLst>
                </a:custGeom>
                <a:solidFill>
                  <a:srgbClr val="701E5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auto"/>
                  <a:endParaRPr lang="zh-CN" altLang="en-US" strike="noStrike" noProof="1"/>
                </a:p>
              </p:txBody>
            </p:sp>
            <p:sp>
              <p:nvSpPr>
                <p:cNvPr id="38" name="菱形 37"/>
                <p:cNvSpPr/>
                <p:nvPr/>
              </p:nvSpPr>
              <p:spPr>
                <a:xfrm>
                  <a:off x="4146" y="1979"/>
                  <a:ext cx="7176" cy="2071"/>
                </a:xfrm>
                <a:prstGeom prst="diamond">
                  <a:avLst/>
                </a:prstGeom>
                <a:solidFill>
                  <a:srgbClr val="701E5E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auto"/>
                  <a:endParaRPr lang="zh-CN" altLang="en-US" strike="noStrike" noProof="1"/>
                </a:p>
              </p:txBody>
            </p:sp>
            <p:sp>
              <p:nvSpPr>
                <p:cNvPr id="39" name="任意多边形 38"/>
                <p:cNvSpPr/>
                <p:nvPr/>
              </p:nvSpPr>
              <p:spPr>
                <a:xfrm rot="18900000">
                  <a:off x="4839" y="4614"/>
                  <a:ext cx="526" cy="518"/>
                </a:xfrm>
                <a:custGeom>
                  <a:avLst/>
                  <a:gdLst>
                    <a:gd name="connsiteX0" fmla="*/ 0 w 1974"/>
                    <a:gd name="connsiteY0" fmla="*/ 1060 h 2004"/>
                    <a:gd name="connsiteX1" fmla="*/ 945 w 1974"/>
                    <a:gd name="connsiteY1" fmla="*/ 115 h 2004"/>
                    <a:gd name="connsiteX2" fmla="*/ 1889 w 1974"/>
                    <a:gd name="connsiteY2" fmla="*/ 115 h 2004"/>
                    <a:gd name="connsiteX3" fmla="*/ 1889 w 1974"/>
                    <a:gd name="connsiteY3" fmla="*/ 1060 h 2004"/>
                    <a:gd name="connsiteX4" fmla="*/ 945 w 1974"/>
                    <a:gd name="connsiteY4" fmla="*/ 2004 h 2004"/>
                    <a:gd name="connsiteX5" fmla="*/ 0 w 1974"/>
                    <a:gd name="connsiteY5" fmla="*/ 1060 h 20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75" h="2004">
                      <a:moveTo>
                        <a:pt x="0" y="1060"/>
                      </a:moveTo>
                      <a:cubicBezTo>
                        <a:pt x="0" y="538"/>
                        <a:pt x="452" y="289"/>
                        <a:pt x="945" y="115"/>
                      </a:cubicBezTo>
                      <a:cubicBezTo>
                        <a:pt x="1251" y="7"/>
                        <a:pt x="1548" y="-78"/>
                        <a:pt x="1889" y="115"/>
                      </a:cubicBezTo>
                      <a:cubicBezTo>
                        <a:pt x="2046" y="378"/>
                        <a:pt x="1951" y="728"/>
                        <a:pt x="1889" y="1060"/>
                      </a:cubicBezTo>
                      <a:cubicBezTo>
                        <a:pt x="1793" y="1573"/>
                        <a:pt x="1466" y="2004"/>
                        <a:pt x="945" y="2004"/>
                      </a:cubicBezTo>
                      <a:cubicBezTo>
                        <a:pt x="423" y="2004"/>
                        <a:pt x="0" y="1581"/>
                        <a:pt x="0" y="1060"/>
                      </a:cubicBezTo>
                      <a:close/>
                    </a:path>
                  </a:pathLst>
                </a:custGeom>
                <a:solidFill>
                  <a:srgbClr val="701E5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auto"/>
                  <a:endParaRPr lang="zh-CN" altLang="en-US" strike="noStrike" noProof="1"/>
                </a:p>
              </p:txBody>
            </p:sp>
            <p:cxnSp>
              <p:nvCxnSpPr>
                <p:cNvPr id="40" name="直接连接符 39"/>
                <p:cNvCxnSpPr/>
                <p:nvPr/>
              </p:nvCxnSpPr>
              <p:spPr>
                <a:xfrm>
                  <a:off x="5102" y="3284"/>
                  <a:ext cx="0" cy="1338"/>
                </a:xfrm>
                <a:prstGeom prst="line">
                  <a:avLst/>
                </a:prstGeom>
                <a:ln w="50800" cap="rnd">
                  <a:solidFill>
                    <a:srgbClr val="701E5E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椭圆 40"/>
              <p:cNvSpPr/>
              <p:nvPr/>
            </p:nvSpPr>
            <p:spPr>
              <a:xfrm>
                <a:off x="7991" y="1975"/>
                <a:ext cx="3217" cy="3217"/>
              </a:xfrm>
              <a:prstGeom prst="ellipse">
                <a:avLst/>
              </a:prstGeom>
              <a:noFill/>
              <a:ln w="28575">
                <a:solidFill>
                  <a:srgbClr val="701E5E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</p:grpSp>
      </p:grpSp>
      <p:sp>
        <p:nvSpPr>
          <p:cNvPr id="6156" name="文本框 10"/>
          <p:cNvSpPr txBox="1"/>
          <p:nvPr/>
        </p:nvSpPr>
        <p:spPr>
          <a:xfrm>
            <a:off x="4311015" y="3594735"/>
            <a:ext cx="356933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dist"/>
            <a:r>
              <a:rPr lang="en-US" altLang="zh-CN" sz="6000" dirty="0">
                <a:solidFill>
                  <a:schemeClr val="bg1"/>
                </a:solidFill>
                <a:latin typeface="字魂105号-简雅黑" panose="00000500000000000000" charset="-122"/>
                <a:ea typeface="字魂105号-简雅黑" panose="00000500000000000000" charset="-122"/>
              </a:rPr>
              <a:t>PART 02</a:t>
            </a:r>
          </a:p>
        </p:txBody>
      </p:sp>
      <p:sp>
        <p:nvSpPr>
          <p:cNvPr id="6157" name="文本框 47"/>
          <p:cNvSpPr txBox="1"/>
          <p:nvPr/>
        </p:nvSpPr>
        <p:spPr>
          <a:xfrm>
            <a:off x="3214053" y="4857115"/>
            <a:ext cx="5762625" cy="82994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磁悬浮的仿真和控制</a:t>
            </a:r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258"/>
            <a:ext cx="2433638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algn="l" defTabSz="685800" fontAlgn="auto">
              <a:lnSpc>
                <a:spcPct val="90000"/>
              </a:lnSpc>
            </a:pPr>
            <a:r>
              <a:rPr lang="en-US" altLang="zh-CN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 </a:t>
            </a:r>
            <a:r>
              <a:rPr lang="zh-CN" altLang="en-US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原理简介</a:t>
            </a:r>
          </a:p>
        </p:txBody>
      </p:sp>
      <p:pic>
        <p:nvPicPr>
          <p:cNvPr id="12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1391" y="812250"/>
            <a:ext cx="3047136" cy="2666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5956" y="3649344"/>
            <a:ext cx="2310130" cy="248983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" name="组合 7"/>
          <p:cNvGrpSpPr/>
          <p:nvPr/>
        </p:nvGrpSpPr>
        <p:grpSpPr>
          <a:xfrm>
            <a:off x="5140953" y="2800088"/>
            <a:ext cx="5615031" cy="2834640"/>
            <a:chOff x="8135" y="4506"/>
            <a:chExt cx="8396" cy="4464"/>
          </a:xfrm>
        </p:grpSpPr>
        <p:sp>
          <p:nvSpPr>
            <p:cNvPr id="28" name="1111"/>
            <p:cNvSpPr txBox="1"/>
            <p:nvPr/>
          </p:nvSpPr>
          <p:spPr>
            <a:xfrm>
              <a:off x="8135" y="4506"/>
              <a:ext cx="8396" cy="266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8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传递函数：</a:t>
              </a:r>
              <a:endParaRPr lang="en-US" altLang="zh-CN" sz="1800" b="1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  <a:p>
              <a:pPr algn="just">
                <a:lnSpc>
                  <a:spcPct val="150000"/>
                </a:lnSpc>
              </a:pPr>
              <a:r>
                <a:rPr lang="zh-CN" altLang="en-US" sz="1800" dirty="0">
                  <a:latin typeface="宋体" panose="02010600030101010101" pitchFamily="2" charset="-122"/>
                  <a:ea typeface="宋体" panose="02010600030101010101" pitchFamily="2" charset="-122"/>
                </a:rPr>
                <a:t>综合系统的动力学方程、系统的电磁力模型和系统平衡边界条件等前提，进行线性化处理和数据带入，可以近似如下：</a:t>
              </a:r>
            </a:p>
          </p:txBody>
        </p:sp>
        <p:pic>
          <p:nvPicPr>
            <p:cNvPr id="3" name="图片 2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01" y="7289"/>
              <a:ext cx="4932" cy="16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文本框 1"/>
          <p:cNvSpPr txBox="1"/>
          <p:nvPr/>
        </p:nvSpPr>
        <p:spPr>
          <a:xfrm>
            <a:off x="5140953" y="1223272"/>
            <a:ext cx="5367662" cy="1273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通过将激光传感器检测的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位移量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反馈给控制系统，控制电磁铁绕组中的电流，使之产生的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电磁力与钢球的重力相平衡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实现对磁悬浮系统的稳定控制。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258"/>
            <a:ext cx="2433638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defTabSz="685800" fontAlgn="auto">
              <a:lnSpc>
                <a:spcPct val="90000"/>
              </a:lnSpc>
            </a:pPr>
            <a:r>
              <a:rPr lang="en-US" altLang="zh-CN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 PID</a:t>
            </a:r>
            <a:r>
              <a:rPr lang="zh-CN" altLang="en-US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仿真实验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6096000" y="52635"/>
                <a:ext cx="3850326" cy="2194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3346450" algn="l"/>
                  </a:tabLst>
                </a:pPr>
                <a:r>
                  <a:rPr lang="en-US" altLang="zh-CN" sz="2000" kern="100" dirty="0">
                    <a:latin typeface="+mn-ea"/>
                    <a:cs typeface="Times New Roman" panose="02020603050405020304" pitchFamily="18" charset="0"/>
                  </a:rPr>
                  <a:t>PID</a:t>
                </a:r>
                <a:r>
                  <a:rPr lang="zh-CN" altLang="en-US" sz="2000" kern="100" dirty="0">
                    <a:latin typeface="+mn-ea"/>
                    <a:cs typeface="Times New Roman" panose="02020603050405020304" pitchFamily="18" charset="0"/>
                  </a:rPr>
                  <a:t>控制参数</a:t>
                </a:r>
                <a:endParaRPr lang="en-US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=2550</m:t>
                    </m:r>
                  </m:oMath>
                </a14:m>
                <a:endParaRPr lang="en-US" altLang="zh-CN" sz="1800" b="0" i="1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=1050</m:t>
                    </m:r>
                  </m:oMath>
                </a14:m>
                <a:endParaRPr lang="en-US" altLang="zh-CN" sz="1800" b="0" i="1" kern="100" dirty="0"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=50</m:t>
                    </m:r>
                  </m:oMath>
                </a14:m>
                <a:endParaRPr lang="en-US" altLang="zh-CN" sz="1800" b="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阶跃函数的</a:t>
                </a: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终</a:t>
                </a: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值</a:t>
                </a:r>
                <a:r>
                  <a:rPr lang="en-US" altLang="zh-CN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=-0.01</a:t>
                </a: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2635"/>
                <a:ext cx="3850326" cy="2194319"/>
              </a:xfrm>
              <a:prstGeom prst="rect">
                <a:avLst/>
              </a:prstGeom>
              <a:blipFill>
                <a:blip r:embed="rId4"/>
                <a:stretch>
                  <a:fillRect l="-1582" b="-36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/>
          <p:cNvSpPr txBox="1"/>
          <p:nvPr/>
        </p:nvSpPr>
        <p:spPr>
          <a:xfrm>
            <a:off x="6177923" y="2279992"/>
            <a:ext cx="4946542" cy="4662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控制效果</a:t>
            </a:r>
            <a:endParaRPr lang="en-US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上升时间：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en-US" altLang="zh-CN" sz="2000" baseline="-25000" dirty="0">
                <a:latin typeface="等线" panose="02010600030101010101" pitchFamily="2" charset="-122"/>
                <a:ea typeface="等线" panose="02010600030101010101" pitchFamily="2" charset="-122"/>
              </a:rPr>
              <a:t>r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=0.052s</a:t>
            </a:r>
            <a:endParaRPr lang="zh-CN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延迟时间：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en-US" altLang="zh-CN" sz="2000" baseline="-25000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=0.027s</a:t>
            </a:r>
            <a:endParaRPr lang="zh-CN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峰值时间：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en-US" altLang="zh-CN" sz="2000" baseline="-25000" dirty="0" err="1">
                <a:latin typeface="等线" panose="02010600030101010101" pitchFamily="2" charset="-122"/>
                <a:ea typeface="等线" panose="02010600030101010101" pitchFamily="2" charset="-122"/>
              </a:rPr>
              <a:t>p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=0.193s</a:t>
            </a:r>
            <a:endParaRPr lang="zh-CN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超调量：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A=(0.016522-0.01)/0.01=65.22%</a:t>
            </a:r>
            <a:endParaRPr lang="zh-CN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just">
              <a:lnSpc>
                <a:spcPct val="150000"/>
              </a:lnSpc>
            </a:pP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26" name="图片 1">
            <a:extLst>
              <a:ext uri="{FF2B5EF4-FFF2-40B4-BE49-F238E27FC236}">
                <a16:creationId xmlns:a16="http://schemas.microsoft.com/office/drawing/2014/main" id="{D89B9A33-230A-4924-0D03-FA96F8B96E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3" y="2659043"/>
            <a:ext cx="5270500" cy="393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图片 3">
            <a:extLst>
              <a:ext uri="{FF2B5EF4-FFF2-40B4-BE49-F238E27FC236}">
                <a16:creationId xmlns:a16="http://schemas.microsoft.com/office/drawing/2014/main" id="{CFEB0091-6D53-C092-C4F5-E37A3B18FC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903" y="939800"/>
            <a:ext cx="5270500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7ECB9A-08E4-4F59-0102-B0C28A911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790ADAF2-5C64-06F8-9CC2-BE4573834F5C}"/>
              </a:ext>
            </a:extLst>
          </p:cNvPr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>
              <a:extLst>
                <a:ext uri="{FF2B5EF4-FFF2-40B4-BE49-F238E27FC236}">
                  <a16:creationId xmlns:a16="http://schemas.microsoft.com/office/drawing/2014/main" id="{508AE52C-0FC1-80B8-048D-0C2188CCB630}"/>
                </a:ext>
              </a:extLst>
            </p:cNvPr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>
              <a:extLst>
                <a:ext uri="{FF2B5EF4-FFF2-40B4-BE49-F238E27FC236}">
                  <a16:creationId xmlns:a16="http://schemas.microsoft.com/office/drawing/2014/main" id="{270C3909-0C5A-0209-77BD-D86DEC0293F5}"/>
                </a:ext>
              </a:extLst>
            </p:cNvPr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>
                <a:extLst>
                  <a:ext uri="{FF2B5EF4-FFF2-40B4-BE49-F238E27FC236}">
                    <a16:creationId xmlns:a16="http://schemas.microsoft.com/office/drawing/2014/main" id="{F8BB15C8-4C94-78AA-664A-EB6FA833E5C6}"/>
                  </a:ext>
                </a:extLst>
              </p:cNvPr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>
                <a:extLst>
                  <a:ext uri="{FF2B5EF4-FFF2-40B4-BE49-F238E27FC236}">
                    <a16:creationId xmlns:a16="http://schemas.microsoft.com/office/drawing/2014/main" id="{81467C5B-042E-6B22-8305-4BF5B8C8B207}"/>
                  </a:ext>
                </a:extLst>
              </p:cNvPr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>
                <a:extLst>
                  <a:ext uri="{FF2B5EF4-FFF2-40B4-BE49-F238E27FC236}">
                    <a16:creationId xmlns:a16="http://schemas.microsoft.com/office/drawing/2014/main" id="{E2A1B02B-3230-4D94-7683-8D1A0E24487E}"/>
                  </a:ext>
                </a:extLst>
              </p:cNvPr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050EC2A1-5EB0-F976-BD18-26839524B66F}"/>
                  </a:ext>
                </a:extLst>
              </p:cNvPr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>
            <a:extLst>
              <a:ext uri="{FF2B5EF4-FFF2-40B4-BE49-F238E27FC236}">
                <a16:creationId xmlns:a16="http://schemas.microsoft.com/office/drawing/2014/main" id="{CAB281D1-0FCF-6DD6-25CC-5A2EA878F910}"/>
              </a:ext>
            </a:extLst>
          </p:cNvPr>
          <p:cNvSpPr txBox="1"/>
          <p:nvPr userDrawn="1"/>
        </p:nvSpPr>
        <p:spPr>
          <a:xfrm>
            <a:off x="930275" y="155258"/>
            <a:ext cx="2433638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defTabSz="685800" fontAlgn="auto">
              <a:lnSpc>
                <a:spcPct val="90000"/>
              </a:lnSpc>
            </a:pPr>
            <a:r>
              <a:rPr lang="en-US" altLang="zh-CN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 PID</a:t>
            </a:r>
            <a:r>
              <a:rPr lang="zh-CN" altLang="en-US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下阶跃</a:t>
            </a:r>
            <a:r>
              <a:rPr lang="en-US" altLang="zh-CN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1mm</a:t>
            </a:r>
            <a:r>
              <a:rPr lang="zh-CN" altLang="en-US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仿真实验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2F774F4-1BBC-8B89-4C6F-9BD301DA60FF}"/>
                  </a:ext>
                </a:extLst>
              </p:cNvPr>
              <p:cNvSpPr txBox="1"/>
              <p:nvPr/>
            </p:nvSpPr>
            <p:spPr>
              <a:xfrm>
                <a:off x="6096000" y="52635"/>
                <a:ext cx="3850326" cy="2194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3346450" algn="l"/>
                  </a:tabLst>
                </a:pPr>
                <a:r>
                  <a:rPr lang="en-US" altLang="zh-CN" sz="2000" kern="100" dirty="0">
                    <a:latin typeface="+mn-ea"/>
                    <a:cs typeface="Times New Roman" panose="02020603050405020304" pitchFamily="18" charset="0"/>
                  </a:rPr>
                  <a:t>PID</a:t>
                </a:r>
                <a:r>
                  <a:rPr lang="zh-CN" altLang="en-US" sz="2000" kern="100" dirty="0">
                    <a:latin typeface="+mn-ea"/>
                    <a:cs typeface="Times New Roman" panose="02020603050405020304" pitchFamily="18" charset="0"/>
                  </a:rPr>
                  <a:t>控制参数</a:t>
                </a:r>
                <a:endParaRPr lang="en-US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=2550</m:t>
                    </m:r>
                  </m:oMath>
                </a14:m>
                <a:endParaRPr lang="en-US" altLang="zh-CN" sz="1800" b="0" i="1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=1050</m:t>
                    </m:r>
                  </m:oMath>
                </a14:m>
                <a:endParaRPr lang="en-US" altLang="zh-CN" sz="1800" b="0" i="1" kern="100" dirty="0"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=50</m:t>
                    </m:r>
                  </m:oMath>
                </a14:m>
                <a:endParaRPr lang="en-US" altLang="zh-CN" sz="1800" b="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阶跃函数的</a:t>
                </a: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终</a:t>
                </a: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值</a:t>
                </a:r>
                <a:r>
                  <a:rPr lang="en-US" altLang="zh-CN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=-0.01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2F774F4-1BBC-8B89-4C6F-9BD301DA6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2635"/>
                <a:ext cx="3850326" cy="2194319"/>
              </a:xfrm>
              <a:prstGeom prst="rect">
                <a:avLst/>
              </a:prstGeom>
              <a:blipFill>
                <a:blip r:embed="rId4"/>
                <a:stretch>
                  <a:fillRect l="-1582" b="-36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A763E21B-2422-ACD8-BFFA-3CEEBFFE34C0}"/>
              </a:ext>
            </a:extLst>
          </p:cNvPr>
          <p:cNvSpPr txBox="1"/>
          <p:nvPr/>
        </p:nvSpPr>
        <p:spPr>
          <a:xfrm>
            <a:off x="6206167" y="2671569"/>
            <a:ext cx="4946542" cy="373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上升时间：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en-US" altLang="zh-CN" sz="2000" baseline="-25000" dirty="0">
                <a:latin typeface="等线" panose="02010600030101010101" pitchFamily="2" charset="-122"/>
                <a:ea typeface="等线" panose="02010600030101010101" pitchFamily="2" charset="-122"/>
              </a:rPr>
              <a:t>r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=0.047s</a:t>
            </a:r>
            <a:endParaRPr lang="zh-CN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延迟时间：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en-US" altLang="zh-CN" sz="2000" baseline="-25000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=0.015s</a:t>
            </a:r>
            <a:endParaRPr lang="zh-CN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峰值时间：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en-US" altLang="zh-CN" sz="2000" baseline="-25000" dirty="0" err="1">
                <a:latin typeface="等线" panose="02010600030101010101" pitchFamily="2" charset="-122"/>
                <a:ea typeface="等线" panose="02010600030101010101" pitchFamily="2" charset="-122"/>
              </a:rPr>
              <a:t>p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=0.153s</a:t>
            </a:r>
            <a:endParaRPr lang="zh-CN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超调量：</a:t>
            </a: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A=(0.0116544-0.011)/0.011=5.91%</a:t>
            </a:r>
            <a:endParaRPr lang="zh-CN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1027" name="图片 3">
            <a:extLst>
              <a:ext uri="{FF2B5EF4-FFF2-40B4-BE49-F238E27FC236}">
                <a16:creationId xmlns:a16="http://schemas.microsoft.com/office/drawing/2014/main" id="{9E3EF161-3CA6-609C-95DA-F911EC448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903" y="939800"/>
            <a:ext cx="5270500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0" name="图片 1">
            <a:extLst>
              <a:ext uri="{FF2B5EF4-FFF2-40B4-BE49-F238E27FC236}">
                <a16:creationId xmlns:a16="http://schemas.microsoft.com/office/drawing/2014/main" id="{13EC477C-8EFB-F008-0178-9FE5DB3E57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667" y="3338512"/>
            <a:ext cx="4779962" cy="354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45583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643C9-5429-A25C-E19A-034A53720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>
            <a:extLst>
              <a:ext uri="{FF2B5EF4-FFF2-40B4-BE49-F238E27FC236}">
                <a16:creationId xmlns:a16="http://schemas.microsoft.com/office/drawing/2014/main" id="{A0075C81-B0B2-9981-0410-8B3897450C8D}"/>
              </a:ext>
            </a:extLst>
          </p:cNvPr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>
              <a:extLst>
                <a:ext uri="{FF2B5EF4-FFF2-40B4-BE49-F238E27FC236}">
                  <a16:creationId xmlns:a16="http://schemas.microsoft.com/office/drawing/2014/main" id="{461AB3B3-E5D8-AF2B-6E04-8400BCAA931B}"/>
                </a:ext>
              </a:extLst>
            </p:cNvPr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>
              <a:extLst>
                <a:ext uri="{FF2B5EF4-FFF2-40B4-BE49-F238E27FC236}">
                  <a16:creationId xmlns:a16="http://schemas.microsoft.com/office/drawing/2014/main" id="{407F7276-D7F3-F1CA-799D-FD82FBF47466}"/>
                </a:ext>
              </a:extLst>
            </p:cNvPr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>
                <a:extLst>
                  <a:ext uri="{FF2B5EF4-FFF2-40B4-BE49-F238E27FC236}">
                    <a16:creationId xmlns:a16="http://schemas.microsoft.com/office/drawing/2014/main" id="{D6207BD9-9439-A5FB-1E72-C7949ED26FCC}"/>
                  </a:ext>
                </a:extLst>
              </p:cNvPr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>
                <a:extLst>
                  <a:ext uri="{FF2B5EF4-FFF2-40B4-BE49-F238E27FC236}">
                    <a16:creationId xmlns:a16="http://schemas.microsoft.com/office/drawing/2014/main" id="{E79B1BF0-A71B-CB01-EAE4-EBAE90485D89}"/>
                  </a:ext>
                </a:extLst>
              </p:cNvPr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>
                <a:extLst>
                  <a:ext uri="{FF2B5EF4-FFF2-40B4-BE49-F238E27FC236}">
                    <a16:creationId xmlns:a16="http://schemas.microsoft.com/office/drawing/2014/main" id="{FD14D125-401F-A046-14C8-41AE5152C95A}"/>
                  </a:ext>
                </a:extLst>
              </p:cNvPr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>
                <a:extLst>
                  <a:ext uri="{FF2B5EF4-FFF2-40B4-BE49-F238E27FC236}">
                    <a16:creationId xmlns:a16="http://schemas.microsoft.com/office/drawing/2014/main" id="{E77A22F0-8DED-64AB-1FBB-BFDD235BAF63}"/>
                  </a:ext>
                </a:extLst>
              </p:cNvPr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>
            <a:extLst>
              <a:ext uri="{FF2B5EF4-FFF2-40B4-BE49-F238E27FC236}">
                <a16:creationId xmlns:a16="http://schemas.microsoft.com/office/drawing/2014/main" id="{BBFB8095-38ED-1F0A-5BB2-7FC3F1E02606}"/>
              </a:ext>
            </a:extLst>
          </p:cNvPr>
          <p:cNvSpPr txBox="1"/>
          <p:nvPr userDrawn="1"/>
        </p:nvSpPr>
        <p:spPr>
          <a:xfrm>
            <a:off x="930275" y="155258"/>
            <a:ext cx="2433638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defTabSz="685800" fontAlgn="auto">
              <a:lnSpc>
                <a:spcPct val="90000"/>
              </a:lnSpc>
            </a:pPr>
            <a:r>
              <a:rPr lang="en-US" altLang="zh-CN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 PID</a:t>
            </a:r>
            <a:r>
              <a:rPr lang="zh-CN" altLang="en-US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上阶跃</a:t>
            </a:r>
            <a:r>
              <a:rPr lang="en-US" altLang="zh-CN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1mm</a:t>
            </a:r>
            <a:r>
              <a:rPr lang="zh-CN" altLang="en-US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仿真实验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13DD61E-7353-D237-3BBD-44D43EF5F82F}"/>
                  </a:ext>
                </a:extLst>
              </p:cNvPr>
              <p:cNvSpPr txBox="1"/>
              <p:nvPr/>
            </p:nvSpPr>
            <p:spPr>
              <a:xfrm>
                <a:off x="6096000" y="52635"/>
                <a:ext cx="3850326" cy="219431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3346450" algn="l"/>
                  </a:tabLst>
                </a:pPr>
                <a:r>
                  <a:rPr lang="en-US" altLang="zh-CN" sz="2000" kern="100" dirty="0">
                    <a:latin typeface="+mn-ea"/>
                    <a:cs typeface="Times New Roman" panose="02020603050405020304" pitchFamily="18" charset="0"/>
                  </a:rPr>
                  <a:t>PID</a:t>
                </a:r>
                <a:r>
                  <a:rPr lang="zh-CN" altLang="en-US" sz="2000" kern="100" dirty="0">
                    <a:latin typeface="+mn-ea"/>
                    <a:cs typeface="Times New Roman" panose="02020603050405020304" pitchFamily="18" charset="0"/>
                  </a:rPr>
                  <a:t>控制参数</a:t>
                </a:r>
                <a:endParaRPr lang="en-US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=2550</m:t>
                    </m:r>
                  </m:oMath>
                </a14:m>
                <a:endParaRPr lang="en-US" altLang="zh-CN" sz="1800" b="0" i="1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=1050</m:t>
                    </m:r>
                  </m:oMath>
                </a14:m>
                <a:endParaRPr lang="en-US" altLang="zh-CN" sz="1800" b="0" i="1" kern="100" dirty="0">
                  <a:latin typeface="Cambria Math" panose="02040503050406030204" pitchFamily="18" charset="0"/>
                  <a:ea typeface="MS Mincho" charset="0"/>
                  <a:cs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=50</m:t>
                    </m:r>
                  </m:oMath>
                </a14:m>
                <a:endParaRPr lang="en-US" altLang="zh-CN" sz="1800" b="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阶跃函数的</a:t>
                </a: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终</a:t>
                </a: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值</a:t>
                </a:r>
                <a:r>
                  <a:rPr lang="en-US" altLang="zh-CN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=-0.01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C13DD61E-7353-D237-3BBD-44D43EF5F8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2635"/>
                <a:ext cx="3850326" cy="2194319"/>
              </a:xfrm>
              <a:prstGeom prst="rect">
                <a:avLst/>
              </a:prstGeom>
              <a:blipFill>
                <a:blip r:embed="rId4"/>
                <a:stretch>
                  <a:fillRect l="-1582" b="-36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BD98FB1E-6B45-931C-D397-570F01A03786}"/>
              </a:ext>
            </a:extLst>
          </p:cNvPr>
          <p:cNvSpPr txBox="1"/>
          <p:nvPr/>
        </p:nvSpPr>
        <p:spPr>
          <a:xfrm>
            <a:off x="6179178" y="2621465"/>
            <a:ext cx="4946542" cy="373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上升时间：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Tr=0.046s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延迟时间：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Td=0.015s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峰值时间：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kern="100" dirty="0" err="1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Tp</a:t>
            </a: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=0.184s</a:t>
            </a:r>
          </a:p>
          <a:p>
            <a:pPr algn="just">
              <a:lnSpc>
                <a:spcPct val="150000"/>
              </a:lnSpc>
            </a:pP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超调量：</a:t>
            </a:r>
          </a:p>
          <a:p>
            <a:pPr algn="just">
              <a:lnSpc>
                <a:spcPct val="150000"/>
              </a:lnSpc>
            </a:pPr>
            <a:r>
              <a:rPr lang="en-US" altLang="zh-CN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A=(0.009-0.008363)/0.009=7.07%</a:t>
            </a:r>
          </a:p>
        </p:txBody>
      </p:sp>
      <p:pic>
        <p:nvPicPr>
          <p:cNvPr id="1027" name="图片 3">
            <a:extLst>
              <a:ext uri="{FF2B5EF4-FFF2-40B4-BE49-F238E27FC236}">
                <a16:creationId xmlns:a16="http://schemas.microsoft.com/office/drawing/2014/main" id="{72E20A54-C089-AE38-4E4F-C40190319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903" y="939800"/>
            <a:ext cx="5270500" cy="248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4" name="图片 1">
            <a:extLst>
              <a:ext uri="{FF2B5EF4-FFF2-40B4-BE49-F238E27FC236}">
                <a16:creationId xmlns:a16="http://schemas.microsoft.com/office/drawing/2014/main" id="{C64A072F-912A-DA99-FAA6-9A8C97CB4C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678" y="3370262"/>
            <a:ext cx="4552950" cy="3487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352273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575"/>
            <a:ext cx="3225800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algn="l" defTabSz="685800" fontAlgn="auto">
              <a:lnSpc>
                <a:spcPct val="90000"/>
              </a:lnSpc>
            </a:pPr>
            <a:r>
              <a:rPr lang="en-US" altLang="zh-CN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 </a:t>
            </a:r>
            <a:r>
              <a:rPr lang="zh-CN" altLang="en-US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模糊</a:t>
            </a:r>
            <a:r>
              <a:rPr lang="en-US" altLang="zh-CN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PID</a:t>
            </a:r>
            <a:r>
              <a:rPr lang="zh-CN" altLang="en-US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仿真实验</a:t>
            </a:r>
          </a:p>
        </p:txBody>
      </p:sp>
      <p:pic>
        <p:nvPicPr>
          <p:cNvPr id="4098" name="图片 101">
            <a:extLst>
              <a:ext uri="{FF2B5EF4-FFF2-40B4-BE49-F238E27FC236}">
                <a16:creationId xmlns:a16="http://schemas.microsoft.com/office/drawing/2014/main" id="{BF275ACD-3EF1-47F6-7803-36D55EFDA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03518"/>
            <a:ext cx="12551860" cy="3540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575"/>
            <a:ext cx="3225800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defTabSz="685800" fontAlgn="auto">
              <a:lnSpc>
                <a:spcPct val="90000"/>
              </a:lnSpc>
            </a:pPr>
            <a:r>
              <a:rPr lang="en-US" altLang="zh-CN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 </a:t>
            </a:r>
            <a:r>
              <a:rPr lang="zh-CN" altLang="en-US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模糊</a:t>
            </a:r>
            <a:r>
              <a:rPr lang="en-US" altLang="zh-CN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PID</a:t>
            </a:r>
            <a:r>
              <a:rPr lang="zh-CN" altLang="en-US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仿真实验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883870" y="5012433"/>
            <a:ext cx="8596496" cy="146815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模糊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PID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</a:t>
            </a:r>
            <a:r>
              <a:rPr lang="en-US" altLang="zh-CN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PID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对比</a:t>
            </a:r>
          </a:p>
          <a:p>
            <a:pPr marL="342900" indent="-3429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在参数相同的情况下，模糊PID控制各项动态性能均有小幅度提升</a:t>
            </a:r>
          </a:p>
          <a:p>
            <a:pPr marL="342900" indent="-3429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峰值时间和上升时间的缩短较为明显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超调量的改善效果不明显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863291" y="377408"/>
            <a:ext cx="3850326" cy="1296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其中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PID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的参数保持不变，量化系数设定为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162.1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和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13.3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PID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对应的比例因子为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15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80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，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0.5</a:t>
            </a:r>
            <a:r>
              <a:rPr lang="zh-CN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。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6778030" y="2578716"/>
            <a:ext cx="4946542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kern="1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控制效果</a:t>
            </a:r>
            <a:endParaRPr lang="en-US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上升时间：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en-US" altLang="zh-CN" sz="2000" baseline="-25000" dirty="0">
                <a:latin typeface="等线" panose="02010600030101010101" pitchFamily="2" charset="-122"/>
                <a:ea typeface="等线" panose="02010600030101010101" pitchFamily="2" charset="-122"/>
              </a:rPr>
              <a:t>r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=0.055s</a:t>
            </a:r>
            <a:endParaRPr lang="zh-CN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延迟时间：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en-US" altLang="zh-CN" sz="2000" baseline="-25000" dirty="0">
                <a:latin typeface="等线" panose="02010600030101010101" pitchFamily="2" charset="-122"/>
                <a:ea typeface="等线" panose="02010600030101010101" pitchFamily="2" charset="-122"/>
              </a:rPr>
              <a:t>d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=0.03s</a:t>
            </a:r>
            <a:endParaRPr lang="zh-CN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峰值时间：</a:t>
            </a: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T</a:t>
            </a:r>
            <a:r>
              <a:rPr lang="en-US" altLang="zh-CN" sz="2000" baseline="-25000" dirty="0" err="1">
                <a:latin typeface="等线" panose="02010600030101010101" pitchFamily="2" charset="-122"/>
                <a:ea typeface="等线" panose="02010600030101010101" pitchFamily="2" charset="-122"/>
              </a:rPr>
              <a:t>p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=0.205s</a:t>
            </a:r>
            <a:endParaRPr lang="zh-CN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zh-CN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超调量：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A=(0.0178885-0.01)/0.01=78.885%</a:t>
            </a:r>
            <a:endParaRPr lang="zh-CN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pic>
        <p:nvPicPr>
          <p:cNvPr id="5123" name="图片 1">
            <a:extLst>
              <a:ext uri="{FF2B5EF4-FFF2-40B4-BE49-F238E27FC236}">
                <a16:creationId xmlns:a16="http://schemas.microsoft.com/office/drawing/2014/main" id="{46223E91-D4DD-F32A-CD7F-7648450C8F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2801" y="1090102"/>
            <a:ext cx="5366685" cy="40097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258"/>
            <a:ext cx="2433638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algn="l" defTabSz="685800" fontAlgn="auto">
              <a:lnSpc>
                <a:spcPct val="90000"/>
              </a:lnSpc>
            </a:pPr>
            <a:r>
              <a:rPr lang="en-US" altLang="zh-CN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 PID</a:t>
            </a:r>
            <a:r>
              <a:rPr lang="zh-CN" altLang="en-US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实机控制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FDC6AAF-A7C0-B46E-6218-2A617AFF07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30275" y="775988"/>
            <a:ext cx="4398435" cy="2052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F71D35C-DCB8-220E-F1F7-B44EA820BB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6244" y="2672344"/>
            <a:ext cx="4780241" cy="38027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3B32877-E73D-D5B5-E7B6-1430EF2C020F}"/>
                  </a:ext>
                </a:extLst>
              </p:cNvPr>
              <p:cNvSpPr txBox="1"/>
              <p:nvPr/>
            </p:nvSpPr>
            <p:spPr>
              <a:xfrm>
                <a:off x="6863291" y="654493"/>
                <a:ext cx="3850326" cy="2201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3346450" algn="l"/>
                  </a:tabLst>
                </a:pPr>
                <a:r>
                  <a:rPr lang="en-US" altLang="zh-CN" sz="2000" kern="100" dirty="0">
                    <a:latin typeface="+mn-ea"/>
                    <a:cs typeface="Times New Roman" panose="02020603050405020304" pitchFamily="18" charset="0"/>
                  </a:rPr>
                  <a:t>PID</a:t>
                </a:r>
                <a:r>
                  <a:rPr lang="zh-CN" altLang="en-US" sz="2000" kern="100" dirty="0">
                    <a:latin typeface="+mn-ea"/>
                    <a:cs typeface="Times New Roman" panose="02020603050405020304" pitchFamily="18" charset="0"/>
                  </a:rPr>
                  <a:t>控制参数</a:t>
                </a:r>
                <a:endParaRPr lang="en-US" altLang="zh-CN" sz="20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1800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altLang="zh-CN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n-US" altLang="zh-CN" sz="1800" b="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altLang="zh-CN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800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7</m:t>
                    </m:r>
                  </m:oMath>
                </a14:m>
                <a:endParaRPr lang="en-US" altLang="zh-CN" sz="1800" b="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1800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1800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endParaRPr lang="en-US" altLang="zh-CN" sz="1800" b="0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:r>
                  <a:rPr lang="zh-CN" altLang="zh-CN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阶跃函数的</a:t>
                </a:r>
                <a:r>
                  <a:rPr lang="zh-CN" altLang="en-US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终</a:t>
                </a:r>
                <a:r>
                  <a:rPr lang="zh-CN" altLang="zh-CN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值</a:t>
                </a:r>
                <a:r>
                  <a:rPr lang="en-US" altLang="zh-CN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=-0.01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3B32877-E73D-D5B5-E7B6-1430EF2C0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291" y="654493"/>
                <a:ext cx="3850326" cy="2201308"/>
              </a:xfrm>
              <a:prstGeom prst="rect">
                <a:avLst/>
              </a:prstGeom>
              <a:blipFill>
                <a:blip r:embed="rId6"/>
                <a:stretch>
                  <a:fillRect l="-1743" b="-33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87CD81D-A84A-AD42-F2DC-2514CC703EF7}"/>
                  </a:ext>
                </a:extLst>
              </p:cNvPr>
              <p:cNvSpPr txBox="1"/>
              <p:nvPr/>
            </p:nvSpPr>
            <p:spPr>
              <a:xfrm>
                <a:off x="6863291" y="3268790"/>
                <a:ext cx="5118755" cy="26098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000" kern="100" dirty="0">
                    <a:effectLst/>
                    <a:latin typeface="+mn-ea"/>
                    <a:cs typeface="Times New Roman" panose="02020603050405020304" pitchFamily="18" charset="0"/>
                  </a:rPr>
                  <a:t>控制效果</a:t>
                </a:r>
                <a:endParaRPr lang="en-US" altLang="zh-CN" sz="20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marL="284400" algn="just">
                  <a:lnSpc>
                    <a:spcPct val="150000"/>
                  </a:lnSpc>
                </a:pPr>
                <a:r>
                  <a:rPr lang="zh-CN" altLang="en-US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这里悬浮的小球是用手将其托举上去</a:t>
                </a:r>
                <a:endParaRPr lang="en-US" altLang="zh-CN" sz="1800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峰值时间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  <m:r>
                      <a:rPr lang="en-US" altLang="zh-CN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8</m:t>
                    </m:r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endParaRPr lang="en-US" altLang="zh-CN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超调量</a:t>
                </a:r>
                <a14:m>
                  <m:oMath xmlns:m="http://schemas.openxmlformats.org/officeDocument/2006/math"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𝜎</m:t>
                    </m:r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≈19.879%</m:t>
                    </m:r>
                  </m:oMath>
                </a14:m>
                <a:endParaRPr lang="en-US" altLang="zh-CN" b="0" i="1" kern="100" dirty="0"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en-US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≈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1.551</m:t>
                    </m:r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zh-CN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时</a:t>
                </a:r>
                <a:r>
                  <a:rPr lang="zh-CN" altLang="en-US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系统基本达到稳定</a:t>
                </a:r>
                <a:endParaRPr lang="en-US" altLang="zh-CN" sz="1800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稳态误差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ss</m:t>
                        </m:r>
                      </m:sub>
                    </m:sSub>
                    <m:r>
                      <a:rPr lang="zh-CN" altLang="en-US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2.8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endParaRPr lang="en-US" altLang="zh-CN" sz="1400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87CD81D-A84A-AD42-F2DC-2514CC703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291" y="3268790"/>
                <a:ext cx="5118755" cy="2609817"/>
              </a:xfrm>
              <a:prstGeom prst="rect">
                <a:avLst/>
              </a:prstGeom>
              <a:blipFill>
                <a:blip r:embed="rId7"/>
                <a:stretch>
                  <a:fillRect l="-1310" b="-233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258"/>
            <a:ext cx="2433638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algn="l" defTabSz="685800" fontAlgn="auto">
              <a:lnSpc>
                <a:spcPct val="90000"/>
              </a:lnSpc>
            </a:pPr>
            <a:r>
              <a:rPr lang="en-US" altLang="zh-CN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 PID</a:t>
            </a:r>
            <a:r>
              <a:rPr lang="zh-CN" altLang="en-US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实机控制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FDC6AAF-A7C0-B46E-6218-2A617AFF07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930275" y="1100918"/>
            <a:ext cx="4398435" cy="14027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F71D35C-DCB8-220E-F1F7-B44EA820BB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1178" y="2672344"/>
            <a:ext cx="4690373" cy="38027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3B32877-E73D-D5B5-E7B6-1430EF2C020F}"/>
                  </a:ext>
                </a:extLst>
              </p:cNvPr>
              <p:cNvSpPr txBox="1"/>
              <p:nvPr/>
            </p:nvSpPr>
            <p:spPr>
              <a:xfrm>
                <a:off x="6863291" y="654493"/>
                <a:ext cx="3850326" cy="2201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3346450" algn="l"/>
                  </a:tabLst>
                </a:pPr>
                <a:r>
                  <a:rPr lang="en-US" altLang="zh-CN" sz="2000" kern="100" dirty="0">
                    <a:latin typeface="+mn-ea"/>
                    <a:cs typeface="Times New Roman" panose="02020603050405020304" pitchFamily="18" charset="0"/>
                  </a:rPr>
                  <a:t>PID</a:t>
                </a:r>
                <a:r>
                  <a:rPr lang="zh-CN" altLang="en-US" sz="2000" kern="100" dirty="0">
                    <a:latin typeface="+mn-ea"/>
                    <a:cs typeface="Times New Roman" panose="02020603050405020304" pitchFamily="18" charset="0"/>
                  </a:rPr>
                  <a:t>控制参数</a:t>
                </a:r>
                <a:endParaRPr lang="en-US" altLang="zh-CN" sz="20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1800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altLang="zh-CN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5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lang="en-US" altLang="zh-CN" sz="1800" b="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altLang="zh-CN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altLang="zh-CN" sz="1800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7</m:t>
                    </m:r>
                  </m:oMath>
                </a14:m>
                <a:endParaRPr lang="en-US" altLang="zh-CN" sz="1800" b="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1800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sz="1800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endParaRPr lang="en-US" altLang="zh-CN" sz="1800" b="0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:r>
                  <a:rPr lang="zh-CN" altLang="zh-CN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阶跃函数的</a:t>
                </a:r>
                <a:r>
                  <a:rPr lang="zh-CN" altLang="en-US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终</a:t>
                </a:r>
                <a:r>
                  <a:rPr lang="zh-CN" altLang="zh-CN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值</a:t>
                </a:r>
                <a:r>
                  <a:rPr lang="en-US" altLang="zh-CN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=-0.01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3B32877-E73D-D5B5-E7B6-1430EF2C02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291" y="654493"/>
                <a:ext cx="3850326" cy="2201308"/>
              </a:xfrm>
              <a:prstGeom prst="rect">
                <a:avLst/>
              </a:prstGeom>
              <a:blipFill>
                <a:blip r:embed="rId6"/>
                <a:stretch>
                  <a:fillRect l="-1743" b="-33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87CD81D-A84A-AD42-F2DC-2514CC703EF7}"/>
                  </a:ext>
                </a:extLst>
              </p:cNvPr>
              <p:cNvSpPr txBox="1"/>
              <p:nvPr/>
            </p:nvSpPr>
            <p:spPr>
              <a:xfrm>
                <a:off x="6863291" y="3268790"/>
                <a:ext cx="5118755" cy="29922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000" kern="100" dirty="0">
                    <a:effectLst/>
                    <a:latin typeface="+mn-ea"/>
                    <a:cs typeface="Times New Roman" panose="02020603050405020304" pitchFamily="18" charset="0"/>
                  </a:rPr>
                  <a:t>控制效果</a:t>
                </a:r>
                <a:endParaRPr lang="en-US" altLang="zh-CN" sz="20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marL="284400" algn="just">
                  <a:lnSpc>
                    <a:spcPct val="150000"/>
                  </a:lnSpc>
                </a:pPr>
                <a:r>
                  <a:rPr lang="zh-CN" altLang="zh-CN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系统输入的初始值为</a:t>
                </a:r>
                <a:r>
                  <a:rPr lang="en-US" altLang="zh-CN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-0.01</a:t>
                </a:r>
                <a:r>
                  <a:rPr lang="zh-CN" altLang="zh-CN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，第</a:t>
                </a:r>
                <a:r>
                  <a:rPr lang="en-US" altLang="zh-CN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15s</a:t>
                </a:r>
                <a:r>
                  <a:rPr lang="zh-CN" altLang="zh-CN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的时候</a:t>
                </a:r>
                <a:r>
                  <a:rPr lang="zh-CN" altLang="en-US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加入</a:t>
                </a:r>
                <a:r>
                  <a:rPr lang="en-US" altLang="zh-CN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-</a:t>
                </a:r>
                <a:r>
                  <a:rPr lang="en-US" altLang="zh-CN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0.001</a:t>
                </a:r>
                <a:r>
                  <a:rPr lang="zh-CN" altLang="en-US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的阶跃</a:t>
                </a:r>
                <a:endParaRPr lang="en-US" altLang="zh-CN" sz="1800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在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0-15s</a:t>
                </a:r>
                <a:r>
                  <a:rPr lang="zh-CN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时间段内，系统稳定在</a:t>
                </a:r>
                <a:r>
                  <a:rPr lang="en-US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-0.01</a:t>
                </a:r>
                <a:r>
                  <a:rPr lang="zh-CN" altLang="zh-CN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左右，与期望值大致相同。</a:t>
                </a:r>
                <a:endParaRPr lang="en-US" altLang="zh-CN" dirty="0"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kern="100" dirty="0">
                    <a:ea typeface="宋体" panose="02010600030101010101" pitchFamily="2" charset="-122"/>
                    <a:cs typeface="Cambria Math" panose="02040503050406030204" pitchFamily="18" charset="0"/>
                  </a:rPr>
                  <a:t>加入</a:t>
                </a:r>
                <a14:m>
                  <m:oMath xmlns:m="http://schemas.openxmlformats.org/officeDocument/2006/math"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阶跃</m:t>
                    </m:r>
                    <m:r>
                      <a:rPr lang="zh-CN" altLang="en-US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后</m:t>
                    </m:r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的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 1.065</m:t>
                    </m:r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zh-CN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时</a:t>
                </a:r>
                <a:r>
                  <a:rPr lang="zh-CN" altLang="en-US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系统基本达到稳定</a:t>
                </a:r>
                <a:endParaRPr lang="en-US" altLang="zh-CN" sz="1800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稳态误差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ss</m:t>
                        </m:r>
                      </m:sub>
                    </m:sSub>
                    <m:r>
                      <a:rPr lang="zh-CN" altLang="en-US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≈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2.73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%</m:t>
                    </m:r>
                  </m:oMath>
                </a14:m>
                <a:endParaRPr lang="en-US" altLang="zh-CN" sz="1400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587CD81D-A84A-AD42-F2DC-2514CC703E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291" y="3268790"/>
                <a:ext cx="5118755" cy="2992229"/>
              </a:xfrm>
              <a:prstGeom prst="rect">
                <a:avLst/>
              </a:prstGeom>
              <a:blipFill>
                <a:blip r:embed="rId7"/>
                <a:stretch>
                  <a:fillRect l="-1310" r="-952" b="-18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292245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258"/>
            <a:ext cx="2433638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algn="l" defTabSz="685800" fontAlgn="auto">
              <a:lnSpc>
                <a:spcPct val="90000"/>
              </a:lnSpc>
            </a:pPr>
            <a:r>
              <a:rPr lang="en-US" altLang="zh-CN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 PID</a:t>
            </a:r>
            <a:r>
              <a:rPr lang="zh-CN" altLang="en-US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实机控制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2C165B5-C9F4-7F08-056D-9FCE9FD3B5FA}"/>
              </a:ext>
            </a:extLst>
          </p:cNvPr>
          <p:cNvSpPr txBox="1"/>
          <p:nvPr/>
        </p:nvSpPr>
        <p:spPr>
          <a:xfrm>
            <a:off x="5330858" y="648879"/>
            <a:ext cx="184294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两组对比实验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BA2ECFC-89F5-200A-3552-EFCE0DE3E5CC}"/>
              </a:ext>
            </a:extLst>
          </p:cNvPr>
          <p:cNvSpPr txBox="1"/>
          <p:nvPr/>
        </p:nvSpPr>
        <p:spPr>
          <a:xfrm>
            <a:off x="1931538" y="5414692"/>
            <a:ext cx="3211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15s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时刻加入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0.001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的负阶跃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672E9E2E-24A6-0672-6229-C60B91921E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6499108" y="1325348"/>
            <a:ext cx="5237375" cy="37532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20B9216E-A323-1CFF-4DE1-ED038BCF43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6653" y="1391231"/>
            <a:ext cx="4564776" cy="370088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F1AFEC2D-789C-4721-9B8C-E5E4F9AB95D5}"/>
              </a:ext>
            </a:extLst>
          </p:cNvPr>
          <p:cNvSpPr txBox="1"/>
          <p:nvPr/>
        </p:nvSpPr>
        <p:spPr>
          <a:xfrm>
            <a:off x="7722738" y="5414692"/>
            <a:ext cx="3211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15s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时刻加入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0.001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的正阶跃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0983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575"/>
            <a:ext cx="2887980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algn="l" defTabSz="685800" fontAlgn="auto">
              <a:lnSpc>
                <a:spcPct val="90000"/>
              </a:lnSpc>
            </a:pPr>
            <a:r>
              <a:rPr lang="en-US" altLang="zh-CN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 </a:t>
            </a:r>
            <a:r>
              <a:rPr lang="zh-CN" altLang="en-US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模糊</a:t>
            </a:r>
            <a:r>
              <a:rPr lang="en-US" altLang="zh-CN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PID</a:t>
            </a:r>
            <a:r>
              <a:rPr lang="zh-CN" altLang="en-US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实机控制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1FE6753-69D8-FFAD-F4D6-63A37E4232A2}"/>
                  </a:ext>
                </a:extLst>
              </p:cNvPr>
              <p:cNvSpPr txBox="1"/>
              <p:nvPr/>
            </p:nvSpPr>
            <p:spPr>
              <a:xfrm>
                <a:off x="6096000" y="3807758"/>
                <a:ext cx="3850326" cy="2201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3346450" algn="l"/>
                  </a:tabLst>
                </a:pPr>
                <a:r>
                  <a:rPr lang="en-US" altLang="zh-CN" sz="2000" kern="100" dirty="0">
                    <a:latin typeface="+mn-ea"/>
                    <a:cs typeface="Times New Roman" panose="02020603050405020304" pitchFamily="18" charset="0"/>
                  </a:rPr>
                  <a:t>PID</a:t>
                </a:r>
                <a:r>
                  <a:rPr lang="zh-CN" altLang="en-US" sz="2000" kern="100" dirty="0">
                    <a:latin typeface="+mn-ea"/>
                    <a:cs typeface="Times New Roman" panose="02020603050405020304" pitchFamily="18" charset="0"/>
                  </a:rPr>
                  <a:t>控制参数</a:t>
                </a:r>
                <a:endParaRPr lang="en-US" altLang="zh-CN" sz="20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1800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=550</m:t>
                    </m:r>
                  </m:oMath>
                </a14:m>
                <a:endParaRPr lang="en-US" altLang="zh-CN" sz="1800" b="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altLang="zh-CN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6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6.7</m:t>
                    </m:r>
                  </m:oMath>
                </a14:m>
                <a:endParaRPr lang="en-US" altLang="zh-CN" sz="1800" b="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1800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altLang="zh-CN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endParaRPr lang="en-US" altLang="zh-CN" sz="1800" b="0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:r>
                  <a:rPr lang="zh-CN" altLang="zh-CN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阶跃函数的</a:t>
                </a:r>
                <a:r>
                  <a:rPr lang="zh-CN" altLang="en-US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终</a:t>
                </a:r>
                <a:r>
                  <a:rPr lang="zh-CN" altLang="zh-CN" sz="18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值</a:t>
                </a:r>
                <a:r>
                  <a:rPr lang="en-US" altLang="zh-CN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=-0.01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B1FE6753-69D8-FFAD-F4D6-63A37E423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807758"/>
                <a:ext cx="3850326" cy="2201308"/>
              </a:xfrm>
              <a:prstGeom prst="rect">
                <a:avLst/>
              </a:prstGeom>
              <a:blipFill>
                <a:blip r:embed="rId4"/>
                <a:stretch>
                  <a:fillRect l="-1582" b="-33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34F5270-4DF4-06C3-0A8A-1F209222E006}"/>
                  </a:ext>
                </a:extLst>
              </p:cNvPr>
              <p:cNvSpPr txBox="1"/>
              <p:nvPr/>
            </p:nvSpPr>
            <p:spPr>
              <a:xfrm>
                <a:off x="1893092" y="3807758"/>
                <a:ext cx="3850326" cy="236391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3346450" algn="l"/>
                  </a:tabLst>
                </a:pPr>
                <a:r>
                  <a:rPr lang="zh-CN" altLang="en-US" sz="2000" kern="100" dirty="0">
                    <a:effectLst/>
                    <a:latin typeface="+mn-ea"/>
                    <a:cs typeface="Times New Roman" panose="02020603050405020304" pitchFamily="18" charset="0"/>
                  </a:rPr>
                  <a:t>模糊控制参数</a:t>
                </a:r>
                <a:endParaRPr lang="en-US" altLang="zh-CN" sz="20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:r>
                  <a:rPr lang="zh-CN" altLang="en-US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量化系数</a:t>
                </a:r>
                <a:endParaRPr lang="en-US" altLang="zh-CN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:r>
                  <a:rPr lang="en-US" altLang="zh-CN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E</a:t>
                </a:r>
                <a:r>
                  <a:rPr lang="zh-CN" altLang="en-US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r>
                  <a:rPr lang="en-US" altLang="zh-CN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162.1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:r>
                  <a:rPr lang="en-US" altLang="zh-CN" kern="100" dirty="0" err="1">
                    <a:ea typeface="宋体" panose="02010600030101010101" pitchFamily="2" charset="-122"/>
                    <a:cs typeface="Times New Roman" panose="02020603050405020304" pitchFamily="18" charset="0"/>
                  </a:rPr>
                  <a:t>dE</a:t>
                </a:r>
                <a:r>
                  <a:rPr lang="en-US" altLang="zh-CN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/dt</a:t>
                </a:r>
                <a:r>
                  <a:rPr lang="zh-CN" altLang="en-US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r>
                  <a:rPr lang="en-US" altLang="zh-CN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13.3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:r>
                  <a:rPr lang="zh-CN" altLang="en-US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比例因子</a:t>
                </a:r>
                <a:endParaRPr lang="en-US" altLang="zh-CN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=130</m:t>
                    </m:r>
                  </m:oMath>
                </a14:m>
                <a:endParaRPr lang="en-US" altLang="zh-CN" b="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=500</m:t>
                    </m:r>
                  </m:oMath>
                </a14:m>
                <a:endParaRPr lang="en-US" altLang="zh-CN" b="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endParaRPr lang="en-US" altLang="zh-CN" b="0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34F5270-4DF4-06C3-0A8A-1F209222E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3092" y="3807758"/>
                <a:ext cx="3850326" cy="2363917"/>
              </a:xfrm>
              <a:prstGeom prst="rect">
                <a:avLst/>
              </a:prstGeom>
              <a:blipFill>
                <a:blip r:embed="rId5"/>
                <a:stretch>
                  <a:fillRect l="-1743" t="-1550" b="-258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6E5C92F2-7838-B35E-5D4C-A62396D8DC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2471" y="848934"/>
            <a:ext cx="10072832" cy="294101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575"/>
            <a:ext cx="2887980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algn="l" defTabSz="685800" fontAlgn="auto">
              <a:lnSpc>
                <a:spcPct val="90000"/>
              </a:lnSpc>
            </a:pPr>
            <a:r>
              <a:rPr lang="en-US" altLang="zh-CN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 </a:t>
            </a:r>
            <a:r>
              <a:rPr lang="zh-CN" altLang="en-US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模糊</a:t>
            </a:r>
            <a:r>
              <a:rPr lang="en-US" altLang="zh-CN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PID</a:t>
            </a:r>
            <a:r>
              <a:rPr lang="zh-CN" altLang="en-US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实机控制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AEFB74B-3BFF-CE8F-9A00-3E72AD4379D9}"/>
              </a:ext>
            </a:extLst>
          </p:cNvPr>
          <p:cNvSpPr txBox="1"/>
          <p:nvPr/>
        </p:nvSpPr>
        <p:spPr>
          <a:xfrm>
            <a:off x="2090257" y="4924359"/>
            <a:ext cx="7347569" cy="8720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4400" algn="just"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t=20s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时，加入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0.001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的负阶跃信号，小球从高位被吸到低位悬浮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4400" algn="just">
              <a:lnSpc>
                <a:spcPct val="150000"/>
              </a:lnSpc>
            </a:pPr>
            <a:r>
              <a:rPr lang="zh-CN" altLang="en-US" sz="18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可以观察到，系统超调量降低，调节时间缩短。</a:t>
            </a:r>
            <a:endParaRPr lang="en-US" altLang="zh-CN" sz="1800" kern="1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FCA9003-A125-4262-AB07-B9833AF21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954" y="999924"/>
            <a:ext cx="6537915" cy="3432252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5A7D17E-8308-4703-9074-269AFA8B96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5935" y="1705058"/>
            <a:ext cx="2730802" cy="202198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8" name="椭圆 7">
            <a:extLst>
              <a:ext uri="{FF2B5EF4-FFF2-40B4-BE49-F238E27FC236}">
                <a16:creationId xmlns:a16="http://schemas.microsoft.com/office/drawing/2014/main" id="{257A584D-F6F4-4D98-9E4A-F0D581E6D177}"/>
              </a:ext>
            </a:extLst>
          </p:cNvPr>
          <p:cNvSpPr/>
          <p:nvPr/>
        </p:nvSpPr>
        <p:spPr>
          <a:xfrm>
            <a:off x="6181858" y="2620851"/>
            <a:ext cx="534473" cy="669701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44D42DF-6B82-429B-A9E5-F264D824A085}"/>
              </a:ext>
            </a:extLst>
          </p:cNvPr>
          <p:cNvCxnSpPr/>
          <p:nvPr/>
        </p:nvCxnSpPr>
        <p:spPr>
          <a:xfrm flipV="1">
            <a:off x="6716331" y="2962141"/>
            <a:ext cx="1468193" cy="1094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同侧圆角矩形 6"/>
          <p:cNvSpPr/>
          <p:nvPr/>
        </p:nvSpPr>
        <p:spPr>
          <a:xfrm flipV="1">
            <a:off x="82550" y="2274888"/>
            <a:ext cx="12026900" cy="4491038"/>
          </a:xfrm>
          <a:prstGeom prst="round2SameRect">
            <a:avLst>
              <a:gd name="adj1" fmla="val 6117"/>
              <a:gd name="adj2" fmla="val 0"/>
            </a:avLst>
          </a:prstGeom>
          <a:solidFill>
            <a:srgbClr val="701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grpSp>
        <p:nvGrpSpPr>
          <p:cNvPr id="6147" name="组合 32"/>
          <p:cNvGrpSpPr/>
          <p:nvPr/>
        </p:nvGrpSpPr>
        <p:grpSpPr>
          <a:xfrm>
            <a:off x="5035550" y="1227138"/>
            <a:ext cx="2120900" cy="2119312"/>
            <a:chOff x="7731" y="3522"/>
            <a:chExt cx="3736" cy="3736"/>
          </a:xfrm>
        </p:grpSpPr>
        <p:sp>
          <p:nvSpPr>
            <p:cNvPr id="34" name="椭圆 33"/>
            <p:cNvSpPr/>
            <p:nvPr/>
          </p:nvSpPr>
          <p:spPr>
            <a:xfrm>
              <a:off x="7731" y="3522"/>
              <a:ext cx="3737" cy="373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auto"/>
              <a:endParaRPr lang="zh-CN" altLang="en-US" strike="noStrike" noProof="1"/>
            </a:p>
          </p:txBody>
        </p:sp>
        <p:grpSp>
          <p:nvGrpSpPr>
            <p:cNvPr id="6149" name="组合 34"/>
            <p:cNvGrpSpPr/>
            <p:nvPr/>
          </p:nvGrpSpPr>
          <p:grpSpPr>
            <a:xfrm>
              <a:off x="7992" y="3783"/>
              <a:ext cx="3216" cy="3216"/>
              <a:chOff x="7991" y="1975"/>
              <a:chExt cx="3216" cy="3216"/>
            </a:xfrm>
          </p:grpSpPr>
          <p:grpSp>
            <p:nvGrpSpPr>
              <p:cNvPr id="6150" name="组合 35"/>
              <p:cNvGrpSpPr/>
              <p:nvPr/>
            </p:nvGrpSpPr>
            <p:grpSpPr>
              <a:xfrm>
                <a:off x="8128" y="3059"/>
                <a:ext cx="2944" cy="1311"/>
                <a:chOff x="4146" y="1979"/>
                <a:chExt cx="7176" cy="3196"/>
              </a:xfrm>
            </p:grpSpPr>
            <p:sp>
              <p:nvSpPr>
                <p:cNvPr id="37" name="任意多边形 36"/>
                <p:cNvSpPr/>
                <p:nvPr/>
              </p:nvSpPr>
              <p:spPr>
                <a:xfrm>
                  <a:off x="5757" y="2731"/>
                  <a:ext cx="3953" cy="2444"/>
                </a:xfrm>
                <a:custGeom>
                  <a:avLst/>
                  <a:gdLst>
                    <a:gd name="connsiteX0" fmla="*/ 0 w 4176"/>
                    <a:gd name="connsiteY0" fmla="*/ 387 h 2444"/>
                    <a:gd name="connsiteX1" fmla="*/ 387 w 4176"/>
                    <a:gd name="connsiteY1" fmla="*/ 0 h 2444"/>
                    <a:gd name="connsiteX2" fmla="*/ 3789 w 4176"/>
                    <a:gd name="connsiteY2" fmla="*/ 0 h 2444"/>
                    <a:gd name="connsiteX3" fmla="*/ 4176 w 4176"/>
                    <a:gd name="connsiteY3" fmla="*/ 387 h 2444"/>
                    <a:gd name="connsiteX4" fmla="*/ 4176 w 4176"/>
                    <a:gd name="connsiteY4" fmla="*/ 1937 h 2444"/>
                    <a:gd name="connsiteX5" fmla="*/ 3789 w 4176"/>
                    <a:gd name="connsiteY5" fmla="*/ 2324 h 2444"/>
                    <a:gd name="connsiteX6" fmla="*/ 2143 w 4176"/>
                    <a:gd name="connsiteY6" fmla="*/ 2442 h 2444"/>
                    <a:gd name="connsiteX7" fmla="*/ 387 w 4176"/>
                    <a:gd name="connsiteY7" fmla="*/ 2324 h 2444"/>
                    <a:gd name="connsiteX8" fmla="*/ 0 w 4176"/>
                    <a:gd name="connsiteY8" fmla="*/ 1937 h 2444"/>
                    <a:gd name="connsiteX9" fmla="*/ 0 w 4176"/>
                    <a:gd name="connsiteY9" fmla="*/ 387 h 24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4176" h="2444">
                      <a:moveTo>
                        <a:pt x="0" y="387"/>
                      </a:moveTo>
                      <a:cubicBezTo>
                        <a:pt x="0" y="173"/>
                        <a:pt x="173" y="0"/>
                        <a:pt x="387" y="0"/>
                      </a:cubicBezTo>
                      <a:lnTo>
                        <a:pt x="3789" y="0"/>
                      </a:lnTo>
                      <a:cubicBezTo>
                        <a:pt x="4003" y="0"/>
                        <a:pt x="4176" y="173"/>
                        <a:pt x="4176" y="387"/>
                      </a:cubicBezTo>
                      <a:lnTo>
                        <a:pt x="4176" y="1937"/>
                      </a:lnTo>
                      <a:cubicBezTo>
                        <a:pt x="4176" y="2151"/>
                        <a:pt x="4130" y="2251"/>
                        <a:pt x="3789" y="2324"/>
                      </a:cubicBezTo>
                      <a:cubicBezTo>
                        <a:pt x="3448" y="2397"/>
                        <a:pt x="2593" y="2457"/>
                        <a:pt x="2143" y="2442"/>
                      </a:cubicBezTo>
                      <a:cubicBezTo>
                        <a:pt x="1723" y="2442"/>
                        <a:pt x="688" y="2412"/>
                        <a:pt x="387" y="2324"/>
                      </a:cubicBezTo>
                      <a:cubicBezTo>
                        <a:pt x="86" y="2236"/>
                        <a:pt x="0" y="2151"/>
                        <a:pt x="0" y="1937"/>
                      </a:cubicBezTo>
                      <a:lnTo>
                        <a:pt x="0" y="387"/>
                      </a:lnTo>
                      <a:close/>
                    </a:path>
                  </a:pathLst>
                </a:custGeom>
                <a:solidFill>
                  <a:srgbClr val="701E5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auto"/>
                  <a:endParaRPr lang="zh-CN" altLang="en-US" strike="noStrike" noProof="1"/>
                </a:p>
              </p:txBody>
            </p:sp>
            <p:sp>
              <p:nvSpPr>
                <p:cNvPr id="38" name="菱形 37"/>
                <p:cNvSpPr/>
                <p:nvPr/>
              </p:nvSpPr>
              <p:spPr>
                <a:xfrm>
                  <a:off x="4146" y="1979"/>
                  <a:ext cx="7176" cy="2071"/>
                </a:xfrm>
                <a:prstGeom prst="diamond">
                  <a:avLst/>
                </a:prstGeom>
                <a:solidFill>
                  <a:srgbClr val="701E5E"/>
                </a:solidFill>
                <a:ln w="28575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auto"/>
                  <a:endParaRPr lang="zh-CN" altLang="en-US" strike="noStrike" noProof="1"/>
                </a:p>
              </p:txBody>
            </p:sp>
            <p:sp>
              <p:nvSpPr>
                <p:cNvPr id="39" name="任意多边形 38"/>
                <p:cNvSpPr/>
                <p:nvPr/>
              </p:nvSpPr>
              <p:spPr>
                <a:xfrm rot="18900000">
                  <a:off x="4839" y="4614"/>
                  <a:ext cx="526" cy="518"/>
                </a:xfrm>
                <a:custGeom>
                  <a:avLst/>
                  <a:gdLst>
                    <a:gd name="connsiteX0" fmla="*/ 0 w 1974"/>
                    <a:gd name="connsiteY0" fmla="*/ 1060 h 2004"/>
                    <a:gd name="connsiteX1" fmla="*/ 945 w 1974"/>
                    <a:gd name="connsiteY1" fmla="*/ 115 h 2004"/>
                    <a:gd name="connsiteX2" fmla="*/ 1889 w 1974"/>
                    <a:gd name="connsiteY2" fmla="*/ 115 h 2004"/>
                    <a:gd name="connsiteX3" fmla="*/ 1889 w 1974"/>
                    <a:gd name="connsiteY3" fmla="*/ 1060 h 2004"/>
                    <a:gd name="connsiteX4" fmla="*/ 945 w 1974"/>
                    <a:gd name="connsiteY4" fmla="*/ 2004 h 2004"/>
                    <a:gd name="connsiteX5" fmla="*/ 0 w 1974"/>
                    <a:gd name="connsiteY5" fmla="*/ 1060 h 200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1975" h="2004">
                      <a:moveTo>
                        <a:pt x="0" y="1060"/>
                      </a:moveTo>
                      <a:cubicBezTo>
                        <a:pt x="0" y="538"/>
                        <a:pt x="452" y="289"/>
                        <a:pt x="945" y="115"/>
                      </a:cubicBezTo>
                      <a:cubicBezTo>
                        <a:pt x="1251" y="7"/>
                        <a:pt x="1548" y="-78"/>
                        <a:pt x="1889" y="115"/>
                      </a:cubicBezTo>
                      <a:cubicBezTo>
                        <a:pt x="2046" y="378"/>
                        <a:pt x="1951" y="728"/>
                        <a:pt x="1889" y="1060"/>
                      </a:cubicBezTo>
                      <a:cubicBezTo>
                        <a:pt x="1793" y="1573"/>
                        <a:pt x="1466" y="2004"/>
                        <a:pt x="945" y="2004"/>
                      </a:cubicBezTo>
                      <a:cubicBezTo>
                        <a:pt x="423" y="2004"/>
                        <a:pt x="0" y="1581"/>
                        <a:pt x="0" y="1060"/>
                      </a:cubicBezTo>
                      <a:close/>
                    </a:path>
                  </a:pathLst>
                </a:custGeom>
                <a:solidFill>
                  <a:srgbClr val="701E5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fontAlgn="auto"/>
                  <a:endParaRPr lang="zh-CN" altLang="en-US" strike="noStrike" noProof="1"/>
                </a:p>
              </p:txBody>
            </p:sp>
            <p:cxnSp>
              <p:nvCxnSpPr>
                <p:cNvPr id="40" name="直接连接符 39"/>
                <p:cNvCxnSpPr/>
                <p:nvPr/>
              </p:nvCxnSpPr>
              <p:spPr>
                <a:xfrm>
                  <a:off x="5102" y="3284"/>
                  <a:ext cx="0" cy="1338"/>
                </a:xfrm>
                <a:prstGeom prst="line">
                  <a:avLst/>
                </a:prstGeom>
                <a:ln w="50800" cap="rnd">
                  <a:solidFill>
                    <a:srgbClr val="701E5E"/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椭圆 40"/>
              <p:cNvSpPr/>
              <p:nvPr/>
            </p:nvSpPr>
            <p:spPr>
              <a:xfrm>
                <a:off x="7991" y="1975"/>
                <a:ext cx="3217" cy="3217"/>
              </a:xfrm>
              <a:prstGeom prst="ellipse">
                <a:avLst/>
              </a:prstGeom>
              <a:noFill/>
              <a:ln w="28575">
                <a:solidFill>
                  <a:srgbClr val="701E5E"/>
                </a:solidFill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</p:grpSp>
      </p:grpSp>
      <p:sp>
        <p:nvSpPr>
          <p:cNvPr id="6156" name="文本框 10"/>
          <p:cNvSpPr txBox="1"/>
          <p:nvPr/>
        </p:nvSpPr>
        <p:spPr>
          <a:xfrm>
            <a:off x="4311015" y="3559810"/>
            <a:ext cx="3569335" cy="10147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dist"/>
            <a:r>
              <a:rPr lang="en-US" altLang="zh-CN" sz="6000" dirty="0">
                <a:solidFill>
                  <a:schemeClr val="bg1"/>
                </a:solidFill>
                <a:latin typeface="字魂105号-简雅黑" panose="00000500000000000000" charset="-122"/>
                <a:ea typeface="字魂105号-简雅黑" panose="00000500000000000000" charset="-122"/>
              </a:rPr>
              <a:t>PART 03</a:t>
            </a:r>
          </a:p>
        </p:txBody>
      </p:sp>
      <p:sp>
        <p:nvSpPr>
          <p:cNvPr id="6157" name="文本框 47"/>
          <p:cNvSpPr txBox="1"/>
          <p:nvPr/>
        </p:nvSpPr>
        <p:spPr>
          <a:xfrm>
            <a:off x="3215958" y="4665980"/>
            <a:ext cx="5762625" cy="15684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三自由度直升机</a:t>
            </a:r>
          </a:p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的仿真和控制</a:t>
            </a:r>
          </a:p>
        </p:txBody>
      </p:sp>
    </p:spTree>
    <p:custDataLst>
      <p:tags r:id="rId1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258"/>
            <a:ext cx="2433638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algn="l" defTabSz="685800" fontAlgn="auto">
              <a:lnSpc>
                <a:spcPct val="90000"/>
              </a:lnSpc>
            </a:pPr>
            <a:r>
              <a:rPr lang="en-US" altLang="zh-CN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 </a:t>
            </a:r>
            <a:r>
              <a:rPr lang="zh-CN" altLang="en-US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</a:rPr>
              <a:t>物理模型</a:t>
            </a:r>
            <a:endParaRPr lang="zh-CN" altLang="en-US" sz="2600" b="1" strike="noStrike" noProof="1">
              <a:solidFill>
                <a:srgbClr val="701E5E"/>
              </a:solidFill>
              <a:effectLst/>
              <a:latin typeface="字魂105号-简雅黑" panose="00000500000000000000" charset="-122"/>
              <a:ea typeface="字魂105号-简雅黑" panose="00000500000000000000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703851" y="1185010"/>
            <a:ext cx="3109947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俯仰轴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Elevation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33817"/>
            <a:ext cx="4010689" cy="1342244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0340" y="1833817"/>
            <a:ext cx="2975887" cy="1252012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995" y="4534579"/>
            <a:ext cx="2155775" cy="1801244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3851" y="3429000"/>
            <a:ext cx="2338699" cy="1149336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7540" y="3498823"/>
            <a:ext cx="2017001" cy="93646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754396" y="4578336"/>
            <a:ext cx="2467773" cy="190053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4957540" y="1185010"/>
            <a:ext cx="2012455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横侧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轴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Pitch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586140" y="1185008"/>
            <a:ext cx="2415302" cy="481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旋转</a:t>
            </a:r>
            <a:r>
              <a:rPr lang="zh-CN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轴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Rotation</a:t>
            </a:r>
            <a:r>
              <a:rPr lang="zh-CN" altLang="en-US" sz="20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2000" dirty="0">
              <a:solidFill>
                <a:srgbClr val="000000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181313" y="1666871"/>
            <a:ext cx="3113379" cy="2529620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600911" y="4122192"/>
            <a:ext cx="3009831" cy="41663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1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608762" y="4435288"/>
            <a:ext cx="2370058" cy="180124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575"/>
            <a:ext cx="2872740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defTabSz="685800" fontAlgn="auto">
              <a:lnSpc>
                <a:spcPct val="90000"/>
              </a:lnSpc>
            </a:pPr>
            <a:r>
              <a:rPr lang="en-US" altLang="zh-CN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 </a:t>
            </a:r>
            <a:r>
              <a:rPr lang="zh-CN" altLang="en-US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俯仰角的</a:t>
            </a:r>
            <a:r>
              <a:rPr lang="en-US" altLang="zh-CN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PID</a:t>
            </a:r>
            <a:r>
              <a:rPr lang="zh-CN" altLang="en-US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仿真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804" y="802311"/>
            <a:ext cx="6418668" cy="180609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/>
              <p:cNvSpPr txBox="1"/>
              <p:nvPr/>
            </p:nvSpPr>
            <p:spPr>
              <a:xfrm>
                <a:off x="6863291" y="377408"/>
                <a:ext cx="3850326" cy="21951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3346450" algn="l"/>
                  </a:tabLst>
                </a:pPr>
                <a:r>
                  <a:rPr lang="en-US" altLang="zh-CN" sz="2000" kern="100" dirty="0">
                    <a:latin typeface="+mn-ea"/>
                    <a:cs typeface="Times New Roman" panose="02020603050405020304" pitchFamily="18" charset="0"/>
                  </a:rPr>
                  <a:t>PID</a:t>
                </a:r>
                <a:r>
                  <a:rPr lang="zh-CN" altLang="en-US" sz="2000" kern="100" dirty="0">
                    <a:latin typeface="+mn-ea"/>
                    <a:cs typeface="Times New Roman" panose="02020603050405020304" pitchFamily="18" charset="0"/>
                  </a:rPr>
                  <a:t>控制参数</a:t>
                </a:r>
                <a:endParaRPr lang="en-US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=100</m:t>
                    </m:r>
                  </m:oMath>
                </a14:m>
                <a:endParaRPr lang="en-US" altLang="zh-CN" sz="1800" b="0" i="1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=20</m:t>
                    </m:r>
                  </m:oMath>
                </a14:m>
                <a:endParaRPr lang="en-US" altLang="zh-CN" sz="1800" b="0" i="1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=50</m:t>
                    </m:r>
                  </m:oMath>
                </a14:m>
                <a:endParaRPr lang="en-US" altLang="zh-CN" sz="1800" b="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阶跃函数的</a:t>
                </a: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终</a:t>
                </a: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值</a:t>
                </a:r>
                <a:r>
                  <a:rPr lang="en-US" altLang="zh-CN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=0.4</a:t>
                </a:r>
              </a:p>
            </p:txBody>
          </p:sp>
        </mc:Choice>
        <mc:Fallback xmlns="">
          <p:sp>
            <p:nvSpPr>
              <p:cNvPr id="11" name="文本框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291" y="377408"/>
                <a:ext cx="3850326" cy="2195195"/>
              </a:xfrm>
              <a:prstGeom prst="rect">
                <a:avLst/>
              </a:prstGeom>
              <a:blipFill rotWithShape="1">
                <a:blip r:embed="rId5"/>
                <a:stretch>
                  <a:fillRect l="-5" t="-10" r="14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/>
              <p:cNvSpPr txBox="1"/>
              <p:nvPr/>
            </p:nvSpPr>
            <p:spPr>
              <a:xfrm>
                <a:off x="6863291" y="2884638"/>
                <a:ext cx="4946542" cy="33750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000" kern="100" dirty="0">
                    <a:latin typeface="+mn-ea"/>
                    <a:cs typeface="Times New Roman" panose="02020603050405020304" pitchFamily="18" charset="0"/>
                  </a:rPr>
                  <a:t>控制效果</a:t>
                </a:r>
                <a:endParaRPr lang="en-US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上升时间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=3.124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CN" sz="180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峰值时间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=3.6024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CN" sz="180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超调量</a:t>
                </a:r>
                <a14:m>
                  <m:oMath xmlns:m="http://schemas.openxmlformats.org/officeDocument/2006/math">
                    <m:r>
                      <a:rPr lang="zh-CN" altLang="en-US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𝜎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=0.446%</m:t>
                    </m:r>
                  </m:oMath>
                </a14:m>
                <a:endParaRPr lang="en-US" altLang="zh-CN" b="0" i="1" kern="100" dirty="0"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en-US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=3.6375</m:t>
                    </m:r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时</a:t>
                </a: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系统基本达到稳定</a:t>
                </a: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误差</a:t>
                </a:r>
                <a:r>
                  <a:rPr lang="en-US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1%</a:t>
                </a: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endParaRPr lang="en-US" altLang="zh-CN" sz="180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稳态误差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ss</m:t>
                        </m:r>
                      </m:sub>
                    </m:sSub>
                    <m:r>
                      <a:rPr lang="zh-CN" altLang="en-US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≈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0.4%</m:t>
                    </m:r>
                  </m:oMath>
                </a14:m>
                <a:r>
                  <a:rPr lang="zh-CN" altLang="en-US" sz="14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基本稳定</a:t>
                </a:r>
                <a:endParaRPr lang="en-US" altLang="zh-CN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zh-CN" altLang="zh-CN" sz="140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文本框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291" y="2884638"/>
                <a:ext cx="4946542" cy="3375025"/>
              </a:xfrm>
              <a:prstGeom prst="rect">
                <a:avLst/>
              </a:prstGeom>
              <a:blipFill rotWithShape="1">
                <a:blip r:embed="rId6"/>
                <a:stretch>
                  <a:fillRect l="-4" t="-14" r="2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-214748252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778" y="2183765"/>
            <a:ext cx="5269865" cy="395224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575"/>
            <a:ext cx="2840990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defTabSz="685800" fontAlgn="auto">
              <a:lnSpc>
                <a:spcPct val="90000"/>
              </a:lnSpc>
            </a:pPr>
            <a:r>
              <a:rPr lang="zh-CN" altLang="en-US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横侧角的</a:t>
            </a:r>
            <a:r>
              <a:rPr lang="en-US" altLang="zh-CN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PID</a:t>
            </a:r>
            <a:r>
              <a:rPr lang="zh-CN" altLang="en-US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仿真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47926" y="848934"/>
            <a:ext cx="5940601" cy="153229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6863291" y="377408"/>
                <a:ext cx="3850326" cy="22040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3346450" algn="l"/>
                  </a:tabLst>
                </a:pPr>
                <a:r>
                  <a:rPr lang="en-US" altLang="zh-CN" sz="2000" kern="100" dirty="0">
                    <a:latin typeface="+mn-ea"/>
                    <a:cs typeface="Times New Roman" panose="02020603050405020304" pitchFamily="18" charset="0"/>
                  </a:rPr>
                  <a:t>PID</a:t>
                </a:r>
                <a:r>
                  <a:rPr lang="zh-CN" altLang="en-US" sz="2000" kern="100" dirty="0">
                    <a:latin typeface="+mn-ea"/>
                    <a:cs typeface="Times New Roman" panose="02020603050405020304" pitchFamily="18" charset="0"/>
                  </a:rPr>
                  <a:t>控制参数</a:t>
                </a:r>
                <a:endParaRPr lang="en-US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=1.75</m:t>
                    </m:r>
                  </m:oMath>
                </a14:m>
                <a:endParaRPr lang="en-US" altLang="zh-CN" sz="1800" b="0" i="1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=0.01</m:t>
                    </m:r>
                  </m:oMath>
                </a14:m>
                <a:endParaRPr lang="en-US" altLang="zh-CN" sz="1800" b="0" i="1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=0.5</m:t>
                    </m:r>
                  </m:oMath>
                </a14:m>
                <a:endParaRPr lang="en-US" altLang="zh-CN" sz="1800" b="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阶跃函数的</a:t>
                </a: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终</a:t>
                </a: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值</a:t>
                </a:r>
                <a:r>
                  <a:rPr lang="en-US" altLang="zh-CN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=0.1</a:t>
                </a: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291" y="377408"/>
                <a:ext cx="3850326" cy="2204085"/>
              </a:xfrm>
              <a:prstGeom prst="rect">
                <a:avLst/>
              </a:prstGeom>
              <a:blipFill rotWithShape="1">
                <a:blip r:embed="rId5"/>
                <a:stretch>
                  <a:fillRect l="-5" t="-10" r="14" b="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6863291" y="2884638"/>
                <a:ext cx="4946542" cy="30518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000" kern="100" dirty="0">
                    <a:latin typeface="+mn-ea"/>
                    <a:cs typeface="Times New Roman" panose="02020603050405020304" pitchFamily="18" charset="0"/>
                  </a:rPr>
                  <a:t>控制效果</a:t>
                </a:r>
                <a:endParaRPr lang="en-US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上升时间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0.8023</m:t>
                    </m:r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CN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峰值时间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=0.9930</m:t>
                    </m:r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CN" sz="180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超调量</a:t>
                </a:r>
                <a14:m>
                  <m:oMath xmlns:m="http://schemas.openxmlformats.org/officeDocument/2006/math">
                    <m:r>
                      <a:rPr lang="zh-CN" altLang="en-US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𝜎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=1.397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%</m:t>
                    </m:r>
                  </m:oMath>
                </a14:m>
                <a:endParaRPr lang="en-US" altLang="zh-CN" b="0" i="1" kern="100" dirty="0"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en-US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=1.5948</m:t>
                    </m:r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时</a:t>
                </a: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系统基本达到稳定</a:t>
                </a: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误差</a:t>
                </a:r>
                <a:r>
                  <a:rPr lang="en-US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1%</a:t>
                </a: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endParaRPr lang="en-US" altLang="zh-CN" sz="180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稳态误差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ss</m:t>
                        </m:r>
                      </m:sub>
                    </m:sSub>
                    <m:r>
                      <a:rPr lang="zh-CN" altLang="en-US" sz="1800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≈</m:t>
                    </m:r>
                    <m:r>
                      <a:rPr lang="en-US" altLang="zh-CN" sz="1800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0.2%</m:t>
                    </m:r>
                  </m:oMath>
                </a14:m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  <a:sym typeface="+mn-ea"/>
                  </a:rPr>
                  <a:t>，基本稳定</a:t>
                </a:r>
                <a:endParaRPr lang="zh-CN" altLang="zh-CN" sz="140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291" y="2884638"/>
                <a:ext cx="4946542" cy="3051810"/>
              </a:xfrm>
              <a:prstGeom prst="rect">
                <a:avLst/>
              </a:prstGeom>
              <a:blipFill rotWithShape="1">
                <a:blip r:embed="rId6"/>
                <a:stretch>
                  <a:fillRect l="-4" t="-15" r="2" b="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-214748250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178" y="2132330"/>
            <a:ext cx="5269865" cy="395224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575"/>
            <a:ext cx="3597910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defTabSz="685800" fontAlgn="auto">
              <a:lnSpc>
                <a:spcPct val="90000"/>
              </a:lnSpc>
            </a:pPr>
            <a:r>
              <a:rPr lang="en-US" altLang="zh-CN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 </a:t>
            </a:r>
            <a:r>
              <a:rPr lang="zh-CN" altLang="en-US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横侧角</a:t>
            </a:r>
            <a:r>
              <a:rPr lang="en-US" altLang="zh-CN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+</a:t>
            </a:r>
            <a:r>
              <a:rPr lang="zh-CN" altLang="en-US" sz="2600" b="1" noProof="1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旋转角的仿真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8082036" y="450586"/>
                <a:ext cx="3850326" cy="21951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3346450" algn="l"/>
                  </a:tabLst>
                </a:pPr>
                <a:r>
                  <a:rPr lang="en-US" altLang="zh-CN" sz="2000" kern="100" dirty="0">
                    <a:latin typeface="+mn-ea"/>
                    <a:cs typeface="Times New Roman" panose="02020603050405020304" pitchFamily="18" charset="0"/>
                  </a:rPr>
                  <a:t>PID</a:t>
                </a:r>
                <a:r>
                  <a:rPr lang="zh-CN" altLang="en-US" sz="2000" kern="100" dirty="0">
                    <a:latin typeface="+mn-ea"/>
                    <a:cs typeface="Times New Roman" panose="02020603050405020304" pitchFamily="18" charset="0"/>
                  </a:rPr>
                  <a:t>控制参数</a:t>
                </a:r>
                <a:endParaRPr lang="en-US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=7.778</m:t>
                    </m:r>
                  </m:oMath>
                </a14:m>
                <a:endParaRPr lang="en-US" altLang="zh-CN" sz="1800" b="0" i="1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altLang="zh-CN" sz="1800" b="0" i="1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.25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=0.001</m:t>
                    </m:r>
                  </m:oMath>
                </a14:m>
                <a:endParaRPr lang="en-US" altLang="zh-CN" sz="1800" b="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阶跃函数的</a:t>
                </a: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终</a:t>
                </a: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值</a:t>
                </a:r>
                <a:r>
                  <a:rPr lang="en-US" altLang="zh-CN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=6.28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2036" y="450586"/>
                <a:ext cx="3850326" cy="2195195"/>
              </a:xfrm>
              <a:prstGeom prst="rect">
                <a:avLst/>
              </a:prstGeom>
              <a:blipFill rotWithShape="1">
                <a:blip r:embed="rId3"/>
                <a:stretch>
                  <a:fillRect l="-10" t="-17" r="2" b="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8082036" y="2966662"/>
                <a:ext cx="4946542" cy="25380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000" kern="100" dirty="0">
                    <a:latin typeface="+mn-ea"/>
                    <a:cs typeface="Times New Roman" panose="02020603050405020304" pitchFamily="18" charset="0"/>
                  </a:rPr>
                  <a:t>控制效果</a:t>
                </a:r>
                <a:endParaRPr lang="en-US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上升时间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=11.296</m:t>
                    </m:r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CN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超调量</a:t>
                </a:r>
                <a14:m>
                  <m:oMath xmlns:m="http://schemas.openxmlformats.org/officeDocument/2006/math">
                    <m:r>
                      <a:rPr lang="zh-CN" altLang="en-US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𝜎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0.108%</m:t>
                    </m:r>
                  </m:oMath>
                </a14:m>
                <a:endParaRPr lang="en-US" altLang="zh-CN" b="0" i="1" kern="100" dirty="0"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en-US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18.7421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时</a:t>
                </a: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系统基本达到稳定</a:t>
                </a:r>
                <a:endParaRPr lang="en-US" altLang="zh-CN" sz="180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稳态误差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ss</m:t>
                        </m:r>
                      </m:sub>
                    </m:sSub>
                    <m:r>
                      <a:rPr lang="zh-CN" altLang="en-US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≈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0.0096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%</m:t>
                    </m:r>
                  </m:oMath>
                </a14:m>
                <a:endParaRPr lang="en-US" altLang="zh-CN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zh-CN" altLang="zh-CN" sz="140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2036" y="2966662"/>
                <a:ext cx="4946542" cy="2538095"/>
              </a:xfrm>
              <a:prstGeom prst="rect">
                <a:avLst/>
              </a:prstGeom>
              <a:blipFill rotWithShape="1">
                <a:blip r:embed="rId4"/>
                <a:stretch>
                  <a:fillRect l="-8" t="-23" r="6" b="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788326"/>
            <a:ext cx="7599630" cy="1405496"/>
          </a:xfrm>
          <a:prstGeom prst="rect">
            <a:avLst/>
          </a:prstGeom>
        </p:spPr>
      </p:pic>
      <p:pic>
        <p:nvPicPr>
          <p:cNvPr id="2" name="图片 -214748249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7440" y="2480310"/>
            <a:ext cx="5187950" cy="3891280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575"/>
            <a:ext cx="4373880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defTabSz="685800" fontAlgn="auto">
              <a:lnSpc>
                <a:spcPct val="90000"/>
              </a:lnSpc>
            </a:pPr>
            <a:r>
              <a:rPr lang="en-US" altLang="zh-CN" sz="2600" b="1" dirty="0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 </a:t>
            </a:r>
            <a:r>
              <a:rPr lang="zh-CN" altLang="en-US" sz="2600" b="1" dirty="0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俯仰的模糊</a:t>
            </a:r>
            <a:r>
              <a:rPr lang="en-US" altLang="zh-CN" sz="2600" b="1" dirty="0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PID</a:t>
            </a:r>
            <a:r>
              <a:rPr lang="zh-CN" altLang="en-US" sz="2600" b="1" dirty="0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仿真</a:t>
            </a:r>
            <a:endParaRPr lang="zh-CN" altLang="en-US" sz="2600" b="1" noProof="1">
              <a:solidFill>
                <a:srgbClr val="701E5E"/>
              </a:solidFill>
              <a:latin typeface="字魂105号-简雅黑" panose="00000500000000000000" charset="-122"/>
              <a:ea typeface="字魂105号-简雅黑" panose="00000500000000000000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/>
              <p:cNvSpPr txBox="1"/>
              <p:nvPr/>
            </p:nvSpPr>
            <p:spPr>
              <a:xfrm>
                <a:off x="8911630" y="4059096"/>
                <a:ext cx="3850326" cy="1216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3346450" algn="l"/>
                  </a:tabLst>
                </a:pPr>
                <a:r>
                  <a:rPr lang="en-US" altLang="zh-CN" sz="2000" kern="100" dirty="0">
                    <a:latin typeface="+mn-ea"/>
                    <a:cs typeface="Times New Roman" panose="02020603050405020304" pitchFamily="18" charset="0"/>
                  </a:rPr>
                  <a:t>PID</a:t>
                </a:r>
                <a:r>
                  <a:rPr lang="zh-CN" altLang="en-US" sz="2000" kern="100" dirty="0">
                    <a:latin typeface="+mn-ea"/>
                    <a:cs typeface="Times New Roman" panose="02020603050405020304" pitchFamily="18" charset="0"/>
                  </a:rPr>
                  <a:t>控制参数</a:t>
                </a:r>
                <a:endParaRPr lang="en-US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=1.3</m:t>
                    </m:r>
                  </m:oMath>
                </a14:m>
                <a:endParaRPr lang="en-US" altLang="zh-CN" sz="1800" b="0" i="1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=0.5</m:t>
                    </m:r>
                  </m:oMath>
                </a14:m>
                <a:endParaRPr lang="en-US" altLang="zh-CN" sz="1800" b="0" i="1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=1.325</m:t>
                    </m:r>
                  </m:oMath>
                </a14:m>
                <a:endParaRPr lang="en-US" altLang="zh-CN" sz="1800" b="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1630" y="4059096"/>
                <a:ext cx="3850326" cy="1216660"/>
              </a:xfrm>
              <a:prstGeom prst="rect">
                <a:avLst/>
              </a:prstGeom>
              <a:blipFill rotWithShape="1">
                <a:blip r:embed="rId3"/>
                <a:stretch>
                  <a:fillRect l="-1" t="-14" r="9" b="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8911590" y="1064895"/>
                <a:ext cx="2522855" cy="23247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tabLst>
                    <a:tab pos="3346450" algn="l"/>
                  </a:tabLst>
                </a:pPr>
                <a:r>
                  <a:rPr lang="zh-CN" altLang="en-US" sz="2000" kern="100" dirty="0">
                    <a:latin typeface="+mn-ea"/>
                    <a:cs typeface="Times New Roman" panose="02020603050405020304" pitchFamily="18" charset="0"/>
                  </a:rPr>
                  <a:t>模糊控制参数</a:t>
                </a:r>
                <a:endParaRPr lang="en-US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:r>
                  <a:rPr lang="zh-CN" altLang="en-US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量化系数</a:t>
                </a:r>
                <a:endParaRPr lang="en-US" altLang="zh-CN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800100" lvl="1" indent="-342900"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:r>
                  <a:rPr lang="en-US" altLang="zh-CN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E</a:t>
                </a:r>
                <a:r>
                  <a:rPr lang="zh-CN" altLang="en-US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r>
                  <a:rPr lang="en-US" altLang="zh-CN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10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:r>
                  <a:rPr lang="en-US" altLang="zh-CN" kern="100" dirty="0" err="1">
                    <a:ea typeface="宋体" panose="02010600030101010101" pitchFamily="2" charset="-122"/>
                    <a:cs typeface="Times New Roman" panose="02020603050405020304" pitchFamily="18" charset="0"/>
                  </a:rPr>
                  <a:t>dE</a:t>
                </a:r>
                <a:r>
                  <a:rPr lang="en-US" altLang="zh-CN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/dt</a:t>
                </a:r>
                <a:r>
                  <a:rPr lang="zh-CN" altLang="en-US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：</a:t>
                </a:r>
                <a:r>
                  <a:rPr lang="en-US" altLang="zh-CN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2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:r>
                  <a:rPr lang="zh-CN" altLang="en-US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比例因子</a:t>
                </a:r>
                <a:endParaRPr lang="en-US" altLang="zh-CN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=0.2</m:t>
                    </m:r>
                  </m:oMath>
                </a14:m>
                <a:endParaRPr lang="en-US" altLang="zh-CN" b="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=0.03</m:t>
                    </m:r>
                  </m:oMath>
                </a14:m>
                <a:endParaRPr lang="en-US" altLang="zh-CN" b="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742950" lvl="1" indent="-285750"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=0.2</m:t>
                    </m:r>
                  </m:oMath>
                </a14:m>
                <a:endParaRPr lang="en-US" altLang="zh-CN" b="0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11590" y="1064895"/>
                <a:ext cx="2522855" cy="232473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" y="1494155"/>
            <a:ext cx="8704580" cy="2776855"/>
          </a:xfrm>
          <a:prstGeom prst="rect">
            <a:avLst/>
          </a:prstGeom>
          <a:noFill/>
          <a:ln w="9525">
            <a:noFill/>
          </a:ln>
        </p:spPr>
      </p:pic>
    </p:spTree>
    <p:custDataLst>
      <p:tags r:id="rId1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575"/>
            <a:ext cx="4373880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defTabSz="685800" fontAlgn="auto">
              <a:lnSpc>
                <a:spcPct val="90000"/>
              </a:lnSpc>
            </a:pPr>
            <a:r>
              <a:rPr lang="en-US" altLang="zh-CN" sz="2600" b="1" dirty="0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 </a:t>
            </a:r>
            <a:r>
              <a:rPr lang="zh-CN" altLang="en-US" sz="2600" b="1" dirty="0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俯仰的模糊</a:t>
            </a:r>
            <a:r>
              <a:rPr lang="en-US" altLang="zh-CN" sz="2600" b="1" dirty="0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PID</a:t>
            </a:r>
            <a:r>
              <a:rPr lang="zh-CN" altLang="en-US" sz="2600" b="1" dirty="0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仿真</a:t>
            </a:r>
            <a:endParaRPr lang="zh-CN" altLang="en-US" sz="2600" b="1" noProof="1">
              <a:solidFill>
                <a:srgbClr val="701E5E"/>
              </a:solidFill>
              <a:latin typeface="字魂105号-简雅黑" panose="00000500000000000000" charset="-122"/>
              <a:ea typeface="字魂105号-简雅黑" panose="00000500000000000000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71640" y="3760370"/>
            <a:ext cx="4634865" cy="17759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模糊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PID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与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PID</a:t>
            </a: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对比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稳态误差可近似为0，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稳定性较好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上升时间、峰值时间和过渡过程时间相对较长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超调量增大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6771640" y="845661"/>
                <a:ext cx="4946542" cy="29533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000" kern="100" dirty="0">
                    <a:latin typeface="+mn-ea"/>
                    <a:cs typeface="Times New Roman" panose="02020603050405020304" pitchFamily="18" charset="0"/>
                  </a:rPr>
                  <a:t>控制效果</a:t>
                </a:r>
                <a:endParaRPr lang="en-US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上升时间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=3.032</m:t>
                    </m:r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CN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峰值时间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=3.275</m:t>
                    </m:r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CN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超调量</a:t>
                </a:r>
                <a14:m>
                  <m:oMath xmlns:m="http://schemas.openxmlformats.org/officeDocument/2006/math">
                    <m:r>
                      <a:rPr lang="zh-CN" altLang="en-US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𝜎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15.68%</m:t>
                    </m:r>
                  </m:oMath>
                </a14:m>
                <a:endParaRPr lang="en-US" altLang="zh-CN" b="0" i="1" kern="100" dirty="0"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en-US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=3.641</m:t>
                    </m:r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时</a:t>
                </a: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系统基本达到稳定</a:t>
                </a:r>
                <a:endParaRPr lang="en-US" altLang="zh-CN" sz="180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稳态误差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ss</m:t>
                        </m:r>
                      </m:sub>
                    </m:sSub>
                    <m:r>
                      <a:rPr lang="zh-CN" altLang="en-US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≈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0.453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%</m:t>
                    </m:r>
                  </m:oMath>
                </a14:m>
                <a:endParaRPr lang="en-US" altLang="zh-CN" kern="100" dirty="0">
                  <a:latin typeface="宋体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endParaRPr lang="zh-CN" altLang="zh-CN" sz="140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1640" y="845661"/>
                <a:ext cx="4946542" cy="2953385"/>
              </a:xfrm>
              <a:prstGeom prst="rect">
                <a:avLst/>
              </a:prstGeom>
              <a:blipFill rotWithShape="1">
                <a:blip r:embed="rId3"/>
                <a:stretch>
                  <a:fillRect t="-16" r="11" b="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>
            <a:extLst>
              <a:ext uri="{FF2B5EF4-FFF2-40B4-BE49-F238E27FC236}">
                <a16:creationId xmlns:a16="http://schemas.microsoft.com/office/drawing/2014/main" id="{FC3446E6-E32F-4DF0-8B23-F48DA5142D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0184" y="1428750"/>
            <a:ext cx="5334000" cy="40005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575"/>
            <a:ext cx="3761105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defTabSz="685800" fontAlgn="auto">
              <a:lnSpc>
                <a:spcPct val="90000"/>
              </a:lnSpc>
            </a:pPr>
            <a:r>
              <a:rPr lang="en-US" altLang="zh-CN" sz="2600" b="1" dirty="0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 </a:t>
            </a:r>
            <a:r>
              <a:rPr lang="zh-CN" altLang="en-US" sz="2600" b="1" dirty="0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俯仰角的</a:t>
            </a:r>
            <a:r>
              <a:rPr lang="en-US" altLang="zh-CN" sz="2600" b="1" dirty="0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PID</a:t>
            </a:r>
            <a:r>
              <a:rPr lang="zh-CN" altLang="en-US" sz="2600" b="1" dirty="0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实机控制</a:t>
            </a:r>
            <a:endParaRPr lang="zh-CN" altLang="en-US" sz="2600" b="1" noProof="1">
              <a:solidFill>
                <a:srgbClr val="701E5E"/>
              </a:solidFill>
              <a:latin typeface="字魂105号-简雅黑" panose="00000500000000000000" charset="-122"/>
              <a:ea typeface="字魂105号-简雅黑" panose="00000500000000000000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189" y="777905"/>
            <a:ext cx="3952969" cy="132439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/>
              <p:cNvSpPr txBox="1"/>
              <p:nvPr/>
            </p:nvSpPr>
            <p:spPr>
              <a:xfrm>
                <a:off x="1631228" y="2974376"/>
                <a:ext cx="3850326" cy="21945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3346450" algn="l"/>
                  </a:tabLst>
                </a:pPr>
                <a:r>
                  <a:rPr lang="en-US" altLang="zh-CN" sz="2000" kern="100" dirty="0">
                    <a:latin typeface="+mn-ea"/>
                    <a:cs typeface="Times New Roman" panose="02020603050405020304" pitchFamily="18" charset="0"/>
                  </a:rPr>
                  <a:t>PID</a:t>
                </a:r>
                <a:r>
                  <a:rPr lang="zh-CN" altLang="en-US" sz="2000" kern="100" dirty="0">
                    <a:latin typeface="+mn-ea"/>
                    <a:cs typeface="Times New Roman" panose="02020603050405020304" pitchFamily="18" charset="0"/>
                  </a:rPr>
                  <a:t>控制参数</a:t>
                </a:r>
                <a:endParaRPr lang="en-US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=1.3</m:t>
                    </m:r>
                  </m:oMath>
                </a14:m>
                <a:endParaRPr lang="en-US" altLang="zh-CN" sz="1800" b="0" i="1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=0.5</m:t>
                    </m:r>
                  </m:oMath>
                </a14:m>
                <a:endParaRPr lang="en-US" altLang="zh-CN" sz="1800" b="0" i="1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=1.325</m:t>
                    </m:r>
                  </m:oMath>
                </a14:m>
                <a:endParaRPr lang="en-US" altLang="zh-CN" sz="1800" b="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阶跃函数的</a:t>
                </a: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终</a:t>
                </a: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值</a:t>
                </a:r>
                <a:r>
                  <a:rPr lang="en-US" altLang="zh-CN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=0.4</a:t>
                </a:r>
              </a:p>
            </p:txBody>
          </p:sp>
        </mc:Choice>
        <mc:Fallback xmlns=""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228" y="2974376"/>
                <a:ext cx="3850326" cy="2194560"/>
              </a:xfrm>
              <a:prstGeom prst="rect">
                <a:avLst/>
              </a:prstGeom>
              <a:blipFill>
                <a:blip r:embed="rId5"/>
                <a:stretch>
                  <a:fillRect l="-1743" b="-36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6863291" y="2974376"/>
                <a:ext cx="4946542" cy="26466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000" kern="100" dirty="0">
                    <a:latin typeface="+mn-ea"/>
                    <a:cs typeface="Times New Roman" panose="02020603050405020304" pitchFamily="18" charset="0"/>
                  </a:rPr>
                  <a:t>控制效果</a:t>
                </a:r>
                <a:endParaRPr lang="en-US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上升时间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4.8650</m:t>
                    </m:r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CN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峰值时间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18.14</m:t>
                    </m:r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CN" sz="180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超调量</a:t>
                </a:r>
                <a14:m>
                  <m:oMath xmlns:m="http://schemas.openxmlformats.org/officeDocument/2006/math">
                    <m:r>
                      <a:rPr lang="zh-CN" altLang="en-US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𝜎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7.99%</m:t>
                    </m:r>
                  </m:oMath>
                </a14:m>
                <a:endParaRPr lang="en-US" altLang="zh-CN" b="0" i="1" kern="100" dirty="0">
                  <a:latin typeface="Cambria Math" panose="020405030504060302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en-US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21.73</m:t>
                    </m:r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时</a:t>
                </a: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系统基本达到稳定</a:t>
                </a: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误差</a:t>
                </a:r>
                <a:r>
                  <a:rPr lang="en-US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1%</a:t>
                </a: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）</a:t>
                </a:r>
                <a:endParaRPr lang="en-US" altLang="zh-CN" sz="180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稳态误差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ss</m:t>
                        </m:r>
                      </m:sub>
                    </m:sSub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=0.52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%</m:t>
                    </m:r>
                  </m:oMath>
                </a14:m>
                <a:endParaRPr lang="en-US" altLang="zh-CN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291" y="2974376"/>
                <a:ext cx="4946542" cy="2646680"/>
              </a:xfrm>
              <a:prstGeom prst="rect">
                <a:avLst/>
              </a:prstGeom>
              <a:blipFill>
                <a:blip r:embed="rId6"/>
                <a:stretch>
                  <a:fillRect l="-1356" r="-5549" b="-9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>
            <a:extLst>
              <a:ext uri="{FF2B5EF4-FFF2-40B4-BE49-F238E27FC236}">
                <a16:creationId xmlns:a16="http://schemas.microsoft.com/office/drawing/2014/main" id="{75E63BF0-55F7-6517-E90B-B3784D234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2768" y="555860"/>
            <a:ext cx="6798966" cy="22608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575"/>
            <a:ext cx="3820795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defTabSz="685800" fontAlgn="auto">
              <a:lnSpc>
                <a:spcPct val="90000"/>
              </a:lnSpc>
            </a:pPr>
            <a:r>
              <a:rPr lang="en-US" altLang="zh-CN" sz="2600" b="1" dirty="0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 </a:t>
            </a:r>
            <a:r>
              <a:rPr lang="zh-CN" altLang="en-US" sz="2600" b="1" dirty="0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横侧角的</a:t>
            </a:r>
            <a:r>
              <a:rPr lang="en-US" altLang="zh-CN" sz="2600" b="1" dirty="0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PID</a:t>
            </a:r>
            <a:r>
              <a:rPr lang="zh-CN" altLang="en-US" sz="2600" b="1" dirty="0">
                <a:solidFill>
                  <a:srgbClr val="701E5E"/>
                </a:solidFill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实机控制</a:t>
            </a:r>
            <a:endParaRPr lang="zh-CN" altLang="en-US" sz="2600" b="1" noProof="1">
              <a:solidFill>
                <a:srgbClr val="701E5E"/>
              </a:solidFill>
              <a:latin typeface="字魂105号-简雅黑" panose="00000500000000000000" charset="-122"/>
              <a:ea typeface="字魂105号-简雅黑" panose="00000500000000000000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96" y="608601"/>
            <a:ext cx="4961923" cy="19035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/>
              <p:cNvSpPr txBox="1"/>
              <p:nvPr/>
            </p:nvSpPr>
            <p:spPr>
              <a:xfrm>
                <a:off x="1770506" y="3072988"/>
                <a:ext cx="3850326" cy="22040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3346450" algn="l"/>
                  </a:tabLst>
                </a:pPr>
                <a:r>
                  <a:rPr lang="en-US" altLang="zh-CN" sz="2000" kern="100" dirty="0">
                    <a:latin typeface="+mn-ea"/>
                    <a:cs typeface="Times New Roman" panose="02020603050405020304" pitchFamily="18" charset="0"/>
                  </a:rPr>
                  <a:t>PID</a:t>
                </a:r>
                <a:r>
                  <a:rPr lang="zh-CN" altLang="en-US" sz="2000" kern="100" dirty="0">
                    <a:latin typeface="+mn-ea"/>
                    <a:cs typeface="Times New Roman" panose="02020603050405020304" pitchFamily="18" charset="0"/>
                  </a:rPr>
                  <a:t>控制参数</a:t>
                </a:r>
                <a:endParaRPr lang="en-US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=0.6</m:t>
                    </m:r>
                  </m:oMath>
                </a14:m>
                <a:endParaRPr lang="en-US" altLang="zh-CN" sz="1800" b="0" i="1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=1.2</m:t>
                    </m:r>
                  </m:oMath>
                </a14:m>
                <a:endParaRPr lang="en-US" altLang="zh-CN" sz="1800" b="0" i="1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1800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1800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zh-CN" sz="1800" b="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阶跃函数的</a:t>
                </a: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终</a:t>
                </a: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值</a:t>
                </a:r>
                <a:r>
                  <a:rPr lang="en-US" altLang="zh-CN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=0.1</a:t>
                </a:r>
              </a:p>
            </p:txBody>
          </p:sp>
        </mc:Choice>
        <mc:Fallback xmlns="">
          <p:sp>
            <p:nvSpPr>
              <p:cNvPr id="9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0506" y="3072988"/>
                <a:ext cx="3850326" cy="2204085"/>
              </a:xfrm>
              <a:prstGeom prst="rect">
                <a:avLst/>
              </a:prstGeom>
              <a:blipFill>
                <a:blip r:embed="rId5"/>
                <a:stretch>
                  <a:fillRect l="-1582" b="-30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/>
              <p:cNvSpPr txBox="1"/>
              <p:nvPr/>
            </p:nvSpPr>
            <p:spPr>
              <a:xfrm>
                <a:off x="6863291" y="3072988"/>
                <a:ext cx="4946542" cy="2635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zh-CN" altLang="en-US" sz="2000" kern="100" dirty="0">
                    <a:latin typeface="+mn-ea"/>
                    <a:cs typeface="Times New Roman" panose="02020603050405020304" pitchFamily="18" charset="0"/>
                  </a:rPr>
                  <a:t>控制效果</a:t>
                </a:r>
                <a:endParaRPr lang="en-US" altLang="zh-CN" sz="2000" kern="100" dirty="0"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上升时间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8.5000</m:t>
                    </m:r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CN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峰值时间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1800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13.720</m:t>
                    </m:r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𝑠</m:t>
                    </m:r>
                  </m:oMath>
                </a14:m>
                <a:endParaRPr lang="en-US" altLang="zh-CN" sz="180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kern="100" smtClean="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zh-CN" altLang="en-US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10.5300</m:t>
                    </m:r>
                    <m:r>
                      <a:rPr lang="zh-CN" altLang="en-US" i="1" kern="100">
                        <a:latin typeface="Cambria Math" panose="02040503050406030204" pitchFamily="18" charset="0"/>
                        <a:ea typeface="宋体" panose="02010600030101010101" pitchFamily="2" charset="-122"/>
                        <a:cs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时</a:t>
                </a:r>
                <a:r>
                  <a:rPr lang="zh-CN" altLang="en-US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系统基本达到稳定</a:t>
                </a:r>
                <a:endParaRPr lang="en-US" altLang="zh-CN" sz="1800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zh-CN" sz="18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稳态误差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kern="100"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ss</m:t>
                        </m:r>
                      </m:sub>
                    </m:sSub>
                    <m:r>
                      <a:rPr lang="zh-CN" altLang="en-US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≈</m:t>
                    </m:r>
                    <m:r>
                      <a:rPr lang="en-US" altLang="zh-CN" b="0" i="1" kern="100" smtClean="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0.87</m:t>
                    </m:r>
                    <m:r>
                      <a:rPr lang="en-US" altLang="zh-CN" i="1" kern="100">
                        <a:latin typeface="Cambria Math" panose="02040503050406030204" pitchFamily="18" charset="0"/>
                        <a:ea typeface="MS Mincho" charset="0"/>
                        <a:cs typeface="Cambria Math" panose="02040503050406030204" pitchFamily="18" charset="0"/>
                      </a:rPr>
                      <m:t>%</m:t>
                    </m:r>
                  </m:oMath>
                </a14:m>
                <a:endParaRPr lang="en-US" altLang="zh-CN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50000"/>
                  </a:lnSpc>
                </a:pPr>
                <a:r>
                  <a:rPr lang="zh-CN" altLang="en-US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     在稳定值附近震动频率较高但幅值较小</a:t>
                </a:r>
                <a:endParaRPr lang="en-US" altLang="zh-CN" kern="100" dirty="0"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文本框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3291" y="3072988"/>
                <a:ext cx="4946542" cy="2635885"/>
              </a:xfrm>
              <a:prstGeom prst="rect">
                <a:avLst/>
              </a:prstGeom>
              <a:blipFill>
                <a:blip r:embed="rId6"/>
                <a:stretch>
                  <a:fillRect l="-1356" b="-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ED7CC6E9-C2D5-DC11-D3CE-8AFE772080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1826" y="723900"/>
            <a:ext cx="5264150" cy="177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575"/>
            <a:ext cx="4448810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algn="l" defTabSz="685800" fontAlgn="auto">
              <a:lnSpc>
                <a:spcPct val="90000"/>
              </a:lnSpc>
            </a:pPr>
            <a:r>
              <a:rPr lang="en-US" altLang="zh-CN" sz="2600" b="1" dirty="0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 </a:t>
            </a:r>
            <a:r>
              <a:rPr lang="zh-CN" altLang="en-US" sz="2600" b="1" dirty="0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横侧</a:t>
            </a:r>
            <a:r>
              <a:rPr lang="en-US" altLang="zh-CN" sz="2600" b="1" dirty="0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+</a:t>
            </a:r>
            <a:r>
              <a:rPr lang="zh-CN" altLang="en-US" sz="2600" b="1" dirty="0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旋转的</a:t>
            </a:r>
            <a:r>
              <a:rPr lang="en-US" altLang="zh-CN" sz="2600" b="1" dirty="0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PID</a:t>
            </a:r>
            <a:r>
              <a:rPr lang="zh-CN" altLang="en-US" sz="2600" b="1" dirty="0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实机控制</a:t>
            </a:r>
          </a:p>
        </p:txBody>
      </p:sp>
      <p:pic>
        <p:nvPicPr>
          <p:cNvPr id="57" name="图片 57" descr="C:\Users\h\Desktop\作业文件夹\大三上\智能专业实践\图片\3.png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392710" y="608046"/>
            <a:ext cx="5523940" cy="164754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6096000" y="170203"/>
                <a:ext cx="3850326" cy="23764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tabLst>
                    <a:tab pos="3346450" algn="l"/>
                  </a:tabLst>
                </a:pPr>
                <a:r>
                  <a:rPr lang="en-US" altLang="zh-CN" sz="2000" kern="100" dirty="0">
                    <a:latin typeface="+mn-ea"/>
                    <a:cs typeface="Times New Roman" panose="02020603050405020304" pitchFamily="18" charset="0"/>
                  </a:rPr>
                  <a:t>PID</a:t>
                </a:r>
                <a:r>
                  <a:rPr lang="zh-CN" altLang="en-US" sz="2000" kern="100" dirty="0">
                    <a:latin typeface="+mn-ea"/>
                    <a:cs typeface="Times New Roman" panose="02020603050405020304" pitchFamily="18" charset="0"/>
                  </a:rPr>
                  <a:t>控制参数</a:t>
                </a:r>
                <a:endParaRPr lang="en-US" altLang="zh-CN" sz="2000" kern="100" dirty="0">
                  <a:effectLst/>
                  <a:latin typeface="+mn-ea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0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lang="en-US" altLang="zh-CN" sz="2000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=0.08</m:t>
                    </m:r>
                  </m:oMath>
                </a14:m>
                <a:endParaRPr lang="en-US" altLang="zh-CN" sz="2000" b="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CN" sz="2000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=0.0005</m:t>
                    </m:r>
                  </m:oMath>
                </a14:m>
                <a:endParaRPr lang="en-US" altLang="zh-CN" sz="2000" b="0" i="1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000" b="0" i="1" kern="100" smtClean="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sz="20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sz="2000" b="0" i="1" kern="100" smtClean="0">
                        <a:effectLst/>
                        <a:latin typeface="Cambria Math" panose="02040503050406030204" pitchFamily="18" charset="0"/>
                        <a:ea typeface="宋体" panose="02010600030101010101" pitchFamily="2" charset="-122"/>
                        <a:cs typeface="Times New Roman" panose="02020603050405020304" pitchFamily="18" charset="0"/>
                      </a:rPr>
                      <m:t>=0.1</m:t>
                    </m:r>
                  </m:oMath>
                </a14:m>
                <a:endParaRPr lang="en-US" altLang="zh-CN" sz="2000" b="0" kern="100" dirty="0">
                  <a:effectLst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  <a:tabLst>
                    <a:tab pos="3346450" algn="l"/>
                  </a:tabLst>
                </a:pPr>
                <a:r>
                  <a:rPr lang="zh-CN" altLang="zh-CN" sz="20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阶跃函数的</a:t>
                </a:r>
                <a:r>
                  <a:rPr lang="zh-CN" altLang="en-US" sz="20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终</a:t>
                </a:r>
                <a:r>
                  <a:rPr lang="zh-CN" altLang="zh-CN" sz="2000" kern="100" dirty="0">
                    <a:effectLst/>
                    <a:ea typeface="宋体" panose="02010600030101010101" pitchFamily="2" charset="-122"/>
                    <a:cs typeface="Times New Roman" panose="02020603050405020304" pitchFamily="18" charset="0"/>
                  </a:rPr>
                  <a:t>值</a:t>
                </a:r>
                <a:r>
                  <a:rPr lang="en-US" altLang="zh-CN" sz="2000" kern="100" dirty="0">
                    <a:ea typeface="宋体" panose="02010600030101010101" pitchFamily="2" charset="-122"/>
                    <a:cs typeface="Times New Roman" panose="02020603050405020304" pitchFamily="18" charset="0"/>
                  </a:rPr>
                  <a:t>=6.28</a:t>
                </a: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70203"/>
                <a:ext cx="3850326" cy="2376420"/>
              </a:xfrm>
              <a:prstGeom prst="rect">
                <a:avLst/>
              </a:prstGeom>
              <a:blipFill>
                <a:blip r:embed="rId4"/>
                <a:stretch>
                  <a:fillRect l="-1582" b="-38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本框 8"/>
          <p:cNvSpPr txBox="1"/>
          <p:nvPr/>
        </p:nvSpPr>
        <p:spPr>
          <a:xfrm>
            <a:off x="6096000" y="2532470"/>
            <a:ext cx="4946542" cy="3413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kern="100" dirty="0">
                <a:effectLst/>
                <a:latin typeface="+mn-ea"/>
                <a:cs typeface="Times New Roman" panose="02020603050405020304" pitchFamily="18" charset="0"/>
              </a:rPr>
              <a:t>控制效果</a:t>
            </a:r>
            <a:endParaRPr lang="en-US" altLang="zh-CN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zh-CN" dirty="0"/>
              <a:t>动态指标：</a:t>
            </a:r>
          </a:p>
          <a:p>
            <a:pPr>
              <a:lnSpc>
                <a:spcPct val="150000"/>
              </a:lnSpc>
            </a:pPr>
            <a:r>
              <a:rPr lang="zh-CN" altLang="zh-CN" dirty="0"/>
              <a:t>目标值</a:t>
            </a:r>
            <a:r>
              <a:rPr lang="en-US" altLang="zh-CN" dirty="0"/>
              <a:t>: 6.280</a:t>
            </a:r>
            <a:br>
              <a:rPr lang="en-US" altLang="zh-CN" dirty="0"/>
            </a:br>
            <a:r>
              <a:rPr lang="zh-CN" altLang="zh-CN" dirty="0"/>
              <a:t>稳态值</a:t>
            </a:r>
            <a:r>
              <a:rPr lang="en-US" altLang="zh-CN" dirty="0"/>
              <a:t>: 6.3351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zh-CN" altLang="zh-CN" dirty="0"/>
              <a:t>延迟时间</a:t>
            </a:r>
            <a:r>
              <a:rPr lang="en-US" altLang="zh-CN" dirty="0"/>
              <a:t>t</a:t>
            </a:r>
            <a:r>
              <a:rPr lang="en-US" altLang="zh-CN" baseline="-25000" dirty="0"/>
              <a:t>d</a:t>
            </a:r>
            <a:r>
              <a:rPr lang="en-US" altLang="zh-CN" dirty="0"/>
              <a:t>=1.0900s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zh-CN" altLang="zh-CN" dirty="0"/>
              <a:t>上升时间</a:t>
            </a:r>
            <a:r>
              <a:rPr lang="en-US" altLang="zh-CN" dirty="0"/>
              <a:t>t</a:t>
            </a:r>
            <a:r>
              <a:rPr lang="en-US" altLang="zh-CN" baseline="-25000" dirty="0"/>
              <a:t>r</a:t>
            </a:r>
            <a:r>
              <a:rPr lang="en-US" altLang="zh-CN" dirty="0"/>
              <a:t>=7.800s   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zh-CN" altLang="zh-CN" dirty="0"/>
              <a:t>峰值时间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p</a:t>
            </a:r>
            <a:r>
              <a:rPr lang="en-US" altLang="zh-CN" dirty="0"/>
              <a:t>=23.8700s  </a:t>
            </a:r>
            <a:endParaRPr lang="zh-CN" altLang="zh-CN" dirty="0"/>
          </a:p>
          <a:p>
            <a:pPr>
              <a:lnSpc>
                <a:spcPct val="150000"/>
              </a:lnSpc>
            </a:pPr>
            <a:r>
              <a:rPr lang="zh-CN" altLang="zh-CN" dirty="0"/>
              <a:t>调节时间</a:t>
            </a:r>
            <a:r>
              <a:rPr lang="en-US" altLang="zh-CN" dirty="0" err="1"/>
              <a:t>t</a:t>
            </a:r>
            <a:r>
              <a:rPr lang="en-US" altLang="zh-CN" baseline="-25000" dirty="0" err="1"/>
              <a:t>s</a:t>
            </a:r>
            <a:r>
              <a:rPr lang="en-US" altLang="zh-CN" dirty="0"/>
              <a:t>=9.61s   </a:t>
            </a:r>
            <a:endParaRPr lang="zh-CN" altLang="zh-CN" dirty="0"/>
          </a:p>
        </p:txBody>
      </p:sp>
      <p:pic>
        <p:nvPicPr>
          <p:cNvPr id="3074" name="图片 1">
            <a:extLst>
              <a:ext uri="{FF2B5EF4-FFF2-40B4-BE49-F238E27FC236}">
                <a16:creationId xmlns:a16="http://schemas.microsoft.com/office/drawing/2014/main" id="{4A6239CC-4688-F5E9-B986-81F202B28B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0275" y="2532470"/>
            <a:ext cx="4318000" cy="357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AEE7EFB-167E-6260-14B4-E75C4C6320C7}"/>
              </a:ext>
            </a:extLst>
          </p:cNvPr>
          <p:cNvSpPr txBox="1"/>
          <p:nvPr/>
        </p:nvSpPr>
        <p:spPr>
          <a:xfrm>
            <a:off x="8569271" y="2979090"/>
            <a:ext cx="3166251" cy="25340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/>
              <a:t>超调量</a:t>
            </a:r>
            <a:r>
              <a:rPr lang="en-US" altLang="zh-CN"/>
              <a:t>   A=1.10%</a:t>
            </a:r>
            <a:endParaRPr lang="zh-CN" altLang="zh-CN"/>
          </a:p>
          <a:p>
            <a:pPr>
              <a:lnSpc>
                <a:spcPct val="150000"/>
              </a:lnSpc>
            </a:pPr>
            <a:r>
              <a:rPr lang="zh-CN" altLang="zh-CN"/>
              <a:t>稳态误差</a:t>
            </a:r>
            <a:r>
              <a:rPr lang="en-US" altLang="zh-CN"/>
              <a:t>e</a:t>
            </a:r>
            <a:r>
              <a:rPr lang="en-US" altLang="zh-CN" baseline="-25000"/>
              <a:t>ss</a:t>
            </a:r>
            <a:r>
              <a:rPr lang="en-US" altLang="zh-CN"/>
              <a:t> =0.0551 (0.88%)</a:t>
            </a:r>
            <a:endParaRPr lang="zh-CN" altLang="zh-CN"/>
          </a:p>
          <a:p>
            <a:pPr>
              <a:lnSpc>
                <a:spcPct val="150000"/>
              </a:lnSpc>
            </a:pPr>
            <a:r>
              <a:rPr lang="en-US" altLang="zh-CN"/>
              <a:t>--- </a:t>
            </a:r>
            <a:r>
              <a:rPr lang="zh-CN" altLang="zh-CN"/>
              <a:t>性能指标</a:t>
            </a:r>
            <a:r>
              <a:rPr lang="en-US" altLang="zh-CN"/>
              <a:t> ---</a:t>
            </a:r>
            <a:br>
              <a:rPr lang="en-US" altLang="zh-CN"/>
            </a:br>
            <a:r>
              <a:rPr lang="en-US" altLang="zh-CN"/>
              <a:t>ISE: 86.4826</a:t>
            </a:r>
            <a:br>
              <a:rPr lang="en-US" altLang="zh-CN"/>
            </a:br>
            <a:r>
              <a:rPr lang="en-US" altLang="zh-CN"/>
              <a:t>IAE: 27.9269</a:t>
            </a:r>
            <a:br>
              <a:rPr lang="en-US" altLang="zh-CN"/>
            </a:br>
            <a:r>
              <a:rPr lang="en-US" altLang="zh-CN"/>
              <a:t>ITAE: 357.6357</a:t>
            </a:r>
            <a:endParaRPr lang="zh-CN" altLang="zh-CN" dirty="0"/>
          </a:p>
        </p:txBody>
      </p:sp>
    </p:spTree>
    <p:custDataLst>
      <p:tags r:id="rId1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575"/>
            <a:ext cx="4009390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algn="l" defTabSz="685800" fontAlgn="auto">
              <a:lnSpc>
                <a:spcPct val="90000"/>
              </a:lnSpc>
            </a:pPr>
            <a:r>
              <a:rPr lang="en-US" altLang="zh-CN" sz="2600" b="1" dirty="0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 </a:t>
            </a:r>
            <a:r>
              <a:rPr lang="zh-CN" altLang="en-US" sz="2600" b="1" dirty="0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俯仰的模糊</a:t>
            </a:r>
            <a:r>
              <a:rPr lang="en-US" altLang="zh-CN" sz="2600" b="1" dirty="0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PID</a:t>
            </a:r>
            <a:r>
              <a:rPr lang="zh-CN" altLang="en-US" sz="2600" b="1" dirty="0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实机控制</a:t>
            </a:r>
          </a:p>
        </p:txBody>
      </p:sp>
      <p:pic>
        <p:nvPicPr>
          <p:cNvPr id="54" name="图片 54" descr="俯仰模糊实机图"/>
          <p:cNvPicPr>
            <a:picLocks noChangeAspect="1"/>
          </p:cNvPicPr>
          <p:nvPr/>
        </p:nvPicPr>
        <p:blipFill>
          <a:blip r:embed="rId4"/>
          <a:srcRect t="24086"/>
          <a:stretch>
            <a:fillRect/>
          </a:stretch>
        </p:blipFill>
        <p:spPr>
          <a:xfrm>
            <a:off x="446296" y="1220245"/>
            <a:ext cx="10984230" cy="34131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651076" y="6118860"/>
            <a:ext cx="7187679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sym typeface="+mn-ea"/>
              </a:rPr>
              <a:t>参数：Kp=</a:t>
            </a:r>
            <a:r>
              <a:rPr lang="en-US" altLang="zh-CN" sz="3200" b="1" dirty="0">
                <a:sym typeface="+mn-ea"/>
              </a:rPr>
              <a:t>1.3</a:t>
            </a:r>
            <a:r>
              <a:rPr lang="zh-CN" altLang="en-US" sz="3200" b="1" dirty="0">
                <a:sym typeface="+mn-ea"/>
              </a:rPr>
              <a:t>，Ki=</a:t>
            </a:r>
            <a:r>
              <a:rPr lang="en-US" altLang="zh-CN" sz="3200" b="1" dirty="0">
                <a:sym typeface="+mn-ea"/>
              </a:rPr>
              <a:t>0.5</a:t>
            </a:r>
            <a:r>
              <a:rPr lang="zh-CN" altLang="en-US" sz="3200" b="1" dirty="0">
                <a:sym typeface="+mn-ea"/>
              </a:rPr>
              <a:t>，Kd=</a:t>
            </a:r>
            <a:r>
              <a:rPr lang="en-US" altLang="zh-CN" sz="3200" b="1" dirty="0">
                <a:sym typeface="+mn-ea"/>
              </a:rPr>
              <a:t>1.325</a:t>
            </a:r>
            <a:endParaRPr lang="zh-CN" altLang="en-US" sz="3200" b="1" dirty="0">
              <a:sym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575"/>
            <a:ext cx="4093845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algn="l" defTabSz="685800" fontAlgn="auto">
              <a:lnSpc>
                <a:spcPct val="90000"/>
              </a:lnSpc>
            </a:pPr>
            <a:r>
              <a:rPr lang="en-US" altLang="zh-CN" sz="2600" b="1" dirty="0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 </a:t>
            </a:r>
            <a:r>
              <a:rPr lang="zh-CN" altLang="en-US" sz="2600" b="1" dirty="0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俯仰的模糊</a:t>
            </a:r>
            <a:r>
              <a:rPr lang="en-US" altLang="zh-CN" sz="2600" b="1" dirty="0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PID</a:t>
            </a:r>
            <a:r>
              <a:rPr lang="zh-CN" altLang="en-US" sz="2600" b="1" dirty="0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sym typeface="+mn-ea"/>
              </a:rPr>
              <a:t>实机控制</a:t>
            </a:r>
            <a:endParaRPr lang="zh-CN" altLang="en-US" sz="2600" b="1" strike="noStrike" noProof="1">
              <a:solidFill>
                <a:srgbClr val="701E5E"/>
              </a:solidFill>
              <a:effectLst/>
              <a:latin typeface="字魂105号-简雅黑" panose="00000500000000000000" charset="-122"/>
              <a:ea typeface="字魂105号-简雅黑" panose="00000500000000000000" charset="-122"/>
              <a:cs typeface="+mn-cs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89369" y="3833209"/>
            <a:ext cx="5057140" cy="27324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25000"/>
              </a:lnSpc>
            </a:pP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稳态值附近会出现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小幅波动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稳态误差可近似为0，</a:t>
            </a: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稳定性较好</a:t>
            </a:r>
            <a:endParaRPr lang="zh-CN" altLang="en-US" sz="2000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342900" indent="-3429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上升时间较快，峰值时间和过渡过程时间相对较长</a:t>
            </a:r>
          </a:p>
          <a:p>
            <a:pPr marL="342900" indent="-3429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超调量增大</a:t>
            </a:r>
          </a:p>
          <a:p>
            <a:pPr marL="342900" indent="-342900" algn="just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2000" b="1" dirty="0">
                <a:latin typeface="宋体" panose="02010600030101010101" pitchFamily="2" charset="-122"/>
                <a:ea typeface="宋体" panose="02010600030101010101" pitchFamily="2" charset="-122"/>
              </a:rPr>
              <a:t>动态性能一般</a:t>
            </a:r>
          </a:p>
        </p:txBody>
      </p:sp>
      <p:pic>
        <p:nvPicPr>
          <p:cNvPr id="4098" name="图片 1">
            <a:extLst>
              <a:ext uri="{FF2B5EF4-FFF2-40B4-BE49-F238E27FC236}">
                <a16:creationId xmlns:a16="http://schemas.microsoft.com/office/drawing/2014/main" id="{CA2DF620-1007-465C-3352-A3FDE3B780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497" y="1239999"/>
            <a:ext cx="6588525" cy="3959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308ACDCC-2AC3-15F2-88B3-B1D6E3E0EA6D}"/>
              </a:ext>
            </a:extLst>
          </p:cNvPr>
          <p:cNvSpPr txBox="1"/>
          <p:nvPr/>
        </p:nvSpPr>
        <p:spPr>
          <a:xfrm>
            <a:off x="785190" y="5618001"/>
            <a:ext cx="50039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红色曲线为无模糊控制，蓝色曲线为有模糊控制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23644A6-ADC4-D55E-D676-E43445FF0ED6}"/>
              </a:ext>
            </a:extLst>
          </p:cNvPr>
          <p:cNvSpPr txBox="1"/>
          <p:nvPr/>
        </p:nvSpPr>
        <p:spPr>
          <a:xfrm>
            <a:off x="6789369" y="723900"/>
            <a:ext cx="2687157" cy="4190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/>
              <a:t>目标值</a:t>
            </a:r>
            <a:r>
              <a:rPr lang="en-US" altLang="zh-CN" sz="2000" dirty="0"/>
              <a:t>: 0.400</a:t>
            </a:r>
            <a:endParaRPr lang="zh-CN" altLang="zh-CN" sz="2000" dirty="0"/>
          </a:p>
          <a:p>
            <a:pPr>
              <a:lnSpc>
                <a:spcPct val="150000"/>
              </a:lnSpc>
            </a:pPr>
            <a:r>
              <a:rPr lang="zh-CN" altLang="zh-CN" sz="2000" dirty="0"/>
              <a:t>稳态值</a:t>
            </a:r>
            <a:r>
              <a:rPr lang="en-US" altLang="zh-CN" sz="2000" dirty="0"/>
              <a:t>: 0.4001</a:t>
            </a:r>
            <a:endParaRPr lang="zh-CN" altLang="zh-CN" sz="2000" dirty="0"/>
          </a:p>
          <a:p>
            <a:pPr>
              <a:lnSpc>
                <a:spcPct val="150000"/>
              </a:lnSpc>
            </a:pPr>
            <a:r>
              <a:rPr lang="zh-CN" altLang="zh-CN" sz="2000" dirty="0"/>
              <a:t>延迟时间</a:t>
            </a:r>
            <a:r>
              <a:rPr lang="en-US" altLang="zh-CN" sz="2000" dirty="0"/>
              <a:t>t</a:t>
            </a:r>
            <a:r>
              <a:rPr lang="en-US" altLang="zh-CN" sz="2000" baseline="-25000" dirty="0"/>
              <a:t>d</a:t>
            </a:r>
            <a:r>
              <a:rPr lang="en-US" altLang="zh-CN" sz="2000" dirty="0"/>
              <a:t>=6.7550s</a:t>
            </a:r>
            <a:endParaRPr lang="zh-CN" altLang="zh-CN" sz="2000" dirty="0"/>
          </a:p>
          <a:p>
            <a:pPr>
              <a:lnSpc>
                <a:spcPct val="150000"/>
              </a:lnSpc>
            </a:pPr>
            <a:r>
              <a:rPr lang="zh-CN" altLang="zh-CN" sz="2000" dirty="0"/>
              <a:t>上升时间</a:t>
            </a:r>
            <a:r>
              <a:rPr lang="en-US" altLang="zh-CN" sz="2000" dirty="0"/>
              <a:t>t</a:t>
            </a:r>
            <a:r>
              <a:rPr lang="en-US" altLang="zh-CN" sz="2000" baseline="-25000" dirty="0"/>
              <a:t>r</a:t>
            </a:r>
            <a:r>
              <a:rPr lang="en-US" altLang="zh-CN" sz="2000" dirty="0"/>
              <a:t>=1.8350 s</a:t>
            </a:r>
            <a:endParaRPr lang="zh-CN" altLang="zh-CN" sz="2000" dirty="0"/>
          </a:p>
          <a:p>
            <a:pPr>
              <a:lnSpc>
                <a:spcPct val="150000"/>
              </a:lnSpc>
            </a:pPr>
            <a:r>
              <a:rPr lang="zh-CN" altLang="zh-CN" sz="2000" dirty="0"/>
              <a:t>峰值时间</a:t>
            </a:r>
            <a:r>
              <a:rPr lang="en-US" altLang="zh-CN" sz="2000" dirty="0" err="1"/>
              <a:t>t</a:t>
            </a:r>
            <a:r>
              <a:rPr lang="en-US" altLang="zh-CN" sz="2000" baseline="-25000" dirty="0" err="1"/>
              <a:t>p</a:t>
            </a:r>
            <a:r>
              <a:rPr lang="en-US" altLang="zh-CN" sz="2000" dirty="0"/>
              <a:t>=10.7850s</a:t>
            </a:r>
            <a:endParaRPr lang="zh-CN" altLang="zh-CN" sz="2000" dirty="0"/>
          </a:p>
          <a:p>
            <a:pPr>
              <a:lnSpc>
                <a:spcPct val="150000"/>
              </a:lnSpc>
            </a:pPr>
            <a:r>
              <a:rPr lang="zh-CN" altLang="zh-CN" sz="2000" dirty="0"/>
              <a:t>调节时间</a:t>
            </a:r>
            <a:r>
              <a:rPr lang="en-US" altLang="zh-CN" sz="2000" dirty="0" err="1"/>
              <a:t>t</a:t>
            </a:r>
            <a:r>
              <a:rPr lang="en-US" altLang="zh-CN" sz="2000" baseline="-25000" dirty="0" err="1"/>
              <a:t>s</a:t>
            </a:r>
            <a:r>
              <a:rPr lang="en-US" altLang="zh-CN" sz="2000" dirty="0"/>
              <a:t>=19.1200s</a:t>
            </a:r>
          </a:p>
          <a:p>
            <a:pPr>
              <a:lnSpc>
                <a:spcPct val="150000"/>
              </a:lnSpc>
            </a:pPr>
            <a:r>
              <a:rPr lang="zh-CN" altLang="zh-CN" sz="2000" dirty="0"/>
              <a:t>超调量</a:t>
            </a:r>
            <a:r>
              <a:rPr lang="en-US" altLang="zh-CN" sz="2000" dirty="0"/>
              <a:t>A=49.23%</a:t>
            </a:r>
            <a:endParaRPr lang="zh-CN" altLang="zh-CN" sz="2000" dirty="0"/>
          </a:p>
          <a:p>
            <a:pPr>
              <a:lnSpc>
                <a:spcPct val="150000"/>
              </a:lnSpc>
            </a:pPr>
            <a:endParaRPr lang="zh-CN" altLang="zh-CN" sz="2000" dirty="0"/>
          </a:p>
          <a:p>
            <a:pPr>
              <a:lnSpc>
                <a:spcPct val="150000"/>
              </a:lnSpc>
            </a:pPr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C0D5BA2-C8DC-60F3-DABF-3C35736916BC}"/>
              </a:ext>
            </a:extLst>
          </p:cNvPr>
          <p:cNvSpPr txBox="1"/>
          <p:nvPr/>
        </p:nvSpPr>
        <p:spPr>
          <a:xfrm>
            <a:off x="9317939" y="742507"/>
            <a:ext cx="2308525" cy="37286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zh-CN" sz="2000" dirty="0"/>
              <a:t>稳态误差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e</a:t>
            </a:r>
            <a:r>
              <a:rPr lang="en-US" altLang="zh-CN" sz="2000" baseline="-25000" dirty="0"/>
              <a:t>ss</a:t>
            </a:r>
            <a:r>
              <a:rPr lang="en-US" altLang="zh-CN" sz="2000" dirty="0"/>
              <a:t> = 0.0001 (0.04%)</a:t>
            </a:r>
            <a:endParaRPr lang="zh-CN" altLang="zh-CN" sz="2000" dirty="0"/>
          </a:p>
          <a:p>
            <a:pPr>
              <a:lnSpc>
                <a:spcPct val="150000"/>
              </a:lnSpc>
            </a:pPr>
            <a:r>
              <a:rPr lang="en-US" altLang="zh-CN" sz="2000" dirty="0"/>
              <a:t>--- </a:t>
            </a:r>
            <a:r>
              <a:rPr lang="zh-CN" altLang="zh-CN" sz="2000" dirty="0"/>
              <a:t>性能指标</a:t>
            </a:r>
            <a:r>
              <a:rPr lang="en-US" altLang="zh-CN" sz="2000" dirty="0"/>
              <a:t> ---</a:t>
            </a:r>
            <a:br>
              <a:rPr lang="en-US" altLang="zh-CN" sz="2000" dirty="0"/>
            </a:br>
            <a:r>
              <a:rPr lang="en-US" altLang="zh-CN" sz="2000" dirty="0"/>
              <a:t>ISE: 1.2531</a:t>
            </a:r>
            <a:br>
              <a:rPr lang="en-US" altLang="zh-CN" sz="2000" dirty="0"/>
            </a:br>
            <a:r>
              <a:rPr lang="en-US" altLang="zh-CN" sz="2000" dirty="0"/>
              <a:t>IAE: 3.9521</a:t>
            </a:r>
            <a:br>
              <a:rPr lang="en-US" altLang="zh-CN" sz="2000" dirty="0"/>
            </a:br>
            <a:r>
              <a:rPr lang="en-US" altLang="zh-CN" sz="2000" dirty="0"/>
              <a:t>ITAE: 24.6243</a:t>
            </a:r>
            <a:endParaRPr lang="zh-CN" altLang="zh-CN" sz="2000" dirty="0"/>
          </a:p>
          <a:p>
            <a:pPr>
              <a:lnSpc>
                <a:spcPct val="150000"/>
              </a:lnSpc>
            </a:pPr>
            <a:endParaRPr lang="zh-CN" altLang="en-US" sz="2000" dirty="0"/>
          </a:p>
        </p:txBody>
      </p:sp>
    </p:spTree>
    <p:custDataLst>
      <p:tags r:id="rId1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0480" y="30419"/>
            <a:ext cx="818515" cy="818515"/>
            <a:chOff x="3811" y="5206"/>
            <a:chExt cx="2912" cy="2912"/>
          </a:xfrm>
        </p:grpSpPr>
        <p:sp>
          <p:nvSpPr>
            <p:cNvPr id="4" name="八角星 3"/>
            <p:cNvSpPr/>
            <p:nvPr/>
          </p:nvSpPr>
          <p:spPr>
            <a:xfrm>
              <a:off x="3811" y="5206"/>
              <a:ext cx="2912" cy="2912"/>
            </a:xfrm>
            <a:prstGeom prst="star8">
              <a:avLst>
                <a:gd name="adj" fmla="val 38018"/>
              </a:avLst>
            </a:prstGeom>
            <a:noFill/>
            <a:ln w="19050">
              <a:solidFill>
                <a:srgbClr val="701E5E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50" name="组合 35"/>
            <p:cNvGrpSpPr/>
            <p:nvPr/>
          </p:nvGrpSpPr>
          <p:grpSpPr>
            <a:xfrm>
              <a:off x="4085" y="6188"/>
              <a:ext cx="2411" cy="1073"/>
              <a:chOff x="4146" y="1979"/>
              <a:chExt cx="7176" cy="3196"/>
            </a:xfrm>
          </p:grpSpPr>
          <p:sp>
            <p:nvSpPr>
              <p:cNvPr id="37" name="任意多边形 36"/>
              <p:cNvSpPr/>
              <p:nvPr/>
            </p:nvSpPr>
            <p:spPr>
              <a:xfrm>
                <a:off x="5757" y="2731"/>
                <a:ext cx="3953" cy="2444"/>
              </a:xfrm>
              <a:custGeom>
                <a:avLst/>
                <a:gdLst>
                  <a:gd name="connsiteX0" fmla="*/ 0 w 4176"/>
                  <a:gd name="connsiteY0" fmla="*/ 387 h 2444"/>
                  <a:gd name="connsiteX1" fmla="*/ 387 w 4176"/>
                  <a:gd name="connsiteY1" fmla="*/ 0 h 2444"/>
                  <a:gd name="connsiteX2" fmla="*/ 3789 w 4176"/>
                  <a:gd name="connsiteY2" fmla="*/ 0 h 2444"/>
                  <a:gd name="connsiteX3" fmla="*/ 4176 w 4176"/>
                  <a:gd name="connsiteY3" fmla="*/ 387 h 2444"/>
                  <a:gd name="connsiteX4" fmla="*/ 4176 w 4176"/>
                  <a:gd name="connsiteY4" fmla="*/ 1937 h 2444"/>
                  <a:gd name="connsiteX5" fmla="*/ 3789 w 4176"/>
                  <a:gd name="connsiteY5" fmla="*/ 2324 h 2444"/>
                  <a:gd name="connsiteX6" fmla="*/ 2143 w 4176"/>
                  <a:gd name="connsiteY6" fmla="*/ 2442 h 2444"/>
                  <a:gd name="connsiteX7" fmla="*/ 387 w 4176"/>
                  <a:gd name="connsiteY7" fmla="*/ 2324 h 2444"/>
                  <a:gd name="connsiteX8" fmla="*/ 0 w 4176"/>
                  <a:gd name="connsiteY8" fmla="*/ 1937 h 2444"/>
                  <a:gd name="connsiteX9" fmla="*/ 0 w 4176"/>
                  <a:gd name="connsiteY9" fmla="*/ 387 h 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4176" h="2444">
                    <a:moveTo>
                      <a:pt x="0" y="387"/>
                    </a:moveTo>
                    <a:cubicBezTo>
                      <a:pt x="0" y="173"/>
                      <a:pt x="173" y="0"/>
                      <a:pt x="387" y="0"/>
                    </a:cubicBezTo>
                    <a:lnTo>
                      <a:pt x="3789" y="0"/>
                    </a:lnTo>
                    <a:cubicBezTo>
                      <a:pt x="4003" y="0"/>
                      <a:pt x="4176" y="173"/>
                      <a:pt x="4176" y="387"/>
                    </a:cubicBezTo>
                    <a:lnTo>
                      <a:pt x="4176" y="1937"/>
                    </a:lnTo>
                    <a:cubicBezTo>
                      <a:pt x="4176" y="2151"/>
                      <a:pt x="4130" y="2251"/>
                      <a:pt x="3789" y="2324"/>
                    </a:cubicBezTo>
                    <a:cubicBezTo>
                      <a:pt x="3448" y="2397"/>
                      <a:pt x="2593" y="2457"/>
                      <a:pt x="2143" y="2442"/>
                    </a:cubicBezTo>
                    <a:cubicBezTo>
                      <a:pt x="1723" y="2442"/>
                      <a:pt x="688" y="2412"/>
                      <a:pt x="387" y="2324"/>
                    </a:cubicBezTo>
                    <a:cubicBezTo>
                      <a:pt x="86" y="2236"/>
                      <a:pt x="0" y="2151"/>
                      <a:pt x="0" y="1937"/>
                    </a:cubicBezTo>
                    <a:lnTo>
                      <a:pt x="0" y="387"/>
                    </a:ln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8" name="菱形 37"/>
              <p:cNvSpPr/>
              <p:nvPr/>
            </p:nvSpPr>
            <p:spPr>
              <a:xfrm>
                <a:off x="4146" y="1979"/>
                <a:ext cx="7176" cy="2071"/>
              </a:xfrm>
              <a:prstGeom prst="diamond">
                <a:avLst/>
              </a:prstGeom>
              <a:solidFill>
                <a:srgbClr val="701E5E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sp>
            <p:nvSpPr>
              <p:cNvPr id="39" name="任意多边形 38"/>
              <p:cNvSpPr/>
              <p:nvPr/>
            </p:nvSpPr>
            <p:spPr>
              <a:xfrm rot="18900000">
                <a:off x="5001" y="4614"/>
                <a:ext cx="526" cy="518"/>
              </a:xfrm>
              <a:custGeom>
                <a:avLst/>
                <a:gdLst>
                  <a:gd name="connsiteX0" fmla="*/ 0 w 1974"/>
                  <a:gd name="connsiteY0" fmla="*/ 1060 h 2004"/>
                  <a:gd name="connsiteX1" fmla="*/ 945 w 1974"/>
                  <a:gd name="connsiteY1" fmla="*/ 115 h 2004"/>
                  <a:gd name="connsiteX2" fmla="*/ 1889 w 1974"/>
                  <a:gd name="connsiteY2" fmla="*/ 115 h 2004"/>
                  <a:gd name="connsiteX3" fmla="*/ 1889 w 1974"/>
                  <a:gd name="connsiteY3" fmla="*/ 1060 h 2004"/>
                  <a:gd name="connsiteX4" fmla="*/ 945 w 1974"/>
                  <a:gd name="connsiteY4" fmla="*/ 2004 h 2004"/>
                  <a:gd name="connsiteX5" fmla="*/ 0 w 1974"/>
                  <a:gd name="connsiteY5" fmla="*/ 1060 h 20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975" h="2004">
                    <a:moveTo>
                      <a:pt x="0" y="1060"/>
                    </a:moveTo>
                    <a:cubicBezTo>
                      <a:pt x="0" y="538"/>
                      <a:pt x="452" y="289"/>
                      <a:pt x="945" y="115"/>
                    </a:cubicBezTo>
                    <a:cubicBezTo>
                      <a:pt x="1251" y="7"/>
                      <a:pt x="1548" y="-78"/>
                      <a:pt x="1889" y="115"/>
                    </a:cubicBezTo>
                    <a:cubicBezTo>
                      <a:pt x="2046" y="378"/>
                      <a:pt x="1951" y="728"/>
                      <a:pt x="1889" y="1060"/>
                    </a:cubicBezTo>
                    <a:cubicBezTo>
                      <a:pt x="1793" y="1573"/>
                      <a:pt x="1466" y="2004"/>
                      <a:pt x="945" y="2004"/>
                    </a:cubicBezTo>
                    <a:cubicBezTo>
                      <a:pt x="423" y="2004"/>
                      <a:pt x="0" y="1581"/>
                      <a:pt x="0" y="1060"/>
                    </a:cubicBezTo>
                    <a:close/>
                  </a:path>
                </a:pathLst>
              </a:custGeom>
              <a:solidFill>
                <a:srgbClr val="701E5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auto"/>
                <a:endParaRPr lang="zh-CN" altLang="en-US" strike="noStrike" noProof="1"/>
              </a:p>
            </p:txBody>
          </p:sp>
          <p:cxnSp>
            <p:nvCxnSpPr>
              <p:cNvPr id="40" name="直接连接符 39"/>
              <p:cNvCxnSpPr/>
              <p:nvPr/>
            </p:nvCxnSpPr>
            <p:spPr>
              <a:xfrm>
                <a:off x="5264" y="3284"/>
                <a:ext cx="0" cy="1338"/>
              </a:xfrm>
              <a:prstGeom prst="line">
                <a:avLst/>
              </a:prstGeom>
              <a:ln w="28575" cap="rnd">
                <a:solidFill>
                  <a:srgbClr val="701E5E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322" name="标题 1"/>
          <p:cNvSpPr txBox="1"/>
          <p:nvPr userDrawn="1"/>
        </p:nvSpPr>
        <p:spPr>
          <a:xfrm>
            <a:off x="930275" y="155575"/>
            <a:ext cx="2557780" cy="568325"/>
          </a:xfrm>
          <a:prstGeom prst="rect">
            <a:avLst/>
          </a:prstGeom>
          <a:noFill/>
          <a:ln w="9525">
            <a:noFill/>
          </a:ln>
        </p:spPr>
        <p:txBody>
          <a:bodyPr lIns="68580" tIns="34290" rIns="68580" bIns="34290" anchor="ctr"/>
          <a:lstStyle/>
          <a:p>
            <a:pPr algn="l" defTabSz="685800" fontAlgn="auto">
              <a:lnSpc>
                <a:spcPct val="90000"/>
              </a:lnSpc>
            </a:pPr>
            <a:r>
              <a:rPr lang="en-US" altLang="zh-CN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 </a:t>
            </a:r>
            <a:r>
              <a:rPr lang="zh-CN" sz="2600" b="1" strike="noStrike" noProof="1">
                <a:solidFill>
                  <a:srgbClr val="701E5E"/>
                </a:solidFill>
                <a:effectLst/>
                <a:latin typeface="字魂105号-简雅黑" panose="00000500000000000000" charset="-122"/>
                <a:ea typeface="字魂105号-简雅黑" panose="00000500000000000000" charset="-122"/>
                <a:cs typeface="+mn-cs"/>
              </a:rPr>
              <a:t>总结与展望</a:t>
            </a:r>
          </a:p>
        </p:txBody>
      </p:sp>
      <p:grpSp>
        <p:nvGrpSpPr>
          <p:cNvPr id="53" name="组合 52"/>
          <p:cNvGrpSpPr/>
          <p:nvPr/>
        </p:nvGrpSpPr>
        <p:grpSpPr>
          <a:xfrm>
            <a:off x="361315" y="1405255"/>
            <a:ext cx="3548380" cy="4620895"/>
            <a:chOff x="521" y="2213"/>
            <a:chExt cx="5588" cy="7277"/>
          </a:xfrm>
        </p:grpSpPr>
        <p:sp>
          <p:nvSpPr>
            <p:cNvPr id="8" name="矩形 7"/>
            <p:cNvSpPr/>
            <p:nvPr/>
          </p:nvSpPr>
          <p:spPr>
            <a:xfrm>
              <a:off x="521" y="2213"/>
              <a:ext cx="5588" cy="7277"/>
            </a:xfrm>
            <a:prstGeom prst="rect">
              <a:avLst/>
            </a:prstGeom>
            <a:noFill/>
            <a:ln w="28575" cap="rnd">
              <a:solidFill>
                <a:srgbClr val="701E5E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530" name="组合 15"/>
            <p:cNvGrpSpPr/>
            <p:nvPr/>
          </p:nvGrpSpPr>
          <p:grpSpPr>
            <a:xfrm>
              <a:off x="675" y="2609"/>
              <a:ext cx="5098" cy="5864"/>
              <a:chOff x="-1924" y="1078"/>
              <a:chExt cx="5100" cy="5991"/>
            </a:xfrm>
          </p:grpSpPr>
          <p:sp>
            <p:nvSpPr>
              <p:cNvPr id="22531" name="333333"/>
              <p:cNvSpPr txBox="1"/>
              <p:nvPr/>
            </p:nvSpPr>
            <p:spPr>
              <a:xfrm>
                <a:off x="-270" y="1078"/>
                <a:ext cx="1926" cy="6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404040"/>
                    </a:solidFill>
                    <a:latin typeface="字魂105号-简雅黑" panose="00000500000000000000" charset="-122"/>
                    <a:ea typeface="字魂105号-简雅黑" panose="00000500000000000000" charset="-122"/>
                  </a:rPr>
                  <a:t>收获总结</a:t>
                </a:r>
              </a:p>
            </p:txBody>
          </p:sp>
          <p:sp>
            <p:nvSpPr>
              <p:cNvPr id="22532" name="1111"/>
              <p:cNvSpPr txBox="1"/>
              <p:nvPr/>
            </p:nvSpPr>
            <p:spPr>
              <a:xfrm>
                <a:off x="-1924" y="2243"/>
                <a:ext cx="5100" cy="4826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800" b="1" dirty="0">
                    <a:solidFill>
                      <a:srgbClr val="40404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掌握MATLAB与simulink的使用</a:t>
                </a:r>
                <a:endParaRPr lang="zh-CN" altLang="en-US" sz="1800" b="1" dirty="0"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800" b="1" dirty="0"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对重要的控制原理有了更加清晰的认识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800" b="1" dirty="0">
                    <a:solidFill>
                      <a:schemeClr val="tx1"/>
                    </a:solidFill>
                    <a:latin typeface="宋体" panose="02010600030101010101" pitchFamily="2" charset="-122"/>
                    <a:ea typeface="宋体" panose="02010600030101010101" pitchFamily="2" charset="-122"/>
                    <a:cs typeface="宋体" panose="02010600030101010101" pitchFamily="2" charset="-122"/>
                  </a:rPr>
                  <a:t>对于相关控制算法的参数调整规则、调整技巧有了实践经验</a:t>
                </a:r>
              </a:p>
            </p:txBody>
          </p:sp>
        </p:grpSp>
      </p:grpSp>
      <p:grpSp>
        <p:nvGrpSpPr>
          <p:cNvPr id="62" name="组合 61"/>
          <p:cNvGrpSpPr/>
          <p:nvPr/>
        </p:nvGrpSpPr>
        <p:grpSpPr>
          <a:xfrm>
            <a:off x="8259445" y="1405255"/>
            <a:ext cx="3548380" cy="4620895"/>
            <a:chOff x="521" y="2213"/>
            <a:chExt cx="5588" cy="7277"/>
          </a:xfrm>
        </p:grpSpPr>
        <p:sp>
          <p:nvSpPr>
            <p:cNvPr id="63" name="矩形 62"/>
            <p:cNvSpPr/>
            <p:nvPr/>
          </p:nvSpPr>
          <p:spPr>
            <a:xfrm>
              <a:off x="521" y="2213"/>
              <a:ext cx="5588" cy="7277"/>
            </a:xfrm>
            <a:prstGeom prst="rect">
              <a:avLst/>
            </a:prstGeom>
            <a:noFill/>
            <a:ln w="28575" cap="rnd">
              <a:solidFill>
                <a:srgbClr val="701E5E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4" name="组合 15"/>
            <p:cNvGrpSpPr/>
            <p:nvPr/>
          </p:nvGrpSpPr>
          <p:grpSpPr>
            <a:xfrm>
              <a:off x="766" y="2609"/>
              <a:ext cx="5098" cy="4718"/>
              <a:chOff x="-1833" y="1077"/>
              <a:chExt cx="5100" cy="4820"/>
            </a:xfrm>
          </p:grpSpPr>
          <p:sp>
            <p:nvSpPr>
              <p:cNvPr id="65" name="333333"/>
              <p:cNvSpPr txBox="1"/>
              <p:nvPr/>
            </p:nvSpPr>
            <p:spPr>
              <a:xfrm>
                <a:off x="-255" y="1077"/>
                <a:ext cx="1926" cy="6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404040"/>
                    </a:solidFill>
                    <a:latin typeface="字魂105号-简雅黑" panose="00000500000000000000" charset="-122"/>
                    <a:ea typeface="字魂105号-简雅黑" panose="00000500000000000000" charset="-122"/>
                  </a:rPr>
                  <a:t>未来展望</a:t>
                </a:r>
              </a:p>
            </p:txBody>
          </p:sp>
          <p:sp>
            <p:nvSpPr>
              <p:cNvPr id="66" name="1111"/>
              <p:cNvSpPr txBox="1"/>
              <p:nvPr/>
            </p:nvSpPr>
            <p:spPr>
              <a:xfrm>
                <a:off x="-1833" y="2882"/>
                <a:ext cx="5100" cy="301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no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800" b="1" dirty="0">
                    <a:solidFill>
                      <a:srgbClr val="404040"/>
                    </a:solidFill>
                    <a:latin typeface="宋体" panose="02010600030101010101" pitchFamily="2" charset="-122"/>
                    <a:ea typeface="宋体" panose="02010600030101010101" pitchFamily="2" charset="-122"/>
                    <a:sym typeface="+mn-ea"/>
                  </a:rPr>
                  <a:t>提高我们的科研动手能力，培养做工程需要的钻研精神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800" b="1" dirty="0">
                    <a:solidFill>
                      <a:srgbClr val="404040"/>
                    </a:solidFill>
                    <a:latin typeface="宋体" panose="02010600030101010101" pitchFamily="2" charset="-122"/>
                    <a:ea typeface="宋体" panose="02010600030101010101" pitchFamily="2" charset="-122"/>
                  </a:rPr>
                  <a:t>重点提升动手实践能力和理论知识应用能力</a:t>
                </a:r>
              </a:p>
            </p:txBody>
          </p:sp>
        </p:grpSp>
      </p:grpSp>
      <p:grpSp>
        <p:nvGrpSpPr>
          <p:cNvPr id="11" name="组合 10"/>
          <p:cNvGrpSpPr/>
          <p:nvPr/>
        </p:nvGrpSpPr>
        <p:grpSpPr>
          <a:xfrm>
            <a:off x="4310380" y="1405255"/>
            <a:ext cx="3548380" cy="4717375"/>
            <a:chOff x="6788" y="2213"/>
            <a:chExt cx="5588" cy="7429"/>
          </a:xfrm>
        </p:grpSpPr>
        <p:sp>
          <p:nvSpPr>
            <p:cNvPr id="55" name="矩形 54"/>
            <p:cNvSpPr/>
            <p:nvPr/>
          </p:nvSpPr>
          <p:spPr>
            <a:xfrm>
              <a:off x="6788" y="2213"/>
              <a:ext cx="5588" cy="7277"/>
            </a:xfrm>
            <a:prstGeom prst="rect">
              <a:avLst/>
            </a:prstGeom>
            <a:noFill/>
            <a:ln w="28575" cap="rnd">
              <a:solidFill>
                <a:srgbClr val="701E5E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56" name="组合 15"/>
            <p:cNvGrpSpPr/>
            <p:nvPr/>
          </p:nvGrpSpPr>
          <p:grpSpPr>
            <a:xfrm>
              <a:off x="6955" y="2609"/>
              <a:ext cx="5098" cy="7033"/>
              <a:chOff x="-1911" y="1078"/>
              <a:chExt cx="5100" cy="7185"/>
            </a:xfrm>
          </p:grpSpPr>
          <p:sp>
            <p:nvSpPr>
              <p:cNvPr id="57" name="333333"/>
              <p:cNvSpPr txBox="1"/>
              <p:nvPr/>
            </p:nvSpPr>
            <p:spPr>
              <a:xfrm>
                <a:off x="-262" y="1078"/>
                <a:ext cx="1926" cy="64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spAutoFit/>
              </a:bodyPr>
              <a:lstStyle/>
              <a:p>
                <a:pPr algn="ctr"/>
                <a:r>
                  <a:rPr lang="zh-CN" altLang="en-US" sz="2000" b="1" dirty="0">
                    <a:solidFill>
                      <a:srgbClr val="404040"/>
                    </a:solidFill>
                    <a:latin typeface="字魂105号-简雅黑" panose="00000500000000000000" charset="-122"/>
                    <a:ea typeface="字魂105号-简雅黑" panose="00000500000000000000" charset="-122"/>
                  </a:rPr>
                  <a:t>不足反思</a:t>
                </a:r>
              </a:p>
            </p:txBody>
          </p:sp>
          <p:sp>
            <p:nvSpPr>
              <p:cNvPr id="58" name="1111"/>
              <p:cNvSpPr txBox="1"/>
              <p:nvPr/>
            </p:nvSpPr>
            <p:spPr>
              <a:xfrm>
                <a:off x="-1911" y="2098"/>
                <a:ext cx="5100" cy="616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>
                <a:no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8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模糊PID控制的优点体现不明显，无法直观反映性能的提升</a:t>
                </a:r>
                <a:endParaRPr lang="zh-CN" altLang="en-US" sz="1800" b="1" dirty="0">
                  <a:solidFill>
                    <a:srgbClr val="404040"/>
                  </a:solidFill>
                  <a:latin typeface="宋体" panose="02010600030101010101" pitchFamily="2" charset="-122"/>
                  <a:ea typeface="宋体" panose="02010600030101010101" pitchFamily="2" charset="-122"/>
                </a:endParaRP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8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三自由度直升机的运作效果一般，直升机的飞行效果随机性较大，稳定性较差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zh-CN" altLang="en-US" sz="1800" b="1" dirty="0">
                    <a:latin typeface="宋体" panose="02010600030101010101" pitchFamily="2" charset="-122"/>
                    <a:ea typeface="宋体" panose="02010600030101010101" pitchFamily="2" charset="-122"/>
                  </a:rPr>
                  <a:t>不可抗的干扰</a:t>
                </a:r>
              </a:p>
            </p:txBody>
          </p:sp>
        </p:grpSp>
      </p:grpSp>
    </p:spTree>
    <p:custDataLst>
      <p:tags r:id="rId1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同侧圆角矩形 6"/>
          <p:cNvSpPr/>
          <p:nvPr/>
        </p:nvSpPr>
        <p:spPr>
          <a:xfrm flipV="1">
            <a:off x="82550" y="2274888"/>
            <a:ext cx="12026900" cy="4491038"/>
          </a:xfrm>
          <a:prstGeom prst="round2SameRect">
            <a:avLst>
              <a:gd name="adj1" fmla="val 6117"/>
              <a:gd name="adj2" fmla="val 0"/>
            </a:avLst>
          </a:prstGeom>
          <a:solidFill>
            <a:srgbClr val="701E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/>
            <a:endParaRPr lang="zh-CN" altLang="en-US" strike="noStrike" noProof="1"/>
          </a:p>
        </p:txBody>
      </p:sp>
      <p:pic>
        <p:nvPicPr>
          <p:cNvPr id="8" name="图片 7" descr="198465cd-425a-46a8-b752-ba8414a74e0b"/>
          <p:cNvPicPr>
            <a:picLocks noChangeAspect="1"/>
          </p:cNvPicPr>
          <p:nvPr/>
        </p:nvPicPr>
        <p:blipFill>
          <a:blip r:embed="rId3"/>
          <a:srcRect l="14010" r="12164"/>
          <a:stretch>
            <a:fillRect/>
          </a:stretch>
        </p:blipFill>
        <p:spPr>
          <a:xfrm>
            <a:off x="4908550" y="1088390"/>
            <a:ext cx="2374265" cy="2374262"/>
          </a:xfrm>
          <a:prstGeom prst="ellipse">
            <a:avLst/>
          </a:prstGeom>
        </p:spPr>
      </p:pic>
      <p:sp>
        <p:nvSpPr>
          <p:cNvPr id="7172" name="文本框 10"/>
          <p:cNvSpPr txBox="1"/>
          <p:nvPr/>
        </p:nvSpPr>
        <p:spPr>
          <a:xfrm>
            <a:off x="1665288" y="3554413"/>
            <a:ext cx="8861425" cy="110680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6600">
                <a:solidFill>
                  <a:schemeClr val="bg1"/>
                </a:solidFill>
                <a:latin typeface="字魂105号-简雅黑" panose="00000500000000000000" charset="-122"/>
                <a:ea typeface="字魂105号-简雅黑" panose="00000500000000000000" charset="-122"/>
              </a:rPr>
              <a:t>请老师批评指正</a:t>
            </a:r>
          </a:p>
        </p:txBody>
      </p:sp>
      <p:sp>
        <p:nvSpPr>
          <p:cNvPr id="7174" name="文本框 12"/>
          <p:cNvSpPr txBox="1"/>
          <p:nvPr/>
        </p:nvSpPr>
        <p:spPr>
          <a:xfrm>
            <a:off x="4090670" y="4851400"/>
            <a:ext cx="401193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just"/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汇报时间：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2025</a:t>
            </a: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年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11</a:t>
            </a: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月</a:t>
            </a:r>
            <a:r>
              <a:rPr lang="en-US" altLang="zh-CN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4</a:t>
            </a:r>
            <a:r>
              <a:rPr lang="zh-CN" altLang="en-US" sz="2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日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9b8bb57-feb2-443b-adee-05830a7674b3"/>
  <p:tag name="COMMONDATA" val="eyJoZGlkIjoiMGQxMDE1NGQ3ZjAyYzkwMjViZjZkYjVjMzVlMmM0MTQ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2511</Words>
  <Application>Microsoft Office PowerPoint</Application>
  <PresentationFormat>宽屏</PresentationFormat>
  <Paragraphs>301</Paragraphs>
  <Slides>31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31</vt:i4>
      </vt:variant>
    </vt:vector>
  </HeadingPairs>
  <TitlesOfParts>
    <vt:vector size="42" baseType="lpstr">
      <vt:lpstr>等线</vt:lpstr>
      <vt:lpstr>宋体</vt:lpstr>
      <vt:lpstr>微软雅黑</vt:lpstr>
      <vt:lpstr>字魂105号-简雅黑</vt:lpstr>
      <vt:lpstr>Arial</vt:lpstr>
      <vt:lpstr>Calibri</vt:lpstr>
      <vt:lpstr>Cambria Math</vt:lpstr>
      <vt:lpstr>Times New Roman</vt:lpstr>
      <vt:lpstr>Wingdings</vt:lpstr>
      <vt:lpstr>Office 主题​​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华硕</dc:creator>
  <cp:lastModifiedBy>振毫 刘</cp:lastModifiedBy>
  <cp:revision>260</cp:revision>
  <dcterms:created xsi:type="dcterms:W3CDTF">2019-06-19T02:08:00Z</dcterms:created>
  <dcterms:modified xsi:type="dcterms:W3CDTF">2025-11-03T15:17:29Z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A664B09349AE4DB0B70C99BFA4A79617_13</vt:lpwstr>
  </property>
</Properties>
</file>