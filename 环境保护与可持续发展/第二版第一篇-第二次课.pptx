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8"/>
  </p:notesMasterIdLst>
  <p:sldIdLst>
    <p:sldId id="405" r:id="rId3"/>
    <p:sldId id="472" r:id="rId4"/>
    <p:sldId id="473" r:id="rId5"/>
    <p:sldId id="474" r:id="rId6"/>
    <p:sldId id="475" r:id="rId7"/>
    <p:sldId id="476" r:id="rId8"/>
    <p:sldId id="477" r:id="rId9"/>
    <p:sldId id="479" r:id="rId10"/>
    <p:sldId id="480" r:id="rId11"/>
    <p:sldId id="481" r:id="rId12"/>
    <p:sldId id="826" r:id="rId13"/>
    <p:sldId id="482" r:id="rId14"/>
    <p:sldId id="483" r:id="rId15"/>
    <p:sldId id="484" r:id="rId16"/>
    <p:sldId id="485" r:id="rId17"/>
    <p:sldId id="486" r:id="rId18"/>
    <p:sldId id="487" r:id="rId19"/>
    <p:sldId id="488" r:id="rId20"/>
    <p:sldId id="489" r:id="rId21"/>
    <p:sldId id="490" r:id="rId22"/>
    <p:sldId id="491" r:id="rId23"/>
    <p:sldId id="492" r:id="rId24"/>
    <p:sldId id="493" r:id="rId25"/>
    <p:sldId id="690" r:id="rId26"/>
    <p:sldId id="495" r:id="rId27"/>
    <p:sldId id="496" r:id="rId28"/>
    <p:sldId id="497" r:id="rId29"/>
    <p:sldId id="498" r:id="rId30"/>
    <p:sldId id="499" r:id="rId31"/>
    <p:sldId id="500" r:id="rId32"/>
    <p:sldId id="501" r:id="rId33"/>
    <p:sldId id="502" r:id="rId34"/>
    <p:sldId id="503" r:id="rId35"/>
    <p:sldId id="504" r:id="rId36"/>
    <p:sldId id="505" r:id="rId37"/>
    <p:sldId id="506" r:id="rId38"/>
    <p:sldId id="507" r:id="rId39"/>
    <p:sldId id="508" r:id="rId40"/>
    <p:sldId id="509" r:id="rId41"/>
    <p:sldId id="510" r:id="rId42"/>
    <p:sldId id="511" r:id="rId43"/>
    <p:sldId id="512" r:id="rId44"/>
    <p:sldId id="513" r:id="rId45"/>
    <p:sldId id="514" r:id="rId46"/>
    <p:sldId id="515" r:id="rId47"/>
    <p:sldId id="516" r:id="rId48"/>
    <p:sldId id="517" r:id="rId49"/>
    <p:sldId id="518" r:id="rId50"/>
    <p:sldId id="519" r:id="rId51"/>
    <p:sldId id="521" r:id="rId52"/>
    <p:sldId id="522" r:id="rId53"/>
    <p:sldId id="523" r:id="rId54"/>
    <p:sldId id="524" r:id="rId55"/>
    <p:sldId id="525" r:id="rId56"/>
    <p:sldId id="526" r:id="rId57"/>
    <p:sldId id="527" r:id="rId58"/>
    <p:sldId id="528" r:id="rId59"/>
    <p:sldId id="829" r:id="rId60"/>
    <p:sldId id="529" r:id="rId61"/>
    <p:sldId id="694" r:id="rId62"/>
    <p:sldId id="530" r:id="rId63"/>
    <p:sldId id="827" r:id="rId64"/>
    <p:sldId id="531" r:id="rId65"/>
    <p:sldId id="533" r:id="rId66"/>
    <p:sldId id="534" r:id="rId67"/>
    <p:sldId id="691" r:id="rId68"/>
    <p:sldId id="830" r:id="rId69"/>
    <p:sldId id="535" r:id="rId70"/>
    <p:sldId id="536" r:id="rId71"/>
    <p:sldId id="538" r:id="rId72"/>
    <p:sldId id="539" r:id="rId73"/>
    <p:sldId id="540" r:id="rId74"/>
    <p:sldId id="541" r:id="rId75"/>
    <p:sldId id="542" r:id="rId76"/>
    <p:sldId id="543" r:id="rId77"/>
    <p:sldId id="544" r:id="rId78"/>
    <p:sldId id="545" r:id="rId79"/>
    <p:sldId id="546" r:id="rId80"/>
    <p:sldId id="547" r:id="rId81"/>
    <p:sldId id="548" r:id="rId82"/>
    <p:sldId id="549" r:id="rId83"/>
    <p:sldId id="550" r:id="rId84"/>
    <p:sldId id="551" r:id="rId85"/>
    <p:sldId id="552" r:id="rId86"/>
    <p:sldId id="553" r:id="rId87"/>
    <p:sldId id="554" r:id="rId88"/>
    <p:sldId id="555" r:id="rId89"/>
    <p:sldId id="556" r:id="rId90"/>
    <p:sldId id="557" r:id="rId91"/>
    <p:sldId id="558" r:id="rId92"/>
    <p:sldId id="559" r:id="rId93"/>
    <p:sldId id="561" r:id="rId94"/>
    <p:sldId id="695" r:id="rId95"/>
    <p:sldId id="568" r:id="rId96"/>
    <p:sldId id="569" r:id="rId97"/>
    <p:sldId id="570" r:id="rId98"/>
    <p:sldId id="571" r:id="rId99"/>
    <p:sldId id="572" r:id="rId100"/>
    <p:sldId id="574" r:id="rId101"/>
    <p:sldId id="575" r:id="rId102"/>
    <p:sldId id="576" r:id="rId103"/>
    <p:sldId id="577" r:id="rId104"/>
    <p:sldId id="578" r:id="rId105"/>
    <p:sldId id="579" r:id="rId106"/>
    <p:sldId id="580" r:id="rId107"/>
    <p:sldId id="581" r:id="rId108"/>
    <p:sldId id="582" r:id="rId109"/>
    <p:sldId id="583" r:id="rId110"/>
    <p:sldId id="584" r:id="rId111"/>
    <p:sldId id="585" r:id="rId112"/>
    <p:sldId id="586" r:id="rId113"/>
    <p:sldId id="587" r:id="rId114"/>
    <p:sldId id="588" r:id="rId115"/>
    <p:sldId id="589" r:id="rId116"/>
    <p:sldId id="590" r:id="rId117"/>
    <p:sldId id="591" r:id="rId118"/>
    <p:sldId id="592" r:id="rId119"/>
    <p:sldId id="593" r:id="rId120"/>
    <p:sldId id="594" r:id="rId121"/>
    <p:sldId id="595" r:id="rId122"/>
    <p:sldId id="596" r:id="rId123"/>
    <p:sldId id="597" r:id="rId124"/>
    <p:sldId id="598" r:id="rId125"/>
    <p:sldId id="599" r:id="rId126"/>
    <p:sldId id="600" r:id="rId127"/>
    <p:sldId id="602" r:id="rId128"/>
    <p:sldId id="603" r:id="rId129"/>
    <p:sldId id="604" r:id="rId130"/>
    <p:sldId id="696" r:id="rId131"/>
    <p:sldId id="605" r:id="rId132"/>
    <p:sldId id="606" r:id="rId133"/>
    <p:sldId id="607" r:id="rId134"/>
    <p:sldId id="608" r:id="rId135"/>
    <p:sldId id="609" r:id="rId136"/>
    <p:sldId id="610" r:id="rId137"/>
    <p:sldId id="611" r:id="rId138"/>
    <p:sldId id="612" r:id="rId139"/>
    <p:sldId id="613" r:id="rId140"/>
    <p:sldId id="614" r:id="rId141"/>
    <p:sldId id="615" r:id="rId142"/>
    <p:sldId id="616" r:id="rId143"/>
    <p:sldId id="617" r:id="rId144"/>
    <p:sldId id="618" r:id="rId145"/>
    <p:sldId id="619" r:id="rId146"/>
    <p:sldId id="620" r:id="rId147"/>
    <p:sldId id="622" r:id="rId148"/>
    <p:sldId id="623" r:id="rId149"/>
    <p:sldId id="624" r:id="rId150"/>
    <p:sldId id="625" r:id="rId151"/>
    <p:sldId id="626" r:id="rId152"/>
    <p:sldId id="627" r:id="rId153"/>
    <p:sldId id="628" r:id="rId154"/>
    <p:sldId id="629" r:id="rId155"/>
    <p:sldId id="630" r:id="rId156"/>
    <p:sldId id="697" r:id="rId157"/>
  </p:sldIdLst>
  <p:sldSz cx="12192000" cy="6858000"/>
  <p:notesSz cx="6858000" cy="9144000"/>
  <p:custDataLst>
    <p:tags r:id="rId16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2" Type="http://schemas.openxmlformats.org/officeDocument/2006/relationships/tags" Target="tags/tag12.xml"/><Relationship Id="rId161" Type="http://schemas.openxmlformats.org/officeDocument/2006/relationships/tableStyles" Target="tableStyles.xml"/><Relationship Id="rId160" Type="http://schemas.openxmlformats.org/officeDocument/2006/relationships/viewProps" Target="viewProps.xml"/><Relationship Id="rId16" Type="http://schemas.openxmlformats.org/officeDocument/2006/relationships/slide" Target="slides/slide14.xml"/><Relationship Id="rId159" Type="http://schemas.openxmlformats.org/officeDocument/2006/relationships/presProps" Target="presProps.xml"/><Relationship Id="rId158" Type="http://schemas.openxmlformats.org/officeDocument/2006/relationships/notesMaster" Target="notesMasters/notesMaster1.xml"/><Relationship Id="rId157" Type="http://schemas.openxmlformats.org/officeDocument/2006/relationships/slide" Target="slides/slide155.xml"/><Relationship Id="rId156" Type="http://schemas.openxmlformats.org/officeDocument/2006/relationships/slide" Target="slides/slide154.xml"/><Relationship Id="rId155" Type="http://schemas.openxmlformats.org/officeDocument/2006/relationships/slide" Target="slides/slide153.xml"/><Relationship Id="rId154" Type="http://schemas.openxmlformats.org/officeDocument/2006/relationships/slide" Target="slides/slide152.xml"/><Relationship Id="rId153" Type="http://schemas.openxmlformats.org/officeDocument/2006/relationships/slide" Target="slides/slide151.xml"/><Relationship Id="rId152" Type="http://schemas.openxmlformats.org/officeDocument/2006/relationships/slide" Target="slides/slide150.xml"/><Relationship Id="rId151" Type="http://schemas.openxmlformats.org/officeDocument/2006/relationships/slide" Target="slides/slide149.xml"/><Relationship Id="rId150" Type="http://schemas.openxmlformats.org/officeDocument/2006/relationships/slide" Target="slides/slide148.xml"/><Relationship Id="rId15" Type="http://schemas.openxmlformats.org/officeDocument/2006/relationships/slide" Target="slides/slide13.xml"/><Relationship Id="rId149" Type="http://schemas.openxmlformats.org/officeDocument/2006/relationships/slide" Target="slides/slide147.xml"/><Relationship Id="rId148" Type="http://schemas.openxmlformats.org/officeDocument/2006/relationships/slide" Target="slides/slide146.xml"/><Relationship Id="rId147" Type="http://schemas.openxmlformats.org/officeDocument/2006/relationships/slide" Target="slides/slide145.xml"/><Relationship Id="rId146" Type="http://schemas.openxmlformats.org/officeDocument/2006/relationships/slide" Target="slides/slide144.xml"/><Relationship Id="rId145" Type="http://schemas.openxmlformats.org/officeDocument/2006/relationships/slide" Target="slides/slide143.xml"/><Relationship Id="rId144" Type="http://schemas.openxmlformats.org/officeDocument/2006/relationships/slide" Target="slides/slide142.xml"/><Relationship Id="rId143" Type="http://schemas.openxmlformats.org/officeDocument/2006/relationships/slide" Target="slides/slide141.xml"/><Relationship Id="rId142" Type="http://schemas.openxmlformats.org/officeDocument/2006/relationships/slide" Target="slides/slide140.xml"/><Relationship Id="rId141" Type="http://schemas.openxmlformats.org/officeDocument/2006/relationships/slide" Target="slides/slide139.xml"/><Relationship Id="rId140" Type="http://schemas.openxmlformats.org/officeDocument/2006/relationships/slide" Target="slides/slide138.xml"/><Relationship Id="rId14" Type="http://schemas.openxmlformats.org/officeDocument/2006/relationships/slide" Target="slides/slide12.xml"/><Relationship Id="rId139" Type="http://schemas.openxmlformats.org/officeDocument/2006/relationships/slide" Target="slides/slide137.xml"/><Relationship Id="rId138" Type="http://schemas.openxmlformats.org/officeDocument/2006/relationships/slide" Target="slides/slide136.xml"/><Relationship Id="rId137" Type="http://schemas.openxmlformats.org/officeDocument/2006/relationships/slide" Target="slides/slide135.xml"/><Relationship Id="rId136" Type="http://schemas.openxmlformats.org/officeDocument/2006/relationships/slide" Target="slides/slide134.xml"/><Relationship Id="rId135" Type="http://schemas.openxmlformats.org/officeDocument/2006/relationships/slide" Target="slides/slide133.xml"/><Relationship Id="rId134" Type="http://schemas.openxmlformats.org/officeDocument/2006/relationships/slide" Target="slides/slide132.xml"/><Relationship Id="rId133" Type="http://schemas.openxmlformats.org/officeDocument/2006/relationships/slide" Target="slides/slide131.xml"/><Relationship Id="rId132" Type="http://schemas.openxmlformats.org/officeDocument/2006/relationships/slide" Target="slides/slide130.xml"/><Relationship Id="rId131" Type="http://schemas.openxmlformats.org/officeDocument/2006/relationships/slide" Target="slides/slide129.xml"/><Relationship Id="rId130" Type="http://schemas.openxmlformats.org/officeDocument/2006/relationships/slide" Target="slides/slide128.xml"/><Relationship Id="rId13" Type="http://schemas.openxmlformats.org/officeDocument/2006/relationships/slide" Target="slides/slide11.xml"/><Relationship Id="rId129" Type="http://schemas.openxmlformats.org/officeDocument/2006/relationships/slide" Target="slides/slide127.xml"/><Relationship Id="rId128" Type="http://schemas.openxmlformats.org/officeDocument/2006/relationships/slide" Target="slides/slide126.xml"/><Relationship Id="rId127" Type="http://schemas.openxmlformats.org/officeDocument/2006/relationships/slide" Target="slides/slide125.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image" Target="../media/image7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219200"/>
            <a:ext cx="8229600" cy="4802188"/>
          </a:xfrm>
        </p:spPr>
        <p:txBody>
          <a:bodyPr/>
          <a:lstStyle/>
          <a:p>
            <a:endParaRPr lang="zh-CN" altLang="en-US"/>
          </a:p>
        </p:txBody>
      </p:sp>
      <p:sp>
        <p:nvSpPr>
          <p:cNvPr id="4" name="日期占位符 3"/>
          <p:cNvSpPr>
            <a:spLocks noGrp="1"/>
          </p:cNvSpPr>
          <p:nvPr>
            <p:ph type="dt" sz="half" idx="10"/>
          </p:nvPr>
        </p:nvSpPr>
        <p:spPr>
          <a:xfrm>
            <a:off x="2357439" y="6215063"/>
            <a:ext cx="1614487" cy="457200"/>
          </a:xfrm>
        </p:spPr>
        <p:txBody>
          <a:bodyPr/>
          <a:lstStyle>
            <a:lvl1pPr>
              <a:defRPr/>
            </a:lvl1pPr>
          </a:lstStyle>
          <a:p>
            <a:pPr>
              <a:defRPr/>
            </a:pPr>
            <a:endParaRPr lang="en-US" altLang="zh-CN"/>
          </a:p>
        </p:txBody>
      </p:sp>
      <p:sp>
        <p:nvSpPr>
          <p:cNvPr id="5" name="页脚占位符 4"/>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a:xfrm>
            <a:off x="6553200" y="6243638"/>
            <a:ext cx="2133600" cy="457200"/>
          </a:xfrm>
        </p:spPr>
        <p:txBody>
          <a:bodyPr/>
          <a:lstStyle>
            <a:lvl1pPr>
              <a:defRPr smtClean="0"/>
            </a:lvl1pPr>
          </a:lstStyle>
          <a:p>
            <a:pPr>
              <a:defRPr/>
            </a:pPr>
            <a:fld id="{359FA6C7-3127-46F9-8A9B-4A7A7D973FFE}" type="slidenum">
              <a:rPr lang="en-US" altLang="zh-CN"/>
            </a:fld>
            <a:endParaRPr lang="en-US" altLang="zh-CN"/>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08000" y="44450"/>
            <a:ext cx="11176000" cy="6400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72200" y="1825625"/>
            <a:ext cx="51816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72200" y="4076700"/>
            <a:ext cx="51816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image" Target="../media/image8.jpeg"/><Relationship Id="rId5" Type="http://schemas.openxmlformats.org/officeDocument/2006/relationships/tags" Target="../tags/tag3.xml"/><Relationship Id="rId4" Type="http://schemas.openxmlformats.org/officeDocument/2006/relationships/image" Target="../media/image7.jpeg"/><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0.jpeg"/><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2.jpeg"/><Relationship Id="rId1" Type="http://schemas.openxmlformats.org/officeDocument/2006/relationships/image" Target="../media/image11.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3.jpe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5.jpeg"/><Relationship Id="rId3" Type="http://schemas.openxmlformats.org/officeDocument/2006/relationships/tags" Target="../tags/tag5.xml"/><Relationship Id="rId2" Type="http://schemas.openxmlformats.org/officeDocument/2006/relationships/image" Target="../media/image14.jpeg"/><Relationship Id="rId1" Type="http://schemas.openxmlformats.org/officeDocument/2006/relationships/tags" Target="../tags/tag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7.jpeg"/><Relationship Id="rId1" Type="http://schemas.openxmlformats.org/officeDocument/2006/relationships/image" Target="../media/image16.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8.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20.jpeg"/><Relationship Id="rId1" Type="http://schemas.openxmlformats.org/officeDocument/2006/relationships/image" Target="../media/image19.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hyperlink" Target="http://www.mep.gov.cn/"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5.jpeg"/><Relationship Id="rId1" Type="http://schemas.openxmlformats.org/officeDocument/2006/relationships/image" Target="../media/image24.jpe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7.png"/><Relationship Id="rId1" Type="http://schemas.openxmlformats.org/officeDocument/2006/relationships/image" Target="../media/image26.jpe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9.jpeg"/><Relationship Id="rId1" Type="http://schemas.openxmlformats.org/officeDocument/2006/relationships/image" Target="../media/image28.jpe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1.jpeg"/><Relationship Id="rId1" Type="http://schemas.openxmlformats.org/officeDocument/2006/relationships/image" Target="../media/image30.jpe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3.jpeg"/><Relationship Id="rId2" Type="http://schemas.openxmlformats.org/officeDocument/2006/relationships/tags" Target="../tags/tag6.xml"/><Relationship Id="rId1" Type="http://schemas.openxmlformats.org/officeDocument/2006/relationships/image" Target="../media/image32.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4.jpeg"/><Relationship Id="rId1" Type="http://schemas.openxmlformats.org/officeDocument/2006/relationships/tags" Target="../tags/tag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5.jpeg"/><Relationship Id="rId1" Type="http://schemas.openxmlformats.org/officeDocument/2006/relationships/tags" Target="../tags/tag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36.jpeg"/><Relationship Id="rId1" Type="http://schemas.openxmlformats.org/officeDocument/2006/relationships/tags" Target="../tags/tag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38.jpeg"/><Relationship Id="rId3" Type="http://schemas.openxmlformats.org/officeDocument/2006/relationships/tags" Target="../tags/tag11.xml"/><Relationship Id="rId2" Type="http://schemas.openxmlformats.org/officeDocument/2006/relationships/image" Target="../media/image37.jpeg"/><Relationship Id="rId1" Type="http://schemas.openxmlformats.org/officeDocument/2006/relationships/tags" Target="../tags/tag1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0.png"/><Relationship Id="rId1" Type="http://schemas.openxmlformats.org/officeDocument/2006/relationships/image" Target="../media/image39.jpe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2.jpeg"/><Relationship Id="rId1" Type="http://schemas.openxmlformats.org/officeDocument/2006/relationships/image" Target="../media/image41.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4.jpeg"/><Relationship Id="rId1" Type="http://schemas.openxmlformats.org/officeDocument/2006/relationships/image" Target="../media/image43.jpe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6.jpeg"/><Relationship Id="rId1" Type="http://schemas.openxmlformats.org/officeDocument/2006/relationships/image" Target="../media/image45.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image" Target="../media/image47.jpe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1.jpeg"/><Relationship Id="rId1" Type="http://schemas.openxmlformats.org/officeDocument/2006/relationships/image" Target="../media/image50.jpe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3.jpeg"/><Relationship Id="rId1" Type="http://schemas.openxmlformats.org/officeDocument/2006/relationships/image" Target="../media/image52.jpe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4.jpe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image" Target="../media/image58.jpeg"/><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image" Target="../media/image55.jpeg"/></Relationships>
</file>

<file path=ppt/slides/_rels/slide89.xml.rels><?xml version="1.0" encoding="UTF-8" standalone="yes"?>
<Relationships xmlns="http://schemas.openxmlformats.org/package/2006/relationships"><Relationship Id="rId7" Type="http://schemas.openxmlformats.org/officeDocument/2006/relationships/slideLayout" Target="../slideLayouts/slideLayout13.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jpeg"/><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image" Target="../media/image59.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66.jpeg"/><Relationship Id="rId2" Type="http://schemas.openxmlformats.org/officeDocument/2006/relationships/hyperlink" Target="http://image.baidu.com/i?ct=503316480&amp;z=0&amp;tn=baiduimagedetail&amp;word=%C9%F9%BB%B7%BE%B3&amp;in=44&amp;cl=2&amp;cm=1&amp;sc=0&amp;lm=-1&amp;pn=43&amp;rn=1" TargetMode="External"/><Relationship Id="rId1" Type="http://schemas.openxmlformats.org/officeDocument/2006/relationships/image" Target="../media/image65.png"/></Relationships>
</file>

<file path=ppt/slides/_rels/slide98.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8.jpeg"/><Relationship Id="rId3" Type="http://schemas.openxmlformats.org/officeDocument/2006/relationships/hyperlink" Target="http://image.baidu.com/i?ct=503316480&amp;z=0&amp;tn=baiduimagedetail&amp;word=%D4%EB%C9%F9&amp;in=204&amp;cl=2&amp;cm=1&amp;sc=0&amp;lm=-1&amp;pn=203&amp;rn=1" TargetMode="External"/><Relationship Id="rId2" Type="http://schemas.openxmlformats.org/officeDocument/2006/relationships/image" Target="../media/image67.jpeg"/><Relationship Id="rId1" Type="http://schemas.openxmlformats.org/officeDocument/2006/relationships/hyperlink" Target="http://image.baidu.com/i?ct=503316480&amp;z=0&amp;tn=baiduimagedetail&amp;word=%D4%EB%C9%F9&amp;in=197&amp;cl=2&amp;cm=1&amp;sc=0&amp;lm=-1&amp;pn=196&amp;rn=1"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69.jpe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0.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0.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1.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15.xml"/><Relationship Id="rId4" Type="http://schemas.openxmlformats.org/officeDocument/2006/relationships/image" Target="../media/image73.png"/><Relationship Id="rId3" Type="http://schemas.openxmlformats.org/officeDocument/2006/relationships/oleObject" Target="../embeddings/oleObject2.bin"/><Relationship Id="rId2" Type="http://schemas.openxmlformats.org/officeDocument/2006/relationships/image" Target="../media/image72.png"/><Relationship Id="rId1" Type="http://schemas.openxmlformats.org/officeDocument/2006/relationships/oleObject" Target="../embeddings/oleObject1.bin"/></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74.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5.jpe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6.jpeg"/></Relationships>
</file>

<file path=ppt/slides/_rels/slide116.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14.xml"/><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oleObject" Target="../embeddings/oleObject3.bin"/></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80.jpeg"/><Relationship Id="rId3" Type="http://schemas.openxmlformats.org/officeDocument/2006/relationships/hyperlink" Target="http://images.google.cn/imgres?imgurl=http://www.it.com.cn/f/market/057/7/kyo05-7-7-11.jpg&amp;imgrefurl=http://www.it.com.cn/f/market/057/7/140016.htm&amp;h=337&amp;w=450&amp;sz=87&amp;hl=zh-CN&amp;start=50&amp;um=1&amp;tbnid=m1E8t5nhxUD4RM:&amp;tbnh=95&amp;tbnw=127&amp;prev=/images%3Fq%3D%25E7%2583%25AD%25E7%258E%25AF%25E5%25A2%2583%26start%3D40%26ndsp%3D20%26svnum%3D10%26um%3D1%26complete%3D1%26hl%3Dzh-CN%26inlang%3Dzh-CN%26newwindow%3D1%26sa%3DN" TargetMode="External"/><Relationship Id="rId2" Type="http://schemas.openxmlformats.org/officeDocument/2006/relationships/image" Target="../media/image79.jpeg"/><Relationship Id="rId1" Type="http://schemas.openxmlformats.org/officeDocument/2006/relationships/hyperlink" Target="http://www.gdepb.gov.cn:82/gate/big5/www.gdepb.gov.cn/ztzl/rwr/W020051219536386477647.jpg" TargetMode="Externa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1.jpeg"/></Relationships>
</file>

<file path=ppt/slides/_rels/slide1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1.jpeg"/><Relationship Id="rId1" Type="http://schemas.openxmlformats.org/officeDocument/2006/relationships/image" Target="../media/image82.jpe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3.jpe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4.wmf"/></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5.jpeg"/></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6.jpeg"/></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7.jpe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8.jpeg"/></Relationships>
</file>

<file path=ppt/slides/_rels/slide14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9.jpe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0.jpeg"/></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1.jpe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2.jpe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p:sp>
        <p:nvSpPr>
          <p:cNvPr id="6" name="文本框 5"/>
          <p:cNvSpPr txBox="1"/>
          <p:nvPr/>
        </p:nvSpPr>
        <p:spPr>
          <a:xfrm>
            <a:off x="2142490" y="2095500"/>
            <a:ext cx="5549265" cy="922020"/>
          </a:xfrm>
          <a:prstGeom prst="rect">
            <a:avLst/>
          </a:prstGeom>
          <a:noFill/>
        </p:spPr>
        <p:txBody>
          <a:bodyPr wrap="square" rtlCol="0">
            <a:spAutoFit/>
          </a:bodyPr>
          <a:p>
            <a:r>
              <a:rPr lang="zh-CN" altLang="en-US" sz="5400"/>
              <a:t>第三章</a:t>
            </a:r>
            <a:r>
              <a:rPr lang="en-US" altLang="zh-CN" sz="5400"/>
              <a:t> </a:t>
            </a:r>
            <a:r>
              <a:rPr lang="zh-CN" altLang="en-US" sz="5400"/>
              <a:t>环境污染</a:t>
            </a:r>
            <a:endParaRPr lang="zh-CN" altLang="en-US" sz="5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1"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37892"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202181" name="Rectangle 5"/>
          <p:cNvSpPr/>
          <p:nvPr/>
        </p:nvSpPr>
        <p:spPr>
          <a:xfrm>
            <a:off x="2057400" y="2429510"/>
            <a:ext cx="8202613" cy="2122805"/>
          </a:xfrm>
          <a:prstGeom prst="rect">
            <a:avLst/>
          </a:prstGeom>
          <a:noFill/>
          <a:ln w="9525">
            <a:noFill/>
          </a:ln>
        </p:spPr>
        <p:txBody>
          <a:bodyPr anchor="ctr" anchorCtr="0">
            <a:spAutoFit/>
          </a:bodyPr>
          <a:p>
            <a:pPr algn="l">
              <a:lnSpc>
                <a:spcPct val="150000"/>
              </a:lnSpc>
            </a:pPr>
            <a:r>
              <a:rPr lang="zh-CN" altLang="en-US" sz="2200" dirty="0">
                <a:latin typeface="楷体_GB2312" charset="-122"/>
                <a:ea typeface="楷体_GB2312" charset="-122"/>
              </a:rPr>
              <a:t>    </a:t>
            </a:r>
            <a:r>
              <a:rPr lang="zh-CN" altLang="en-US" sz="2200" b="1" u="sng" dirty="0">
                <a:solidFill>
                  <a:srgbClr val="FC4A26"/>
                </a:solidFill>
                <a:latin typeface="楷体_GB2312" charset="-122"/>
                <a:ea typeface="楷体_GB2312" charset="-122"/>
              </a:rPr>
              <a:t>污染物</a:t>
            </a:r>
            <a:r>
              <a:rPr lang="zh-CN" altLang="en-US" sz="2200" dirty="0">
                <a:latin typeface="楷体_GB2312" charset="-122"/>
                <a:ea typeface="楷体_GB2312" charset="-122"/>
              </a:rPr>
              <a:t>是进入环境后使环境的正常组成结构、状态和性质发生变化、直接或间接有害于人类生存和发展的物质，是造成环境污染的重要物质组成。环境科学研究的</a:t>
            </a:r>
            <a:r>
              <a:rPr lang="zh-CN" altLang="en-US" sz="2200" b="1" dirty="0">
                <a:solidFill>
                  <a:srgbClr val="FF3300"/>
                </a:solidFill>
                <a:latin typeface="楷体_GB2312" charset="-122"/>
                <a:ea typeface="楷体_GB2312" charset="-122"/>
              </a:rPr>
              <a:t>重点</a:t>
            </a:r>
            <a:r>
              <a:rPr lang="zh-CN" altLang="en-US" sz="2200" dirty="0">
                <a:latin typeface="楷体_GB2312" charset="-122"/>
                <a:ea typeface="楷体_GB2312" charset="-122"/>
              </a:rPr>
              <a:t>是人类生产生活排放的污染物。污染物产生的</a:t>
            </a:r>
            <a:r>
              <a:rPr lang="zh-CN" altLang="en-US" sz="2200" b="1" dirty="0">
                <a:solidFill>
                  <a:srgbClr val="FC4A26"/>
                </a:solidFill>
                <a:latin typeface="楷体_GB2312" charset="-122"/>
                <a:ea typeface="楷体_GB2312" charset="-122"/>
              </a:rPr>
              <a:t>根本原因是人类的社会经济活动。</a:t>
            </a:r>
            <a:endParaRPr lang="zh-CN" altLang="en-GB" sz="2200" b="1" dirty="0">
              <a:solidFill>
                <a:srgbClr val="FC4A26"/>
              </a:solidFill>
              <a:latin typeface="楷体_GB2312" charset="-122"/>
              <a:ea typeface="楷体_GB2312" charset="-122"/>
            </a:endParaRPr>
          </a:p>
        </p:txBody>
      </p:sp>
      <p:sp>
        <p:nvSpPr>
          <p:cNvPr id="37894" name="Rectangle 6"/>
          <p:cNvSpPr/>
          <p:nvPr/>
        </p:nvSpPr>
        <p:spPr>
          <a:xfrm>
            <a:off x="1601788" y="1322070"/>
            <a:ext cx="28178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污染物的定义 </a:t>
            </a:r>
            <a:endParaRPr lang="zh-CN" altLang="en-GB" sz="2800" b="1" dirty="0">
              <a:solidFill>
                <a:srgbClr val="FC4A26"/>
              </a:solidFill>
              <a:latin typeface="楷体_GB2312" charset="-122"/>
              <a:ea typeface="楷体_GB2312" charset="-122"/>
            </a:endParaRPr>
          </a:p>
        </p:txBody>
      </p:sp>
      <p:sp>
        <p:nvSpPr>
          <p:cNvPr id="1202183" name="AutoShape 7"/>
          <p:cNvSpPr>
            <a:spLocks noChangeArrowheads="1"/>
          </p:cNvSpPr>
          <p:nvPr/>
        </p:nvSpPr>
        <p:spPr bwMode="auto">
          <a:xfrm>
            <a:off x="1550988" y="527050"/>
            <a:ext cx="3630613" cy="539750"/>
          </a:xfrm>
          <a:prstGeom prst="homePlate">
            <a:avLst>
              <a:gd name="adj" fmla="val 168162"/>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第一节 环境污染概述</a:t>
            </a:r>
            <a:r>
              <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 </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02181"/>
                                        </p:tgtEl>
                                        <p:attrNameLst>
                                          <p:attrName>style.visibility</p:attrName>
                                        </p:attrNameLst>
                                      </p:cBhvr>
                                      <p:to>
                                        <p:strVal val="visible"/>
                                      </p:to>
                                    </p:set>
                                    <p:animEffect transition="in" filter="checkerboard(across)">
                                      <p:cBhvr>
                                        <p:cTn id="7" dur="500"/>
                                        <p:tgtEl>
                                          <p:spTgt spid="1202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18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38916"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38917" name="Rectangle 5"/>
          <p:cNvSpPr/>
          <p:nvPr/>
        </p:nvSpPr>
        <p:spPr>
          <a:xfrm>
            <a:off x="1601788" y="1245870"/>
            <a:ext cx="39608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污染物的产生途径</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029134" name="AutoShape 14"/>
          <p:cNvSpPr>
            <a:spLocks noChangeArrowheads="1"/>
          </p:cNvSpPr>
          <p:nvPr/>
        </p:nvSpPr>
        <p:spPr bwMode="auto">
          <a:xfrm>
            <a:off x="2095500" y="3130550"/>
            <a:ext cx="1943100" cy="604838"/>
          </a:xfrm>
          <a:prstGeom prst="homePlate">
            <a:avLst>
              <a:gd name="adj" fmla="val 42002"/>
            </a:avLst>
          </a:prstGeom>
          <a:solidFill>
            <a:srgbClr val="FFCC00"/>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GB" sz="2800" b="1" i="0" u="none" strike="noStrike" kern="1200" cap="none" spc="0" normalizeH="0" baseline="0" noProof="0" smtClean="0">
                <a:ln>
                  <a:noFill/>
                </a:ln>
                <a:solidFill>
                  <a:schemeClr val="accent1"/>
                </a:solidFill>
                <a:effectLst/>
                <a:uLnTx/>
                <a:uFillTx/>
                <a:latin typeface="Arial" panose="020B0604020202020204" pitchFamily="34" charset="0"/>
                <a:ea typeface="楷体_GB2312" charset="-122"/>
                <a:cs typeface="+mn-cs"/>
              </a:rPr>
              <a:t>产生途径</a:t>
            </a:r>
            <a:endParaRPr kumimoji="0" lang="en-US" altLang="zh-CN" sz="2800" b="1" i="0" u="none" strike="noStrike" kern="1200" cap="none" spc="0" normalizeH="0" baseline="0" noProof="0" smtClean="0">
              <a:ln>
                <a:noFill/>
              </a:ln>
              <a:solidFill>
                <a:schemeClr val="accent1"/>
              </a:solidFill>
              <a:effectLst/>
              <a:uLnTx/>
              <a:uFillTx/>
              <a:latin typeface="Arial" panose="020B0604020202020204" pitchFamily="34" charset="0"/>
              <a:ea typeface="楷体_GB2312" charset="-122"/>
              <a:cs typeface="+mn-cs"/>
            </a:endParaRPr>
          </a:p>
        </p:txBody>
      </p:sp>
      <p:sp>
        <p:nvSpPr>
          <p:cNvPr id="1203207" name="AutoShape 7"/>
          <p:cNvSpPr/>
          <p:nvPr/>
        </p:nvSpPr>
        <p:spPr bwMode="auto">
          <a:xfrm>
            <a:off x="4038600" y="3238681"/>
            <a:ext cx="342900" cy="313963"/>
          </a:xfrm>
          <a:prstGeom prst="leftBrace">
            <a:avLst>
              <a:gd name="adj1" fmla="val 49769"/>
              <a:gd name="adj2" fmla="val 50000"/>
            </a:avLst>
          </a:prstGeom>
          <a:noFill/>
          <a:ln w="38100">
            <a:solidFill>
              <a:schemeClr val="hlink"/>
            </a:solidFill>
            <a:round/>
          </a:ln>
          <a:effectLst>
            <a:outerShdw dist="107763" dir="18900000" algn="ctr" rotWithShape="0">
              <a:schemeClr val="bg2">
                <a:alpha val="50000"/>
              </a:scheme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128" name="AutoShape 8"/>
          <p:cNvSpPr/>
          <p:nvPr/>
        </p:nvSpPr>
        <p:spPr>
          <a:xfrm>
            <a:off x="4419600" y="2370138"/>
            <a:ext cx="1981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生产性污染</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3" name="AutoShape 8"/>
          <p:cNvSpPr/>
          <p:nvPr/>
        </p:nvSpPr>
        <p:spPr>
          <a:xfrm>
            <a:off x="4419600" y="4191000"/>
            <a:ext cx="1981200" cy="436563"/>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生活性污染</a:t>
            </a:r>
            <a:endParaRPr lang="en-US" altLang="zh-CN" sz="2400" b="1">
              <a:solidFill>
                <a:srgbClr val="FFFF66"/>
              </a:solidFill>
              <a:latin typeface="宋体" panose="02010600030101010101" pitchFamily="2" charset="-122"/>
              <a:ea typeface="楷体_GB2312" charset="-122"/>
            </a:endParaRPr>
          </a:p>
        </p:txBody>
      </p:sp>
      <p:sp>
        <p:nvSpPr>
          <p:cNvPr id="1203210" name="Rectangle 10"/>
          <p:cNvSpPr/>
          <p:nvPr/>
        </p:nvSpPr>
        <p:spPr>
          <a:xfrm>
            <a:off x="5334000" y="2790508"/>
            <a:ext cx="4386263" cy="645160"/>
          </a:xfrm>
          <a:prstGeom prst="rect">
            <a:avLst/>
          </a:prstGeom>
          <a:noFill/>
          <a:ln w="9525">
            <a:noFill/>
          </a:ln>
        </p:spPr>
        <p:txBody>
          <a:bodyPr anchor="ctr" anchorCtr="0">
            <a:spAutoFit/>
          </a:bodyPr>
          <a:p>
            <a:pPr algn="l"/>
            <a:r>
              <a:rPr lang="en-GB" altLang="zh-CN" sz="1800">
                <a:latin typeface="Arial" panose="020B0604020202020204" pitchFamily="34" charset="0"/>
                <a:ea typeface="楷体_GB2312" charset="-122"/>
              </a:rPr>
              <a:t>——</a:t>
            </a:r>
            <a:r>
              <a:rPr lang="zh-CN" altLang="en-US" sz="1800" dirty="0">
                <a:latin typeface="楷体_GB2312" charset="-122"/>
                <a:ea typeface="楷体_GB2312" charset="-122"/>
              </a:rPr>
              <a:t>通过人类的生产活动造成的</a:t>
            </a:r>
            <a:r>
              <a:rPr lang="zh-CN" altLang="en-GB" sz="1800" dirty="0">
                <a:latin typeface="楷体_GB2312" charset="-122"/>
                <a:ea typeface="楷体_GB2312" charset="-122"/>
              </a:rPr>
              <a:t>，</a:t>
            </a:r>
            <a:endParaRPr lang="zh-CN" altLang="en-GB" sz="1800" dirty="0">
              <a:latin typeface="楷体_GB2312" charset="-122"/>
              <a:ea typeface="楷体_GB2312" charset="-122"/>
            </a:endParaRPr>
          </a:p>
          <a:p>
            <a:pPr algn="l"/>
            <a:r>
              <a:rPr lang="zh-CN" altLang="en-US" sz="1800" dirty="0">
                <a:latin typeface="楷体_GB2312" charset="-122"/>
                <a:ea typeface="楷体_GB2312" charset="-122"/>
              </a:rPr>
              <a:t>如工业生产形成的废水、废气、废渣等。 </a:t>
            </a:r>
            <a:r>
              <a:rPr lang="zh-CN" altLang="en-GB" sz="1800" dirty="0">
                <a:latin typeface="楷体_GB2312" charset="-122"/>
                <a:ea typeface="楷体_GB2312" charset="-122"/>
              </a:rPr>
              <a:t> </a:t>
            </a:r>
            <a:endParaRPr lang="zh-CN" altLang="en-GB" sz="1800" dirty="0">
              <a:latin typeface="楷体_GB2312" charset="-122"/>
              <a:ea typeface="楷体_GB2312" charset="-122"/>
            </a:endParaRPr>
          </a:p>
        </p:txBody>
      </p:sp>
      <p:sp>
        <p:nvSpPr>
          <p:cNvPr id="1203211" name="Rectangle 11"/>
          <p:cNvSpPr/>
          <p:nvPr/>
        </p:nvSpPr>
        <p:spPr>
          <a:xfrm>
            <a:off x="5105400" y="4690745"/>
            <a:ext cx="5175250" cy="645160"/>
          </a:xfrm>
          <a:prstGeom prst="rect">
            <a:avLst/>
          </a:prstGeom>
          <a:noFill/>
          <a:ln w="9525">
            <a:noFill/>
          </a:ln>
        </p:spPr>
        <p:txBody>
          <a:bodyPr anchor="ctr" anchorCtr="0">
            <a:spAutoFit/>
          </a:bodyPr>
          <a:p>
            <a:pPr algn="l"/>
            <a:r>
              <a:rPr lang="en-GB" altLang="zh-CN" sz="1800">
                <a:latin typeface="Arial" panose="020B0604020202020204" pitchFamily="34" charset="0"/>
                <a:ea typeface="楷体_GB2312" charset="-122"/>
              </a:rPr>
              <a:t>——</a:t>
            </a:r>
            <a:r>
              <a:rPr lang="zh-CN" altLang="en-US" sz="1800" dirty="0">
                <a:latin typeface="楷体_GB2312" charset="-122"/>
                <a:ea typeface="楷体_GB2312" charset="-122"/>
              </a:rPr>
              <a:t>人们每天的新陈代谢等生活活动造成的，</a:t>
            </a:r>
            <a:endParaRPr lang="zh-CN" altLang="en-US" sz="1800" dirty="0">
              <a:latin typeface="楷体_GB2312" charset="-122"/>
              <a:ea typeface="楷体_GB2312" charset="-122"/>
            </a:endParaRPr>
          </a:p>
          <a:p>
            <a:pPr algn="l"/>
            <a:r>
              <a:rPr lang="zh-CN" altLang="en-US" sz="1800" dirty="0">
                <a:latin typeface="楷体_GB2312" charset="-122"/>
                <a:ea typeface="楷体_GB2312" charset="-122"/>
              </a:rPr>
              <a:t>如粪便、垃圾、脏水等。 </a:t>
            </a:r>
            <a:r>
              <a:rPr lang="zh-CN" altLang="en-GB" sz="1800" dirty="0">
                <a:latin typeface="楷体_GB2312" charset="-122"/>
                <a:ea typeface="楷体_GB2312" charset="-122"/>
              </a:rPr>
              <a:t> </a:t>
            </a:r>
            <a:endParaRPr lang="zh-CN" altLang="en-GB" sz="1800" dirty="0">
              <a:latin typeface="楷体_GB2312" charset="-122"/>
              <a:ea typeface="楷体_GB2312" charset="-122"/>
            </a:endParaRPr>
          </a:p>
        </p:txBody>
      </p:sp>
      <p:sp>
        <p:nvSpPr>
          <p:cNvPr id="1203212" name="AutoShape 12"/>
          <p:cNvSpPr>
            <a:spLocks noChangeArrowheads="1"/>
          </p:cNvSpPr>
          <p:nvPr/>
        </p:nvSpPr>
        <p:spPr bwMode="auto">
          <a:xfrm>
            <a:off x="1550988" y="527050"/>
            <a:ext cx="3630613" cy="539750"/>
          </a:xfrm>
          <a:prstGeom prst="homePlate">
            <a:avLst>
              <a:gd name="adj" fmla="val 168162"/>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第一节 环境污染概述</a:t>
            </a:r>
            <a:r>
              <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 </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9134"/>
                                        </p:tgtEl>
                                        <p:attrNameLst>
                                          <p:attrName>style.visibility</p:attrName>
                                        </p:attrNameLst>
                                      </p:cBhvr>
                                      <p:to>
                                        <p:strVal val="visible"/>
                                      </p:to>
                                    </p:set>
                                    <p:animEffect transition="in" filter="box(in)">
                                      <p:cBhvr>
                                        <p:cTn id="7" dur="500"/>
                                        <p:tgtEl>
                                          <p:spTgt spid="102913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203207"/>
                                        </p:tgtEl>
                                        <p:attrNameLst>
                                          <p:attrName>style.visibility</p:attrName>
                                        </p:attrNameLst>
                                      </p:cBhvr>
                                      <p:to>
                                        <p:strVal val="visible"/>
                                      </p:to>
                                    </p:set>
                                    <p:animEffect transition="in" filter="box(in)">
                                      <p:cBhvr>
                                        <p:cTn id="10" dur="500"/>
                                        <p:tgtEl>
                                          <p:spTgt spid="120320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029128"/>
                                        </p:tgtEl>
                                        <p:attrNameLst>
                                          <p:attrName>style.visibility</p:attrName>
                                        </p:attrNameLst>
                                      </p:cBhvr>
                                      <p:to>
                                        <p:strVal val="visible"/>
                                      </p:to>
                                    </p:set>
                                    <p:animEffect transition="in" filter="checkerboard(across)">
                                      <p:cBhvr>
                                        <p:cTn id="15" dur="500"/>
                                        <p:tgtEl>
                                          <p:spTgt spid="1029128"/>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203210"/>
                                        </p:tgtEl>
                                        <p:attrNameLst>
                                          <p:attrName>style.visibility</p:attrName>
                                        </p:attrNameLst>
                                      </p:cBhvr>
                                      <p:to>
                                        <p:strVal val="visible"/>
                                      </p:to>
                                    </p:set>
                                    <p:animEffect transition="in" filter="slide(fromBottom)">
                                      <p:cBhvr>
                                        <p:cTn id="23" dur="500"/>
                                        <p:tgtEl>
                                          <p:spTgt spid="1203210"/>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203211"/>
                                        </p:tgtEl>
                                        <p:attrNameLst>
                                          <p:attrName>style.visibility</p:attrName>
                                        </p:attrNameLst>
                                      </p:cBhvr>
                                      <p:to>
                                        <p:strVal val="visible"/>
                                      </p:to>
                                    </p:set>
                                    <p:animEffect transition="in" filter="slide(fromBottom)">
                                      <p:cBhvr>
                                        <p:cTn id="28" dur="500"/>
                                        <p:tgtEl>
                                          <p:spTgt spid="1203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34" grpId="0" bldLvl="0" animBg="1"/>
      <p:bldP spid="1203207" grpId="0" bldLvl="0" animBg="1"/>
      <p:bldP spid="1029128" grpId="0" bldLvl="0" animBg="1"/>
      <p:bldP spid="3" grpId="0" bldLvl="0" animBg="1"/>
      <p:bldP spid="1203210" grpId="0"/>
      <p:bldP spid="12032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9"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39940"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204229" name="Rectangle 5"/>
          <p:cNvSpPr/>
          <p:nvPr/>
        </p:nvSpPr>
        <p:spPr>
          <a:xfrm>
            <a:off x="1925638" y="2052638"/>
            <a:ext cx="7827962" cy="3184525"/>
          </a:xfrm>
          <a:prstGeom prst="rect">
            <a:avLst/>
          </a:prstGeom>
          <a:noFill/>
          <a:ln w="9525">
            <a:noFill/>
          </a:ln>
        </p:spPr>
        <p:txBody>
          <a:bodyPr anchor="ctr" anchorCtr="0">
            <a:spAutoFit/>
          </a:bodyPr>
          <a:p>
            <a:pPr algn="l">
              <a:lnSpc>
                <a:spcPct val="150000"/>
              </a:lnSpc>
            </a:pPr>
            <a:r>
              <a:rPr lang="zh-CN" altLang="en-US" sz="2400" dirty="0">
                <a:latin typeface="楷体_GB2312" charset="-122"/>
                <a:ea typeface="楷体_GB2312" charset="-122"/>
              </a:rPr>
              <a:t>    </a:t>
            </a:r>
            <a:r>
              <a:rPr lang="zh-CN" altLang="en-US" sz="2200" b="1" u="sng" dirty="0">
                <a:solidFill>
                  <a:srgbClr val="FC4A26"/>
                </a:solidFill>
                <a:latin typeface="楷体_GB2312" charset="-122"/>
                <a:ea typeface="楷体_GB2312" charset="-122"/>
              </a:rPr>
              <a:t>环境污染</a:t>
            </a:r>
            <a:r>
              <a:rPr lang="zh-CN" altLang="en-US" sz="2200" dirty="0">
                <a:latin typeface="楷体_GB2312" charset="-122"/>
                <a:ea typeface="楷体_GB2312" charset="-122"/>
              </a:rPr>
              <a:t>是指有害物质或因子进入环境，并在环境中扩散、迁移、转化，使环境系统结构与功能发生变化，对人类以及其他生物的生存和发展产生不利影响的现象。</a:t>
            </a:r>
            <a:endParaRPr lang="zh-CN" altLang="en-US" sz="2200" dirty="0">
              <a:latin typeface="楷体_GB2312" charset="-122"/>
              <a:ea typeface="楷体_GB2312" charset="-122"/>
            </a:endParaRPr>
          </a:p>
          <a:p>
            <a:pPr algn="l">
              <a:lnSpc>
                <a:spcPct val="150000"/>
              </a:lnSpc>
            </a:pPr>
            <a:r>
              <a:rPr lang="zh-CN" altLang="en-US" sz="2200" dirty="0">
                <a:latin typeface="楷体_GB2312" charset="-122"/>
                <a:ea typeface="楷体_GB2312" charset="-122"/>
              </a:rPr>
              <a:t>    在通常情况下，环境污染主要是指</a:t>
            </a:r>
            <a:r>
              <a:rPr lang="zh-CN" altLang="en-US" sz="2200" b="1" dirty="0">
                <a:solidFill>
                  <a:srgbClr val="FC4A26"/>
                </a:solidFill>
                <a:latin typeface="楷体_GB2312" charset="-122"/>
                <a:ea typeface="楷体_GB2312" charset="-122"/>
              </a:rPr>
              <a:t>人类活动</a:t>
            </a:r>
            <a:r>
              <a:rPr lang="zh-CN" altLang="en-US" sz="2200" dirty="0">
                <a:latin typeface="楷体_GB2312" charset="-122"/>
                <a:ea typeface="楷体_GB2312" charset="-122"/>
              </a:rPr>
              <a:t>所引起的环境质量下降而有害于人类及其他生物的正常生存和发展的现象。而</a:t>
            </a:r>
            <a:r>
              <a:rPr lang="zh-CN" altLang="en-US" sz="2200" b="1" dirty="0">
                <a:solidFill>
                  <a:srgbClr val="009999"/>
                </a:solidFill>
                <a:latin typeface="楷体_GB2312" charset="-122"/>
                <a:ea typeface="楷体_GB2312" charset="-122"/>
              </a:rPr>
              <a:t>自然过程</a:t>
            </a:r>
            <a:r>
              <a:rPr lang="zh-CN" altLang="en-US" sz="2200" dirty="0">
                <a:latin typeface="楷体_GB2312" charset="-122"/>
                <a:ea typeface="楷体_GB2312" charset="-122"/>
              </a:rPr>
              <a:t>引起的同类现象，称为</a:t>
            </a:r>
            <a:r>
              <a:rPr lang="zh-CN" altLang="en-US" sz="2200" b="1" dirty="0">
                <a:solidFill>
                  <a:srgbClr val="009999"/>
                </a:solidFill>
                <a:latin typeface="楷体_GB2312" charset="-122"/>
                <a:ea typeface="楷体_GB2312" charset="-122"/>
              </a:rPr>
              <a:t>自然突变或异常</a:t>
            </a:r>
            <a:r>
              <a:rPr lang="zh-CN" altLang="en-US" sz="2200" dirty="0">
                <a:latin typeface="楷体_GB2312" charset="-122"/>
                <a:ea typeface="楷体_GB2312" charset="-122"/>
              </a:rPr>
              <a:t>。</a:t>
            </a:r>
            <a:endParaRPr lang="zh-CN" altLang="en-GB" sz="2200" b="1" dirty="0">
              <a:latin typeface="楷体_GB2312" charset="-122"/>
              <a:ea typeface="楷体_GB2312" charset="-122"/>
            </a:endParaRPr>
          </a:p>
        </p:txBody>
      </p:sp>
      <p:sp>
        <p:nvSpPr>
          <p:cNvPr id="39942" name="Rectangle 6"/>
          <p:cNvSpPr/>
          <p:nvPr/>
        </p:nvSpPr>
        <p:spPr>
          <a:xfrm>
            <a:off x="1906588" y="1169670"/>
            <a:ext cx="28178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环境污染的定义 </a:t>
            </a:r>
            <a:endParaRPr lang="zh-CN" altLang="en-GB" sz="2800" b="1" dirty="0">
              <a:solidFill>
                <a:srgbClr val="FC4A26"/>
              </a:solidFill>
              <a:latin typeface="楷体_GB2312" charset="-122"/>
              <a:ea typeface="楷体_GB2312" charset="-122"/>
            </a:endParaRPr>
          </a:p>
        </p:txBody>
      </p:sp>
      <p:sp>
        <p:nvSpPr>
          <p:cNvPr id="1204231" name="AutoShape 7"/>
          <p:cNvSpPr>
            <a:spLocks noChangeArrowheads="1"/>
          </p:cNvSpPr>
          <p:nvPr/>
        </p:nvSpPr>
        <p:spPr bwMode="auto">
          <a:xfrm>
            <a:off x="1550988" y="527050"/>
            <a:ext cx="3630613" cy="539750"/>
          </a:xfrm>
          <a:prstGeom prst="homePlate">
            <a:avLst>
              <a:gd name="adj" fmla="val 168162"/>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第一节 环境污染概述</a:t>
            </a:r>
            <a:r>
              <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 </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04229"/>
                                        </p:tgtEl>
                                        <p:attrNameLst>
                                          <p:attrName>style.visibility</p:attrName>
                                        </p:attrNameLst>
                                      </p:cBhvr>
                                      <p:to>
                                        <p:strVal val="visible"/>
                                      </p:to>
                                    </p:set>
                                    <p:animEffect transition="in" filter="checkerboard(across)">
                                      <p:cBhvr>
                                        <p:cTn id="7" dur="500"/>
                                        <p:tgtEl>
                                          <p:spTgt spid="1204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42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3"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40964"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40965" name="Rectangle 5"/>
          <p:cNvSpPr/>
          <p:nvPr/>
        </p:nvSpPr>
        <p:spPr>
          <a:xfrm>
            <a:off x="1601788" y="1093470"/>
            <a:ext cx="34274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环境污染的分类 </a:t>
            </a:r>
            <a:endParaRPr lang="zh-CN" altLang="en-GB" sz="2800" b="1" dirty="0">
              <a:solidFill>
                <a:srgbClr val="FC4A26"/>
              </a:solidFill>
              <a:latin typeface="楷体_GB2312" charset="-122"/>
              <a:ea typeface="楷体_GB2312" charset="-122"/>
            </a:endParaRPr>
          </a:p>
        </p:txBody>
      </p:sp>
      <p:sp>
        <p:nvSpPr>
          <p:cNvPr id="24581" name="Rectangle 3"/>
          <p:cNvSpPr txBox="1">
            <a:spLocks noRot="1"/>
          </p:cNvSpPr>
          <p:nvPr/>
        </p:nvSpPr>
        <p:spPr>
          <a:xfrm>
            <a:off x="1847850" y="1285875"/>
            <a:ext cx="8797925" cy="18383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zh-CN" altLang="en-US" sz="2400" dirty="0">
                <a:latin typeface="Times New Roman" panose="02020603050405020304" charset="0"/>
                <a:ea typeface="楷体_GB2312" charset="-122"/>
              </a:rPr>
              <a:t>按</a:t>
            </a:r>
            <a:r>
              <a:rPr lang="zh-CN" altLang="en-US" sz="2400" b="1" u="sng" dirty="0">
                <a:solidFill>
                  <a:schemeClr val="accent2"/>
                </a:solidFill>
                <a:latin typeface="Times New Roman" panose="02020603050405020304" charset="0"/>
                <a:ea typeface="楷体_GB2312" charset="-122"/>
              </a:rPr>
              <a:t>环境要素</a:t>
            </a:r>
            <a:r>
              <a:rPr lang="zh-CN" altLang="en-US" sz="2400" dirty="0">
                <a:latin typeface="Times New Roman" panose="02020603050405020304" charset="0"/>
                <a:ea typeface="楷体_GB2312" charset="-122"/>
              </a:rPr>
              <a:t>分：</a:t>
            </a:r>
            <a:endParaRPr lang="zh-CN" altLang="en-US" sz="2400" dirty="0">
              <a:latin typeface="Times New Roman" panose="02020603050405020304" charset="0"/>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pPr>
            <a:r>
              <a:rPr lang="zh-CN" altLang="en-US" sz="2400" dirty="0">
                <a:latin typeface="Times New Roman" panose="02020603050405020304" charset="0"/>
                <a:ea typeface="楷体_GB2312" charset="-122"/>
              </a:rPr>
              <a:t> </a:t>
            </a:r>
            <a:r>
              <a:rPr lang="zh-CN" altLang="en-US" sz="2000" dirty="0">
                <a:latin typeface="Times New Roman" panose="02020603050405020304" charset="0"/>
                <a:ea typeface="楷体_GB2312" charset="-122"/>
              </a:rPr>
              <a:t>大气污染、水污染、土壤污染等</a:t>
            </a:r>
            <a:endParaRPr lang="en-US" altLang="zh-CN" sz="20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3" name="Rectangle 3"/>
          <p:cNvSpPr txBox="1">
            <a:spLocks noRot="1"/>
          </p:cNvSpPr>
          <p:nvPr/>
        </p:nvSpPr>
        <p:spPr>
          <a:xfrm>
            <a:off x="916305" y="3046730"/>
            <a:ext cx="8664575" cy="124650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r>
              <a:rPr lang="zh-CN" altLang="en-US" sz="2400" dirty="0">
                <a:latin typeface="Times New Roman" panose="02020603050405020304" charset="0"/>
                <a:ea typeface="楷体_GB2312" charset="-122"/>
              </a:rPr>
              <a:t>按</a:t>
            </a:r>
            <a:r>
              <a:rPr lang="zh-CN" altLang="en-US" sz="2400" b="1" u="sng" dirty="0">
                <a:solidFill>
                  <a:schemeClr val="accent2"/>
                </a:solidFill>
                <a:latin typeface="Times New Roman" panose="02020603050405020304" charset="0"/>
                <a:ea typeface="楷体_GB2312" charset="-122"/>
              </a:rPr>
              <a:t>污染物的性质</a:t>
            </a:r>
            <a:r>
              <a:rPr lang="zh-CN" altLang="en-US" sz="2400" dirty="0">
                <a:latin typeface="Times New Roman" panose="02020603050405020304" charset="0"/>
                <a:ea typeface="楷体_GB2312" charset="-122"/>
              </a:rPr>
              <a:t>分：</a:t>
            </a:r>
            <a:endParaRPr lang="zh-CN" altLang="en-US" sz="2400" dirty="0">
              <a:latin typeface="Times New Roman" panose="02020603050405020304" charset="0"/>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pPr>
            <a:r>
              <a:rPr lang="zh-CN" altLang="en-US" sz="2000" dirty="0">
                <a:latin typeface="Times New Roman" panose="02020603050405020304" charset="0"/>
                <a:ea typeface="楷体_GB2312" charset="-122"/>
              </a:rPr>
              <a:t>生物污染、化学污染、物理污染</a:t>
            </a:r>
            <a:endParaRPr lang="en-US" altLang="zh-CN" sz="20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4" name="Rectangle 3"/>
          <p:cNvSpPr txBox="1">
            <a:spLocks noRot="1"/>
          </p:cNvSpPr>
          <p:nvPr/>
        </p:nvSpPr>
        <p:spPr>
          <a:xfrm>
            <a:off x="1847850" y="409511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zh-CN" altLang="en-US" sz="2400" dirty="0">
                <a:latin typeface="Times New Roman" panose="02020603050405020304" charset="0"/>
                <a:ea typeface="楷体_GB2312" charset="-122"/>
              </a:rPr>
              <a:t>按</a:t>
            </a:r>
            <a:r>
              <a:rPr lang="zh-CN" altLang="en-US" sz="2400" b="1" u="sng" dirty="0">
                <a:solidFill>
                  <a:schemeClr val="accent2"/>
                </a:solidFill>
                <a:latin typeface="Times New Roman" panose="02020603050405020304" charset="0"/>
                <a:ea typeface="楷体_GB2312" charset="-122"/>
              </a:rPr>
              <a:t>污染物的形态</a:t>
            </a:r>
            <a:r>
              <a:rPr lang="zh-CN" altLang="en-US" sz="2400" dirty="0">
                <a:latin typeface="Times New Roman" panose="02020603050405020304" charset="0"/>
                <a:ea typeface="楷体_GB2312" charset="-122"/>
              </a:rPr>
              <a:t>分：</a:t>
            </a:r>
            <a:endParaRPr lang="zh-CN" altLang="en-US" sz="2400" dirty="0">
              <a:latin typeface="Times New Roman" panose="02020603050405020304" charset="0"/>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pPr>
            <a:r>
              <a:rPr lang="zh-CN" altLang="en-US" sz="2000" dirty="0">
                <a:latin typeface="Times New Roman" panose="02020603050405020304" charset="0"/>
                <a:ea typeface="楷体_GB2312" charset="-122"/>
              </a:rPr>
              <a:t>废气污染、废水污染、固体废弃物污染、噪声污染、辐射污染等</a:t>
            </a:r>
            <a:endParaRPr lang="en-US" altLang="zh-CN" sz="22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5" name="Rectangle 3"/>
          <p:cNvSpPr txBox="1">
            <a:spLocks noRot="1"/>
          </p:cNvSpPr>
          <p:nvPr/>
        </p:nvSpPr>
        <p:spPr>
          <a:xfrm>
            <a:off x="6076950" y="136144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zh-CN" altLang="en-US" sz="2400" dirty="0">
                <a:latin typeface="Times New Roman" panose="02020603050405020304" charset="0"/>
                <a:ea typeface="楷体_GB2312" charset="-122"/>
              </a:rPr>
              <a:t>按</a:t>
            </a:r>
            <a:r>
              <a:rPr lang="zh-CN" altLang="en-US" sz="2400" b="1" u="sng" dirty="0">
                <a:solidFill>
                  <a:schemeClr val="accent2"/>
                </a:solidFill>
                <a:latin typeface="Times New Roman" panose="02020603050405020304" charset="0"/>
                <a:ea typeface="楷体_GB2312" charset="-122"/>
              </a:rPr>
              <a:t>污染涉及范围</a:t>
            </a:r>
            <a:r>
              <a:rPr lang="zh-CN" altLang="en-US" sz="2400" dirty="0">
                <a:latin typeface="Times New Roman" panose="02020603050405020304" charset="0"/>
                <a:ea typeface="楷体_GB2312" charset="-122"/>
              </a:rPr>
              <a:t>分：</a:t>
            </a:r>
            <a:endParaRPr lang="zh-CN" altLang="en-US" sz="2400" dirty="0">
              <a:latin typeface="Times New Roman" panose="02020603050405020304" charset="0"/>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pPr>
            <a:r>
              <a:rPr lang="zh-CN" altLang="en-US" sz="2000" dirty="0">
                <a:latin typeface="Times New Roman" panose="02020603050405020304" charset="0"/>
                <a:ea typeface="楷体_GB2312" charset="-122"/>
              </a:rPr>
              <a:t>全球性污染、区域性污染、局部污染等</a:t>
            </a:r>
            <a:endParaRPr lang="zh-CN" altLang="en-US" sz="2000" dirty="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latin typeface="Times New Roman" panose="02020603050405020304" charset="0"/>
                <a:ea typeface="楷体_GB2312" charset="-122"/>
              </a:rPr>
              <a:t>            </a:t>
            </a:r>
            <a:endParaRPr lang="zh-CN" altLang="en-US" sz="2400" dirty="0">
              <a:latin typeface="Times New Roman" panose="02020603050405020304" charset="0"/>
              <a:ea typeface="楷体_GB2312" charset="-122"/>
            </a:endParaRPr>
          </a:p>
        </p:txBody>
      </p:sp>
      <p:sp>
        <p:nvSpPr>
          <p:cNvPr id="1205258" name="AutoShape 10"/>
          <p:cNvSpPr>
            <a:spLocks noChangeArrowheads="1"/>
          </p:cNvSpPr>
          <p:nvPr/>
        </p:nvSpPr>
        <p:spPr bwMode="auto">
          <a:xfrm>
            <a:off x="1550988" y="527050"/>
            <a:ext cx="3630613" cy="539750"/>
          </a:xfrm>
          <a:prstGeom prst="homePlate">
            <a:avLst>
              <a:gd name="adj" fmla="val 168162"/>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第一节 环境污染概述</a:t>
            </a:r>
            <a:r>
              <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 </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checkerboard(across)">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3" grpId="0"/>
      <p:bldP spid="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6274" name="AutoShape 2"/>
          <p:cNvSpPr>
            <a:spLocks noChangeArrowheads="1"/>
          </p:cNvSpPr>
          <p:nvPr/>
        </p:nvSpPr>
        <p:spPr bwMode="auto">
          <a:xfrm>
            <a:off x="3352800" y="5143500"/>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990" name="Line 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41991"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206278" name="AutoShape 6"/>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
        <p:nvSpPr>
          <p:cNvPr id="1206279" name="AutoShape 7"/>
          <p:cNvSpPr>
            <a:spLocks noChangeArrowheads="1"/>
          </p:cNvSpPr>
          <p:nvPr/>
        </p:nvSpPr>
        <p:spPr bwMode="auto">
          <a:xfrm>
            <a:off x="3352800" y="23701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6280" name="AutoShape 8"/>
          <p:cNvSpPr>
            <a:spLocks noChangeArrowheads="1"/>
          </p:cNvSpPr>
          <p:nvPr/>
        </p:nvSpPr>
        <p:spPr bwMode="auto">
          <a:xfrm>
            <a:off x="3352800" y="32845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06281" name="AutoShape 9"/>
          <p:cNvSpPr>
            <a:spLocks noChangeArrowheads="1"/>
          </p:cNvSpPr>
          <p:nvPr/>
        </p:nvSpPr>
        <p:spPr bwMode="auto">
          <a:xfrm>
            <a:off x="3352800" y="4219575"/>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002" name="Rectangle 10"/>
          <p:cNvSpPr/>
          <p:nvPr/>
        </p:nvSpPr>
        <p:spPr>
          <a:xfrm>
            <a:off x="4419600" y="4120833"/>
            <a:ext cx="3417888"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中国水污染的特征</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42003" name="Rectangle 11"/>
          <p:cNvSpPr/>
          <p:nvPr/>
        </p:nvSpPr>
        <p:spPr>
          <a:xfrm>
            <a:off x="4344988" y="2271395"/>
            <a:ext cx="3560762"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42004" name="Rectangle 12"/>
          <p:cNvSpPr/>
          <p:nvPr/>
        </p:nvSpPr>
        <p:spPr>
          <a:xfrm>
            <a:off x="4464050" y="3185795"/>
            <a:ext cx="3449638"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水污染的主要来源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grpSp>
        <p:nvGrpSpPr>
          <p:cNvPr id="42005" name="Group 13"/>
          <p:cNvGrpSpPr/>
          <p:nvPr/>
        </p:nvGrpSpPr>
        <p:grpSpPr>
          <a:xfrm>
            <a:off x="3352800" y="1385887"/>
            <a:ext cx="5105400" cy="793751"/>
            <a:chOff x="1008" y="868"/>
            <a:chExt cx="3216" cy="500"/>
          </a:xfrm>
        </p:grpSpPr>
        <p:sp>
          <p:nvSpPr>
            <p:cNvPr id="1206286" name="AutoShape 14"/>
            <p:cNvSpPr>
              <a:spLocks noChangeArrowheads="1"/>
            </p:cNvSpPr>
            <p:nvPr/>
          </p:nvSpPr>
          <p:spPr bwMode="auto">
            <a:xfrm>
              <a:off x="1008" y="960"/>
              <a:ext cx="3216" cy="408"/>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gradFill>
            <a:ln w="9525" algn="ctr">
              <a:noFill/>
              <a:rou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2010" name="Rectangle 15"/>
            <p:cNvSpPr/>
            <p:nvPr/>
          </p:nvSpPr>
          <p:spPr>
            <a:xfrm>
              <a:off x="1869" y="868"/>
              <a:ext cx="1662" cy="464"/>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水污染的定义</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grpSp>
      <p:sp>
        <p:nvSpPr>
          <p:cNvPr id="42006" name="Rectangle 16"/>
          <p:cNvSpPr/>
          <p:nvPr/>
        </p:nvSpPr>
        <p:spPr>
          <a:xfrm>
            <a:off x="4878388" y="5035233"/>
            <a:ext cx="2638425"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水污染的危害</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1"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43012"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207301" name="Rectangle 5"/>
          <p:cNvSpPr/>
          <p:nvPr/>
        </p:nvSpPr>
        <p:spPr>
          <a:xfrm>
            <a:off x="1925638" y="2257584"/>
            <a:ext cx="7827962" cy="2630170"/>
          </a:xfrm>
          <a:prstGeom prst="rect">
            <a:avLst/>
          </a:prstGeom>
          <a:noFill/>
          <a:ln w="9525">
            <a:noFill/>
          </a:ln>
        </p:spPr>
        <p:txBody>
          <a:bodyPr anchor="ctr" anchorCtr="0">
            <a:spAutoFit/>
          </a:bodyPr>
          <a:p>
            <a:pPr algn="l">
              <a:lnSpc>
                <a:spcPct val="150000"/>
              </a:lnSpc>
            </a:pPr>
            <a:r>
              <a:rPr lang="zh-CN" altLang="en-US" sz="2200" b="1" dirty="0">
                <a:solidFill>
                  <a:srgbClr val="FC4A26"/>
                </a:solidFill>
                <a:latin typeface="楷体_GB2312" charset="-122"/>
                <a:ea typeface="楷体_GB2312" charset="-122"/>
              </a:rPr>
              <a:t>    </a:t>
            </a:r>
            <a:r>
              <a:rPr lang="zh-CN" altLang="en-US" sz="2200" b="1" u="sng" dirty="0">
                <a:solidFill>
                  <a:srgbClr val="FC4A26"/>
                </a:solidFill>
                <a:latin typeface="楷体_GB2312" charset="-122"/>
                <a:ea typeface="楷体_GB2312" charset="-122"/>
              </a:rPr>
              <a:t>水污染</a:t>
            </a:r>
            <a:r>
              <a:rPr lang="zh-CN" altLang="en-US" sz="2200" dirty="0">
                <a:latin typeface="楷体_GB2312" charset="-122"/>
                <a:ea typeface="楷体_GB2312" charset="-122"/>
              </a:rPr>
              <a:t>是指天然洁净水由于人类活动而被玷污的现象。</a:t>
            </a:r>
            <a:r>
              <a:rPr lang="en-US" altLang="zh-CN" sz="2200" b="1">
                <a:solidFill>
                  <a:schemeClr val="accent2"/>
                </a:solidFill>
                <a:latin typeface="楷体_GB2312" charset="-122"/>
                <a:ea typeface="楷体_GB2312" charset="-122"/>
              </a:rPr>
              <a:t>1984</a:t>
            </a:r>
            <a:r>
              <a:rPr lang="zh-CN" altLang="en-US" sz="2200" b="1" dirty="0">
                <a:solidFill>
                  <a:schemeClr val="accent2"/>
                </a:solidFill>
                <a:latin typeface="楷体_GB2312" charset="-122"/>
                <a:ea typeface="楷体_GB2312" charset="-122"/>
              </a:rPr>
              <a:t>年颁布的</a:t>
            </a:r>
            <a:r>
              <a:rPr lang="en-US" altLang="zh-CN" sz="2200" b="1">
                <a:solidFill>
                  <a:schemeClr val="accent2"/>
                </a:solidFill>
                <a:latin typeface="楷体_GB2312" charset="-122"/>
                <a:ea typeface="楷体_GB2312" charset="-122"/>
              </a:rPr>
              <a:t>《</a:t>
            </a:r>
            <a:r>
              <a:rPr lang="zh-CN" altLang="en-US" sz="2200" b="1" dirty="0">
                <a:solidFill>
                  <a:schemeClr val="accent2"/>
                </a:solidFill>
                <a:latin typeface="楷体_GB2312" charset="-122"/>
                <a:ea typeface="楷体_GB2312" charset="-122"/>
              </a:rPr>
              <a:t>中华人民共和国水污染防治法</a:t>
            </a:r>
            <a:r>
              <a:rPr lang="en-US" altLang="zh-CN" sz="2200" b="1">
                <a:solidFill>
                  <a:schemeClr val="accent2"/>
                </a:solidFill>
                <a:latin typeface="楷体_GB2312" charset="-122"/>
                <a:ea typeface="楷体_GB2312" charset="-122"/>
              </a:rPr>
              <a:t>》</a:t>
            </a:r>
            <a:r>
              <a:rPr lang="zh-CN" altLang="en-US" sz="2200" dirty="0">
                <a:latin typeface="楷体_GB2312" charset="-122"/>
                <a:ea typeface="楷体_GB2312" charset="-122"/>
              </a:rPr>
              <a:t>中说明，水污染即指</a:t>
            </a:r>
            <a:r>
              <a:rPr lang="zh-CN" altLang="en-US" sz="2200" dirty="0">
                <a:latin typeface="Arial" panose="020B0604020202020204" pitchFamily="34" charset="0"/>
                <a:ea typeface="楷体_GB2312" charset="-122"/>
              </a:rPr>
              <a:t>“</a:t>
            </a:r>
            <a:r>
              <a:rPr lang="zh-CN" altLang="en-US" sz="2200" b="1" u="sng" dirty="0">
                <a:latin typeface="楷体_GB2312" charset="-122"/>
                <a:ea typeface="楷体_GB2312" charset="-122"/>
              </a:rPr>
              <a:t>水体因某种物质的介入而导致其物理、化学、生物或者放射性等方面特性的改变，从而影响</a:t>
            </a:r>
            <a:r>
              <a:rPr lang="zh-CN" altLang="en-US" sz="2200" b="1" u="sng" dirty="0">
                <a:latin typeface="楷体_GB2312" charset="-122"/>
                <a:ea typeface="楷体_GB2312" charset="-122"/>
              </a:rPr>
              <a:t>水</a:t>
            </a:r>
            <a:r>
              <a:rPr lang="zh-CN" altLang="en-US" sz="2200" b="1" u="sng" dirty="0">
                <a:latin typeface="楷体_GB2312" charset="-122"/>
                <a:ea typeface="楷体_GB2312" charset="-122"/>
              </a:rPr>
              <a:t>的有效利用，危害人体健康或破坏生态环境，造成水质恶化的现象</a:t>
            </a:r>
            <a:r>
              <a:rPr lang="zh-CN" altLang="en-US" sz="2200" dirty="0">
                <a:latin typeface="Arial" panose="020B0604020202020204" pitchFamily="34" charset="0"/>
                <a:ea typeface="楷体_GB2312" charset="-122"/>
              </a:rPr>
              <a:t>”</a:t>
            </a:r>
            <a:r>
              <a:rPr lang="zh-CN" altLang="en-US" sz="2200" dirty="0">
                <a:latin typeface="楷体_GB2312" charset="-122"/>
                <a:ea typeface="楷体_GB2312" charset="-122"/>
              </a:rPr>
              <a:t>。 </a:t>
            </a:r>
            <a:endParaRPr lang="zh-CN" altLang="en-GB" sz="2200" dirty="0">
              <a:latin typeface="楷体_GB2312" charset="-122"/>
              <a:ea typeface="楷体_GB2312" charset="-122"/>
            </a:endParaRPr>
          </a:p>
        </p:txBody>
      </p:sp>
      <p:sp>
        <p:nvSpPr>
          <p:cNvPr id="43014" name="Rectangle 6"/>
          <p:cNvSpPr/>
          <p:nvPr/>
        </p:nvSpPr>
        <p:spPr>
          <a:xfrm>
            <a:off x="1906588" y="1169670"/>
            <a:ext cx="28178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水污染的定义 </a:t>
            </a:r>
            <a:endParaRPr lang="zh-CN" altLang="en-GB" sz="2800" b="1" dirty="0">
              <a:solidFill>
                <a:srgbClr val="FC4A26"/>
              </a:solidFill>
              <a:latin typeface="楷体_GB2312" charset="-122"/>
              <a:ea typeface="楷体_GB2312" charset="-122"/>
            </a:endParaRPr>
          </a:p>
        </p:txBody>
      </p:sp>
      <p:sp>
        <p:nvSpPr>
          <p:cNvPr id="1207304" name="AutoShape 8"/>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07301"/>
                                        </p:tgtEl>
                                        <p:attrNameLst>
                                          <p:attrName>style.visibility</p:attrName>
                                        </p:attrNameLst>
                                      </p:cBhvr>
                                      <p:to>
                                        <p:strVal val="visible"/>
                                      </p:to>
                                    </p:set>
                                    <p:animEffect transition="in" filter="checkerboard(across)">
                                      <p:cBhvr>
                                        <p:cTn id="7" dur="500"/>
                                        <p:tgtEl>
                                          <p:spTgt spid="1207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730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5634" name="文本占位符 325633"/>
          <p:cNvSpPr>
            <a:spLocks noGrp="1"/>
          </p:cNvSpPr>
          <p:nvPr>
            <p:ph type="body" idx="1"/>
          </p:nvPr>
        </p:nvSpPr>
        <p:spPr>
          <a:xfrm>
            <a:off x="2675255" y="1554480"/>
            <a:ext cx="7820025" cy="4417695"/>
          </a:xfrm>
        </p:spPr>
        <p:txBody>
          <a:bodyPr lIns="45720" rIns="45720" anchor="t" anchorCtr="0"/>
          <a:p>
            <a:pPr defTabSz="684530">
              <a:lnSpc>
                <a:spcPct val="140000"/>
              </a:lnSpc>
              <a:buSzPct val="25000"/>
            </a:pPr>
            <a:r>
              <a:rPr lang="zh-CN" altLang="en-US" sz="3600" b="1">
                <a:latin typeface="+mn-lt"/>
                <a:ea typeface="+mn-ea"/>
                <a:cs typeface="+mn-cs"/>
              </a:rPr>
              <a:t>   物理指标：</a:t>
            </a:r>
            <a:r>
              <a:rPr lang="zh-CN" altLang="en-US" sz="2400" b="1">
                <a:latin typeface="+mn-lt"/>
                <a:ea typeface="+mn-ea"/>
                <a:cs typeface="+mn-cs"/>
              </a:rPr>
              <a:t>温度、色度、臭味、浊度、透明度、</a:t>
            </a:r>
            <a:r>
              <a:rPr lang="zh-CN" altLang="en-US" sz="2400" b="1">
                <a:latin typeface="+mn-lt"/>
                <a:ea typeface="+mn-ea"/>
                <a:cs typeface="+mn-cs"/>
              </a:rPr>
              <a:t>悬浮物、总残渣、过滤性残渣、非过滤性残渣、电导率等</a:t>
            </a:r>
            <a:endParaRPr lang="zh-CN" altLang="en-US" sz="3600" b="1">
              <a:latin typeface="+mn-lt"/>
              <a:ea typeface="+mn-ea"/>
              <a:cs typeface="+mn-cs"/>
            </a:endParaRPr>
          </a:p>
          <a:p>
            <a:pPr defTabSz="684530">
              <a:lnSpc>
                <a:spcPct val="140000"/>
              </a:lnSpc>
              <a:buSzPct val="25000"/>
            </a:pPr>
            <a:r>
              <a:rPr lang="zh-CN" altLang="en-US" sz="3600" b="1">
                <a:latin typeface="+mn-lt"/>
                <a:ea typeface="+mn-ea"/>
                <a:cs typeface="+mn-cs"/>
              </a:rPr>
              <a:t>    化学指标：</a:t>
            </a:r>
            <a:r>
              <a:rPr lang="en-US" altLang="zh-CN" sz="2400" b="1">
                <a:latin typeface="+mn-lt"/>
                <a:ea typeface="+mn-ea"/>
                <a:cs typeface="+mn-cs"/>
              </a:rPr>
              <a:t>pH</a:t>
            </a:r>
            <a:r>
              <a:rPr lang="zh-CN" altLang="en-US" sz="2400" b="1">
                <a:latin typeface="+mn-lt"/>
                <a:ea typeface="+mn-ea"/>
                <a:cs typeface="+mn-cs"/>
              </a:rPr>
              <a:t>值、矿化度、总硬度、金属离子、酸根离子、</a:t>
            </a:r>
            <a:r>
              <a:rPr lang="en-US" altLang="zh-CN" sz="2400" b="1">
                <a:latin typeface="+mn-lt"/>
                <a:ea typeface="+mn-ea"/>
                <a:cs typeface="+mn-cs"/>
              </a:rPr>
              <a:t>COD</a:t>
            </a:r>
            <a:endParaRPr lang="zh-CN" altLang="en-US" sz="2400" b="1">
              <a:latin typeface="+mn-lt"/>
              <a:ea typeface="+mn-ea"/>
              <a:cs typeface="+mn-cs"/>
            </a:endParaRPr>
          </a:p>
          <a:p>
            <a:pPr defTabSz="684530">
              <a:lnSpc>
                <a:spcPct val="140000"/>
              </a:lnSpc>
              <a:buSzPct val="25000"/>
            </a:pPr>
            <a:r>
              <a:rPr lang="zh-CN" altLang="en-US" sz="3600" b="1">
                <a:latin typeface="+mn-lt"/>
                <a:ea typeface="+mn-ea"/>
                <a:cs typeface="+mn-cs"/>
              </a:rPr>
              <a:t>    生物指标：</a:t>
            </a:r>
            <a:r>
              <a:rPr lang="zh-CN" altLang="en-US" sz="2400" b="1">
                <a:latin typeface="+mn-lt"/>
                <a:ea typeface="+mn-ea"/>
                <a:cs typeface="+mn-cs"/>
              </a:rPr>
              <a:t>细菌总数、大肠杆菌</a:t>
            </a:r>
            <a:endParaRPr lang="zh-CN" altLang="en-US" sz="3600" b="1">
              <a:latin typeface="+mn-lt"/>
              <a:ea typeface="+mn-ea"/>
              <a:cs typeface="+mn-cs"/>
            </a:endParaRPr>
          </a:p>
        </p:txBody>
      </p:sp>
      <p:sp>
        <p:nvSpPr>
          <p:cNvPr id="325635" name="文本框 325634"/>
          <p:cNvSpPr txBox="1"/>
          <p:nvPr/>
        </p:nvSpPr>
        <p:spPr>
          <a:xfrm>
            <a:off x="1759268" y="3141663"/>
            <a:ext cx="550545" cy="1293812"/>
          </a:xfrm>
          <a:prstGeom prst="rect">
            <a:avLst/>
          </a:prstGeom>
          <a:noFill/>
          <a:ln w="9525">
            <a:noFill/>
          </a:ln>
        </p:spPr>
        <p:txBody>
          <a:bodyPr vert="eaVert" lIns="91431" tIns="45715" rIns="91431" bIns="45715">
            <a:spAutoFit/>
          </a:bodyPr>
          <a:p>
            <a:pPr algn="l">
              <a:spcBef>
                <a:spcPct val="50000"/>
              </a:spcBef>
            </a:pPr>
            <a:r>
              <a:rPr lang="zh-CN" altLang="en-US" sz="2400" b="1">
                <a:solidFill>
                  <a:srgbClr val="000000"/>
                </a:solidFill>
                <a:latin typeface="Times New Roman" panose="02020603050405020304" charset="0"/>
              </a:rPr>
              <a:t>天然水</a:t>
            </a:r>
            <a:endParaRPr lang="zh-CN" altLang="en-US" sz="2400" b="1">
              <a:solidFill>
                <a:srgbClr val="000000"/>
              </a:solidFill>
              <a:latin typeface="Times New Roman" panose="02020603050405020304" charset="0"/>
            </a:endParaRPr>
          </a:p>
        </p:txBody>
      </p:sp>
      <p:sp>
        <p:nvSpPr>
          <p:cNvPr id="325636" name="左大括号 325635"/>
          <p:cNvSpPr/>
          <p:nvPr/>
        </p:nvSpPr>
        <p:spPr>
          <a:xfrm>
            <a:off x="2339975" y="2057400"/>
            <a:ext cx="304800" cy="2959100"/>
          </a:xfrm>
          <a:prstGeom prst="leftBrace">
            <a:avLst>
              <a:gd name="adj1" fmla="val 80902"/>
              <a:gd name="adj2" fmla="val 50000"/>
            </a:avLst>
          </a:prstGeom>
          <a:noFill/>
          <a:ln w="9525" cap="flat" cmpd="sng">
            <a:solidFill>
              <a:schemeClr val="tx1"/>
            </a:solidFill>
            <a:prstDash val="solid"/>
            <a:headEnd type="none" w="med" len="med"/>
            <a:tailEnd type="none" w="med" len="med"/>
          </a:ln>
        </p:spPr>
        <p:txBody>
          <a:bodyPr/>
          <a:p>
            <a:endParaRPr lang="zh-CN" altLang="en-US"/>
          </a:p>
        </p:txBody>
      </p:sp>
      <p:sp>
        <p:nvSpPr>
          <p:cNvPr id="325637" name="椭圆 325636" descr="水4"/>
          <p:cNvSpPr/>
          <p:nvPr/>
        </p:nvSpPr>
        <p:spPr>
          <a:xfrm>
            <a:off x="7178675" y="5087938"/>
            <a:ext cx="3251200" cy="1770062"/>
          </a:xfrm>
          <a:prstGeom prst="ellipse">
            <a:avLst/>
          </a:prstGeom>
          <a:blipFill rotWithShape="0">
            <a:blip r:embed="rId1"/>
            <a:stretch>
              <a:fillRect/>
            </a:stretch>
          </a:blipFill>
          <a:ln w="9525" cap="flat" cmpd="sng">
            <a:solidFill>
              <a:schemeClr val="tx1"/>
            </a:solidFill>
            <a:prstDash val="solid"/>
            <a:headEnd type="none" w="med" len="med"/>
            <a:tailEnd type="none" w="med" len="med"/>
          </a:ln>
        </p:spPr>
        <p:txBody>
          <a:bodyPr/>
          <a:p>
            <a:endParaRPr lang="zh-CN" altLang="en-US"/>
          </a:p>
        </p:txBody>
      </p:sp>
      <p:sp>
        <p:nvSpPr>
          <p:cNvPr id="325638" name="文本框 325637"/>
          <p:cNvSpPr txBox="1"/>
          <p:nvPr/>
        </p:nvSpPr>
        <p:spPr>
          <a:xfrm>
            <a:off x="2414588" y="615950"/>
            <a:ext cx="3465512" cy="583565"/>
          </a:xfrm>
          <a:prstGeom prst="rect">
            <a:avLst/>
          </a:prstGeom>
          <a:noFill/>
          <a:ln w="9525">
            <a:noFill/>
          </a:ln>
        </p:spPr>
        <p:txBody>
          <a:bodyPr lIns="91650" tIns="45825" rIns="91650" bIns="45825">
            <a:spAutoFit/>
          </a:bodyPr>
          <a:p>
            <a:pPr algn="l" defTabSz="916305">
              <a:spcBef>
                <a:spcPct val="50000"/>
              </a:spcBef>
            </a:pPr>
            <a:r>
              <a:rPr lang="zh-CN" altLang="en-US" sz="3200" b="1">
                <a:latin typeface="宋体" panose="02010600030101010101" pitchFamily="2" charset="-122"/>
              </a:rPr>
              <a:t>天然水质指标</a:t>
            </a:r>
            <a:endParaRPr lang="zh-CN" altLang="en-US" sz="3200" b="1">
              <a:latin typeface="宋体" panose="02010600030101010101" pitchFamily="2" charset="-122"/>
            </a:endParaRPr>
          </a:p>
        </p:txBody>
      </p:sp>
    </p:spTree>
  </p:cSld>
  <p:clrMapOvr>
    <a:masterClrMapping/>
  </p:clrMapOvr>
  <p:transition>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0532"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0533"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pic>
        <p:nvPicPr>
          <p:cNvPr id="1208326" name="Picture 6"/>
          <p:cNvPicPr>
            <a:picLocks noChangeAspect="1"/>
          </p:cNvPicPr>
          <p:nvPr/>
        </p:nvPicPr>
        <p:blipFill>
          <a:blip r:embed="rId1"/>
          <a:stretch>
            <a:fillRect/>
          </a:stretch>
        </p:blipFill>
        <p:spPr>
          <a:xfrm>
            <a:off x="2209800" y="2209800"/>
            <a:ext cx="4491038" cy="4067175"/>
          </a:xfrm>
          <a:prstGeom prst="rect">
            <a:avLst/>
          </a:prstGeom>
          <a:noFill/>
          <a:ln w="9525">
            <a:noFill/>
          </a:ln>
        </p:spPr>
      </p:pic>
      <p:sp>
        <p:nvSpPr>
          <p:cNvPr id="1208327" name="Rectangle 7"/>
          <p:cNvSpPr/>
          <p:nvPr/>
        </p:nvSpPr>
        <p:spPr>
          <a:xfrm>
            <a:off x="6934200" y="2219802"/>
            <a:ext cx="3311525" cy="3969385"/>
          </a:xfrm>
          <a:prstGeom prst="rect">
            <a:avLst/>
          </a:prstGeom>
          <a:noFill/>
          <a:ln w="9525">
            <a:noFill/>
          </a:ln>
        </p:spPr>
        <p:txBody>
          <a:bodyPr anchor="ctr" anchorCtr="0">
            <a:spAutoFit/>
          </a:bodyPr>
          <a:p>
            <a:pPr algn="l"/>
            <a:r>
              <a:rPr lang="zh-CN" altLang="en-US" sz="1800" dirty="0">
                <a:latin typeface="楷体_GB2312" charset="-122"/>
                <a:ea typeface="楷体_GB2312" charset="-122"/>
              </a:rPr>
              <a:t>   </a:t>
            </a:r>
            <a:r>
              <a:rPr lang="zh-CN" altLang="en-US" sz="1800" b="1" u="sng" dirty="0">
                <a:solidFill>
                  <a:srgbClr val="FC4A26"/>
                </a:solidFill>
                <a:latin typeface="楷体_GB2312" charset="-122"/>
                <a:ea typeface="楷体_GB2312" charset="-122"/>
              </a:rPr>
              <a:t> 悬浮物</a:t>
            </a:r>
            <a:r>
              <a:rPr lang="zh-CN" altLang="en-US" sz="1800" dirty="0">
                <a:latin typeface="楷体_GB2312" charset="-122"/>
                <a:ea typeface="楷体_GB2312" charset="-122"/>
              </a:rPr>
              <a:t>主要指悬浮在水中的污染物质，包括无机的泥沙、炉渣、铁屑，以及有机的纸片、菜叶等。水力冲灰、洗煤、冶金、屠宰、化肥、化工、建筑等</a:t>
            </a:r>
            <a:r>
              <a:rPr lang="zh-CN" altLang="en-US" sz="1800" b="1" dirty="0">
                <a:solidFill>
                  <a:srgbClr val="FF3300"/>
                </a:solidFill>
                <a:latin typeface="楷体_GB2312" charset="-122"/>
                <a:ea typeface="楷体_GB2312" charset="-122"/>
              </a:rPr>
              <a:t>工业废水和生活污水中都含有悬浮状的污染物</a:t>
            </a:r>
            <a:r>
              <a:rPr lang="zh-CN" altLang="en-US" sz="1800" dirty="0">
                <a:latin typeface="楷体_GB2312" charset="-122"/>
                <a:ea typeface="楷体_GB2312" charset="-122"/>
              </a:rPr>
              <a:t>，排入水体后，除了</a:t>
            </a:r>
            <a:r>
              <a:rPr lang="zh-CN" altLang="en-US" sz="1800" b="1" u="sng" dirty="0">
                <a:solidFill>
                  <a:schemeClr val="accent2"/>
                </a:solidFill>
                <a:latin typeface="楷体_GB2312" charset="-122"/>
                <a:ea typeface="楷体_GB2312" charset="-122"/>
              </a:rPr>
              <a:t>会使水体变得混浊</a:t>
            </a:r>
            <a:r>
              <a:rPr lang="zh-CN" altLang="en-US" sz="1800" dirty="0">
                <a:latin typeface="楷体_GB2312" charset="-122"/>
                <a:ea typeface="楷体_GB2312" charset="-122"/>
              </a:rPr>
              <a:t>，</a:t>
            </a:r>
            <a:r>
              <a:rPr lang="zh-CN" altLang="en-US" sz="1800" b="1" u="sng" dirty="0">
                <a:solidFill>
                  <a:schemeClr val="accent2"/>
                </a:solidFill>
                <a:latin typeface="楷体_GB2312" charset="-122"/>
                <a:ea typeface="楷体_GB2312" charset="-122"/>
              </a:rPr>
              <a:t>影响水生植物的光合作用</a:t>
            </a:r>
            <a:r>
              <a:rPr lang="zh-CN" altLang="en-US" sz="1800" dirty="0">
                <a:latin typeface="楷体_GB2312" charset="-122"/>
                <a:ea typeface="楷体_GB2312" charset="-122"/>
              </a:rPr>
              <a:t>以外，还会吸附有机毒物、重金属、农药等，形成危害更大的复合污染物沉入水底</a:t>
            </a:r>
            <a:r>
              <a:rPr lang="en-US" altLang="zh-CN" sz="1800">
                <a:latin typeface="楷体_GB2312" charset="-122"/>
                <a:ea typeface="楷体_GB2312" charset="-122"/>
              </a:rPr>
              <a:t>,</a:t>
            </a:r>
            <a:r>
              <a:rPr lang="zh-CN" altLang="en-US" sz="1800" dirty="0">
                <a:latin typeface="楷体_GB2312" charset="-122"/>
                <a:ea typeface="楷体_GB2312" charset="-122"/>
              </a:rPr>
              <a:t>日久后</a:t>
            </a:r>
            <a:r>
              <a:rPr lang="zh-CN" altLang="en-US" sz="1800" b="1" u="sng" dirty="0">
                <a:solidFill>
                  <a:schemeClr val="accent2"/>
                </a:solidFill>
                <a:latin typeface="楷体_GB2312" charset="-122"/>
                <a:ea typeface="楷体_GB2312" charset="-122"/>
              </a:rPr>
              <a:t>形成淤积</a:t>
            </a:r>
            <a:r>
              <a:rPr lang="zh-CN" altLang="en-US" sz="1800" dirty="0">
                <a:latin typeface="楷体_GB2312" charset="-122"/>
                <a:ea typeface="楷体_GB2312" charset="-122"/>
              </a:rPr>
              <a:t>，会</a:t>
            </a:r>
            <a:r>
              <a:rPr lang="zh-CN" altLang="en-US" sz="1800" b="1" u="sng" dirty="0">
                <a:solidFill>
                  <a:schemeClr val="accent2"/>
                </a:solidFill>
                <a:latin typeface="楷体_GB2312" charset="-122"/>
                <a:ea typeface="楷体_GB2312" charset="-122"/>
              </a:rPr>
              <a:t>妨碍水上交通或减少水库容量，增加挖泥负担</a:t>
            </a:r>
            <a:r>
              <a:rPr lang="zh-CN" altLang="en-US" sz="1800" dirty="0">
                <a:latin typeface="楷体_GB2312" charset="-122"/>
                <a:ea typeface="楷体_GB2312" charset="-122"/>
              </a:rPr>
              <a:t>。</a:t>
            </a:r>
            <a:r>
              <a:rPr lang="zh-CN" altLang="en-GB" sz="1800" b="1" dirty="0">
                <a:latin typeface="楷体_GB2312" charset="-122"/>
                <a:ea typeface="楷体_GB2312" charset="-122"/>
              </a:rPr>
              <a:t> </a:t>
            </a:r>
            <a:endParaRPr lang="zh-CN" altLang="en-GB" sz="1800" b="1" dirty="0">
              <a:latin typeface="楷体_GB2312" charset="-122"/>
              <a:ea typeface="楷体_GB2312" charset="-122"/>
            </a:endParaRPr>
          </a:p>
        </p:txBody>
      </p:sp>
      <p:sp>
        <p:nvSpPr>
          <p:cNvPr id="1208328" name="Rectangle 8"/>
          <p:cNvSpPr/>
          <p:nvPr/>
        </p:nvSpPr>
        <p:spPr>
          <a:xfrm>
            <a:off x="1939925" y="1722438"/>
            <a:ext cx="171450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1</a:t>
            </a:r>
            <a:r>
              <a:rPr lang="zh-CN" altLang="en-US" sz="2400" b="1" dirty="0">
                <a:solidFill>
                  <a:schemeClr val="accent2"/>
                </a:solidFill>
                <a:latin typeface="楷体_GB2312" charset="-122"/>
                <a:ea typeface="楷体_GB2312" charset="-122"/>
              </a:rPr>
              <a:t>、悬浮物</a:t>
            </a:r>
            <a:r>
              <a:rPr lang="zh-CN" altLang="en-GB" sz="2400" b="1" dirty="0">
                <a:solidFill>
                  <a:schemeClr val="accent2"/>
                </a:solidFill>
                <a:latin typeface="楷体_GB2312" charset="-122"/>
                <a:ea typeface="楷体_GB2312" charset="-122"/>
              </a:rPr>
              <a:t> </a:t>
            </a:r>
            <a:endParaRPr lang="zh-CN" altLang="en-GB" sz="2400" b="1" dirty="0">
              <a:solidFill>
                <a:schemeClr val="accent2"/>
              </a:solidFill>
              <a:latin typeface="楷体_GB2312" charset="-122"/>
              <a:ea typeface="楷体_GB2312" charset="-122"/>
            </a:endParaRPr>
          </a:p>
        </p:txBody>
      </p:sp>
      <p:sp>
        <p:nvSpPr>
          <p:cNvPr id="1208329" name="AutoShape 9"/>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8328"/>
                                        </p:tgtEl>
                                        <p:attrNameLst>
                                          <p:attrName>style.visibility</p:attrName>
                                        </p:attrNameLst>
                                      </p:cBhvr>
                                      <p:to>
                                        <p:strVal val="visible"/>
                                      </p:to>
                                    </p:set>
                                    <p:anim calcmode="lin" valueType="num">
                                      <p:cBhvr additive="base">
                                        <p:cTn id="7" dur="500" fill="hold"/>
                                        <p:tgtEl>
                                          <p:spTgt spid="1208328"/>
                                        </p:tgtEl>
                                        <p:attrNameLst>
                                          <p:attrName>ppt_x</p:attrName>
                                        </p:attrNameLst>
                                      </p:cBhvr>
                                      <p:tavLst>
                                        <p:tav tm="0">
                                          <p:val>
                                            <p:strVal val="0-#ppt_w/2"/>
                                          </p:val>
                                        </p:tav>
                                        <p:tav tm="100000">
                                          <p:val>
                                            <p:strVal val="#ppt_x"/>
                                          </p:val>
                                        </p:tav>
                                      </p:tavLst>
                                    </p:anim>
                                    <p:anim calcmode="lin" valueType="num">
                                      <p:cBhvr additive="base">
                                        <p:cTn id="8" dur="500" fill="hold"/>
                                        <p:tgtEl>
                                          <p:spTgt spid="12083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08326"/>
                                        </p:tgtEl>
                                        <p:attrNameLst>
                                          <p:attrName>style.visibility</p:attrName>
                                        </p:attrNameLst>
                                      </p:cBhvr>
                                      <p:to>
                                        <p:strVal val="visible"/>
                                      </p:to>
                                    </p:set>
                                    <p:animEffect transition="in" filter="blinds(vertical)">
                                      <p:cBhvr>
                                        <p:cTn id="13" dur="500"/>
                                        <p:tgtEl>
                                          <p:spTgt spid="1208326"/>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08327"/>
                                        </p:tgtEl>
                                        <p:attrNameLst>
                                          <p:attrName>style.visibility</p:attrName>
                                        </p:attrNameLst>
                                      </p:cBhvr>
                                      <p:to>
                                        <p:strVal val="visible"/>
                                      </p:to>
                                    </p:set>
                                    <p:animEffect transition="in" filter="blinds(vertical)">
                                      <p:cBhvr>
                                        <p:cTn id="16" dur="500"/>
                                        <p:tgtEl>
                                          <p:spTgt spid="12083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27" grpId="0"/>
      <p:bldP spid="120832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1556"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1557"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09350" name="Rectangle 6"/>
          <p:cNvSpPr/>
          <p:nvPr/>
        </p:nvSpPr>
        <p:spPr>
          <a:xfrm>
            <a:off x="6781800" y="2295208"/>
            <a:ext cx="3505200" cy="3969385"/>
          </a:xfrm>
          <a:prstGeom prst="rect">
            <a:avLst/>
          </a:prstGeom>
          <a:noFill/>
          <a:ln w="9525">
            <a:noFill/>
          </a:ln>
        </p:spPr>
        <p:txBody>
          <a:bodyPr anchor="ctr" anchorCtr="0">
            <a:spAutoFit/>
          </a:bodyPr>
          <a:p>
            <a:pPr algn="l"/>
            <a:r>
              <a:rPr lang="zh-CN" altLang="en-US" sz="1800" dirty="0">
                <a:latin typeface="楷体_GB2312" charset="-122"/>
                <a:ea typeface="楷体_GB2312" charset="-122"/>
              </a:rPr>
              <a:t>    生活污水和某些工业废水中含有糖、蛋白质、氨基酸、酯类、纤维素等</a:t>
            </a:r>
            <a:r>
              <a:rPr lang="zh-CN" altLang="en-US" sz="1800" b="1" u="sng" dirty="0">
                <a:solidFill>
                  <a:srgbClr val="FC4A26"/>
                </a:solidFill>
                <a:latin typeface="楷体_GB2312" charset="-122"/>
                <a:ea typeface="楷体_GB2312" charset="-122"/>
              </a:rPr>
              <a:t>有机物质</a:t>
            </a:r>
            <a:r>
              <a:rPr lang="zh-CN" altLang="en-US" sz="1800" dirty="0">
                <a:latin typeface="楷体_GB2312" charset="-122"/>
                <a:ea typeface="楷体_GB2312" charset="-122"/>
              </a:rPr>
              <a:t>，这些物质以悬浮状态或溶解状态存在于水中，排入水体后能在微生物作用下分解为简单的无机物，在</a:t>
            </a:r>
            <a:r>
              <a:rPr lang="zh-CN" altLang="en-US" sz="1800" b="1" u="sng" dirty="0">
                <a:solidFill>
                  <a:schemeClr val="accent2"/>
                </a:solidFill>
                <a:latin typeface="楷体_GB2312" charset="-122"/>
                <a:ea typeface="楷体_GB2312" charset="-122"/>
              </a:rPr>
              <a:t>分解过程中消耗氧气，使水体中的溶解氧减少，微生物繁殖</a:t>
            </a:r>
            <a:r>
              <a:rPr lang="zh-CN" altLang="en-US" sz="1800" dirty="0">
                <a:latin typeface="楷体_GB2312" charset="-122"/>
                <a:ea typeface="楷体_GB2312" charset="-122"/>
              </a:rPr>
              <a:t>。当水中的溶解氧降至</a:t>
            </a:r>
            <a:r>
              <a:rPr lang="en-US" altLang="zh-CN" sz="1800">
                <a:latin typeface="楷体_GB2312" charset="-122"/>
                <a:ea typeface="楷体_GB2312" charset="-122"/>
              </a:rPr>
              <a:t>4mg/L</a:t>
            </a:r>
            <a:r>
              <a:rPr lang="zh-CN" altLang="en-US" sz="1800" dirty="0">
                <a:latin typeface="楷体_GB2312" charset="-122"/>
                <a:ea typeface="楷体_GB2312" charset="-122"/>
              </a:rPr>
              <a:t>以下时，将严重影响鱼类和水生生物的生存；当溶解氧降至零时，水中厌氧微生物占据优势，</a:t>
            </a:r>
            <a:r>
              <a:rPr lang="zh-CN" altLang="en-US" sz="1800" b="1" u="sng" dirty="0">
                <a:solidFill>
                  <a:schemeClr val="accent2"/>
                </a:solidFill>
                <a:latin typeface="楷体_GB2312" charset="-122"/>
                <a:ea typeface="楷体_GB2312" charset="-122"/>
              </a:rPr>
              <a:t>造成水体变黑发臭，将不能用于作饮用水源和其他用途</a:t>
            </a:r>
            <a:r>
              <a:rPr lang="zh-CN" altLang="en-US" sz="1800" dirty="0">
                <a:latin typeface="楷体_GB2312" charset="-122"/>
                <a:ea typeface="楷体_GB2312" charset="-122"/>
              </a:rPr>
              <a:t>。</a:t>
            </a:r>
            <a:endParaRPr lang="zh-CN" altLang="en-GB" sz="1800" dirty="0">
              <a:latin typeface="楷体_GB2312" charset="-122"/>
              <a:ea typeface="楷体_GB2312" charset="-122"/>
            </a:endParaRPr>
          </a:p>
        </p:txBody>
      </p:sp>
      <p:sp>
        <p:nvSpPr>
          <p:cNvPr id="1209351" name="Rectangle 7"/>
          <p:cNvSpPr/>
          <p:nvPr/>
        </p:nvSpPr>
        <p:spPr>
          <a:xfrm>
            <a:off x="1939925" y="1537653"/>
            <a:ext cx="6781800" cy="82994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2</a:t>
            </a:r>
            <a:r>
              <a:rPr lang="zh-CN" altLang="en-US" sz="2400" b="1" dirty="0">
                <a:solidFill>
                  <a:schemeClr val="accent2"/>
                </a:solidFill>
                <a:latin typeface="楷体_GB2312" charset="-122"/>
                <a:ea typeface="楷体_GB2312" charset="-122"/>
              </a:rPr>
              <a:t>、有机物</a:t>
            </a:r>
            <a:endParaRPr lang="zh-CN" altLang="en-US" sz="2400" b="1" dirty="0">
              <a:solidFill>
                <a:schemeClr val="accent2"/>
              </a:solidFill>
              <a:latin typeface="楷体_GB2312" charset="-122"/>
              <a:ea typeface="楷体_GB2312" charset="-122"/>
            </a:endParaRPr>
          </a:p>
          <a:p>
            <a:pPr algn="l"/>
            <a:r>
              <a:rPr lang="en-US" altLang="zh-CN" sz="2400" b="1" dirty="0">
                <a:solidFill>
                  <a:schemeClr val="accent2"/>
                </a:solidFill>
                <a:latin typeface="楷体_GB2312" charset="-122"/>
                <a:ea typeface="楷体_GB2312" charset="-122"/>
              </a:rPr>
              <a:t>2.1</a:t>
            </a:r>
            <a:r>
              <a:rPr lang="zh-CN" altLang="en-US" sz="2400" b="1" dirty="0">
                <a:solidFill>
                  <a:schemeClr val="accent2"/>
                </a:solidFill>
                <a:latin typeface="楷体_GB2312" charset="-122"/>
                <a:ea typeface="楷体_GB2312" charset="-122"/>
              </a:rPr>
              <a:t>化学需氧量，</a:t>
            </a:r>
            <a:r>
              <a:rPr lang="en-US" altLang="zh-CN" sz="2400" b="1" dirty="0">
                <a:solidFill>
                  <a:schemeClr val="accent2"/>
                </a:solidFill>
                <a:latin typeface="楷体_GB2312" charset="-122"/>
                <a:ea typeface="楷体_GB2312" charset="-122"/>
              </a:rPr>
              <a:t>COD</a:t>
            </a:r>
            <a:r>
              <a:rPr lang="zh-CN" altLang="en-US" sz="2400" b="1" dirty="0">
                <a:solidFill>
                  <a:schemeClr val="accent2"/>
                </a:solidFill>
                <a:latin typeface="楷体_GB2312" charset="-122"/>
                <a:ea typeface="楷体_GB2312" charset="-122"/>
              </a:rPr>
              <a:t>，</a:t>
            </a:r>
            <a:r>
              <a:rPr lang="en-US" altLang="zh-CN" sz="2400" b="1" dirty="0">
                <a:solidFill>
                  <a:schemeClr val="accent2"/>
                </a:solidFill>
                <a:latin typeface="楷体_GB2312" charset="-122"/>
                <a:ea typeface="楷体_GB2312" charset="-122"/>
              </a:rPr>
              <a:t>Chemical Oxygen Demand</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209352" name="Picture 8" descr="1262288809_Ebile7"/>
          <p:cNvPicPr preferRelativeResize="0"/>
          <p:nvPr/>
        </p:nvPicPr>
        <p:blipFill>
          <a:blip r:embed="rId1"/>
          <a:stretch>
            <a:fillRect/>
          </a:stretch>
        </p:blipFill>
        <p:spPr>
          <a:xfrm>
            <a:off x="2024063" y="2311400"/>
            <a:ext cx="4491037" cy="4067175"/>
          </a:xfrm>
          <a:prstGeom prst="rect">
            <a:avLst/>
          </a:prstGeom>
          <a:noFill/>
          <a:ln w="9525">
            <a:noFill/>
          </a:ln>
        </p:spPr>
      </p:pic>
      <p:sp>
        <p:nvSpPr>
          <p:cNvPr id="1209353" name="AutoShape 9"/>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9351"/>
                                        </p:tgtEl>
                                        <p:attrNameLst>
                                          <p:attrName>style.visibility</p:attrName>
                                        </p:attrNameLst>
                                      </p:cBhvr>
                                      <p:to>
                                        <p:strVal val="visible"/>
                                      </p:to>
                                    </p:set>
                                    <p:anim calcmode="lin" valueType="num">
                                      <p:cBhvr additive="base">
                                        <p:cTn id="7" dur="500" fill="hold"/>
                                        <p:tgtEl>
                                          <p:spTgt spid="1209351"/>
                                        </p:tgtEl>
                                        <p:attrNameLst>
                                          <p:attrName>ppt_x</p:attrName>
                                        </p:attrNameLst>
                                      </p:cBhvr>
                                      <p:tavLst>
                                        <p:tav tm="0">
                                          <p:val>
                                            <p:strVal val="0-#ppt_w/2"/>
                                          </p:val>
                                        </p:tav>
                                        <p:tav tm="100000">
                                          <p:val>
                                            <p:strVal val="#ppt_x"/>
                                          </p:val>
                                        </p:tav>
                                      </p:tavLst>
                                    </p:anim>
                                    <p:anim calcmode="lin" valueType="num">
                                      <p:cBhvr additive="base">
                                        <p:cTn id="8" dur="500" fill="hold"/>
                                        <p:tgtEl>
                                          <p:spTgt spid="120935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09352"/>
                                        </p:tgtEl>
                                        <p:attrNameLst>
                                          <p:attrName>style.visibility</p:attrName>
                                        </p:attrNameLst>
                                      </p:cBhvr>
                                      <p:to>
                                        <p:strVal val="visible"/>
                                      </p:to>
                                    </p:set>
                                    <p:animEffect transition="in" filter="blinds(vertical)">
                                      <p:cBhvr>
                                        <p:cTn id="13" dur="500"/>
                                        <p:tgtEl>
                                          <p:spTgt spid="1209352"/>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09350"/>
                                        </p:tgtEl>
                                        <p:attrNameLst>
                                          <p:attrName>style.visibility</p:attrName>
                                        </p:attrNameLst>
                                      </p:cBhvr>
                                      <p:to>
                                        <p:strVal val="visible"/>
                                      </p:to>
                                    </p:set>
                                    <p:animEffect transition="in" filter="blinds(vertical)">
                                      <p:cBhvr>
                                        <p:cTn id="16" dur="500"/>
                                        <p:tgtEl>
                                          <p:spTgt spid="1209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9350" grpId="0"/>
      <p:bldP spid="120935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0105" y="553720"/>
            <a:ext cx="3931920" cy="803275"/>
          </a:xfrm>
        </p:spPr>
        <p:txBody>
          <a:bodyPr/>
          <a:p>
            <a:r>
              <a:rPr lang="en-US" altLang="zh-CN"/>
              <a:t>COD</a:t>
            </a:r>
            <a:r>
              <a:rPr lang="zh-CN" altLang="en-US"/>
              <a:t>计算</a:t>
            </a:r>
            <a:endParaRPr lang="zh-CN" altLang="en-US"/>
          </a:p>
        </p:txBody>
      </p:sp>
      <p:sp>
        <p:nvSpPr>
          <p:cNvPr id="4" name="文本占位符 3"/>
          <p:cNvSpPr>
            <a:spLocks noGrp="1"/>
          </p:cNvSpPr>
          <p:nvPr>
            <p:ph type="body" sz="half" idx="2"/>
          </p:nvPr>
        </p:nvSpPr>
        <p:spPr>
          <a:xfrm>
            <a:off x="677545" y="1356995"/>
            <a:ext cx="11102975" cy="4922520"/>
          </a:xfrm>
        </p:spPr>
        <p:txBody>
          <a:bodyPr>
            <a:noAutofit/>
          </a:bodyPr>
          <a:p>
            <a:r>
              <a:rPr lang="zh-CN" altLang="en-US" sz="2800"/>
              <a:t>例如：</a:t>
            </a:r>
            <a:r>
              <a:rPr lang="en-US" altLang="zh-CN" sz="2800"/>
              <a:t>120g</a:t>
            </a:r>
            <a:r>
              <a:rPr lang="zh-CN" altLang="en-US" sz="2800"/>
              <a:t>甲醇溶于</a:t>
            </a:r>
            <a:r>
              <a:rPr lang="zh-CN" altLang="en-US" sz="2800">
                <a:sym typeface="+mn-ea"/>
              </a:rPr>
              <a:t>一升水中，计算其</a:t>
            </a:r>
            <a:r>
              <a:rPr lang="zh-CN" altLang="en-US" sz="2800"/>
              <a:t>化学需氧量是多少？</a:t>
            </a:r>
            <a:endParaRPr lang="zh-CN" altLang="en-US" sz="2800"/>
          </a:p>
          <a:p>
            <a:r>
              <a:rPr lang="zh-CN" altLang="en-US" sz="2800"/>
              <a:t>甲醇的化学方程式是</a:t>
            </a:r>
            <a:r>
              <a:rPr lang="en-US" altLang="zh-CN" sz="2800"/>
              <a:t>CH3OH</a:t>
            </a:r>
            <a:r>
              <a:rPr lang="zh-CN" altLang="en-US" sz="2800"/>
              <a:t>。和氧气的反应方程式如下：</a:t>
            </a:r>
            <a:endParaRPr lang="zh-CN" altLang="en-US" sz="2800"/>
          </a:p>
          <a:p>
            <a:r>
              <a:rPr lang="en-US" altLang="zh-CN" sz="2800"/>
              <a:t>2CH3OH+3O2=2CO2+4H2O</a:t>
            </a:r>
            <a:endParaRPr lang="zh-CN" altLang="en-US" sz="2800"/>
          </a:p>
          <a:p>
            <a:r>
              <a:rPr lang="zh-CN" altLang="en-US" sz="2800"/>
              <a:t>甲醇的分子量</a:t>
            </a:r>
            <a:r>
              <a:rPr lang="en-US" altLang="zh-CN" sz="2800"/>
              <a:t>=12</a:t>
            </a:r>
            <a:r>
              <a:rPr lang="zh-CN" altLang="en-US" sz="2800"/>
              <a:t>（</a:t>
            </a:r>
            <a:r>
              <a:rPr lang="en-US" altLang="zh-CN" sz="2800"/>
              <a:t>C</a:t>
            </a:r>
            <a:r>
              <a:rPr lang="zh-CN" altLang="en-US" sz="2800"/>
              <a:t>）</a:t>
            </a:r>
            <a:r>
              <a:rPr lang="en-US" altLang="zh-CN" sz="2800"/>
              <a:t>+3*1</a:t>
            </a:r>
            <a:r>
              <a:rPr lang="zh-CN" altLang="en-US" sz="2800"/>
              <a:t>（</a:t>
            </a:r>
            <a:r>
              <a:rPr lang="en-US" altLang="zh-CN" sz="2800"/>
              <a:t>H</a:t>
            </a:r>
            <a:r>
              <a:rPr lang="zh-CN" altLang="en-US" sz="2800"/>
              <a:t>）</a:t>
            </a:r>
            <a:r>
              <a:rPr lang="en-US" altLang="zh-CN" sz="2800"/>
              <a:t>+16</a:t>
            </a:r>
            <a:r>
              <a:rPr lang="zh-CN" altLang="en-US" sz="2800"/>
              <a:t>（</a:t>
            </a:r>
            <a:r>
              <a:rPr lang="en-US" altLang="zh-CN" sz="2800"/>
              <a:t>O</a:t>
            </a:r>
            <a:r>
              <a:rPr lang="zh-CN" altLang="en-US" sz="2800"/>
              <a:t>）</a:t>
            </a:r>
            <a:r>
              <a:rPr lang="en-US" altLang="zh-CN" sz="2800"/>
              <a:t>+1</a:t>
            </a:r>
            <a:r>
              <a:rPr lang="zh-CN" altLang="en-US" sz="2800"/>
              <a:t>（</a:t>
            </a:r>
            <a:r>
              <a:rPr lang="en-US" altLang="zh-CN" sz="2800"/>
              <a:t>H</a:t>
            </a:r>
            <a:r>
              <a:rPr lang="zh-CN" altLang="en-US" sz="2800"/>
              <a:t>）</a:t>
            </a:r>
            <a:r>
              <a:rPr lang="en-US" altLang="zh-CN" sz="2800"/>
              <a:t>=32</a:t>
            </a:r>
            <a:endParaRPr lang="en-US" altLang="zh-CN" sz="2800"/>
          </a:p>
          <a:p>
            <a:r>
              <a:rPr lang="zh-CN" altLang="en-US" sz="2800"/>
              <a:t>氧气的分子量：</a:t>
            </a:r>
            <a:r>
              <a:rPr lang="en-US" altLang="zh-CN" sz="2800"/>
              <a:t>16*2=32</a:t>
            </a:r>
            <a:endParaRPr lang="en-US" altLang="zh-CN" sz="2800"/>
          </a:p>
          <a:p>
            <a:r>
              <a:rPr lang="en-US" altLang="zh-CN" sz="2800"/>
              <a:t>2*30</a:t>
            </a:r>
            <a:r>
              <a:rPr lang="zh-CN" altLang="en-US" sz="2800"/>
              <a:t>就相当于</a:t>
            </a:r>
            <a:r>
              <a:rPr lang="en-US" altLang="zh-CN" sz="2800"/>
              <a:t>3*32COD</a:t>
            </a:r>
            <a:r>
              <a:rPr lang="zh-CN" altLang="en-US" sz="2800"/>
              <a:t>，那么</a:t>
            </a:r>
            <a:r>
              <a:rPr lang="en-US" altLang="zh-CN" sz="2800"/>
              <a:t>120/(2*32)*3*32=180g/L=180000mg/l</a:t>
            </a:r>
            <a:endParaRPr lang="en-US" altLang="zh-CN" sz="2800"/>
          </a:p>
          <a:p>
            <a:r>
              <a:rPr lang="zh-CN" altLang="en-US" sz="2800"/>
              <a:t>质量分数</a:t>
            </a:r>
            <a:r>
              <a:rPr lang="en-US" altLang="zh-CN" sz="2800"/>
              <a:t>=120/(120+1000)=0.107=10.7%</a:t>
            </a:r>
            <a:endParaRPr lang="en-US" altLang="zh-CN" sz="2800"/>
          </a:p>
          <a:p>
            <a:r>
              <a:rPr lang="zh-CN" altLang="en-US" sz="2800"/>
              <a:t>计算一下飞天茅台</a:t>
            </a:r>
            <a:r>
              <a:rPr lang="en-US" altLang="zh-CN" sz="2800"/>
              <a:t>53</a:t>
            </a:r>
            <a:r>
              <a:rPr lang="zh-CN" altLang="en-US" sz="2800"/>
              <a:t>度的</a:t>
            </a:r>
            <a:r>
              <a:rPr lang="en-US" altLang="zh-CN" sz="2800"/>
              <a:t>COD</a:t>
            </a:r>
            <a:r>
              <a:rPr lang="zh-CN" altLang="en-US" sz="2800"/>
              <a:t>，质量比为</a:t>
            </a:r>
            <a:r>
              <a:rPr lang="en-US" altLang="zh-CN" sz="2800"/>
              <a:t>53%</a:t>
            </a:r>
            <a:r>
              <a:rPr lang="zh-CN" altLang="en-US" sz="2800"/>
              <a:t>（忽略体积变化，密度认为</a:t>
            </a:r>
            <a:r>
              <a:rPr lang="en-US" altLang="zh-CN" sz="2800"/>
              <a:t>1.0*10</a:t>
            </a:r>
            <a:r>
              <a:rPr lang="en-US" altLang="zh-CN" sz="2800" baseline="30000"/>
              <a:t>3</a:t>
            </a:r>
            <a:r>
              <a:rPr lang="en-US" altLang="zh-CN" sz="2800"/>
              <a:t>kg/m³</a:t>
            </a:r>
            <a:r>
              <a:rPr lang="zh-CN" altLang="en-US" sz="2800"/>
              <a:t>）。乙醇的分子式为</a:t>
            </a:r>
            <a:r>
              <a:rPr lang="en-US" altLang="zh-CN" sz="2800"/>
              <a:t>CH3CH2OH</a:t>
            </a:r>
            <a:r>
              <a:rPr lang="zh-CN" altLang="en-US" sz="2800"/>
              <a:t>。</a:t>
            </a:r>
            <a:endParaRPr lang="zh-CN" alt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2562" name="文本占位符 322561"/>
          <p:cNvSpPr>
            <a:spLocks noGrp="1"/>
          </p:cNvSpPr>
          <p:nvPr>
            <p:ph type="body" idx="1"/>
          </p:nvPr>
        </p:nvSpPr>
        <p:spPr>
          <a:xfrm>
            <a:off x="2197100" y="471488"/>
            <a:ext cx="7870825" cy="4421187"/>
          </a:xfrm>
        </p:spPr>
        <p:txBody>
          <a:bodyPr lIns="45720" rIns="45720" anchor="t" anchorCtr="0">
            <a:normAutofit fontScale="90000"/>
          </a:bodyPr>
          <a:p>
            <a:pPr algn="just" defTabSz="684530">
              <a:lnSpc>
                <a:spcPct val="155000"/>
              </a:lnSpc>
              <a:buClr>
                <a:schemeClr val="accent2"/>
              </a:buClr>
              <a:buSzPct val="105000"/>
              <a:buFont typeface="Wingdings" panose="05000000000000000000" pitchFamily="2" charset="2"/>
              <a:buChar char="Ø"/>
            </a:pPr>
            <a:r>
              <a:rPr lang="en-US" altLang="zh-CN" b="1">
                <a:solidFill>
                  <a:srgbClr val="003365"/>
                </a:solidFill>
                <a:latin typeface="楷体_GB2312" charset="-122"/>
                <a:ea typeface="楷体_GB2312" charset="-122"/>
                <a:cs typeface="+mn-cs"/>
              </a:rPr>
              <a:t>2. </a:t>
            </a:r>
            <a:r>
              <a:rPr lang="zh-CN" altLang="en-US" b="1" dirty="0">
                <a:solidFill>
                  <a:srgbClr val="003365"/>
                </a:solidFill>
                <a:latin typeface="楷体_GB2312" charset="-122"/>
                <a:ea typeface="楷体_GB2312" charset="-122"/>
                <a:cs typeface="+mn-cs"/>
              </a:rPr>
              <a:t>有机物含量</a:t>
            </a:r>
            <a:endParaRPr lang="zh-CN" altLang="en-US" b="1" dirty="0">
              <a:solidFill>
                <a:srgbClr val="003365"/>
              </a:solidFill>
              <a:latin typeface="楷体_GB2312" charset="-122"/>
              <a:ea typeface="楷体_GB2312" charset="-122"/>
              <a:cs typeface="+mn-cs"/>
            </a:endParaRPr>
          </a:p>
          <a:p>
            <a:pPr algn="just" defTabSz="684530">
              <a:lnSpc>
                <a:spcPct val="155000"/>
              </a:lnSpc>
              <a:buSzPct val="25000"/>
            </a:pPr>
            <a:r>
              <a:rPr lang="en-US" altLang="zh-CN">
                <a:latin typeface="Times New Roman" panose="02020603050405020304" charset="0"/>
                <a:ea typeface="楷体_GB2312" charset="-122"/>
                <a:cs typeface="+mn-cs"/>
              </a:rPr>
              <a:t>2.2 </a:t>
            </a:r>
            <a:r>
              <a:rPr lang="en-US" altLang="zh-CN" b="1">
                <a:latin typeface="Times New Roman" panose="02020603050405020304" charset="0"/>
                <a:ea typeface="楷体_GB2312" charset="-122"/>
                <a:cs typeface="+mn-cs"/>
              </a:rPr>
              <a:t> </a:t>
            </a:r>
            <a:r>
              <a:rPr lang="zh-CN" altLang="en-US" b="1" dirty="0">
                <a:solidFill>
                  <a:srgbClr val="F60000"/>
                </a:solidFill>
                <a:latin typeface="Times New Roman" panose="02020603050405020304" charset="0"/>
                <a:ea typeface="楷体_GB2312" charset="-122"/>
                <a:cs typeface="+mn-cs"/>
              </a:rPr>
              <a:t>生化需氧量</a:t>
            </a:r>
            <a:r>
              <a:rPr lang="zh-CN" altLang="en-US" sz="1800" dirty="0">
                <a:latin typeface="Times New Roman" panose="02020603050405020304" charset="0"/>
                <a:ea typeface="楷体_GB2312" charset="-122"/>
                <a:cs typeface="+mn-cs"/>
              </a:rPr>
              <a:t>（</a:t>
            </a:r>
            <a:r>
              <a:rPr lang="en-US" altLang="zh-CN" sz="1800">
                <a:latin typeface="Times New Roman" panose="02020603050405020304" charset="0"/>
                <a:ea typeface="楷体_GB2312" charset="-122"/>
                <a:cs typeface="+mn-cs"/>
              </a:rPr>
              <a:t>BOD—Biochemical Oxygen Demand</a:t>
            </a:r>
            <a:r>
              <a:rPr lang="zh-CN" altLang="en-US" sz="1800" dirty="0">
                <a:latin typeface="Times New Roman" panose="02020603050405020304" charset="0"/>
                <a:ea typeface="楷体_GB2312" charset="-122"/>
                <a:cs typeface="+mn-cs"/>
              </a:rPr>
              <a:t>）</a:t>
            </a:r>
            <a:endParaRPr lang="zh-CN" altLang="en-US" sz="1800" dirty="0">
              <a:latin typeface="Times New Roman" panose="02020603050405020304" charset="0"/>
              <a:ea typeface="楷体_GB2312" charset="-122"/>
              <a:cs typeface="+mn-cs"/>
            </a:endParaRPr>
          </a:p>
          <a:p>
            <a:pPr algn="just" defTabSz="684530">
              <a:lnSpc>
                <a:spcPct val="155000"/>
              </a:lnSpc>
              <a:buSzPct val="25000"/>
              <a:buFont typeface="Wingdings" panose="05000000000000000000" pitchFamily="2" charset="2"/>
              <a:buChar char=" "/>
            </a:pPr>
            <a:r>
              <a:rPr lang="zh-CN" altLang="en-US" sz="1800" b="1" dirty="0">
                <a:latin typeface="Times New Roman" panose="02020603050405020304" charset="0"/>
                <a:ea typeface="楷体_GB2312" charset="-122"/>
                <a:cs typeface="+mn-cs"/>
              </a:rPr>
              <a:t>水中有机物经</a:t>
            </a:r>
            <a:r>
              <a:rPr lang="zh-CN" altLang="en-US" sz="1800" b="1" dirty="0">
                <a:solidFill>
                  <a:srgbClr val="F60000"/>
                </a:solidFill>
                <a:latin typeface="Times New Roman" panose="02020603050405020304" charset="0"/>
                <a:ea typeface="楷体_GB2312" charset="-122"/>
                <a:cs typeface="+mn-cs"/>
              </a:rPr>
              <a:t>微生物分解</a:t>
            </a:r>
            <a:r>
              <a:rPr lang="zh-CN" altLang="en-US" sz="1800" b="1" dirty="0">
                <a:latin typeface="Times New Roman" panose="02020603050405020304" charset="0"/>
                <a:ea typeface="楷体_GB2312" charset="-122"/>
                <a:cs typeface="+mn-cs"/>
              </a:rPr>
              <a:t>时所消耗的溶解氧的数量（</a:t>
            </a:r>
            <a:r>
              <a:rPr lang="en-US" altLang="zh-CN" sz="1800" b="1">
                <a:latin typeface="Times New Roman" panose="02020603050405020304" charset="0"/>
                <a:ea typeface="楷体_GB2312" charset="-122"/>
                <a:cs typeface="+mn-cs"/>
              </a:rPr>
              <a:t>mg/L</a:t>
            </a:r>
            <a:r>
              <a:rPr lang="zh-CN" altLang="en-US" sz="1800" b="1" dirty="0">
                <a:latin typeface="Times New Roman" panose="02020603050405020304" charset="0"/>
                <a:ea typeface="楷体_GB2312" charset="-122"/>
                <a:cs typeface="+mn-cs"/>
              </a:rPr>
              <a:t>）</a:t>
            </a:r>
            <a:endParaRPr lang="zh-CN" altLang="en-US" sz="1800" b="1" dirty="0">
              <a:latin typeface="Times New Roman" panose="02020603050405020304" charset="0"/>
              <a:ea typeface="楷体_GB2312" charset="-122"/>
              <a:cs typeface="+mn-cs"/>
            </a:endParaRPr>
          </a:p>
          <a:p>
            <a:pPr algn="just" defTabSz="684530">
              <a:lnSpc>
                <a:spcPct val="155000"/>
              </a:lnSpc>
              <a:buSzPct val="25000"/>
              <a:buFont typeface="Wingdings" panose="05000000000000000000" pitchFamily="2" charset="2"/>
              <a:buChar char=" "/>
            </a:pPr>
            <a:r>
              <a:rPr lang="zh-CN" altLang="en-US" sz="1800" b="1" dirty="0">
                <a:latin typeface="Times New Roman" panose="02020603050405020304" charset="0"/>
                <a:ea typeface="楷体_GB2312" charset="-122"/>
                <a:cs typeface="+mn-cs"/>
              </a:rPr>
              <a:t>是一种间接表示水被有机污染物污染程度的指标。</a:t>
            </a:r>
            <a:r>
              <a:rPr lang="en-US" altLang="zh-CN" sz="1800" b="1">
                <a:latin typeface="Times New Roman" panose="02020603050405020304" charset="0"/>
                <a:ea typeface="楷体_GB2312" charset="-122"/>
                <a:cs typeface="+mn-cs"/>
              </a:rPr>
              <a:t>BOD</a:t>
            </a:r>
            <a:r>
              <a:rPr lang="zh-CN" altLang="en-US" sz="1800" b="1" dirty="0">
                <a:latin typeface="Times New Roman" panose="02020603050405020304" charset="0"/>
                <a:ea typeface="楷体_GB2312" charset="-122"/>
                <a:cs typeface="+mn-cs"/>
              </a:rPr>
              <a:t>越大，表示有机污染越严重。</a:t>
            </a:r>
            <a:endParaRPr lang="zh-CN" altLang="en-US" sz="1800" b="1" dirty="0">
              <a:latin typeface="Times New Roman" panose="02020603050405020304" charset="0"/>
              <a:ea typeface="楷体_GB2312" charset="-122"/>
              <a:cs typeface="+mn-cs"/>
            </a:endParaRPr>
          </a:p>
          <a:p>
            <a:pPr algn="just" defTabSz="684530">
              <a:lnSpc>
                <a:spcPct val="155000"/>
              </a:lnSpc>
              <a:buSzPct val="25000"/>
              <a:buFont typeface="Wingdings" panose="05000000000000000000" pitchFamily="2" charset="2"/>
              <a:buChar char=" "/>
            </a:pPr>
            <a:r>
              <a:rPr lang="zh-CN" altLang="en-US" sz="1800" b="1" dirty="0">
                <a:latin typeface="Times New Roman" panose="02020603050405020304" charset="0"/>
                <a:ea typeface="楷体_GB2312" charset="-122"/>
                <a:cs typeface="+mn-cs"/>
              </a:rPr>
              <a:t>测定温度（</a:t>
            </a:r>
            <a:r>
              <a:rPr lang="en-US" altLang="zh-CN" sz="1800" b="1">
                <a:latin typeface="Times New Roman" panose="02020603050405020304" charset="0"/>
                <a:ea typeface="楷体_GB2312" charset="-122"/>
                <a:cs typeface="+mn-cs"/>
              </a:rPr>
              <a:t>20℃</a:t>
            </a:r>
            <a:r>
              <a:rPr lang="zh-CN" altLang="en-US" sz="1800" b="1" dirty="0">
                <a:latin typeface="Times New Roman" panose="02020603050405020304" charset="0"/>
                <a:ea typeface="楷体_GB2312" charset="-122"/>
                <a:cs typeface="+mn-cs"/>
              </a:rPr>
              <a:t>）</a:t>
            </a:r>
            <a:r>
              <a:rPr lang="en-US" altLang="zh-CN" sz="1800" b="1">
                <a:latin typeface="Times New Roman" panose="02020603050405020304" charset="0"/>
                <a:ea typeface="楷体_GB2312" charset="-122"/>
                <a:cs typeface="+mn-cs"/>
              </a:rPr>
              <a:t>:</a:t>
            </a:r>
            <a:r>
              <a:rPr lang="zh-CN" altLang="en-US" sz="1800" b="1" dirty="0">
                <a:latin typeface="Times New Roman" panose="02020603050405020304" charset="0"/>
                <a:ea typeface="楷体_GB2312" charset="-122"/>
                <a:cs typeface="+mn-cs"/>
              </a:rPr>
              <a:t>水样检测时的温度。	</a:t>
            </a:r>
            <a:endParaRPr lang="zh-CN" altLang="en-US" sz="1800" b="1" dirty="0">
              <a:latin typeface="Times New Roman" panose="02020603050405020304" charset="0"/>
              <a:ea typeface="楷体_GB2312" charset="-122"/>
              <a:cs typeface="+mn-cs"/>
            </a:endParaRPr>
          </a:p>
          <a:p>
            <a:pPr algn="just" defTabSz="684530">
              <a:lnSpc>
                <a:spcPct val="155000"/>
              </a:lnSpc>
              <a:buSzPct val="25000"/>
              <a:buFont typeface="Wingdings" panose="05000000000000000000" pitchFamily="2" charset="2"/>
              <a:buChar char=" "/>
            </a:pPr>
            <a:r>
              <a:rPr lang="zh-CN" altLang="en-US" sz="1800" b="1" dirty="0">
                <a:latin typeface="Times New Roman" panose="02020603050405020304" charset="0"/>
                <a:ea typeface="楷体_GB2312" charset="-122"/>
                <a:cs typeface="+mn-cs"/>
              </a:rPr>
              <a:t>完全氧化一般为</a:t>
            </a:r>
            <a:r>
              <a:rPr lang="en-US" altLang="zh-CN" sz="1800" b="1">
                <a:latin typeface="Times New Roman" panose="02020603050405020304" charset="0"/>
                <a:ea typeface="楷体_GB2312" charset="-122"/>
                <a:cs typeface="+mn-cs"/>
              </a:rPr>
              <a:t>20</a:t>
            </a:r>
            <a:r>
              <a:rPr lang="zh-CN" altLang="en-US" sz="1800" b="1" dirty="0">
                <a:latin typeface="Times New Roman" panose="02020603050405020304" charset="0"/>
                <a:ea typeface="楷体_GB2312" charset="-122"/>
                <a:cs typeface="+mn-cs"/>
              </a:rPr>
              <a:t>天，常用</a:t>
            </a:r>
            <a:r>
              <a:rPr lang="en-US" altLang="zh-CN" sz="1800" b="1">
                <a:latin typeface="Times New Roman" panose="02020603050405020304" charset="0"/>
                <a:ea typeface="楷体_GB2312" charset="-122"/>
                <a:cs typeface="+mn-cs"/>
              </a:rPr>
              <a:t>5</a:t>
            </a:r>
            <a:r>
              <a:rPr lang="zh-CN" altLang="en-US" sz="1800" b="1" dirty="0">
                <a:latin typeface="Times New Roman" panose="02020603050405020304" charset="0"/>
                <a:ea typeface="楷体_GB2312" charset="-122"/>
                <a:cs typeface="+mn-cs"/>
              </a:rPr>
              <a:t>天为测定的标准时间。</a:t>
            </a:r>
            <a:endParaRPr lang="zh-CN" altLang="en-US" sz="1800" b="1" dirty="0">
              <a:latin typeface="Times New Roman" panose="02020603050405020304" charset="0"/>
              <a:ea typeface="楷体_GB2312" charset="-122"/>
              <a:cs typeface="+mn-cs"/>
            </a:endParaRPr>
          </a:p>
          <a:p>
            <a:pPr algn="just" defTabSz="684530">
              <a:lnSpc>
                <a:spcPct val="155000"/>
              </a:lnSpc>
              <a:buSzPct val="25000"/>
            </a:pPr>
            <a:r>
              <a:rPr lang="zh-CN" altLang="en-US" sz="1800" b="1" dirty="0">
                <a:latin typeface="Times New Roman" panose="02020603050405020304" charset="0"/>
                <a:ea typeface="楷体_GB2312" charset="-122"/>
                <a:cs typeface="+mn-cs"/>
              </a:rPr>
              <a:t>         </a:t>
            </a:r>
            <a:r>
              <a:rPr lang="en-US" altLang="zh-CN" sz="1800" b="1">
                <a:latin typeface="Times New Roman" panose="02020603050405020304" charset="0"/>
                <a:ea typeface="楷体_GB2312" charset="-122"/>
                <a:cs typeface="+mn-cs"/>
              </a:rPr>
              <a:t>BOD</a:t>
            </a:r>
            <a:r>
              <a:rPr lang="en-US" altLang="zh-CN" sz="1800" b="1" baseline="-25000">
                <a:latin typeface="Times New Roman" panose="02020603050405020304" charset="0"/>
                <a:ea typeface="楷体_GB2312" charset="-122"/>
                <a:cs typeface="+mn-cs"/>
              </a:rPr>
              <a:t>5</a:t>
            </a:r>
            <a:r>
              <a:rPr lang="en-US" altLang="zh-CN" sz="1800" b="1">
                <a:latin typeface="Times New Roman" panose="02020603050405020304" charset="0"/>
                <a:ea typeface="楷体_GB2312" charset="-122"/>
                <a:cs typeface="+mn-cs"/>
              </a:rPr>
              <a:t>=70%BOD</a:t>
            </a:r>
            <a:r>
              <a:rPr lang="en-US" altLang="zh-CN" sz="1800" b="1" baseline="-25000">
                <a:latin typeface="Times New Roman" panose="02020603050405020304" charset="0"/>
                <a:ea typeface="楷体_GB2312" charset="-122"/>
                <a:cs typeface="+mn-cs"/>
              </a:rPr>
              <a:t>20</a:t>
            </a:r>
            <a:endParaRPr lang="en-US" altLang="zh-CN" sz="1800" b="1" baseline="-25000">
              <a:latin typeface="Times New Roman" panose="02020603050405020304" charset="0"/>
              <a:ea typeface="楷体_GB2312" charset="-122"/>
              <a:cs typeface="+mn-cs"/>
            </a:endParaRPr>
          </a:p>
          <a:p>
            <a:pPr defTabSz="684530">
              <a:lnSpc>
                <a:spcPct val="155000"/>
              </a:lnSpc>
              <a:buSzPct val="25000"/>
            </a:pPr>
            <a:r>
              <a:rPr lang="zh-CN" altLang="en-US" sz="1800" b="1" dirty="0">
                <a:solidFill>
                  <a:srgbClr val="F60000"/>
                </a:solidFill>
                <a:latin typeface="+mn-lt"/>
                <a:ea typeface="+mn-ea"/>
                <a:cs typeface="+mn-cs"/>
              </a:rPr>
              <a:t>生化需氧量越高，表示水中可以生物降解</a:t>
            </a:r>
            <a:r>
              <a:rPr lang="zh-CN" altLang="en-US" sz="1800" b="1" dirty="0">
                <a:solidFill>
                  <a:srgbClr val="F60000"/>
                </a:solidFill>
                <a:latin typeface="+mn-lt"/>
                <a:ea typeface="+mn-ea"/>
                <a:cs typeface="+mn-cs"/>
              </a:rPr>
              <a:t>的有机物质越多。</a:t>
            </a:r>
            <a:endParaRPr lang="zh-CN" altLang="en-US" sz="1800" b="1" dirty="0">
              <a:solidFill>
                <a:srgbClr val="F60000"/>
              </a:solidFill>
              <a:latin typeface="+mn-lt"/>
              <a:ea typeface="+mn-ea"/>
              <a:cs typeface="+mn-cs"/>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3586" name="文本占位符 323585"/>
          <p:cNvSpPr>
            <a:spLocks noGrp="1"/>
          </p:cNvSpPr>
          <p:nvPr>
            <p:ph type="body" idx="1"/>
          </p:nvPr>
        </p:nvSpPr>
        <p:spPr>
          <a:xfrm>
            <a:off x="1836738" y="903288"/>
            <a:ext cx="8494712" cy="3581400"/>
          </a:xfrm>
        </p:spPr>
        <p:txBody>
          <a:bodyPr lIns="45720" rIns="45720" anchor="t" anchorCtr="0">
            <a:normAutofit fontScale="70000"/>
          </a:bodyPr>
          <a:p>
            <a:pPr defTabSz="684530">
              <a:lnSpc>
                <a:spcPct val="220000"/>
              </a:lnSpc>
              <a:buSzPct val="25000"/>
            </a:pPr>
            <a:r>
              <a:rPr lang="en-US" altLang="zh-CN">
                <a:latin typeface="楷体_GB2312" charset="-122"/>
                <a:ea typeface="楷体_GB2312" charset="-122"/>
                <a:cs typeface="+mn-cs"/>
              </a:rPr>
              <a:t>2.2   </a:t>
            </a:r>
            <a:r>
              <a:rPr lang="zh-CN" altLang="en-US" b="1" dirty="0">
                <a:solidFill>
                  <a:srgbClr val="F60000"/>
                </a:solidFill>
                <a:latin typeface="楷体_GB2312" charset="-122"/>
                <a:ea typeface="楷体_GB2312" charset="-122"/>
                <a:cs typeface="+mn-cs"/>
              </a:rPr>
              <a:t>化学需氧量</a:t>
            </a:r>
            <a:r>
              <a:rPr lang="zh-CN" altLang="en-US" dirty="0">
                <a:latin typeface="楷体_GB2312" charset="-122"/>
                <a:ea typeface="楷体_GB2312" charset="-122"/>
                <a:cs typeface="+mn-cs"/>
              </a:rPr>
              <a:t>（</a:t>
            </a:r>
            <a:r>
              <a:rPr lang="en-US" altLang="zh-CN">
                <a:latin typeface="楷体_GB2312" charset="-122"/>
                <a:ea typeface="楷体_GB2312" charset="-122"/>
                <a:cs typeface="+mn-cs"/>
              </a:rPr>
              <a:t>COD--Chemical Oxygen Demand</a:t>
            </a:r>
            <a:r>
              <a:rPr lang="zh-CN" altLang="en-US" dirty="0">
                <a:latin typeface="楷体_GB2312" charset="-122"/>
                <a:ea typeface="楷体_GB2312" charset="-122"/>
                <a:cs typeface="+mn-cs"/>
              </a:rPr>
              <a:t>）</a:t>
            </a:r>
            <a:endParaRPr lang="zh-CN" altLang="en-US" dirty="0">
              <a:latin typeface="楷体_GB2312" charset="-122"/>
              <a:ea typeface="楷体_GB2312" charset="-122"/>
              <a:cs typeface="+mn-cs"/>
            </a:endParaRPr>
          </a:p>
          <a:p>
            <a:pPr defTabSz="684530">
              <a:lnSpc>
                <a:spcPct val="220000"/>
              </a:lnSpc>
              <a:buSzPct val="25000"/>
              <a:buFont typeface="Wingdings" panose="05000000000000000000" pitchFamily="2" charset="2"/>
              <a:buChar char=" "/>
            </a:pPr>
            <a:r>
              <a:rPr lang="zh-CN" altLang="en-US" dirty="0">
                <a:latin typeface="楷体_GB2312" charset="-122"/>
                <a:ea typeface="楷体_GB2312" charset="-122"/>
                <a:cs typeface="+mn-cs"/>
              </a:rPr>
              <a:t> </a:t>
            </a:r>
            <a:r>
              <a:rPr lang="zh-CN" altLang="en-US" b="1" dirty="0">
                <a:solidFill>
                  <a:srgbClr val="009999"/>
                </a:solidFill>
                <a:latin typeface="楷体_GB2312" charset="-122"/>
                <a:ea typeface="楷体_GB2312" charset="-122"/>
                <a:cs typeface="+mn-cs"/>
              </a:rPr>
              <a:t>用化学氧化剂氧化水中有机物时，所需氧化剂的数量</a:t>
            </a:r>
            <a:r>
              <a:rPr lang="zh-CN" altLang="en-US" dirty="0">
                <a:latin typeface="楷体_GB2312" charset="-122"/>
                <a:ea typeface="楷体_GB2312" charset="-122"/>
                <a:cs typeface="+mn-cs"/>
              </a:rPr>
              <a:t>。</a:t>
            </a:r>
            <a:r>
              <a:rPr lang="zh-CN" altLang="en-US" b="1" dirty="0">
                <a:solidFill>
                  <a:srgbClr val="003365"/>
                </a:solidFill>
                <a:latin typeface="楷体_GB2312" charset="-122"/>
                <a:ea typeface="楷体_GB2312" charset="-122"/>
                <a:cs typeface="+mn-cs"/>
              </a:rPr>
              <a:t>目前</a:t>
            </a:r>
            <a:r>
              <a:rPr lang="zh-CN" altLang="en-US" b="1" dirty="0">
                <a:solidFill>
                  <a:srgbClr val="F60000"/>
                </a:solidFill>
                <a:latin typeface="楷体_GB2312" charset="-122"/>
                <a:ea typeface="楷体_GB2312" charset="-122"/>
                <a:cs typeface="+mn-cs"/>
              </a:rPr>
              <a:t>常用的氧化剂主要是重铬酸钾或高锰酸钾</a:t>
            </a:r>
            <a:r>
              <a:rPr lang="zh-CN" altLang="en-US" b="1" dirty="0">
                <a:solidFill>
                  <a:srgbClr val="003365"/>
                </a:solidFill>
                <a:latin typeface="楷体_GB2312" charset="-122"/>
                <a:ea typeface="楷体_GB2312" charset="-122"/>
                <a:cs typeface="+mn-cs"/>
              </a:rPr>
              <a:t>。以高锰酸钾作氧化剂时，测得的值称高锰酸盐指数。</a:t>
            </a:r>
            <a:endParaRPr lang="zh-CN" altLang="en-US" dirty="0">
              <a:latin typeface="楷体_GB2312" charset="-122"/>
              <a:ea typeface="楷体_GB2312" charset="-122"/>
              <a:cs typeface="+mn-cs"/>
            </a:endParaRPr>
          </a:p>
          <a:p>
            <a:pPr defTabSz="684530">
              <a:lnSpc>
                <a:spcPct val="220000"/>
              </a:lnSpc>
              <a:buSzPct val="25000"/>
              <a:buFont typeface="Wingdings" panose="05000000000000000000" pitchFamily="2" charset="2"/>
              <a:buChar char=" "/>
            </a:pPr>
            <a:r>
              <a:rPr lang="zh-CN" altLang="en-US" dirty="0">
                <a:latin typeface="楷体_GB2312" charset="-122"/>
                <a:ea typeface="楷体_GB2312" charset="-122"/>
                <a:cs typeface="+mn-cs"/>
              </a:rPr>
              <a:t> </a:t>
            </a:r>
            <a:r>
              <a:rPr lang="zh-CN" altLang="en-US" b="1" dirty="0">
                <a:solidFill>
                  <a:srgbClr val="F60000"/>
                </a:solidFill>
                <a:latin typeface="楷体_GB2312" charset="-122"/>
                <a:ea typeface="楷体_GB2312" charset="-122"/>
                <a:cs typeface="+mn-cs"/>
              </a:rPr>
              <a:t>特点</a:t>
            </a:r>
            <a:r>
              <a:rPr lang="zh-CN" altLang="en-US" b="1" dirty="0">
                <a:solidFill>
                  <a:srgbClr val="003365"/>
                </a:solidFill>
                <a:latin typeface="楷体_GB2312" charset="-122"/>
                <a:ea typeface="楷体_GB2312" charset="-122"/>
                <a:cs typeface="+mn-cs"/>
              </a:rPr>
              <a:t>：测定时间短，不受水质限制。主要作为工业废水的污染指标。</a:t>
            </a:r>
            <a:endParaRPr lang="zh-CN" altLang="en-US" b="1" dirty="0">
              <a:solidFill>
                <a:srgbClr val="003365"/>
              </a:solidFill>
              <a:latin typeface="楷体_GB2312" charset="-122"/>
              <a:ea typeface="楷体_GB2312" charset="-122"/>
              <a:cs typeface="+mn-cs"/>
            </a:endParaRPr>
          </a:p>
          <a:p>
            <a:pPr defTabSz="684530">
              <a:lnSpc>
                <a:spcPct val="220000"/>
              </a:lnSpc>
              <a:buSzPct val="25000"/>
              <a:buFont typeface="Wingdings" panose="05000000000000000000" pitchFamily="2" charset="2"/>
              <a:buChar char=" "/>
            </a:pPr>
            <a:r>
              <a:rPr lang="en-US" altLang="zh-CN" b="1">
                <a:solidFill>
                  <a:srgbClr val="003365"/>
                </a:solidFill>
                <a:latin typeface="楷体_GB2312" charset="-122"/>
                <a:ea typeface="楷体_GB2312" charset="-122"/>
                <a:cs typeface="+mn-cs"/>
              </a:rPr>
              <a:t> </a:t>
            </a:r>
            <a:r>
              <a:rPr lang="en-US" altLang="zh-CN" b="1">
                <a:solidFill>
                  <a:srgbClr val="F60000"/>
                </a:solidFill>
                <a:latin typeface="楷体_GB2312" charset="-122"/>
                <a:ea typeface="楷体_GB2312" charset="-122"/>
                <a:cs typeface="+mn-cs"/>
              </a:rPr>
              <a:t>COD</a:t>
            </a:r>
            <a:r>
              <a:rPr lang="zh-CN" altLang="en-US" b="1" dirty="0">
                <a:solidFill>
                  <a:srgbClr val="F60000"/>
                </a:solidFill>
                <a:latin typeface="楷体_GB2312" charset="-122"/>
                <a:ea typeface="楷体_GB2312" charset="-122"/>
                <a:cs typeface="+mn-cs"/>
              </a:rPr>
              <a:t>＞</a:t>
            </a:r>
            <a:r>
              <a:rPr lang="en-US" altLang="zh-CN" b="1">
                <a:solidFill>
                  <a:srgbClr val="F60000"/>
                </a:solidFill>
                <a:latin typeface="楷体_GB2312" charset="-122"/>
                <a:ea typeface="楷体_GB2312" charset="-122"/>
                <a:cs typeface="+mn-cs"/>
              </a:rPr>
              <a:t>BOD</a:t>
            </a:r>
            <a:r>
              <a:rPr lang="zh-CN" altLang="en-US" b="1">
                <a:solidFill>
                  <a:srgbClr val="F60000"/>
                </a:solidFill>
                <a:latin typeface="楷体_GB2312" charset="-122"/>
                <a:ea typeface="楷体_GB2312" charset="-122"/>
                <a:cs typeface="+mn-cs"/>
              </a:rPr>
              <a:t>，</a:t>
            </a:r>
            <a:r>
              <a:rPr lang="en-US" altLang="zh-CN" b="1">
                <a:solidFill>
                  <a:srgbClr val="F60000"/>
                </a:solidFill>
                <a:latin typeface="楷体_GB2312" charset="-122"/>
                <a:ea typeface="楷体_GB2312" charset="-122"/>
                <a:cs typeface="+mn-cs"/>
              </a:rPr>
              <a:t>COD</a:t>
            </a:r>
            <a:r>
              <a:rPr lang="zh-CN" altLang="en-US" b="1">
                <a:solidFill>
                  <a:srgbClr val="F60000"/>
                </a:solidFill>
                <a:latin typeface="楷体_GB2312" charset="-122"/>
                <a:ea typeface="楷体_GB2312" charset="-122"/>
                <a:cs typeface="+mn-cs"/>
              </a:rPr>
              <a:t>与</a:t>
            </a:r>
            <a:r>
              <a:rPr lang="en-US" altLang="zh-CN" b="1">
                <a:solidFill>
                  <a:srgbClr val="F60000"/>
                </a:solidFill>
                <a:latin typeface="楷体_GB2312" charset="-122"/>
                <a:ea typeface="楷体_GB2312" charset="-122"/>
                <a:cs typeface="+mn-cs"/>
              </a:rPr>
              <a:t>BOD</a:t>
            </a:r>
            <a:r>
              <a:rPr lang="zh-CN" altLang="en-US" b="1" dirty="0">
                <a:solidFill>
                  <a:srgbClr val="F60000"/>
                </a:solidFill>
                <a:latin typeface="楷体_GB2312" charset="-122"/>
                <a:ea typeface="楷体_GB2312" charset="-122"/>
                <a:cs typeface="+mn-cs"/>
              </a:rPr>
              <a:t>的差值可表示不为微生物降解的有机物。</a:t>
            </a:r>
            <a:endParaRPr lang="zh-CN" altLang="en-US" b="1" dirty="0">
              <a:solidFill>
                <a:srgbClr val="F60000"/>
              </a:solidFill>
              <a:latin typeface="楷体_GB2312" charset="-122"/>
              <a:ea typeface="楷体_GB2312" charset="-122"/>
              <a:cs typeface="+mn-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4610" name="文本占位符 324609"/>
          <p:cNvSpPr>
            <a:spLocks noGrp="1"/>
          </p:cNvSpPr>
          <p:nvPr>
            <p:ph type="body" idx="1"/>
          </p:nvPr>
        </p:nvSpPr>
        <p:spPr>
          <a:xfrm>
            <a:off x="1836738" y="615950"/>
            <a:ext cx="8496300" cy="4832350"/>
          </a:xfrm>
        </p:spPr>
        <p:txBody>
          <a:bodyPr lIns="45720" rIns="45720" anchor="t" anchorCtr="0"/>
          <a:p>
            <a:pPr defTabSz="684530">
              <a:lnSpc>
                <a:spcPct val="120000"/>
              </a:lnSpc>
              <a:buSzPct val="25000"/>
            </a:pPr>
            <a:r>
              <a:rPr lang="en-US" altLang="zh-CN" sz="2800">
                <a:latin typeface="楷体_GB2312" charset="-122"/>
                <a:ea typeface="楷体_GB2312" charset="-122"/>
                <a:cs typeface="+mn-cs"/>
              </a:rPr>
              <a:t>2.3 </a:t>
            </a:r>
            <a:r>
              <a:rPr lang="zh-CN" altLang="en-US" sz="2800" b="1" dirty="0">
                <a:solidFill>
                  <a:srgbClr val="F60000"/>
                </a:solidFill>
                <a:latin typeface="楷体_GB2312" charset="-122"/>
                <a:ea typeface="楷体_GB2312" charset="-122"/>
                <a:cs typeface="+mn-cs"/>
              </a:rPr>
              <a:t>总有机碳</a:t>
            </a:r>
            <a:r>
              <a:rPr lang="zh-CN" altLang="en-US" sz="2800" dirty="0">
                <a:latin typeface="楷体_GB2312" charset="-122"/>
                <a:ea typeface="楷体_GB2312" charset="-122"/>
                <a:cs typeface="+mn-cs"/>
              </a:rPr>
              <a:t>（</a:t>
            </a:r>
            <a:r>
              <a:rPr lang="en-US" altLang="zh-CN" sz="2800">
                <a:latin typeface="楷体_GB2312" charset="-122"/>
                <a:ea typeface="楷体_GB2312" charset="-122"/>
                <a:cs typeface="+mn-cs"/>
              </a:rPr>
              <a:t>TOC--Total Organic Carbon</a:t>
            </a:r>
            <a:r>
              <a:rPr lang="zh-CN" altLang="en-US" sz="2800" dirty="0">
                <a:latin typeface="楷体_GB2312" charset="-122"/>
                <a:ea typeface="楷体_GB2312" charset="-122"/>
                <a:cs typeface="+mn-cs"/>
              </a:rPr>
              <a:t>）</a:t>
            </a:r>
            <a:endParaRPr lang="zh-CN" altLang="en-US" sz="2800" dirty="0">
              <a:latin typeface="楷体_GB2312" charset="-122"/>
              <a:ea typeface="楷体_GB2312" charset="-122"/>
              <a:cs typeface="+mn-cs"/>
            </a:endParaRPr>
          </a:p>
          <a:p>
            <a:pPr defTabSz="684530">
              <a:lnSpc>
                <a:spcPct val="120000"/>
              </a:lnSpc>
              <a:buSzPct val="25000"/>
            </a:pPr>
            <a:r>
              <a:rPr lang="en-US" altLang="zh-CN" sz="2800" b="1">
                <a:solidFill>
                  <a:srgbClr val="F60000"/>
                </a:solidFill>
                <a:latin typeface="楷体_GB2312" charset="-122"/>
                <a:ea typeface="楷体_GB2312" charset="-122"/>
                <a:cs typeface="+mn-cs"/>
              </a:rPr>
              <a:t>TOC</a:t>
            </a:r>
            <a:r>
              <a:rPr lang="en-US" altLang="zh-CN" sz="2800" b="1">
                <a:latin typeface="Times New Roman" panose="02020603050405020304" charset="0"/>
                <a:ea typeface="楷体_GB2312" charset="-122"/>
                <a:cs typeface="+mn-cs"/>
              </a:rPr>
              <a:t>—</a:t>
            </a:r>
            <a:r>
              <a:rPr lang="zh-CN" altLang="en-US" sz="2800" b="1" dirty="0">
                <a:latin typeface="楷体_GB2312" charset="-122"/>
                <a:ea typeface="楷体_GB2312" charset="-122"/>
                <a:cs typeface="+mn-cs"/>
              </a:rPr>
              <a:t>水中所有有机污染物质中的碳含量。</a:t>
            </a:r>
            <a:endParaRPr lang="zh-CN" altLang="en-US" sz="2800" b="1" dirty="0">
              <a:latin typeface="楷体_GB2312" charset="-122"/>
              <a:ea typeface="楷体_GB2312" charset="-122"/>
              <a:cs typeface="+mn-cs"/>
            </a:endParaRPr>
          </a:p>
          <a:p>
            <a:pPr defTabSz="684530">
              <a:lnSpc>
                <a:spcPct val="120000"/>
              </a:lnSpc>
              <a:buSzPct val="25000"/>
              <a:buFont typeface="Wingdings" panose="05000000000000000000" pitchFamily="2" charset="2"/>
              <a:buChar char=" "/>
            </a:pPr>
            <a:r>
              <a:rPr lang="zh-CN" altLang="en-US" sz="2800" b="1" dirty="0">
                <a:solidFill>
                  <a:srgbClr val="F60000"/>
                </a:solidFill>
                <a:latin typeface="楷体_GB2312" charset="-122"/>
                <a:ea typeface="楷体_GB2312" charset="-122"/>
                <a:cs typeface="+mn-cs"/>
              </a:rPr>
              <a:t>特点：</a:t>
            </a:r>
            <a:r>
              <a:rPr lang="zh-CN" altLang="en-US" sz="2800" b="1" dirty="0">
                <a:latin typeface="楷体_GB2312" charset="-122"/>
                <a:ea typeface="楷体_GB2312" charset="-122"/>
                <a:cs typeface="+mn-cs"/>
              </a:rPr>
              <a:t>仪器快速测定。国内外正提倡用</a:t>
            </a:r>
            <a:r>
              <a:rPr lang="en-US" altLang="zh-CN" sz="2800" b="1">
                <a:latin typeface="楷体_GB2312" charset="-122"/>
                <a:ea typeface="楷体_GB2312" charset="-122"/>
                <a:cs typeface="+mn-cs"/>
              </a:rPr>
              <a:t>TOC</a:t>
            </a:r>
            <a:r>
              <a:rPr lang="zh-CN" altLang="en-US" sz="2800" b="1" dirty="0">
                <a:latin typeface="楷体_GB2312" charset="-122"/>
                <a:ea typeface="楷体_GB2312" charset="-122"/>
                <a:cs typeface="+mn-cs"/>
              </a:rPr>
              <a:t>作为衡量水质有机物污染的指标。</a:t>
            </a:r>
            <a:endParaRPr lang="zh-CN" altLang="en-US" sz="2800" b="1" dirty="0">
              <a:latin typeface="楷体_GB2312" charset="-122"/>
              <a:ea typeface="楷体_GB2312" charset="-122"/>
              <a:cs typeface="+mn-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2580"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2581"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0374" name="Rectangle 6"/>
          <p:cNvSpPr/>
          <p:nvPr/>
        </p:nvSpPr>
        <p:spPr>
          <a:xfrm>
            <a:off x="6666865" y="2201863"/>
            <a:ext cx="5329555" cy="4154170"/>
          </a:xfrm>
          <a:prstGeom prst="rect">
            <a:avLst/>
          </a:prstGeom>
          <a:noFill/>
          <a:ln w="9525">
            <a:noFill/>
          </a:ln>
        </p:spPr>
        <p:txBody>
          <a:bodyPr wrap="square" anchor="ctr" anchorCtr="0">
            <a:spAutoFit/>
          </a:bodyPr>
          <a:p>
            <a:pPr algn="l"/>
            <a:r>
              <a:rPr lang="zh-CN" altLang="en-US" sz="2400" dirty="0">
                <a:latin typeface="楷体_GB2312" charset="-122"/>
                <a:ea typeface="楷体_GB2312" charset="-122"/>
              </a:rPr>
              <a:t>    </a:t>
            </a:r>
            <a:r>
              <a:rPr lang="zh-CN" altLang="en-US" sz="2400" b="1" u="sng" dirty="0">
                <a:solidFill>
                  <a:srgbClr val="FC4A26"/>
                </a:solidFill>
                <a:latin typeface="楷体_GB2312" charset="-122"/>
                <a:ea typeface="楷体_GB2312" charset="-122"/>
              </a:rPr>
              <a:t>植物性营养物</a:t>
            </a:r>
            <a:r>
              <a:rPr lang="zh-CN" altLang="en-US" sz="2400" dirty="0">
                <a:latin typeface="楷体_GB2312" charset="-122"/>
                <a:ea typeface="楷体_GB2312" charset="-122"/>
              </a:rPr>
              <a:t>主要指含有氮、磷等植物所需营养物的无机、有机化合物，如氨氮、硝酸盐、亚硝酸盐、磷酸盐、和含氮和磷的有机化合物。这些污染物排入水体，</a:t>
            </a:r>
            <a:r>
              <a:rPr lang="zh-CN" altLang="en-US" sz="2400" dirty="0">
                <a:solidFill>
                  <a:srgbClr val="FF3300"/>
                </a:solidFill>
                <a:latin typeface="楷体_GB2312" charset="-122"/>
                <a:ea typeface="楷体_GB2312" charset="-122"/>
              </a:rPr>
              <a:t>特别是流动较缓慢的</a:t>
            </a:r>
            <a:r>
              <a:rPr lang="zh-CN" altLang="en-US" sz="2400" dirty="0">
                <a:latin typeface="楷体_GB2312" charset="-122"/>
                <a:ea typeface="楷体_GB2312" charset="-122"/>
              </a:rPr>
              <a:t>湖泊、海湾，容易</a:t>
            </a:r>
            <a:r>
              <a:rPr lang="zh-CN" altLang="en-US" sz="2400" b="1" u="sng" dirty="0">
                <a:solidFill>
                  <a:schemeClr val="accent2"/>
                </a:solidFill>
                <a:latin typeface="楷体_GB2312" charset="-122"/>
                <a:ea typeface="楷体_GB2312" charset="-122"/>
              </a:rPr>
              <a:t>引起水中藻类及其他浮游生物大量繁殖，形成富营养化污染，</a:t>
            </a:r>
            <a:r>
              <a:rPr lang="zh-CN" altLang="en-US" sz="2400" dirty="0">
                <a:latin typeface="楷体_GB2312" charset="-122"/>
                <a:ea typeface="楷体_GB2312" charset="-122"/>
              </a:rPr>
              <a:t>除了会使自来水处理厂运行困难，造成饮用水的异味外，严重时也会使水中溶解氧下降，</a:t>
            </a:r>
            <a:r>
              <a:rPr lang="zh-CN" altLang="en-US" sz="2400" b="1" u="sng" dirty="0">
                <a:solidFill>
                  <a:schemeClr val="accent2"/>
                </a:solidFill>
                <a:latin typeface="楷体_GB2312" charset="-122"/>
                <a:ea typeface="楷体_GB2312" charset="-122"/>
              </a:rPr>
              <a:t>鱼类大量死亡，甚至会导致湖泊的干涸灭亡</a:t>
            </a:r>
            <a:r>
              <a:rPr lang="zh-CN" altLang="en-US" sz="2400" dirty="0">
                <a:latin typeface="楷体_GB2312" charset="-122"/>
                <a:ea typeface="楷体_GB2312" charset="-122"/>
              </a:rPr>
              <a:t>。</a:t>
            </a:r>
            <a:endParaRPr lang="zh-CN" altLang="en-US" sz="2400" dirty="0">
              <a:latin typeface="楷体_GB2312" charset="-122"/>
              <a:ea typeface="楷体_GB2312" charset="-122"/>
            </a:endParaRPr>
          </a:p>
        </p:txBody>
      </p:sp>
      <p:sp>
        <p:nvSpPr>
          <p:cNvPr id="1210375" name="Rectangle 7"/>
          <p:cNvSpPr/>
          <p:nvPr/>
        </p:nvSpPr>
        <p:spPr>
          <a:xfrm>
            <a:off x="1939925" y="1722438"/>
            <a:ext cx="263271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3</a:t>
            </a:r>
            <a:r>
              <a:rPr lang="zh-CN" altLang="en-US" sz="2400" b="1" dirty="0">
                <a:solidFill>
                  <a:schemeClr val="accent2"/>
                </a:solidFill>
                <a:latin typeface="楷体_GB2312" charset="-122"/>
                <a:ea typeface="楷体_GB2312" charset="-122"/>
              </a:rPr>
              <a:t>、植物性营养物</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210376" name="Picture 8" descr="xinsrc_242040515085273424351"/>
          <p:cNvPicPr>
            <a:picLocks noChangeAspect="1"/>
          </p:cNvPicPr>
          <p:nvPr/>
        </p:nvPicPr>
        <p:blipFill>
          <a:blip r:embed="rId1"/>
          <a:stretch>
            <a:fillRect/>
          </a:stretch>
        </p:blipFill>
        <p:spPr>
          <a:xfrm>
            <a:off x="1456055" y="2590800"/>
            <a:ext cx="4705350" cy="3282950"/>
          </a:xfrm>
          <a:prstGeom prst="rect">
            <a:avLst/>
          </a:prstGeom>
          <a:noFill/>
          <a:ln w="9525">
            <a:noFill/>
          </a:ln>
        </p:spPr>
      </p:pic>
      <p:sp>
        <p:nvSpPr>
          <p:cNvPr id="1210377" name="AutoShape 9"/>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0375"/>
                                        </p:tgtEl>
                                        <p:attrNameLst>
                                          <p:attrName>style.visibility</p:attrName>
                                        </p:attrNameLst>
                                      </p:cBhvr>
                                      <p:to>
                                        <p:strVal val="visible"/>
                                      </p:to>
                                    </p:set>
                                    <p:anim calcmode="lin" valueType="num">
                                      <p:cBhvr additive="base">
                                        <p:cTn id="7" dur="500" fill="hold"/>
                                        <p:tgtEl>
                                          <p:spTgt spid="1210375"/>
                                        </p:tgtEl>
                                        <p:attrNameLst>
                                          <p:attrName>ppt_x</p:attrName>
                                        </p:attrNameLst>
                                      </p:cBhvr>
                                      <p:tavLst>
                                        <p:tav tm="0">
                                          <p:val>
                                            <p:strVal val="0-#ppt_w/2"/>
                                          </p:val>
                                        </p:tav>
                                        <p:tav tm="100000">
                                          <p:val>
                                            <p:strVal val="#ppt_x"/>
                                          </p:val>
                                        </p:tav>
                                      </p:tavLst>
                                    </p:anim>
                                    <p:anim calcmode="lin" valueType="num">
                                      <p:cBhvr additive="base">
                                        <p:cTn id="8" dur="500" fill="hold"/>
                                        <p:tgtEl>
                                          <p:spTgt spid="12103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10376"/>
                                        </p:tgtEl>
                                        <p:attrNameLst>
                                          <p:attrName>style.visibility</p:attrName>
                                        </p:attrNameLst>
                                      </p:cBhvr>
                                      <p:to>
                                        <p:strVal val="visible"/>
                                      </p:to>
                                    </p:set>
                                    <p:animEffect transition="in" filter="blinds(vertical)">
                                      <p:cBhvr>
                                        <p:cTn id="13" dur="500"/>
                                        <p:tgtEl>
                                          <p:spTgt spid="1210376"/>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10374"/>
                                        </p:tgtEl>
                                        <p:attrNameLst>
                                          <p:attrName>style.visibility</p:attrName>
                                        </p:attrNameLst>
                                      </p:cBhvr>
                                      <p:to>
                                        <p:strVal val="visible"/>
                                      </p:to>
                                    </p:set>
                                    <p:animEffect transition="in" filter="blinds(vertical)">
                                      <p:cBhvr>
                                        <p:cTn id="16" dur="500"/>
                                        <p:tgtEl>
                                          <p:spTgt spid="1210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0374" grpId="0"/>
      <p:bldP spid="121037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8706" name="矩形 328705"/>
          <p:cNvSpPr/>
          <p:nvPr/>
        </p:nvSpPr>
        <p:spPr>
          <a:xfrm>
            <a:off x="1981200" y="615950"/>
            <a:ext cx="8013700" cy="5001895"/>
          </a:xfrm>
          <a:prstGeom prst="rect">
            <a:avLst/>
          </a:prstGeom>
          <a:noFill/>
          <a:ln w="9525">
            <a:noFill/>
          </a:ln>
        </p:spPr>
        <p:txBody>
          <a:bodyPr lIns="91650" tIns="45825" rIns="91650" bIns="45825">
            <a:spAutoFit/>
          </a:bodyPr>
          <a:p>
            <a:pPr algn="l" defTabSz="916305">
              <a:lnSpc>
                <a:spcPct val="120000"/>
              </a:lnSpc>
            </a:pPr>
            <a:r>
              <a:rPr lang="en-US" altLang="zh-CN" sz="2800" b="1">
                <a:solidFill>
                  <a:srgbClr val="006666"/>
                </a:solidFill>
                <a:latin typeface="宋体" panose="02010600030101010101" pitchFamily="2" charset="-122"/>
              </a:rPr>
              <a:t>1. </a:t>
            </a:r>
            <a:r>
              <a:rPr lang="zh-CN" altLang="en-US" sz="2800" b="1">
                <a:solidFill>
                  <a:srgbClr val="006666"/>
                </a:solidFill>
                <a:latin typeface="宋体" panose="02010600030101010101" pitchFamily="2" charset="-122"/>
              </a:rPr>
              <a:t>溶解氧（</a:t>
            </a:r>
            <a:r>
              <a:rPr lang="en-US" altLang="zh-CN" sz="2800" b="1">
                <a:solidFill>
                  <a:srgbClr val="006666"/>
                </a:solidFill>
                <a:latin typeface="宋体" panose="02010600030101010101" pitchFamily="2" charset="-122"/>
              </a:rPr>
              <a:t>DO—Dissolved Oxygen</a:t>
            </a:r>
            <a:r>
              <a:rPr lang="zh-CN" altLang="en-US" sz="2800" b="1">
                <a:solidFill>
                  <a:srgbClr val="006666"/>
                </a:solidFill>
                <a:latin typeface="宋体" panose="02010600030101010101" pitchFamily="2" charset="-122"/>
              </a:rPr>
              <a:t>）</a:t>
            </a:r>
            <a:endParaRPr lang="zh-CN" altLang="en-US" sz="2800" b="1">
              <a:solidFill>
                <a:srgbClr val="006666"/>
              </a:solidFill>
              <a:latin typeface="宋体" panose="02010600030101010101" pitchFamily="2" charset="-122"/>
            </a:endParaRPr>
          </a:p>
          <a:p>
            <a:pPr algn="l" defTabSz="916305">
              <a:lnSpc>
                <a:spcPct val="170000"/>
              </a:lnSpc>
              <a:buClr>
                <a:srgbClr val="F60000"/>
              </a:buClr>
              <a:buFont typeface="Wingdings" panose="05000000000000000000" pitchFamily="2" charset="2"/>
              <a:buChar char="Ø"/>
            </a:pPr>
            <a:r>
              <a:rPr lang="zh-CN" altLang="en-US" sz="2800" b="1">
                <a:latin typeface="宋体" panose="02010600030101010101" pitchFamily="2" charset="-122"/>
              </a:rPr>
              <a:t>水中溶解的氧量。</a:t>
            </a:r>
            <a:endParaRPr lang="zh-CN" altLang="en-US" sz="2800" b="1">
              <a:latin typeface="宋体" panose="02010600030101010101" pitchFamily="2" charset="-122"/>
            </a:endParaRPr>
          </a:p>
          <a:p>
            <a:pPr algn="l" defTabSz="916305">
              <a:lnSpc>
                <a:spcPct val="170000"/>
              </a:lnSpc>
              <a:buClr>
                <a:srgbClr val="F60000"/>
              </a:buClr>
              <a:buFont typeface="Wingdings" panose="05000000000000000000" pitchFamily="2" charset="2"/>
              <a:buChar char="Ø"/>
            </a:pPr>
            <a:r>
              <a:rPr lang="zh-CN" altLang="en-US" sz="2800" b="1">
                <a:latin typeface="宋体" panose="02010600030101010101" pitchFamily="2" charset="-122"/>
              </a:rPr>
              <a:t>低于</a:t>
            </a:r>
            <a:r>
              <a:rPr lang="en-US" altLang="zh-CN" sz="2800" b="1">
                <a:latin typeface="宋体" panose="02010600030101010101" pitchFamily="2" charset="-122"/>
              </a:rPr>
              <a:t>4mg/L</a:t>
            </a:r>
            <a:r>
              <a:rPr lang="zh-CN" altLang="en-US" sz="2800" b="1">
                <a:latin typeface="宋体" panose="02010600030101010101" pitchFamily="2" charset="-122"/>
              </a:rPr>
              <a:t>时，鱼类就会窒息死亡。</a:t>
            </a:r>
            <a:endParaRPr lang="zh-CN" altLang="en-US" sz="2800" b="1">
              <a:latin typeface="宋体" panose="02010600030101010101" pitchFamily="2" charset="-122"/>
            </a:endParaRPr>
          </a:p>
          <a:p>
            <a:pPr algn="l" defTabSz="916305">
              <a:lnSpc>
                <a:spcPct val="170000"/>
              </a:lnSpc>
              <a:buClr>
                <a:srgbClr val="F60000"/>
              </a:buClr>
              <a:buFont typeface="Wingdings" panose="05000000000000000000" pitchFamily="2" charset="2"/>
              <a:buChar char="Ø"/>
            </a:pPr>
            <a:r>
              <a:rPr lang="zh-CN" altLang="en-US" sz="2800" b="1">
                <a:latin typeface="宋体" panose="02010600030101010101" pitchFamily="2" charset="-122"/>
              </a:rPr>
              <a:t>溶解氧高，适于微生物生长，水体自净能力强。</a:t>
            </a:r>
            <a:endParaRPr lang="zh-CN" altLang="en-US" sz="2800" b="1">
              <a:latin typeface="宋体" panose="02010600030101010101" pitchFamily="2" charset="-122"/>
            </a:endParaRPr>
          </a:p>
          <a:p>
            <a:pPr algn="l" defTabSz="916305">
              <a:lnSpc>
                <a:spcPct val="170000"/>
              </a:lnSpc>
              <a:buClr>
                <a:srgbClr val="F60000"/>
              </a:buClr>
              <a:buFont typeface="Wingdings" panose="05000000000000000000" pitchFamily="2" charset="2"/>
              <a:buChar char="Ø"/>
            </a:pPr>
            <a:r>
              <a:rPr lang="zh-CN" altLang="en-US" sz="2800" b="1">
                <a:latin typeface="宋体" panose="02010600030101010101" pitchFamily="2" charset="-122"/>
              </a:rPr>
              <a:t>缺乏溶解氧，厌氧细菌繁殖，水体发臭。</a:t>
            </a:r>
            <a:endParaRPr lang="zh-CN" altLang="en-US" sz="2800" b="1">
              <a:latin typeface="宋体" panose="02010600030101010101" pitchFamily="2" charset="-122"/>
            </a:endParaRPr>
          </a:p>
          <a:p>
            <a:pPr algn="l" defTabSz="916305">
              <a:lnSpc>
                <a:spcPct val="170000"/>
              </a:lnSpc>
              <a:buClr>
                <a:srgbClr val="F60000"/>
              </a:buClr>
              <a:buFont typeface="Wingdings" panose="05000000000000000000" pitchFamily="2" charset="2"/>
              <a:buChar char="Ø"/>
            </a:pPr>
            <a:r>
              <a:rPr lang="zh-CN" altLang="en-US" sz="2800" b="1">
                <a:solidFill>
                  <a:srgbClr val="F60000"/>
                </a:solidFill>
                <a:latin typeface="宋体" panose="02010600030101010101" pitchFamily="2" charset="-122"/>
              </a:rPr>
              <a:t>有时溶解氧是判断水体是否污染和污染程度的重要指标。</a:t>
            </a:r>
            <a:endParaRPr lang="zh-CN" altLang="en-US" sz="2800" b="1">
              <a:solidFill>
                <a:srgbClr val="F60000"/>
              </a:solidFill>
              <a:latin typeface="宋体" panose="02010600030101010101" pitchFamily="2"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9730" name="标题 329729"/>
          <p:cNvSpPr>
            <a:spLocks noGrp="1"/>
          </p:cNvSpPr>
          <p:nvPr>
            <p:ph type="title"/>
          </p:nvPr>
        </p:nvSpPr>
        <p:spPr>
          <a:xfrm>
            <a:off x="2159000" y="44450"/>
            <a:ext cx="7477125" cy="784225"/>
          </a:xfrm>
        </p:spPr>
        <p:txBody>
          <a:bodyPr lIns="45720" tIns="0" rIns="45720" bIns="0" anchor="b" anchorCtr="0"/>
          <a:p>
            <a:pPr>
              <a:buFont typeface="Wingdings" panose="05000000000000000000" pitchFamily="2" charset="2"/>
              <a:buChar char="v"/>
            </a:pPr>
            <a:r>
              <a:rPr lang="zh-CN" altLang="en-US" sz="3600" b="0">
                <a:solidFill>
                  <a:srgbClr val="3333FF"/>
                </a:solidFill>
                <a:latin typeface="+mj-lt"/>
                <a:ea typeface="+mj-ea"/>
                <a:cs typeface="+mj-cs"/>
              </a:rPr>
              <a:t> 表示耗氧有机物指标</a:t>
            </a:r>
            <a:endParaRPr lang="zh-CN" altLang="en-US" sz="3600" b="0">
              <a:solidFill>
                <a:srgbClr val="3333FF"/>
              </a:solidFill>
              <a:latin typeface="+mj-lt"/>
              <a:ea typeface="+mj-ea"/>
              <a:cs typeface="+mj-cs"/>
            </a:endParaRPr>
          </a:p>
        </p:txBody>
      </p:sp>
      <p:sp>
        <p:nvSpPr>
          <p:cNvPr id="329731" name="文本占位符 329730"/>
          <p:cNvSpPr>
            <a:spLocks noGrp="1"/>
          </p:cNvSpPr>
          <p:nvPr>
            <p:ph type="body" idx="1"/>
          </p:nvPr>
        </p:nvSpPr>
        <p:spPr>
          <a:xfrm>
            <a:off x="3135313" y="1409700"/>
            <a:ext cx="7086600" cy="4799013"/>
          </a:xfrm>
        </p:spPr>
        <p:txBody>
          <a:bodyPr lIns="45720" rIns="45720" anchor="t" anchorCtr="0"/>
          <a:p>
            <a:pPr defTabSz="684530">
              <a:lnSpc>
                <a:spcPct val="140000"/>
              </a:lnSpc>
              <a:buSzPct val="25000"/>
              <a:buFont typeface="Wingdings" panose="05000000000000000000" pitchFamily="2" charset="2"/>
              <a:buChar char=" "/>
            </a:pPr>
            <a:r>
              <a:rPr lang="zh-CN" altLang="en-US" sz="2800" b="1">
                <a:solidFill>
                  <a:srgbClr val="F60000"/>
                </a:solidFill>
                <a:latin typeface="+mn-lt"/>
                <a:ea typeface="+mn-ea"/>
                <a:cs typeface="+mn-cs"/>
              </a:rPr>
              <a:t>生物化学需氧量</a:t>
            </a:r>
            <a:endParaRPr lang="zh-CN" altLang="en-US" sz="2800" b="1">
              <a:solidFill>
                <a:srgbClr val="F60000"/>
              </a:solidFill>
              <a:latin typeface="+mn-lt"/>
              <a:ea typeface="+mn-ea"/>
              <a:cs typeface="+mn-cs"/>
            </a:endParaRPr>
          </a:p>
          <a:p>
            <a:pPr defTabSz="684530">
              <a:lnSpc>
                <a:spcPct val="140000"/>
              </a:lnSpc>
              <a:buSzPct val="25000"/>
              <a:buFont typeface="Wingdings" panose="05000000000000000000" pitchFamily="2" charset="2"/>
              <a:buChar char=" "/>
            </a:pPr>
            <a:r>
              <a:rPr lang="zh-CN" altLang="en-US" sz="2800" b="1" dirty="0">
                <a:solidFill>
                  <a:srgbClr val="F60000"/>
                </a:solidFill>
                <a:latin typeface="+mn-lt"/>
                <a:ea typeface="+mn-ea"/>
                <a:cs typeface="+mn-cs"/>
              </a:rPr>
              <a:t>化学需氧量</a:t>
            </a:r>
            <a:endParaRPr lang="zh-CN" altLang="en-US" sz="2800" b="1">
              <a:solidFill>
                <a:srgbClr val="F60000"/>
              </a:solidFill>
              <a:latin typeface="+mn-lt"/>
              <a:ea typeface="+mn-ea"/>
              <a:cs typeface="+mn-cs"/>
            </a:endParaRPr>
          </a:p>
          <a:p>
            <a:pPr defTabSz="684530">
              <a:lnSpc>
                <a:spcPct val="140000"/>
              </a:lnSpc>
              <a:buSzPct val="25000"/>
              <a:buFont typeface="Wingdings" panose="05000000000000000000" pitchFamily="2" charset="2"/>
              <a:buChar char=" "/>
            </a:pPr>
            <a:r>
              <a:rPr lang="zh-CN" altLang="en-US" sz="2800" b="1">
                <a:solidFill>
                  <a:srgbClr val="F60000"/>
                </a:solidFill>
                <a:latin typeface="+mn-lt"/>
                <a:ea typeface="+mn-ea"/>
                <a:cs typeface="+mn-cs"/>
              </a:rPr>
              <a:t>总有机碳</a:t>
            </a:r>
            <a:endParaRPr lang="zh-CN" altLang="en-US" sz="2800" b="1">
              <a:solidFill>
                <a:srgbClr val="F60000"/>
              </a:solidFill>
              <a:latin typeface="+mn-lt"/>
              <a:ea typeface="+mn-ea"/>
              <a:cs typeface="+mn-cs"/>
            </a:endParaRPr>
          </a:p>
          <a:p>
            <a:pPr defTabSz="684530">
              <a:lnSpc>
                <a:spcPct val="140000"/>
              </a:lnSpc>
              <a:buSzPct val="25000"/>
              <a:buFont typeface="Wingdings" panose="05000000000000000000" pitchFamily="2" charset="2"/>
            </a:pPr>
            <a:r>
              <a:rPr lang="zh-CN" altLang="en-US" sz="2800" b="1">
                <a:solidFill>
                  <a:srgbClr val="F60000"/>
                </a:solidFill>
                <a:latin typeface="+mn-lt"/>
                <a:ea typeface="+mn-ea"/>
                <a:cs typeface="+mn-cs"/>
              </a:rPr>
              <a:t>溶解氧</a:t>
            </a:r>
            <a:endParaRPr lang="zh-CN" altLang="en-US" sz="2800" b="1">
              <a:solidFill>
                <a:srgbClr val="F60000"/>
              </a:solidFill>
              <a:latin typeface="+mn-lt"/>
              <a:ea typeface="+mn-ea"/>
              <a:cs typeface="+mn-cs"/>
            </a:endParaRPr>
          </a:p>
        </p:txBody>
      </p:sp>
      <p:sp>
        <p:nvSpPr>
          <p:cNvPr id="329732" name="椭圆 329731" descr="1"/>
          <p:cNvSpPr/>
          <p:nvPr/>
        </p:nvSpPr>
        <p:spPr>
          <a:xfrm>
            <a:off x="6818313" y="2995613"/>
            <a:ext cx="3505200" cy="1982787"/>
          </a:xfrm>
          <a:prstGeom prst="ellipse">
            <a:avLst/>
          </a:prstGeom>
          <a:blipFill rotWithShape="0">
            <a:blip r:embed="rId1"/>
            <a:stretch>
              <a:fillRect/>
            </a:stretch>
          </a:blipFill>
          <a:ln w="9525">
            <a:noFill/>
          </a:ln>
        </p:spPr>
        <p:txBody>
          <a:bodyPr/>
          <a:p>
            <a:endParaRPr lang="zh-CN" altLang="en-US"/>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2"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3604"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3605"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1398" name="Rectangle 6"/>
          <p:cNvSpPr/>
          <p:nvPr/>
        </p:nvSpPr>
        <p:spPr>
          <a:xfrm>
            <a:off x="746125" y="2293938"/>
            <a:ext cx="3670300" cy="1198880"/>
          </a:xfrm>
          <a:prstGeom prst="rect">
            <a:avLst/>
          </a:prstGeom>
          <a:noFill/>
          <a:ln w="9525">
            <a:noFill/>
          </a:ln>
        </p:spPr>
        <p:txBody>
          <a:bodyPr anchor="ctr" anchorCtr="0">
            <a:spAutoFit/>
          </a:bodyPr>
          <a:p>
            <a:pPr algn="l"/>
            <a:r>
              <a:rPr lang="zh-CN" altLang="en-US" sz="1800" dirty="0">
                <a:latin typeface="楷体_GB2312" charset="-122"/>
                <a:ea typeface="楷体_GB2312" charset="-122"/>
              </a:rPr>
              <a:t>    很多</a:t>
            </a:r>
            <a:r>
              <a:rPr lang="zh-CN" altLang="en-US" sz="1800" b="1" u="sng" dirty="0">
                <a:solidFill>
                  <a:srgbClr val="FC4A26"/>
                </a:solidFill>
                <a:latin typeface="楷体_GB2312" charset="-122"/>
                <a:ea typeface="楷体_GB2312" charset="-122"/>
              </a:rPr>
              <a:t>重金属</a:t>
            </a:r>
            <a:r>
              <a:rPr lang="zh-CN" altLang="en-US" sz="1800" dirty="0">
                <a:latin typeface="楷体_GB2312" charset="-122"/>
                <a:ea typeface="楷体_GB2312" charset="-122"/>
              </a:rPr>
              <a:t>对生物有显著毒性，并且能被生物吸收后通过食物链浓缩千万倍，最终进入人体造成</a:t>
            </a:r>
            <a:r>
              <a:rPr lang="zh-CN" altLang="en-US" sz="1800" b="1" u="sng" dirty="0">
                <a:solidFill>
                  <a:schemeClr val="accent2"/>
                </a:solidFill>
                <a:latin typeface="楷体_GB2312" charset="-122"/>
                <a:ea typeface="楷体_GB2312" charset="-122"/>
              </a:rPr>
              <a:t>慢性中毒或严重疾病</a:t>
            </a:r>
            <a:r>
              <a:rPr lang="zh-CN" altLang="en-US" sz="1800" dirty="0">
                <a:latin typeface="楷体_GB2312" charset="-122"/>
                <a:ea typeface="楷体_GB2312" charset="-122"/>
              </a:rPr>
              <a:t>。</a:t>
            </a:r>
            <a:endParaRPr lang="zh-CN" altLang="en-GB" sz="1800" dirty="0">
              <a:latin typeface="楷体_GB2312" charset="-122"/>
              <a:ea typeface="楷体_GB2312" charset="-122"/>
            </a:endParaRPr>
          </a:p>
        </p:txBody>
      </p:sp>
      <p:sp>
        <p:nvSpPr>
          <p:cNvPr id="1211399" name="Rectangle 7"/>
          <p:cNvSpPr/>
          <p:nvPr/>
        </p:nvSpPr>
        <p:spPr>
          <a:xfrm>
            <a:off x="1939925" y="1722438"/>
            <a:ext cx="171450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4</a:t>
            </a:r>
            <a:r>
              <a:rPr lang="zh-CN" altLang="en-US" sz="2400" b="1" dirty="0">
                <a:solidFill>
                  <a:schemeClr val="accent2"/>
                </a:solidFill>
                <a:latin typeface="楷体_GB2312" charset="-122"/>
                <a:ea typeface="楷体_GB2312" charset="-122"/>
              </a:rPr>
              <a:t>、重金属</a:t>
            </a:r>
            <a:r>
              <a:rPr lang="zh-CN" altLang="en-GB" sz="2400" b="1" dirty="0">
                <a:solidFill>
                  <a:schemeClr val="accent2"/>
                </a:solidFill>
                <a:latin typeface="楷体_GB2312" charset="-122"/>
                <a:ea typeface="楷体_GB2312" charset="-122"/>
              </a:rPr>
              <a:t> </a:t>
            </a:r>
            <a:endParaRPr lang="zh-CN" altLang="en-GB" sz="2400" b="1" dirty="0">
              <a:solidFill>
                <a:schemeClr val="accent2"/>
              </a:solidFill>
              <a:latin typeface="楷体_GB2312" charset="-122"/>
              <a:ea typeface="楷体_GB2312" charset="-122"/>
            </a:endParaRPr>
          </a:p>
        </p:txBody>
      </p:sp>
      <p:pic>
        <p:nvPicPr>
          <p:cNvPr id="1211401" name="Picture 9" descr="TTB1"/>
          <p:cNvPicPr>
            <a:picLocks noChangeAspect="1"/>
          </p:cNvPicPr>
          <p:nvPr/>
        </p:nvPicPr>
        <p:blipFill>
          <a:blip r:embed="rId1"/>
          <a:stretch>
            <a:fillRect/>
          </a:stretch>
        </p:blipFill>
        <p:spPr>
          <a:xfrm>
            <a:off x="1047115" y="3978275"/>
            <a:ext cx="3068320" cy="2115185"/>
          </a:xfrm>
          <a:prstGeom prst="rect">
            <a:avLst/>
          </a:prstGeom>
          <a:noFill/>
          <a:ln w="9525" cap="flat" cmpd="sng">
            <a:solidFill>
              <a:schemeClr val="tx1"/>
            </a:solidFill>
            <a:prstDash val="solid"/>
            <a:miter/>
            <a:headEnd type="none" w="med" len="med"/>
            <a:tailEnd type="none" w="med" len="med"/>
          </a:ln>
        </p:spPr>
      </p:pic>
      <p:sp>
        <p:nvSpPr>
          <p:cNvPr id="1211402" name="AutoShape 10"/>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
        <p:nvSpPr>
          <p:cNvPr id="2" name="文本框 1"/>
          <p:cNvSpPr txBox="1"/>
          <p:nvPr>
            <p:custDataLst>
              <p:tags r:id="rId2"/>
            </p:custDataLst>
          </p:nvPr>
        </p:nvSpPr>
        <p:spPr>
          <a:xfrm>
            <a:off x="5111750" y="828675"/>
            <a:ext cx="6096000" cy="1753235"/>
          </a:xfrm>
          <a:prstGeom prst="rect">
            <a:avLst/>
          </a:prstGeom>
          <a:noFill/>
        </p:spPr>
        <p:txBody>
          <a:bodyPr wrap="square" rtlCol="0" anchor="t">
            <a:spAutoFit/>
          </a:bodyPr>
          <a:p>
            <a:r>
              <a:rPr lang="zh-CN" altLang="en-US"/>
              <a:t>日本水俣病事件是1956年日本水俣湾出现的怪病事件，是最早出现的由于工业废水排放污染造成的公害病。症状表现为轻者口齿不清、步履蹒跚、面部痴呆、手足麻痹、感觉障碍、视觉丧失、震颤、手足变形，重者神经失常，或酣睡，或兴奋，身体弯弓高叫，直至死亡。</a:t>
            </a:r>
            <a:r>
              <a:rPr lang="zh-CN" altLang="en-US">
                <a:solidFill>
                  <a:srgbClr val="FF0000"/>
                </a:solidFill>
              </a:rPr>
              <a:t>被称为世界八大公害事件之一。是由于甲基汞引起的。</a:t>
            </a:r>
            <a:endParaRPr lang="zh-CN" altLang="en-US">
              <a:solidFill>
                <a:srgbClr val="FF0000"/>
              </a:solidFill>
            </a:endParaRPr>
          </a:p>
        </p:txBody>
      </p:sp>
      <p:pic>
        <p:nvPicPr>
          <p:cNvPr id="100" name="图片 99"/>
          <p:cNvPicPr/>
          <p:nvPr>
            <p:custDataLst>
              <p:tags r:id="rId3"/>
            </p:custDataLst>
          </p:nvPr>
        </p:nvPicPr>
        <p:blipFill>
          <a:blip r:embed="rId4"/>
          <a:stretch>
            <a:fillRect/>
          </a:stretch>
        </p:blipFill>
        <p:spPr>
          <a:xfrm>
            <a:off x="7944803" y="2835910"/>
            <a:ext cx="3419475" cy="3581400"/>
          </a:xfrm>
          <a:prstGeom prst="rect">
            <a:avLst/>
          </a:prstGeom>
          <a:noFill/>
          <a:ln w="9525">
            <a:noFill/>
          </a:ln>
        </p:spPr>
      </p:pic>
      <p:pic>
        <p:nvPicPr>
          <p:cNvPr id="101" name="图片 100"/>
          <p:cNvPicPr/>
          <p:nvPr>
            <p:custDataLst>
              <p:tags r:id="rId5"/>
            </p:custDataLst>
          </p:nvPr>
        </p:nvPicPr>
        <p:blipFill>
          <a:blip r:embed="rId6"/>
          <a:stretch>
            <a:fillRect/>
          </a:stretch>
        </p:blipFill>
        <p:spPr>
          <a:xfrm>
            <a:off x="4685665" y="3199765"/>
            <a:ext cx="2819400" cy="30480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1399"/>
                                        </p:tgtEl>
                                        <p:attrNameLst>
                                          <p:attrName>style.visibility</p:attrName>
                                        </p:attrNameLst>
                                      </p:cBhvr>
                                      <p:to>
                                        <p:strVal val="visible"/>
                                      </p:to>
                                    </p:set>
                                    <p:anim calcmode="lin" valueType="num">
                                      <p:cBhvr additive="base">
                                        <p:cTn id="7" dur="500" fill="hold"/>
                                        <p:tgtEl>
                                          <p:spTgt spid="1211399"/>
                                        </p:tgtEl>
                                        <p:attrNameLst>
                                          <p:attrName>ppt_x</p:attrName>
                                        </p:attrNameLst>
                                      </p:cBhvr>
                                      <p:tavLst>
                                        <p:tav tm="0">
                                          <p:val>
                                            <p:strVal val="0-#ppt_w/2"/>
                                          </p:val>
                                        </p:tav>
                                        <p:tav tm="100000">
                                          <p:val>
                                            <p:strVal val="#ppt_x"/>
                                          </p:val>
                                        </p:tav>
                                      </p:tavLst>
                                    </p:anim>
                                    <p:anim calcmode="lin" valueType="num">
                                      <p:cBhvr additive="base">
                                        <p:cTn id="8" dur="500" fill="hold"/>
                                        <p:tgtEl>
                                          <p:spTgt spid="1211399"/>
                                        </p:tgtEl>
                                        <p:attrNameLst>
                                          <p:attrName>ppt_y</p:attrName>
                                        </p:attrNameLst>
                                      </p:cBhvr>
                                      <p:tavLst>
                                        <p:tav tm="0">
                                          <p:val>
                                            <p:strVal val="#ppt_y"/>
                                          </p:val>
                                        </p:tav>
                                        <p:tav tm="100000">
                                          <p:val>
                                            <p:strVal val="#ppt_y"/>
                                          </p:val>
                                        </p:tav>
                                      </p:tavLst>
                                    </p:anim>
                                  </p:childTnLst>
                                </p:cTn>
                              </p:par>
                              <p:par>
                                <p:cTn id="9" presetID="3" presetClass="entr" presetSubtype="5" fill="hold" nodeType="withEffect">
                                  <p:stCondLst>
                                    <p:cond delay="0"/>
                                  </p:stCondLst>
                                  <p:childTnLst>
                                    <p:set>
                                      <p:cBhvr>
                                        <p:cTn id="10" dur="1" fill="hold">
                                          <p:stCondLst>
                                            <p:cond delay="0"/>
                                          </p:stCondLst>
                                        </p:cTn>
                                        <p:tgtEl>
                                          <p:spTgt spid="1211401"/>
                                        </p:tgtEl>
                                        <p:attrNameLst>
                                          <p:attrName>style.visibility</p:attrName>
                                        </p:attrNameLst>
                                      </p:cBhvr>
                                      <p:to>
                                        <p:strVal val="visible"/>
                                      </p:to>
                                    </p:set>
                                    <p:animEffect transition="in" filter="blinds(vertical)">
                                      <p:cBhvr>
                                        <p:cTn id="11" dur="500"/>
                                        <p:tgtEl>
                                          <p:spTgt spid="1211401"/>
                                        </p:tgtEl>
                                      </p:cBhvr>
                                    </p:animEffect>
                                  </p:childTnLst>
                                </p:cTn>
                              </p:par>
                              <p:par>
                                <p:cTn id="12" presetID="3" presetClass="entr" presetSubtype="5" fill="hold" grpId="0" nodeType="withEffect">
                                  <p:stCondLst>
                                    <p:cond delay="0"/>
                                  </p:stCondLst>
                                  <p:childTnLst>
                                    <p:set>
                                      <p:cBhvr>
                                        <p:cTn id="13" dur="1" fill="hold">
                                          <p:stCondLst>
                                            <p:cond delay="0"/>
                                          </p:stCondLst>
                                        </p:cTn>
                                        <p:tgtEl>
                                          <p:spTgt spid="1211398"/>
                                        </p:tgtEl>
                                        <p:attrNameLst>
                                          <p:attrName>style.visibility</p:attrName>
                                        </p:attrNameLst>
                                      </p:cBhvr>
                                      <p:to>
                                        <p:strVal val="visible"/>
                                      </p:to>
                                    </p:set>
                                    <p:animEffect transition="in" filter="blinds(vertical)">
                                      <p:cBhvr>
                                        <p:cTn id="14" dur="500"/>
                                        <p:tgtEl>
                                          <p:spTgt spid="1211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1398" grpId="0"/>
      <p:bldP spid="121139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82" name="文本框 327681"/>
          <p:cNvSpPr txBox="1"/>
          <p:nvPr/>
        </p:nvSpPr>
        <p:spPr>
          <a:xfrm>
            <a:off x="2486025" y="544513"/>
            <a:ext cx="2165350" cy="360680"/>
          </a:xfrm>
          <a:prstGeom prst="rect">
            <a:avLst/>
          </a:prstGeom>
          <a:noFill/>
          <a:ln w="9525">
            <a:noFill/>
          </a:ln>
        </p:spPr>
        <p:txBody>
          <a:bodyPr lIns="0" tIns="0" rIns="0" bIns="0">
            <a:spAutoFit/>
          </a:bodyPr>
          <a:p>
            <a:pPr algn="l" defTabSz="916305">
              <a:lnSpc>
                <a:spcPts val="2815"/>
              </a:lnSpc>
            </a:pPr>
            <a:r>
              <a:rPr lang="zh-CN" altLang="en-US" sz="2800" b="1" dirty="0">
                <a:solidFill>
                  <a:srgbClr val="003365"/>
                </a:solidFill>
                <a:latin typeface="楷体_GB2312" charset="-122"/>
                <a:ea typeface="楷体_GB2312" charset="-122"/>
              </a:rPr>
              <a:t>重金属</a:t>
            </a:r>
            <a:endParaRPr lang="zh-CN" altLang="en-US" sz="2800" b="1">
              <a:solidFill>
                <a:srgbClr val="003365"/>
              </a:solidFill>
              <a:latin typeface="楷体_GB2312" charset="-122"/>
              <a:ea typeface="楷体_GB2312" charset="-122"/>
            </a:endParaRPr>
          </a:p>
        </p:txBody>
      </p:sp>
      <p:sp>
        <p:nvSpPr>
          <p:cNvPr id="327683" name="文本框 327682"/>
          <p:cNvSpPr txBox="1"/>
          <p:nvPr/>
        </p:nvSpPr>
        <p:spPr>
          <a:xfrm>
            <a:off x="3063875" y="1263650"/>
            <a:ext cx="5632450" cy="368300"/>
          </a:xfrm>
          <a:prstGeom prst="rect">
            <a:avLst/>
          </a:prstGeom>
          <a:noFill/>
          <a:ln w="9525">
            <a:noFill/>
          </a:ln>
        </p:spPr>
        <p:txBody>
          <a:bodyPr lIns="91650" tIns="45825" rIns="91650" bIns="45825">
            <a:spAutoFit/>
          </a:bodyPr>
          <a:p>
            <a:pPr algn="l" defTabSz="916305">
              <a:spcBef>
                <a:spcPct val="50000"/>
              </a:spcBef>
            </a:pPr>
            <a:endParaRPr lang="zh-CN" altLang="en-US" sz="1800" dirty="0">
              <a:latin typeface="Arial" panose="020B0604020202020204" pitchFamily="34" charset="0"/>
            </a:endParaRPr>
          </a:p>
        </p:txBody>
      </p:sp>
      <p:sp>
        <p:nvSpPr>
          <p:cNvPr id="327684" name="文本框 327683"/>
          <p:cNvSpPr txBox="1"/>
          <p:nvPr/>
        </p:nvSpPr>
        <p:spPr>
          <a:xfrm>
            <a:off x="612775" y="976630"/>
            <a:ext cx="11194415" cy="4779010"/>
          </a:xfrm>
          <a:prstGeom prst="rect">
            <a:avLst/>
          </a:prstGeom>
          <a:noFill/>
          <a:ln w="9525">
            <a:noFill/>
          </a:ln>
        </p:spPr>
        <p:txBody>
          <a:bodyPr wrap="square" lIns="91650" tIns="45825" rIns="91650" bIns="45825">
            <a:spAutoFit/>
          </a:bodyPr>
          <a:p>
            <a:pPr algn="l" defTabSz="916305">
              <a:lnSpc>
                <a:spcPct val="110000"/>
              </a:lnSpc>
            </a:pPr>
            <a:r>
              <a:rPr lang="zh-CN" altLang="en-US" sz="2400" b="1" dirty="0">
                <a:solidFill>
                  <a:srgbClr val="003365"/>
                </a:solidFill>
                <a:latin typeface="隶书" panose="02010509060101010101" charset="-122"/>
                <a:ea typeface="隶书" panose="02010509060101010101" charset="-122"/>
              </a:rPr>
              <a:t>重金属以</a:t>
            </a:r>
            <a:r>
              <a:rPr lang="zh-CN" altLang="en-US" sz="2400" b="1" dirty="0">
                <a:solidFill>
                  <a:srgbClr val="F60000"/>
                </a:solidFill>
                <a:latin typeface="隶书" panose="02010509060101010101" charset="-122"/>
                <a:ea typeface="隶书" panose="02010509060101010101" charset="-122"/>
              </a:rPr>
              <a:t>汞</a:t>
            </a:r>
            <a:r>
              <a:rPr lang="zh-CN" altLang="en-US" sz="2400" b="1" dirty="0">
                <a:solidFill>
                  <a:srgbClr val="003365"/>
                </a:solidFill>
                <a:latin typeface="隶书" panose="02010509060101010101" charset="-122"/>
                <a:ea typeface="隶书" panose="02010509060101010101" charset="-122"/>
              </a:rPr>
              <a:t>毒性最大，</a:t>
            </a:r>
            <a:r>
              <a:rPr lang="zh-CN" altLang="en-US" sz="2400" b="1" dirty="0">
                <a:solidFill>
                  <a:srgbClr val="F60000"/>
                </a:solidFill>
                <a:latin typeface="隶书" panose="02010509060101010101" charset="-122"/>
                <a:ea typeface="隶书" panose="02010509060101010101" charset="-122"/>
              </a:rPr>
              <a:t>镉</a:t>
            </a:r>
            <a:r>
              <a:rPr lang="zh-CN" altLang="en-US" sz="2400" b="1" dirty="0">
                <a:solidFill>
                  <a:srgbClr val="003365"/>
                </a:solidFill>
                <a:latin typeface="隶书" panose="02010509060101010101" charset="-122"/>
                <a:ea typeface="隶书" panose="02010509060101010101" charset="-122"/>
              </a:rPr>
              <a:t>次之，</a:t>
            </a:r>
            <a:r>
              <a:rPr lang="zh-CN" altLang="en-US" sz="2400" b="1" dirty="0">
                <a:solidFill>
                  <a:srgbClr val="F60000"/>
                </a:solidFill>
                <a:latin typeface="隶书" panose="02010509060101010101" charset="-122"/>
                <a:ea typeface="隶书" panose="02010509060101010101" charset="-122"/>
              </a:rPr>
              <a:t>铅、铬、砷</a:t>
            </a:r>
            <a:r>
              <a:rPr lang="zh-CN" altLang="en-US" sz="2400" b="1" dirty="0">
                <a:solidFill>
                  <a:srgbClr val="003365"/>
                </a:solidFill>
                <a:latin typeface="隶书" panose="02010509060101010101" charset="-122"/>
                <a:ea typeface="隶书" panose="02010509060101010101" charset="-122"/>
              </a:rPr>
              <a:t>也有相当毒害，有人称之为“五毒”。</a:t>
            </a:r>
            <a:r>
              <a:rPr lang="zh-CN" altLang="en-US" sz="2400" b="1" dirty="0">
                <a:solidFill>
                  <a:srgbClr val="F60000"/>
                </a:solidFill>
                <a:latin typeface="隶书" panose="02010509060101010101" charset="-122"/>
                <a:ea typeface="隶书" panose="02010509060101010101" charset="-122"/>
              </a:rPr>
              <a:t>采矿和冶炼</a:t>
            </a:r>
            <a:r>
              <a:rPr lang="zh-CN" altLang="en-US" sz="2400" b="1" dirty="0">
                <a:solidFill>
                  <a:srgbClr val="003365"/>
                </a:solidFill>
                <a:latin typeface="隶书" panose="02010509060101010101" charset="-122"/>
                <a:ea typeface="隶书" panose="02010509060101010101" charset="-122"/>
              </a:rPr>
              <a:t>是向环境释放重金属的</a:t>
            </a:r>
            <a:r>
              <a:rPr lang="zh-CN" altLang="en-US" sz="2400" b="1" dirty="0">
                <a:solidFill>
                  <a:srgbClr val="F60000"/>
                </a:solidFill>
                <a:latin typeface="隶书" panose="02010509060101010101" charset="-122"/>
                <a:ea typeface="隶书" panose="02010509060101010101" charset="-122"/>
              </a:rPr>
              <a:t>主要污染源</a:t>
            </a:r>
            <a:r>
              <a:rPr lang="zh-CN" altLang="en-US" sz="2400" b="1" dirty="0">
                <a:solidFill>
                  <a:srgbClr val="003365"/>
                </a:solidFill>
                <a:latin typeface="隶书" panose="02010509060101010101" charset="-122"/>
                <a:ea typeface="隶书" panose="02010509060101010101" charset="-122"/>
              </a:rPr>
              <a:t>。</a:t>
            </a:r>
            <a:endParaRPr lang="zh-CN" altLang="en-US" sz="2400" b="1" dirty="0">
              <a:solidFill>
                <a:srgbClr val="003365"/>
              </a:solidFill>
              <a:latin typeface="隶书" panose="02010509060101010101" charset="-122"/>
              <a:ea typeface="隶书" panose="02010509060101010101" charset="-122"/>
            </a:endParaRPr>
          </a:p>
          <a:p>
            <a:pPr algn="l" defTabSz="916305">
              <a:lnSpc>
                <a:spcPct val="110000"/>
              </a:lnSpc>
            </a:pPr>
            <a:r>
              <a:rPr lang="zh-CN" altLang="en-US" sz="2400" b="1" dirty="0">
                <a:solidFill>
                  <a:srgbClr val="F60000"/>
                </a:solidFill>
                <a:latin typeface="隶书" panose="02010509060101010101" charset="-122"/>
                <a:ea typeface="隶书" panose="02010509060101010101" charset="-122"/>
              </a:rPr>
              <a:t>污染物的主要特征</a:t>
            </a:r>
            <a:r>
              <a:rPr lang="zh-CN" altLang="en-US" sz="2400" b="1" dirty="0">
                <a:solidFill>
                  <a:srgbClr val="003365"/>
                </a:solidFill>
                <a:latin typeface="隶书" panose="02010509060101010101" charset="-122"/>
                <a:ea typeface="隶书" panose="02010509060101010101" charset="-122"/>
              </a:rPr>
              <a:t>：在水体不能被微生物降解，只能发生形态的转变，以及金属分散和富集的迁移。</a:t>
            </a:r>
            <a:endParaRPr lang="zh-CN" altLang="en-US" sz="2400" b="1" dirty="0">
              <a:solidFill>
                <a:srgbClr val="003365"/>
              </a:solidFill>
              <a:latin typeface="隶书" panose="02010509060101010101" charset="-122"/>
              <a:ea typeface="隶书" panose="02010509060101010101" charset="-122"/>
            </a:endParaRPr>
          </a:p>
          <a:p>
            <a:pPr algn="l" defTabSz="916305">
              <a:lnSpc>
                <a:spcPct val="110000"/>
              </a:lnSpc>
            </a:pPr>
            <a:r>
              <a:rPr lang="zh-CN" altLang="en-US" sz="2400" b="1" dirty="0">
                <a:solidFill>
                  <a:srgbClr val="003365"/>
                </a:solidFill>
                <a:latin typeface="隶书" panose="02010509060101010101" charset="-122"/>
                <a:ea typeface="隶书" panose="02010509060101010101" charset="-122"/>
              </a:rPr>
              <a:t>重金属在水环境中的</a:t>
            </a:r>
            <a:r>
              <a:rPr lang="zh-CN" altLang="en-US" sz="2400" b="1" dirty="0">
                <a:solidFill>
                  <a:srgbClr val="F60000"/>
                </a:solidFill>
                <a:latin typeface="隶书" panose="02010509060101010101" charset="-122"/>
                <a:ea typeface="隶书" panose="02010509060101010101" charset="-122"/>
              </a:rPr>
              <a:t>迁移转化</a:t>
            </a:r>
            <a:r>
              <a:rPr lang="zh-CN" altLang="en-US" sz="2400" b="1" dirty="0">
                <a:solidFill>
                  <a:srgbClr val="003365"/>
                </a:solidFill>
                <a:latin typeface="隶书" panose="02010509060101010101" charset="-122"/>
                <a:ea typeface="隶书" panose="02010509060101010101" charset="-122"/>
              </a:rPr>
              <a:t>：可分为</a:t>
            </a:r>
            <a:r>
              <a:rPr lang="zh-CN" altLang="en-US" sz="2400" b="1" dirty="0">
                <a:solidFill>
                  <a:srgbClr val="F60000"/>
                </a:solidFill>
                <a:latin typeface="隶书" panose="02010509060101010101" charset="-122"/>
                <a:ea typeface="隶书" panose="02010509060101010101" charset="-122"/>
              </a:rPr>
              <a:t>机械迁移、物理化学过程和生物迁移</a:t>
            </a:r>
            <a:r>
              <a:rPr lang="zh-CN" altLang="en-US" sz="2400" b="1" dirty="0">
                <a:solidFill>
                  <a:srgbClr val="003365"/>
                </a:solidFill>
                <a:latin typeface="隶书" panose="02010509060101010101" charset="-122"/>
                <a:ea typeface="隶书" panose="02010509060101010101" charset="-122"/>
              </a:rPr>
              <a:t>三种基本类型。</a:t>
            </a:r>
            <a:endParaRPr lang="zh-CN" altLang="en-US" sz="2400" b="1" dirty="0">
              <a:solidFill>
                <a:srgbClr val="003365"/>
              </a:solidFill>
              <a:latin typeface="隶书" panose="02010509060101010101" charset="-122"/>
              <a:ea typeface="隶书" panose="02010509060101010101" charset="-122"/>
            </a:endParaRPr>
          </a:p>
          <a:p>
            <a:pPr algn="l" defTabSz="916305">
              <a:lnSpc>
                <a:spcPct val="110000"/>
              </a:lnSpc>
            </a:pPr>
            <a:r>
              <a:rPr lang="zh-CN" altLang="en-US" sz="2400" b="1" dirty="0">
                <a:solidFill>
                  <a:srgbClr val="003365"/>
                </a:solidFill>
                <a:latin typeface="隶书" panose="02010509060101010101" charset="-122"/>
                <a:ea typeface="隶书" panose="02010509060101010101" charset="-122"/>
              </a:rPr>
              <a:t>重金属的污染有</a:t>
            </a:r>
            <a:r>
              <a:rPr lang="zh-CN" altLang="en-US" sz="2400" b="1" dirty="0">
                <a:solidFill>
                  <a:srgbClr val="F60000"/>
                </a:solidFill>
                <a:latin typeface="隶书" panose="02010509060101010101" charset="-122"/>
                <a:ea typeface="隶书" panose="02010509060101010101" charset="-122"/>
              </a:rPr>
              <a:t>三个特点</a:t>
            </a:r>
            <a:r>
              <a:rPr lang="zh-CN" altLang="en-US" sz="2400" b="1" dirty="0">
                <a:solidFill>
                  <a:srgbClr val="003365"/>
                </a:solidFill>
                <a:latin typeface="隶书" panose="02010509060101010101" charset="-122"/>
                <a:ea typeface="隶书" panose="02010509060101010101" charset="-122"/>
              </a:rPr>
              <a:t> ：</a:t>
            </a:r>
            <a:endParaRPr lang="zh-CN" altLang="en-US" sz="2400" b="1" dirty="0">
              <a:solidFill>
                <a:srgbClr val="003365"/>
              </a:solidFill>
              <a:latin typeface="隶书" panose="02010509060101010101" charset="-122"/>
              <a:ea typeface="隶书" panose="02010509060101010101" charset="-122"/>
            </a:endParaRPr>
          </a:p>
          <a:p>
            <a:pPr algn="l" defTabSz="916305">
              <a:buClr>
                <a:srgbClr val="F60000"/>
              </a:buClr>
              <a:buFont typeface="Wingdings" panose="05000000000000000000" pitchFamily="2" charset="2"/>
              <a:buChar char="Ø"/>
            </a:pPr>
            <a:r>
              <a:rPr lang="zh-CN" altLang="en-US" sz="2400" b="1" dirty="0">
                <a:solidFill>
                  <a:srgbClr val="003365"/>
                </a:solidFill>
                <a:latin typeface="隶书" panose="02010509060101010101" charset="-122"/>
                <a:ea typeface="隶书" panose="02010509060101010101" charset="-122"/>
              </a:rPr>
              <a:t>在天然水体中只要有微量浓度即可产生毒性效应，一般重金属产生毒性的范围大致在</a:t>
            </a:r>
            <a:r>
              <a:rPr lang="en-US" altLang="zh-CN" sz="2400" b="1">
                <a:solidFill>
                  <a:srgbClr val="003365"/>
                </a:solidFill>
                <a:latin typeface="隶书" panose="02010509060101010101" charset="-122"/>
                <a:ea typeface="隶书" panose="02010509060101010101" charset="-122"/>
              </a:rPr>
              <a:t>1-10mg/L</a:t>
            </a:r>
            <a:r>
              <a:rPr lang="zh-CN" altLang="en-US" sz="2400" b="1" dirty="0">
                <a:solidFill>
                  <a:srgbClr val="003365"/>
                </a:solidFill>
                <a:latin typeface="隶书" panose="02010509060101010101" charset="-122"/>
                <a:ea typeface="隶书" panose="02010509060101010101" charset="-122"/>
              </a:rPr>
              <a:t>。</a:t>
            </a:r>
            <a:endParaRPr lang="zh-CN" altLang="en-US" sz="2400" b="1" dirty="0">
              <a:solidFill>
                <a:srgbClr val="003365"/>
              </a:solidFill>
              <a:latin typeface="隶书" panose="02010509060101010101" charset="-122"/>
              <a:ea typeface="隶书" panose="02010509060101010101" charset="-122"/>
            </a:endParaRPr>
          </a:p>
          <a:p>
            <a:pPr algn="l" defTabSz="916305">
              <a:buClr>
                <a:srgbClr val="F60000"/>
              </a:buClr>
              <a:buFont typeface="Wingdings" panose="05000000000000000000" pitchFamily="2" charset="2"/>
              <a:buChar char="Ø"/>
            </a:pPr>
            <a:r>
              <a:rPr lang="zh-CN" altLang="en-US" sz="2400" b="1" dirty="0">
                <a:solidFill>
                  <a:srgbClr val="003365"/>
                </a:solidFill>
                <a:latin typeface="隶书" panose="02010509060101010101" charset="-122"/>
                <a:ea typeface="隶书" panose="02010509060101010101" charset="-122"/>
              </a:rPr>
              <a:t>通过食物链的生物放大作用，重金属可以在较高级生物体内成千、成万倍地富集。</a:t>
            </a:r>
            <a:endParaRPr lang="zh-CN" altLang="en-US" sz="2400" b="1" dirty="0">
              <a:solidFill>
                <a:srgbClr val="003365"/>
              </a:solidFill>
              <a:latin typeface="隶书" panose="02010509060101010101" charset="-122"/>
              <a:ea typeface="隶书" panose="02010509060101010101" charset="-122"/>
            </a:endParaRPr>
          </a:p>
          <a:p>
            <a:pPr algn="l" defTabSz="916305">
              <a:buClr>
                <a:srgbClr val="F60000"/>
              </a:buClr>
              <a:buFont typeface="Wingdings" panose="05000000000000000000" pitchFamily="2" charset="2"/>
              <a:buChar char="Ø"/>
            </a:pPr>
            <a:r>
              <a:rPr lang="zh-CN" altLang="en-US" sz="2400" b="1" dirty="0">
                <a:solidFill>
                  <a:srgbClr val="003365"/>
                </a:solidFill>
                <a:latin typeface="隶书" panose="02010509060101010101" charset="-122"/>
                <a:ea typeface="隶书" panose="02010509060101010101" charset="-122"/>
              </a:rPr>
              <a:t>水体中的某些重金属可在微生物的作用下转化为毒性更强的金属化合物，如汞的甲基化。</a:t>
            </a:r>
            <a:endParaRPr lang="zh-CN" altLang="en-US" sz="2400" b="1" dirty="0">
              <a:solidFill>
                <a:srgbClr val="003365"/>
              </a:solidFill>
              <a:latin typeface="隶书" panose="02010509060101010101" charset="-122"/>
              <a:ea typeface="隶书" panose="02010509060101010101"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6"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4628"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4629"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2422" name="Rectangle 6"/>
          <p:cNvSpPr/>
          <p:nvPr/>
        </p:nvSpPr>
        <p:spPr>
          <a:xfrm>
            <a:off x="5429885" y="2386648"/>
            <a:ext cx="6363970" cy="3784600"/>
          </a:xfrm>
          <a:prstGeom prst="rect">
            <a:avLst/>
          </a:prstGeom>
          <a:noFill/>
          <a:ln w="9525">
            <a:noFill/>
          </a:ln>
        </p:spPr>
        <p:txBody>
          <a:bodyPr wrap="square" anchor="ctr" anchorCtr="0">
            <a:spAutoFit/>
          </a:bodyPr>
          <a:p>
            <a:pPr algn="l"/>
            <a:r>
              <a:rPr lang="zh-CN" altLang="en-US" sz="2400" dirty="0">
                <a:latin typeface="楷体_GB2312" charset="-122"/>
                <a:ea typeface="楷体_GB2312" charset="-122"/>
              </a:rPr>
              <a:t>    </a:t>
            </a:r>
            <a:r>
              <a:rPr lang="zh-CN" altLang="en-US" sz="2400" b="1" u="sng" dirty="0">
                <a:solidFill>
                  <a:srgbClr val="FC4A26"/>
                </a:solidFill>
                <a:latin typeface="楷体_GB2312" charset="-122"/>
                <a:ea typeface="楷体_GB2312" charset="-122"/>
              </a:rPr>
              <a:t>酸碱污染物</a:t>
            </a:r>
            <a:r>
              <a:rPr lang="zh-CN" altLang="en-US" sz="2400" dirty="0">
                <a:latin typeface="楷体_GB2312" charset="-122"/>
                <a:ea typeface="楷体_GB2312" charset="-122"/>
              </a:rPr>
              <a:t>排入水体会使水体</a:t>
            </a:r>
            <a:r>
              <a:rPr lang="en-US" altLang="zh-CN" sz="2400">
                <a:latin typeface="Times New Roman" panose="02020603050405020304" charset="0"/>
                <a:ea typeface="楷体_GB2312" charset="-122"/>
              </a:rPr>
              <a:t>pH</a:t>
            </a:r>
            <a:r>
              <a:rPr lang="zh-CN" altLang="en-US" sz="2400" dirty="0">
                <a:latin typeface="Times New Roman" panose="02020603050405020304" charset="0"/>
                <a:ea typeface="楷体_GB2312" charset="-122"/>
              </a:rPr>
              <a:t>发生变化，破坏水中自然缓冲作用。当水体</a:t>
            </a:r>
            <a:r>
              <a:rPr lang="en-US" altLang="zh-CN" sz="2400" b="1" u="sng">
                <a:solidFill>
                  <a:schemeClr val="accent2"/>
                </a:solidFill>
                <a:latin typeface="Times New Roman" panose="02020603050405020304" charset="0"/>
                <a:ea typeface="楷体_GB2312" charset="-122"/>
              </a:rPr>
              <a:t>pH</a:t>
            </a:r>
            <a:r>
              <a:rPr lang="zh-CN" altLang="en-US" sz="2400" b="1" u="sng" dirty="0">
                <a:solidFill>
                  <a:schemeClr val="accent2"/>
                </a:solidFill>
                <a:latin typeface="Times New Roman" panose="02020603050405020304" charset="0"/>
                <a:ea typeface="楷体_GB2312" charset="-122"/>
              </a:rPr>
              <a:t>值小于</a:t>
            </a:r>
            <a:r>
              <a:rPr lang="en-US" altLang="zh-CN" sz="2400" b="1" u="sng">
                <a:solidFill>
                  <a:schemeClr val="accent2"/>
                </a:solidFill>
                <a:latin typeface="Times New Roman" panose="02020603050405020304" charset="0"/>
                <a:ea typeface="楷体_GB2312" charset="-122"/>
              </a:rPr>
              <a:t>6.5</a:t>
            </a:r>
            <a:r>
              <a:rPr lang="zh-CN" altLang="en-US" sz="2400" b="1" u="sng" dirty="0">
                <a:solidFill>
                  <a:schemeClr val="accent2"/>
                </a:solidFill>
                <a:latin typeface="Times New Roman" panose="02020603050405020304" charset="0"/>
                <a:ea typeface="楷体_GB2312" charset="-122"/>
              </a:rPr>
              <a:t>或大于</a:t>
            </a:r>
            <a:r>
              <a:rPr lang="en-US" altLang="zh-CN" sz="2400" b="1" u="sng">
                <a:solidFill>
                  <a:schemeClr val="accent2"/>
                </a:solidFill>
                <a:latin typeface="Times New Roman" panose="02020603050405020304" charset="0"/>
                <a:ea typeface="楷体_GB2312" charset="-122"/>
              </a:rPr>
              <a:t>8.5</a:t>
            </a:r>
            <a:r>
              <a:rPr lang="zh-CN" altLang="en-US" sz="2400" dirty="0">
                <a:latin typeface="Times New Roman" panose="02020603050405020304" charset="0"/>
                <a:ea typeface="楷体_GB2312" charset="-122"/>
              </a:rPr>
              <a:t>时，水中微生物的生长会受到抑制，致使水体自净能力减弱，并影响渔业生产</a:t>
            </a:r>
            <a:r>
              <a:rPr lang="zh-CN" altLang="en-US" sz="2400" dirty="0">
                <a:latin typeface="楷体_GB2312" charset="-122"/>
                <a:ea typeface="楷体_GB2312" charset="-122"/>
              </a:rPr>
              <a:t>，严重还会腐蚀船只、桥梁及其他水上建筑。用酸化或碱化的水浇灌农田，会破坏土壤的理化性质，影响农作物的生长。酸碱对水体的污染，还会使水的含盐量增加，提高水的硬度，对</a:t>
            </a:r>
            <a:r>
              <a:rPr lang="zh-CN" altLang="en-US" sz="2400" b="1" u="sng" dirty="0">
                <a:solidFill>
                  <a:schemeClr val="accent2"/>
                </a:solidFill>
                <a:latin typeface="楷体_GB2312" charset="-122"/>
                <a:ea typeface="楷体_GB2312" charset="-122"/>
              </a:rPr>
              <a:t>工业、农业、渔业和生活用水都会产生不良的影响</a:t>
            </a:r>
            <a:r>
              <a:rPr lang="zh-CN" altLang="en-US" sz="2400" dirty="0">
                <a:latin typeface="楷体_GB2312" charset="-122"/>
                <a:ea typeface="楷体_GB2312" charset="-122"/>
              </a:rPr>
              <a:t>。</a:t>
            </a:r>
            <a:endParaRPr lang="zh-CN" altLang="en-US" sz="2400" dirty="0">
              <a:latin typeface="楷体_GB2312" charset="-122"/>
              <a:ea typeface="楷体_GB2312" charset="-122"/>
            </a:endParaRPr>
          </a:p>
        </p:txBody>
      </p:sp>
      <p:sp>
        <p:nvSpPr>
          <p:cNvPr id="1212423" name="Rectangle 7"/>
          <p:cNvSpPr/>
          <p:nvPr/>
        </p:nvSpPr>
        <p:spPr>
          <a:xfrm>
            <a:off x="1939925" y="1722438"/>
            <a:ext cx="202057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5</a:t>
            </a:r>
            <a:r>
              <a:rPr lang="zh-CN" altLang="en-US" sz="2400" b="1" dirty="0">
                <a:solidFill>
                  <a:schemeClr val="accent2"/>
                </a:solidFill>
                <a:latin typeface="楷体_GB2312" charset="-122"/>
                <a:ea typeface="楷体_GB2312" charset="-122"/>
              </a:rPr>
              <a:t>、酸碱污染</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212424" name="Picture 8" descr="01300000369368125266852702016_s"/>
          <p:cNvPicPr>
            <a:picLocks noChangeAspect="1"/>
          </p:cNvPicPr>
          <p:nvPr/>
        </p:nvPicPr>
        <p:blipFill>
          <a:blip r:embed="rId1"/>
          <a:stretch>
            <a:fillRect/>
          </a:stretch>
        </p:blipFill>
        <p:spPr>
          <a:xfrm>
            <a:off x="1676083" y="2084705"/>
            <a:ext cx="3327400" cy="2216150"/>
          </a:xfrm>
          <a:prstGeom prst="rect">
            <a:avLst/>
          </a:prstGeom>
          <a:noFill/>
          <a:ln w="9525">
            <a:noFill/>
          </a:ln>
        </p:spPr>
      </p:pic>
      <p:pic>
        <p:nvPicPr>
          <p:cNvPr id="1212425" name="Picture 9" descr="2009_7_13_15995_9615995"/>
          <p:cNvPicPr>
            <a:picLocks noChangeAspect="1"/>
          </p:cNvPicPr>
          <p:nvPr/>
        </p:nvPicPr>
        <p:blipFill>
          <a:blip r:embed="rId2"/>
          <a:stretch>
            <a:fillRect/>
          </a:stretch>
        </p:blipFill>
        <p:spPr>
          <a:xfrm>
            <a:off x="1482090" y="4173220"/>
            <a:ext cx="3657600" cy="2559050"/>
          </a:xfrm>
          <a:prstGeom prst="rect">
            <a:avLst/>
          </a:prstGeom>
          <a:noFill/>
          <a:ln w="9525">
            <a:noFill/>
          </a:ln>
        </p:spPr>
      </p:pic>
      <p:sp>
        <p:nvSpPr>
          <p:cNvPr id="1212426" name="AutoShape 10"/>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2423"/>
                                        </p:tgtEl>
                                        <p:attrNameLst>
                                          <p:attrName>style.visibility</p:attrName>
                                        </p:attrNameLst>
                                      </p:cBhvr>
                                      <p:to>
                                        <p:strVal val="visible"/>
                                      </p:to>
                                    </p:set>
                                    <p:anim calcmode="lin" valueType="num">
                                      <p:cBhvr additive="base">
                                        <p:cTn id="7" dur="500" fill="hold"/>
                                        <p:tgtEl>
                                          <p:spTgt spid="1212423"/>
                                        </p:tgtEl>
                                        <p:attrNameLst>
                                          <p:attrName>ppt_x</p:attrName>
                                        </p:attrNameLst>
                                      </p:cBhvr>
                                      <p:tavLst>
                                        <p:tav tm="0">
                                          <p:val>
                                            <p:strVal val="0-#ppt_w/2"/>
                                          </p:val>
                                        </p:tav>
                                        <p:tav tm="100000">
                                          <p:val>
                                            <p:strVal val="#ppt_x"/>
                                          </p:val>
                                        </p:tav>
                                      </p:tavLst>
                                    </p:anim>
                                    <p:anim calcmode="lin" valueType="num">
                                      <p:cBhvr additive="base">
                                        <p:cTn id="8" dur="500" fill="hold"/>
                                        <p:tgtEl>
                                          <p:spTgt spid="12124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12425"/>
                                        </p:tgtEl>
                                        <p:attrNameLst>
                                          <p:attrName>style.visibility</p:attrName>
                                        </p:attrNameLst>
                                      </p:cBhvr>
                                      <p:to>
                                        <p:strVal val="visible"/>
                                      </p:to>
                                    </p:set>
                                    <p:animEffect transition="in" filter="blinds(vertical)">
                                      <p:cBhvr>
                                        <p:cTn id="13" dur="500"/>
                                        <p:tgtEl>
                                          <p:spTgt spid="1212425"/>
                                        </p:tgtEl>
                                      </p:cBhvr>
                                    </p:animEffect>
                                  </p:childTnLst>
                                </p:cTn>
                              </p:par>
                              <p:par>
                                <p:cTn id="14" presetID="3" presetClass="entr" presetSubtype="5" fill="hold" nodeType="withEffect">
                                  <p:stCondLst>
                                    <p:cond delay="0"/>
                                  </p:stCondLst>
                                  <p:childTnLst>
                                    <p:set>
                                      <p:cBhvr>
                                        <p:cTn id="15" dur="1" fill="hold">
                                          <p:stCondLst>
                                            <p:cond delay="0"/>
                                          </p:stCondLst>
                                        </p:cTn>
                                        <p:tgtEl>
                                          <p:spTgt spid="1212424"/>
                                        </p:tgtEl>
                                        <p:attrNameLst>
                                          <p:attrName>style.visibility</p:attrName>
                                        </p:attrNameLst>
                                      </p:cBhvr>
                                      <p:to>
                                        <p:strVal val="visible"/>
                                      </p:to>
                                    </p:set>
                                    <p:animEffect transition="in" filter="blinds(vertical)">
                                      <p:cBhvr>
                                        <p:cTn id="16" dur="500"/>
                                        <p:tgtEl>
                                          <p:spTgt spid="1212424"/>
                                        </p:tgtEl>
                                      </p:cBhvr>
                                    </p:animEffect>
                                  </p:childTnLst>
                                </p:cTn>
                              </p:par>
                              <p:par>
                                <p:cTn id="17" presetID="3" presetClass="entr" presetSubtype="5" fill="hold" grpId="0" nodeType="withEffect">
                                  <p:stCondLst>
                                    <p:cond delay="0"/>
                                  </p:stCondLst>
                                  <p:childTnLst>
                                    <p:set>
                                      <p:cBhvr>
                                        <p:cTn id="18" dur="1" fill="hold">
                                          <p:stCondLst>
                                            <p:cond delay="0"/>
                                          </p:stCondLst>
                                        </p:cTn>
                                        <p:tgtEl>
                                          <p:spTgt spid="1212422"/>
                                        </p:tgtEl>
                                        <p:attrNameLst>
                                          <p:attrName>style.visibility</p:attrName>
                                        </p:attrNameLst>
                                      </p:cBhvr>
                                      <p:to>
                                        <p:strVal val="visible"/>
                                      </p:to>
                                    </p:set>
                                    <p:animEffect transition="in" filter="blinds(vertical)">
                                      <p:cBhvr>
                                        <p:cTn id="19" dur="500"/>
                                        <p:tgtEl>
                                          <p:spTgt spid="1212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2422" grpId="0"/>
      <p:bldP spid="12124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0754" name="文本框 330753"/>
          <p:cNvSpPr txBox="1"/>
          <p:nvPr/>
        </p:nvSpPr>
        <p:spPr>
          <a:xfrm>
            <a:off x="1704975" y="6480175"/>
            <a:ext cx="330200" cy="307340"/>
          </a:xfrm>
          <a:prstGeom prst="rect">
            <a:avLst/>
          </a:prstGeom>
          <a:noFill/>
          <a:ln w="9525">
            <a:noFill/>
          </a:ln>
        </p:spPr>
        <p:txBody>
          <a:bodyPr wrap="none" lIns="0" tIns="0" rIns="0" bIns="0">
            <a:spAutoFit/>
          </a:bodyPr>
          <a:p>
            <a:pPr algn="l" defTabSz="916305">
              <a:lnSpc>
                <a:spcPts val="2400"/>
              </a:lnSpc>
            </a:pPr>
            <a:r>
              <a:rPr lang="en-US" altLang="zh-CN" sz="2600" b="1">
                <a:solidFill>
                  <a:srgbClr val="FFFFFF"/>
                </a:solidFill>
                <a:latin typeface="Times New Roman" panose="02020603050405020304" charset="0"/>
              </a:rPr>
              <a:t>27</a:t>
            </a:r>
            <a:endParaRPr lang="en-US" altLang="zh-CN" sz="2600" b="1">
              <a:solidFill>
                <a:srgbClr val="FFFFFF"/>
              </a:solidFill>
              <a:latin typeface="Times New Roman" panose="02020603050405020304" charset="0"/>
            </a:endParaRPr>
          </a:p>
        </p:txBody>
      </p:sp>
      <p:sp>
        <p:nvSpPr>
          <p:cNvPr id="330755" name="文本框 330754"/>
          <p:cNvSpPr txBox="1"/>
          <p:nvPr/>
        </p:nvSpPr>
        <p:spPr>
          <a:xfrm>
            <a:off x="2884488" y="1392238"/>
            <a:ext cx="4729162" cy="927100"/>
          </a:xfrm>
          <a:prstGeom prst="rect">
            <a:avLst/>
          </a:prstGeom>
          <a:noFill/>
          <a:ln w="9525">
            <a:noFill/>
          </a:ln>
        </p:spPr>
        <p:txBody>
          <a:bodyPr lIns="0" tIns="0" rIns="0" bIns="0">
            <a:spAutoFit/>
          </a:bodyPr>
          <a:p>
            <a:pPr algn="l" defTabSz="916305">
              <a:lnSpc>
                <a:spcPts val="3615"/>
              </a:lnSpc>
              <a:buFont typeface="Wingdings" panose="05000000000000000000" pitchFamily="2" charset="2"/>
              <a:buChar char="Ø"/>
            </a:pPr>
            <a:r>
              <a:rPr lang="en-US" altLang="zh-CN" sz="3600" b="1">
                <a:solidFill>
                  <a:srgbClr val="006565"/>
                </a:solidFill>
                <a:latin typeface="楷体_GB2312" charset="-122"/>
                <a:ea typeface="楷体_GB2312" charset="-122"/>
              </a:rPr>
              <a:t>pH</a:t>
            </a:r>
            <a:r>
              <a:rPr lang="zh-CN" altLang="en-US" sz="3600" b="1" dirty="0">
                <a:solidFill>
                  <a:srgbClr val="006565"/>
                </a:solidFill>
                <a:latin typeface="楷体_GB2312" charset="-122"/>
                <a:ea typeface="楷体_GB2312" charset="-122"/>
              </a:rPr>
              <a:t>值</a:t>
            </a:r>
            <a:endParaRPr lang="zh-CN" altLang="en-US" sz="3600" b="1" dirty="0">
              <a:solidFill>
                <a:srgbClr val="006565"/>
              </a:solidFill>
              <a:latin typeface="楷体_GB2312" charset="-122"/>
              <a:ea typeface="楷体_GB2312" charset="-122"/>
            </a:endParaRPr>
          </a:p>
          <a:p>
            <a:pPr algn="l" defTabSz="916305">
              <a:lnSpc>
                <a:spcPts val="3615"/>
              </a:lnSpc>
              <a:buFont typeface="Wingdings" panose="05000000000000000000" pitchFamily="2" charset="2"/>
            </a:pPr>
            <a:r>
              <a:rPr lang="zh-CN" altLang="en-US" sz="2400" b="1" dirty="0">
                <a:solidFill>
                  <a:srgbClr val="F60000"/>
                </a:solidFill>
                <a:latin typeface="Arial" panose="020B0604020202020204" pitchFamily="34" charset="0"/>
              </a:rPr>
              <a:t>     反映水的酸碱强弱的指标</a:t>
            </a:r>
            <a:endParaRPr lang="zh-CN" altLang="en-US" sz="2400" b="1">
              <a:solidFill>
                <a:srgbClr val="F60000"/>
              </a:solidFill>
              <a:latin typeface="Arial" panose="020B0604020202020204" pitchFamily="34" charset="0"/>
            </a:endParaRPr>
          </a:p>
        </p:txBody>
      </p:sp>
      <p:sp>
        <p:nvSpPr>
          <p:cNvPr id="330756" name="文本框 330755"/>
          <p:cNvSpPr txBox="1"/>
          <p:nvPr/>
        </p:nvSpPr>
        <p:spPr>
          <a:xfrm>
            <a:off x="2992438" y="2706688"/>
            <a:ext cx="120650" cy="2362200"/>
          </a:xfrm>
          <a:prstGeom prst="rect">
            <a:avLst/>
          </a:prstGeom>
          <a:noFill/>
          <a:ln w="9525">
            <a:noFill/>
          </a:ln>
        </p:spPr>
        <p:txBody>
          <a:bodyPr lIns="0" tIns="0" rIns="0" bIns="0">
            <a:spAutoFit/>
          </a:bodyPr>
          <a:p>
            <a:pPr algn="l" defTabSz="916305">
              <a:lnSpc>
                <a:spcPts val="1890"/>
              </a:lnSpc>
            </a:pPr>
            <a:r>
              <a:rPr lang="en-US" altLang="zh-CN" sz="2100">
                <a:solidFill>
                  <a:srgbClr val="003365"/>
                </a:solidFill>
                <a:latin typeface="Times New Roman" panose="02020603050405020304" charset="0"/>
              </a:rPr>
              <a:t>–</a:t>
            </a: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2790"/>
              </a:lnSpc>
            </a:pPr>
            <a:r>
              <a:rPr lang="en-US" altLang="zh-CN" sz="2100">
                <a:solidFill>
                  <a:srgbClr val="003365"/>
                </a:solidFill>
                <a:latin typeface="Times New Roman" panose="02020603050405020304" charset="0"/>
              </a:rPr>
              <a:t>–</a:t>
            </a: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1000"/>
              </a:lnSpc>
            </a:pPr>
            <a:endParaRPr lang="en-US" altLang="zh-CN" sz="2100">
              <a:solidFill>
                <a:srgbClr val="003365"/>
              </a:solidFill>
              <a:latin typeface="Times New Roman" panose="02020603050405020304" charset="0"/>
            </a:endParaRPr>
          </a:p>
          <a:p>
            <a:pPr algn="l" defTabSz="916305">
              <a:lnSpc>
                <a:spcPts val="2740"/>
              </a:lnSpc>
            </a:pPr>
            <a:r>
              <a:rPr lang="en-US" altLang="zh-CN" sz="2100">
                <a:solidFill>
                  <a:srgbClr val="003365"/>
                </a:solidFill>
                <a:latin typeface="Times New Roman" panose="02020603050405020304" charset="0"/>
              </a:rPr>
              <a:t>–</a:t>
            </a:r>
            <a:endParaRPr lang="en-US" altLang="zh-CN" sz="2100">
              <a:solidFill>
                <a:srgbClr val="003365"/>
              </a:solidFill>
              <a:latin typeface="Times New Roman" panose="02020603050405020304" charset="0"/>
            </a:endParaRPr>
          </a:p>
        </p:txBody>
      </p:sp>
      <p:sp>
        <p:nvSpPr>
          <p:cNvPr id="330757" name="文本框 330756"/>
          <p:cNvSpPr txBox="1"/>
          <p:nvPr/>
        </p:nvSpPr>
        <p:spPr>
          <a:xfrm>
            <a:off x="3265488" y="2651125"/>
            <a:ext cx="6792595" cy="2482215"/>
          </a:xfrm>
          <a:prstGeom prst="rect">
            <a:avLst/>
          </a:prstGeom>
          <a:noFill/>
          <a:ln w="9525">
            <a:noFill/>
          </a:ln>
        </p:spPr>
        <p:txBody>
          <a:bodyPr wrap="none" lIns="0" tIns="0" rIns="0" bIns="0">
            <a:spAutoFit/>
          </a:bodyPr>
          <a:p>
            <a:pPr algn="l" defTabSz="916305">
              <a:lnSpc>
                <a:spcPts val="2815"/>
              </a:lnSpc>
            </a:pPr>
            <a:r>
              <a:rPr lang="zh-CN" altLang="en-US" sz="2800" b="1" dirty="0">
                <a:solidFill>
                  <a:srgbClr val="003365"/>
                </a:solidFill>
                <a:latin typeface="楷体_GB2312" charset="-122"/>
                <a:ea typeface="楷体_GB2312" charset="-122"/>
              </a:rPr>
              <a:t>对</a:t>
            </a:r>
            <a:r>
              <a:rPr lang="zh-CN" altLang="en-US" sz="2800" b="1">
                <a:solidFill>
                  <a:srgbClr val="003365"/>
                </a:solidFill>
                <a:latin typeface="楷体_GB2312" charset="-122"/>
                <a:ea typeface="楷体_GB2312" charset="-122"/>
              </a:rPr>
              <a:t>污水处理及综合利用，对水中生物的生长</a:t>
            </a:r>
            <a:endParaRPr lang="zh-CN" altLang="en-US" sz="2800" b="1">
              <a:solidFill>
                <a:srgbClr val="003365"/>
              </a:solidFill>
              <a:latin typeface="楷体_GB2312" charset="-122"/>
              <a:ea typeface="楷体_GB2312" charset="-122"/>
            </a:endParaRPr>
          </a:p>
          <a:p>
            <a:pPr algn="l" defTabSz="916305">
              <a:lnSpc>
                <a:spcPts val="1000"/>
              </a:lnSpc>
            </a:pPr>
            <a:endParaRPr lang="zh-CN" altLang="en-US" sz="2800" b="1">
              <a:solidFill>
                <a:srgbClr val="003365"/>
              </a:solidFill>
              <a:latin typeface="楷体_GB2312" charset="-122"/>
              <a:ea typeface="楷体_GB2312" charset="-122"/>
            </a:endParaRPr>
          </a:p>
          <a:p>
            <a:pPr algn="l" defTabSz="916305">
              <a:lnSpc>
                <a:spcPts val="1000"/>
              </a:lnSpc>
            </a:pPr>
            <a:endParaRPr lang="zh-CN" altLang="en-US" sz="2800" b="1">
              <a:solidFill>
                <a:srgbClr val="003365"/>
              </a:solidFill>
              <a:latin typeface="楷体_GB2312" charset="-122"/>
              <a:ea typeface="楷体_GB2312" charset="-122"/>
            </a:endParaRPr>
          </a:p>
          <a:p>
            <a:pPr algn="l" defTabSz="916305">
              <a:lnSpc>
                <a:spcPts val="3065"/>
              </a:lnSpc>
            </a:pPr>
            <a:r>
              <a:rPr lang="zh-CN" altLang="en-US" sz="2800" b="1">
                <a:solidFill>
                  <a:srgbClr val="003365"/>
                </a:solidFill>
                <a:latin typeface="楷体_GB2312" charset="-122"/>
                <a:ea typeface="楷体_GB2312" charset="-122"/>
              </a:rPr>
              <a:t>繁殖，对排水管道等都有很大影响</a:t>
            </a:r>
            <a:endParaRPr lang="zh-CN" altLang="en-US" sz="2800" b="1">
              <a:solidFill>
                <a:srgbClr val="003365"/>
              </a:solidFill>
              <a:latin typeface="楷体_GB2312" charset="-122"/>
              <a:ea typeface="楷体_GB2312" charset="-122"/>
            </a:endParaRPr>
          </a:p>
          <a:p>
            <a:pPr algn="l" defTabSz="916305">
              <a:lnSpc>
                <a:spcPts val="1000"/>
              </a:lnSpc>
            </a:pPr>
            <a:endParaRPr lang="zh-CN" altLang="en-US" sz="2800" b="1">
              <a:solidFill>
                <a:srgbClr val="003365"/>
              </a:solidFill>
              <a:latin typeface="楷体_GB2312" charset="-122"/>
              <a:ea typeface="楷体_GB2312" charset="-122"/>
            </a:endParaRPr>
          </a:p>
          <a:p>
            <a:pPr algn="l" defTabSz="916305">
              <a:lnSpc>
                <a:spcPts val="1000"/>
              </a:lnSpc>
            </a:pPr>
            <a:endParaRPr lang="zh-CN" altLang="en-US" sz="2800" b="1">
              <a:solidFill>
                <a:srgbClr val="003365"/>
              </a:solidFill>
              <a:latin typeface="楷体_GB2312" charset="-122"/>
              <a:ea typeface="楷体_GB2312" charset="-122"/>
            </a:endParaRPr>
          </a:p>
          <a:p>
            <a:pPr algn="l" defTabSz="916305">
              <a:lnSpc>
                <a:spcPts val="3740"/>
              </a:lnSpc>
            </a:pPr>
            <a:r>
              <a:rPr lang="zh-CN" altLang="en-US" sz="2800" b="1">
                <a:solidFill>
                  <a:srgbClr val="003365"/>
                </a:solidFill>
                <a:latin typeface="楷体_GB2312" charset="-122"/>
                <a:ea typeface="楷体_GB2312" charset="-122"/>
              </a:rPr>
              <a:t>生活污水</a:t>
            </a:r>
            <a:r>
              <a:rPr lang="en-US" altLang="zh-CN" sz="2800" b="1">
                <a:solidFill>
                  <a:srgbClr val="003365"/>
                </a:solidFill>
                <a:latin typeface="楷体_GB2312" charset="-122"/>
                <a:ea typeface="楷体_GB2312" charset="-122"/>
              </a:rPr>
              <a:t>pH</a:t>
            </a:r>
            <a:r>
              <a:rPr lang="zh-CN" altLang="en-US" sz="2800" b="1">
                <a:solidFill>
                  <a:srgbClr val="003365"/>
                </a:solidFill>
                <a:latin typeface="楷体_GB2312" charset="-122"/>
                <a:ea typeface="楷体_GB2312" charset="-122"/>
              </a:rPr>
              <a:t>值为</a:t>
            </a:r>
            <a:r>
              <a:rPr lang="en-US" altLang="zh-CN" sz="2800" b="1">
                <a:solidFill>
                  <a:srgbClr val="FF0000"/>
                </a:solidFill>
                <a:latin typeface="楷体_GB2312" charset="-122"/>
                <a:ea typeface="楷体_GB2312" charset="-122"/>
              </a:rPr>
              <a:t>7.2-7.6</a:t>
            </a:r>
            <a:endParaRPr lang="en-US" altLang="zh-CN" sz="2800" b="1">
              <a:solidFill>
                <a:srgbClr val="FF0000"/>
              </a:solidFill>
              <a:latin typeface="楷体_GB2312" charset="-122"/>
              <a:ea typeface="楷体_GB2312" charset="-122"/>
            </a:endParaRPr>
          </a:p>
          <a:p>
            <a:pPr algn="l" defTabSz="916305">
              <a:lnSpc>
                <a:spcPts val="1000"/>
              </a:lnSpc>
            </a:pPr>
            <a:endParaRPr lang="en-US" altLang="zh-CN" sz="2800" b="1">
              <a:solidFill>
                <a:srgbClr val="FF0000"/>
              </a:solidFill>
              <a:latin typeface="楷体_GB2312" charset="-122"/>
              <a:ea typeface="楷体_GB2312" charset="-122"/>
            </a:endParaRPr>
          </a:p>
          <a:p>
            <a:pPr algn="l" defTabSz="916305">
              <a:lnSpc>
                <a:spcPts val="1000"/>
              </a:lnSpc>
            </a:pPr>
            <a:endParaRPr lang="en-US" altLang="zh-CN" sz="2800" b="1">
              <a:solidFill>
                <a:srgbClr val="FF0000"/>
              </a:solidFill>
              <a:latin typeface="楷体_GB2312" charset="-122"/>
              <a:ea typeface="楷体_GB2312" charset="-122"/>
            </a:endParaRPr>
          </a:p>
          <a:p>
            <a:pPr algn="l" defTabSz="916305">
              <a:lnSpc>
                <a:spcPts val="3740"/>
              </a:lnSpc>
            </a:pPr>
            <a:r>
              <a:rPr lang="zh-CN" altLang="en-US" sz="2800" b="1">
                <a:solidFill>
                  <a:srgbClr val="F60000"/>
                </a:solidFill>
                <a:latin typeface="楷体_GB2312" charset="-122"/>
                <a:ea typeface="楷体_GB2312" charset="-122"/>
              </a:rPr>
              <a:t>工业污水的</a:t>
            </a:r>
            <a:r>
              <a:rPr lang="en-US" altLang="zh-CN" sz="2800" b="1">
                <a:solidFill>
                  <a:srgbClr val="F60000"/>
                </a:solidFill>
                <a:latin typeface="楷体_GB2312" charset="-122"/>
                <a:ea typeface="楷体_GB2312" charset="-122"/>
              </a:rPr>
              <a:t>pH</a:t>
            </a:r>
            <a:r>
              <a:rPr lang="zh-CN" altLang="en-US" sz="2800" b="1">
                <a:solidFill>
                  <a:srgbClr val="F60000"/>
                </a:solidFill>
                <a:latin typeface="楷体_GB2312" charset="-122"/>
                <a:ea typeface="楷体_GB2312" charset="-122"/>
              </a:rPr>
              <a:t>值变化较大。</a:t>
            </a:r>
            <a:endParaRPr lang="zh-CN" altLang="en-US" sz="2800" b="1">
              <a:solidFill>
                <a:srgbClr val="F60000"/>
              </a:solidFill>
              <a:latin typeface="楷体_GB2312" charset="-122"/>
              <a:ea typeface="楷体_GB231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0"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5652"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5653"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3446" name="Rectangle 6"/>
          <p:cNvSpPr/>
          <p:nvPr/>
        </p:nvSpPr>
        <p:spPr>
          <a:xfrm>
            <a:off x="5236845" y="1203325"/>
            <a:ext cx="6527165" cy="2676525"/>
          </a:xfrm>
          <a:prstGeom prst="rect">
            <a:avLst/>
          </a:prstGeom>
          <a:noFill/>
          <a:ln w="9525">
            <a:noFill/>
          </a:ln>
        </p:spPr>
        <p:txBody>
          <a:bodyPr wrap="square" anchor="ctr" anchorCtr="0">
            <a:spAutoFit/>
          </a:bodyPr>
          <a:p>
            <a:pPr algn="l"/>
            <a:r>
              <a:rPr lang="zh-CN" altLang="en-US" sz="2400" dirty="0">
                <a:latin typeface="楷体_GB2312" charset="-122"/>
                <a:ea typeface="楷体_GB2312" charset="-122"/>
              </a:rPr>
              <a:t>   含有石油类产品的废水进入水体后会漂浮在水面并迅速扩散，</a:t>
            </a:r>
            <a:r>
              <a:rPr lang="zh-CN" altLang="en-US" sz="2400" b="1" u="sng" dirty="0">
                <a:solidFill>
                  <a:schemeClr val="accent2"/>
                </a:solidFill>
                <a:latin typeface="楷体_GB2312" charset="-122"/>
                <a:ea typeface="楷体_GB2312" charset="-122"/>
              </a:rPr>
              <a:t>形成一层油膜，阻止大气中的氧进入水中，妨碍水生植物的光合作用</a:t>
            </a:r>
            <a:r>
              <a:rPr lang="zh-CN" altLang="en-US" sz="2400" dirty="0">
                <a:latin typeface="楷体_GB2312" charset="-122"/>
                <a:ea typeface="楷体_GB2312" charset="-122"/>
              </a:rPr>
              <a:t>。石油在微物物作用下的降解也需要消耗氧，造成水体缺氧。同时，石油还会使鱼类呼吸困难直至死亡。</a:t>
            </a:r>
            <a:r>
              <a:rPr lang="zh-CN" altLang="en-US" sz="2400" b="1" u="sng" dirty="0">
                <a:solidFill>
                  <a:schemeClr val="accent2"/>
                </a:solidFill>
                <a:latin typeface="楷体_GB2312" charset="-122"/>
                <a:ea typeface="楷体_GB2312" charset="-122"/>
              </a:rPr>
              <a:t>食用在含有石油的水中生长的鱼类，还会危害人身健康。</a:t>
            </a:r>
            <a:endParaRPr lang="zh-CN" altLang="en-US" sz="2400" b="1" u="sng" dirty="0">
              <a:solidFill>
                <a:schemeClr val="accent2"/>
              </a:solidFill>
              <a:latin typeface="楷体_GB2312" charset="-122"/>
              <a:ea typeface="楷体_GB2312" charset="-122"/>
            </a:endParaRPr>
          </a:p>
        </p:txBody>
      </p:sp>
      <p:sp>
        <p:nvSpPr>
          <p:cNvPr id="1213447" name="Rectangle 7"/>
          <p:cNvSpPr/>
          <p:nvPr/>
        </p:nvSpPr>
        <p:spPr>
          <a:xfrm>
            <a:off x="1939925" y="1722438"/>
            <a:ext cx="171450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6</a:t>
            </a:r>
            <a:r>
              <a:rPr lang="zh-CN" altLang="en-US" sz="2400" b="1" dirty="0">
                <a:solidFill>
                  <a:schemeClr val="accent2"/>
                </a:solidFill>
                <a:latin typeface="楷体_GB2312" charset="-122"/>
                <a:ea typeface="楷体_GB2312" charset="-122"/>
              </a:rPr>
              <a:t>、石油类</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213448" name="Picture 8" descr="prt20504b_pic"/>
          <p:cNvPicPr>
            <a:picLocks noChangeAspect="1"/>
          </p:cNvPicPr>
          <p:nvPr/>
        </p:nvPicPr>
        <p:blipFill>
          <a:blip r:embed="rId1"/>
          <a:stretch>
            <a:fillRect/>
          </a:stretch>
        </p:blipFill>
        <p:spPr>
          <a:xfrm>
            <a:off x="1048385" y="2183130"/>
            <a:ext cx="3810000" cy="2600325"/>
          </a:xfrm>
          <a:prstGeom prst="rect">
            <a:avLst/>
          </a:prstGeom>
          <a:noFill/>
          <a:ln w="9525">
            <a:noFill/>
          </a:ln>
        </p:spPr>
      </p:pic>
      <p:pic>
        <p:nvPicPr>
          <p:cNvPr id="1213449" name="Picture 9" descr="3FTDISAR00AO0001"/>
          <p:cNvPicPr>
            <a:picLocks noChangeAspect="1"/>
          </p:cNvPicPr>
          <p:nvPr/>
        </p:nvPicPr>
        <p:blipFill>
          <a:blip r:embed="rId2"/>
          <a:stretch>
            <a:fillRect/>
          </a:stretch>
        </p:blipFill>
        <p:spPr>
          <a:xfrm>
            <a:off x="5415280" y="4048125"/>
            <a:ext cx="4000500" cy="2505075"/>
          </a:xfrm>
          <a:prstGeom prst="rect">
            <a:avLst/>
          </a:prstGeom>
          <a:noFill/>
          <a:ln w="9525">
            <a:noFill/>
          </a:ln>
        </p:spPr>
      </p:pic>
      <p:sp>
        <p:nvSpPr>
          <p:cNvPr id="1213450" name="AutoShape 10"/>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3447"/>
                                        </p:tgtEl>
                                        <p:attrNameLst>
                                          <p:attrName>style.visibility</p:attrName>
                                        </p:attrNameLst>
                                      </p:cBhvr>
                                      <p:to>
                                        <p:strVal val="visible"/>
                                      </p:to>
                                    </p:set>
                                    <p:anim calcmode="lin" valueType="num">
                                      <p:cBhvr additive="base">
                                        <p:cTn id="7" dur="500" fill="hold"/>
                                        <p:tgtEl>
                                          <p:spTgt spid="1213447"/>
                                        </p:tgtEl>
                                        <p:attrNameLst>
                                          <p:attrName>ppt_x</p:attrName>
                                        </p:attrNameLst>
                                      </p:cBhvr>
                                      <p:tavLst>
                                        <p:tav tm="0">
                                          <p:val>
                                            <p:strVal val="0-#ppt_w/2"/>
                                          </p:val>
                                        </p:tav>
                                        <p:tav tm="100000">
                                          <p:val>
                                            <p:strVal val="#ppt_x"/>
                                          </p:val>
                                        </p:tav>
                                      </p:tavLst>
                                    </p:anim>
                                    <p:anim calcmode="lin" valueType="num">
                                      <p:cBhvr additive="base">
                                        <p:cTn id="8" dur="500" fill="hold"/>
                                        <p:tgtEl>
                                          <p:spTgt spid="121344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3446"/>
                                        </p:tgtEl>
                                        <p:attrNameLst>
                                          <p:attrName>style.visibility</p:attrName>
                                        </p:attrNameLst>
                                      </p:cBhvr>
                                      <p:to>
                                        <p:strVal val="visible"/>
                                      </p:to>
                                    </p:set>
                                    <p:animEffect transition="in" filter="blinds(vertical)">
                                      <p:cBhvr>
                                        <p:cTn id="13" dur="500"/>
                                        <p:tgtEl>
                                          <p:spTgt spid="1213446"/>
                                        </p:tgtEl>
                                      </p:cBhvr>
                                    </p:animEffect>
                                  </p:childTnLst>
                                </p:cTn>
                              </p:par>
                              <p:par>
                                <p:cTn id="14" presetID="3" presetClass="entr" presetSubtype="5" fill="hold" nodeType="withEffect">
                                  <p:stCondLst>
                                    <p:cond delay="0"/>
                                  </p:stCondLst>
                                  <p:childTnLst>
                                    <p:set>
                                      <p:cBhvr>
                                        <p:cTn id="15" dur="1" fill="hold">
                                          <p:stCondLst>
                                            <p:cond delay="0"/>
                                          </p:stCondLst>
                                        </p:cTn>
                                        <p:tgtEl>
                                          <p:spTgt spid="1213448"/>
                                        </p:tgtEl>
                                        <p:attrNameLst>
                                          <p:attrName>style.visibility</p:attrName>
                                        </p:attrNameLst>
                                      </p:cBhvr>
                                      <p:to>
                                        <p:strVal val="visible"/>
                                      </p:to>
                                    </p:set>
                                    <p:animEffect transition="in" filter="blinds(vertical)">
                                      <p:cBhvr>
                                        <p:cTn id="16" dur="500"/>
                                        <p:tgtEl>
                                          <p:spTgt spid="1213448"/>
                                        </p:tgtEl>
                                      </p:cBhvr>
                                    </p:animEffect>
                                  </p:childTnLst>
                                </p:cTn>
                              </p:par>
                              <p:par>
                                <p:cTn id="17" presetID="3" presetClass="entr" presetSubtype="5" fill="hold" nodeType="withEffect">
                                  <p:stCondLst>
                                    <p:cond delay="0"/>
                                  </p:stCondLst>
                                  <p:childTnLst>
                                    <p:set>
                                      <p:cBhvr>
                                        <p:cTn id="18" dur="1" fill="hold">
                                          <p:stCondLst>
                                            <p:cond delay="0"/>
                                          </p:stCondLst>
                                        </p:cTn>
                                        <p:tgtEl>
                                          <p:spTgt spid="1213449"/>
                                        </p:tgtEl>
                                        <p:attrNameLst>
                                          <p:attrName>style.visibility</p:attrName>
                                        </p:attrNameLst>
                                      </p:cBhvr>
                                      <p:to>
                                        <p:strVal val="visible"/>
                                      </p:to>
                                    </p:set>
                                    <p:animEffect transition="in" filter="blinds(vertical)">
                                      <p:cBhvr>
                                        <p:cTn id="19" dur="500"/>
                                        <p:tgtEl>
                                          <p:spTgt spid="12134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3446" grpId="0"/>
      <p:bldP spid="121344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4"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6676"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6677"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4470" name="Rectangle 6"/>
          <p:cNvSpPr/>
          <p:nvPr/>
        </p:nvSpPr>
        <p:spPr>
          <a:xfrm>
            <a:off x="6775450" y="2386965"/>
            <a:ext cx="5016500" cy="3784600"/>
          </a:xfrm>
          <a:prstGeom prst="rect">
            <a:avLst/>
          </a:prstGeom>
          <a:noFill/>
          <a:ln w="9525">
            <a:noFill/>
          </a:ln>
        </p:spPr>
        <p:txBody>
          <a:bodyPr wrap="square" anchor="ctr" anchorCtr="0">
            <a:spAutoFit/>
          </a:bodyPr>
          <a:p>
            <a:pPr algn="l"/>
            <a:r>
              <a:rPr lang="zh-CN" altLang="en-US" sz="2400" dirty="0">
                <a:latin typeface="楷体_GB2312" charset="-122"/>
                <a:ea typeface="楷体_GB2312" charset="-122"/>
              </a:rPr>
              <a:t>    </a:t>
            </a:r>
            <a:r>
              <a:rPr lang="zh-CN" altLang="en-US" sz="2400" b="1" u="sng" dirty="0">
                <a:solidFill>
                  <a:srgbClr val="FC4A26"/>
                </a:solidFill>
                <a:latin typeface="楷体_GB2312" charset="-122"/>
                <a:ea typeface="楷体_GB2312" charset="-122"/>
              </a:rPr>
              <a:t>难降解有机物</a:t>
            </a:r>
            <a:r>
              <a:rPr lang="zh-CN" altLang="en-US" sz="2400" dirty="0">
                <a:latin typeface="楷体_GB2312" charset="-122"/>
                <a:ea typeface="楷体_GB2312" charset="-122"/>
              </a:rPr>
              <a:t>是指那些难以被微生物降解的有机物，它们大多是人工合成的有机物。例如，有机氯化合物、有机芳香胺类化合物、有机重金属化合物以及多环有机物等。它们的特点是</a:t>
            </a:r>
            <a:r>
              <a:rPr lang="zh-CN" altLang="en-US" sz="2400" b="1" u="sng" dirty="0">
                <a:solidFill>
                  <a:schemeClr val="accent2"/>
                </a:solidFill>
                <a:latin typeface="楷体_GB2312" charset="-122"/>
                <a:ea typeface="楷体_GB2312" charset="-122"/>
              </a:rPr>
              <a:t>能在水中长期稳定地存留，并通过食物链富集最后进入人体</a:t>
            </a:r>
            <a:r>
              <a:rPr lang="zh-CN" altLang="en-US" sz="2400" dirty="0">
                <a:latin typeface="楷体_GB2312" charset="-122"/>
                <a:ea typeface="楷体_GB2312" charset="-122"/>
              </a:rPr>
              <a:t>。它们中的一部分化合物具有致癌致畸和致突变的作用，对人类的健康构成了极在的威胁。</a:t>
            </a:r>
            <a:endParaRPr lang="zh-CN" altLang="en-US" sz="2400" dirty="0">
              <a:latin typeface="楷体_GB2312" charset="-122"/>
              <a:ea typeface="楷体_GB2312" charset="-122"/>
            </a:endParaRPr>
          </a:p>
        </p:txBody>
      </p:sp>
      <p:sp>
        <p:nvSpPr>
          <p:cNvPr id="1214471" name="Rectangle 7"/>
          <p:cNvSpPr/>
          <p:nvPr/>
        </p:nvSpPr>
        <p:spPr>
          <a:xfrm>
            <a:off x="1939925" y="1722438"/>
            <a:ext cx="263271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7</a:t>
            </a:r>
            <a:r>
              <a:rPr lang="zh-CN" altLang="en-US" sz="2400" b="1" dirty="0">
                <a:solidFill>
                  <a:schemeClr val="accent2"/>
                </a:solidFill>
                <a:latin typeface="楷体_GB2312" charset="-122"/>
                <a:ea typeface="楷体_GB2312" charset="-122"/>
              </a:rPr>
              <a:t>、难降解有机物</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214472" name="Picture 8" descr="5_4_2_nongywr3"/>
          <p:cNvPicPr>
            <a:picLocks noChangeAspect="1"/>
          </p:cNvPicPr>
          <p:nvPr/>
        </p:nvPicPr>
        <p:blipFill>
          <a:blip r:embed="rId1"/>
          <a:stretch>
            <a:fillRect/>
          </a:stretch>
        </p:blipFill>
        <p:spPr>
          <a:xfrm>
            <a:off x="1381125" y="2386965"/>
            <a:ext cx="4413250" cy="4086225"/>
          </a:xfrm>
          <a:prstGeom prst="rect">
            <a:avLst/>
          </a:prstGeom>
          <a:noFill/>
          <a:ln w="9525">
            <a:noFill/>
          </a:ln>
        </p:spPr>
      </p:pic>
      <p:sp>
        <p:nvSpPr>
          <p:cNvPr id="1214473" name="AutoShape 9"/>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
        <p:nvSpPr>
          <p:cNvPr id="2" name="文本框 1"/>
          <p:cNvSpPr txBox="1"/>
          <p:nvPr/>
        </p:nvSpPr>
        <p:spPr>
          <a:xfrm>
            <a:off x="6096000" y="829310"/>
            <a:ext cx="5873750" cy="1405255"/>
          </a:xfrm>
          <a:prstGeom prst="rect">
            <a:avLst/>
          </a:prstGeom>
        </p:spPr>
        <p:txBody>
          <a:bodyPr>
            <a:noAutofit/>
          </a:bodyPr>
          <a:p>
            <a:pPr marL="0" indent="0"/>
            <a:r>
              <a:rPr lang="zh-CN" altLang="en-US" sz="2000" b="0" i="0">
                <a:solidFill>
                  <a:srgbClr val="333333"/>
                </a:solidFill>
                <a:latin typeface="MicrosoftYaHei"/>
                <a:ea typeface="MicrosoftYaHei"/>
              </a:rPr>
              <a:t>目前国际上广泛关注的新污染物有四大类：一是持久性有机污染物，二是内分泌干扰物，三是抗生素，四是微塑料，在被排放到环境中后，被界定为新污染物。</a:t>
            </a:r>
            <a:endParaRPr lang="zh-CN" altLang="en-US" sz="2000" b="0" i="0">
              <a:solidFill>
                <a:srgbClr val="333333"/>
              </a:solidFill>
              <a:latin typeface="MicrosoftYaHei"/>
              <a:ea typeface="MicrosoftYaHei"/>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4471"/>
                                        </p:tgtEl>
                                        <p:attrNameLst>
                                          <p:attrName>style.visibility</p:attrName>
                                        </p:attrNameLst>
                                      </p:cBhvr>
                                      <p:to>
                                        <p:strVal val="visible"/>
                                      </p:to>
                                    </p:set>
                                    <p:anim calcmode="lin" valueType="num">
                                      <p:cBhvr additive="base">
                                        <p:cTn id="7" dur="500" fill="hold"/>
                                        <p:tgtEl>
                                          <p:spTgt spid="1214471"/>
                                        </p:tgtEl>
                                        <p:attrNameLst>
                                          <p:attrName>ppt_x</p:attrName>
                                        </p:attrNameLst>
                                      </p:cBhvr>
                                      <p:tavLst>
                                        <p:tav tm="0">
                                          <p:val>
                                            <p:strVal val="0-#ppt_w/2"/>
                                          </p:val>
                                        </p:tav>
                                        <p:tav tm="100000">
                                          <p:val>
                                            <p:strVal val="#ppt_x"/>
                                          </p:val>
                                        </p:tav>
                                      </p:tavLst>
                                    </p:anim>
                                    <p:anim calcmode="lin" valueType="num">
                                      <p:cBhvr additive="base">
                                        <p:cTn id="8" dur="500" fill="hold"/>
                                        <p:tgtEl>
                                          <p:spTgt spid="121447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14472"/>
                                        </p:tgtEl>
                                        <p:attrNameLst>
                                          <p:attrName>style.visibility</p:attrName>
                                        </p:attrNameLst>
                                      </p:cBhvr>
                                      <p:to>
                                        <p:strVal val="visible"/>
                                      </p:to>
                                    </p:set>
                                    <p:animEffect transition="in" filter="blinds(vertical)">
                                      <p:cBhvr>
                                        <p:cTn id="13" dur="500"/>
                                        <p:tgtEl>
                                          <p:spTgt spid="1214472"/>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14470"/>
                                        </p:tgtEl>
                                        <p:attrNameLst>
                                          <p:attrName>style.visibility</p:attrName>
                                        </p:attrNameLst>
                                      </p:cBhvr>
                                      <p:to>
                                        <p:strVal val="visible"/>
                                      </p:to>
                                    </p:set>
                                    <p:animEffect transition="in" filter="blinds(vertical)">
                                      <p:cBhvr>
                                        <p:cTn id="16" dur="500"/>
                                        <p:tgtEl>
                                          <p:spTgt spid="1214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4470" grpId="0"/>
      <p:bldP spid="121447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微塑料</a:t>
            </a:r>
            <a:endParaRPr lang="zh-CN" altLang="en-US"/>
          </a:p>
        </p:txBody>
      </p:sp>
      <p:sp>
        <p:nvSpPr>
          <p:cNvPr id="4" name="文本占位符 3"/>
          <p:cNvSpPr>
            <a:spLocks noGrp="1"/>
          </p:cNvSpPr>
          <p:nvPr>
            <p:ph type="body" sz="half" idx="2"/>
          </p:nvPr>
        </p:nvSpPr>
        <p:spPr/>
        <p:txBody>
          <a:bodyPr/>
          <a:p>
            <a:r>
              <a:rPr lang="zh-CN" altLang="en-US" sz="2400"/>
              <a:t>微塑料是指直径小于5毫米的塑料碎片，2004年英国普利茅斯大学的汤普森首次提出了微塑料的概念。</a:t>
            </a:r>
            <a:endParaRPr lang="zh-CN" altLang="en-US" sz="2400"/>
          </a:p>
        </p:txBody>
      </p:sp>
      <p:pic>
        <p:nvPicPr>
          <p:cNvPr id="103" name="图片 102"/>
          <p:cNvPicPr/>
          <p:nvPr>
            <p:custDataLst>
              <p:tags r:id="rId1"/>
            </p:custDataLst>
          </p:nvPr>
        </p:nvPicPr>
        <p:blipFill>
          <a:blip r:embed="rId2"/>
          <a:stretch>
            <a:fillRect/>
          </a:stretch>
        </p:blipFill>
        <p:spPr>
          <a:xfrm>
            <a:off x="4634865" y="0"/>
            <a:ext cx="7411720" cy="6554470"/>
          </a:xfrm>
          <a:prstGeom prst="rect">
            <a:avLst/>
          </a:prstGeom>
          <a:noFill/>
          <a:ln w="9525">
            <a:noFill/>
          </a:ln>
        </p:spPr>
      </p:pic>
      <p:pic>
        <p:nvPicPr>
          <p:cNvPr id="104" name="图片 103"/>
          <p:cNvPicPr/>
          <p:nvPr>
            <p:custDataLst>
              <p:tags r:id="rId3"/>
            </p:custDataLst>
          </p:nvPr>
        </p:nvPicPr>
        <p:blipFill>
          <a:blip r:embed="rId4"/>
          <a:stretch>
            <a:fillRect/>
          </a:stretch>
        </p:blipFill>
        <p:spPr>
          <a:xfrm>
            <a:off x="205241" y="3853626"/>
            <a:ext cx="4863829" cy="2334638"/>
          </a:xfrm>
          <a:prstGeom prst="rect">
            <a:avLst/>
          </a:prstGeom>
          <a:noFill/>
          <a:ln w="9525">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7700"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7701"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5494" name="Rectangle 6"/>
          <p:cNvSpPr/>
          <p:nvPr/>
        </p:nvSpPr>
        <p:spPr>
          <a:xfrm>
            <a:off x="5659755" y="1313180"/>
            <a:ext cx="5969000" cy="2306955"/>
          </a:xfrm>
          <a:prstGeom prst="rect">
            <a:avLst/>
          </a:prstGeom>
          <a:noFill/>
          <a:ln w="9525">
            <a:noFill/>
          </a:ln>
        </p:spPr>
        <p:txBody>
          <a:bodyPr wrap="square" anchor="ctr" anchorCtr="0">
            <a:spAutoFit/>
          </a:bodyPr>
          <a:p>
            <a:pPr algn="l"/>
            <a:r>
              <a:rPr lang="zh-CN" altLang="en-US" sz="2400" dirty="0">
                <a:latin typeface="楷体_GB2312" charset="-122"/>
                <a:ea typeface="楷体_GB2312" charset="-122"/>
              </a:rPr>
              <a:t>    </a:t>
            </a:r>
            <a:r>
              <a:rPr lang="zh-CN" altLang="en-US" sz="2400" b="1" u="sng" dirty="0">
                <a:solidFill>
                  <a:srgbClr val="FC4A26"/>
                </a:solidFill>
                <a:latin typeface="楷体_GB2312" charset="-122"/>
                <a:ea typeface="楷体_GB2312" charset="-122"/>
              </a:rPr>
              <a:t>放射性物质</a:t>
            </a:r>
            <a:r>
              <a:rPr lang="zh-CN" altLang="en-US" sz="2400" dirty="0">
                <a:latin typeface="楷体_GB2312" charset="-122"/>
                <a:ea typeface="楷体_GB2312" charset="-122"/>
              </a:rPr>
              <a:t>主要来自核工业和使用放射性物质的工业或民用部门。放射性物质能从水中或土壤中转移到生物、蔬菜或其他食物中，并发生浓缩和富集进入人体。放射性物质释放的射线会使人的健康受损，最常见的放射病就是血癌，即</a:t>
            </a:r>
            <a:r>
              <a:rPr lang="zh-CN" altLang="en-US" sz="2400" b="1" u="sng" dirty="0">
                <a:solidFill>
                  <a:srgbClr val="FC4A26"/>
                </a:solidFill>
                <a:latin typeface="楷体_GB2312" charset="-122"/>
                <a:ea typeface="楷体_GB2312" charset="-122"/>
              </a:rPr>
              <a:t>白血病</a:t>
            </a:r>
            <a:r>
              <a:rPr lang="zh-CN" altLang="en-US" sz="2400" dirty="0">
                <a:latin typeface="楷体_GB2312" charset="-122"/>
                <a:ea typeface="楷体_GB2312" charset="-122"/>
              </a:rPr>
              <a:t>。</a:t>
            </a:r>
            <a:endParaRPr lang="zh-CN" altLang="en-US" sz="2400" dirty="0">
              <a:latin typeface="楷体_GB2312" charset="-122"/>
              <a:ea typeface="楷体_GB2312" charset="-122"/>
            </a:endParaRPr>
          </a:p>
        </p:txBody>
      </p:sp>
      <p:sp>
        <p:nvSpPr>
          <p:cNvPr id="1215495" name="Rectangle 7"/>
          <p:cNvSpPr/>
          <p:nvPr/>
        </p:nvSpPr>
        <p:spPr>
          <a:xfrm>
            <a:off x="1939925" y="1722438"/>
            <a:ext cx="232664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8</a:t>
            </a:r>
            <a:r>
              <a:rPr lang="zh-CN" altLang="en-US" sz="2400" b="1" dirty="0">
                <a:solidFill>
                  <a:schemeClr val="accent2"/>
                </a:solidFill>
                <a:latin typeface="楷体_GB2312" charset="-122"/>
                <a:ea typeface="楷体_GB2312" charset="-122"/>
              </a:rPr>
              <a:t>、放射性物质</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215496" name="Picture 8" descr="美国内华达州地下水遭核弹头试爆污染 经济发展受阻"/>
          <p:cNvPicPr>
            <a:picLocks noChangeAspect="1"/>
          </p:cNvPicPr>
          <p:nvPr/>
        </p:nvPicPr>
        <p:blipFill>
          <a:blip r:embed="rId1"/>
          <a:stretch>
            <a:fillRect/>
          </a:stretch>
        </p:blipFill>
        <p:spPr>
          <a:xfrm>
            <a:off x="5073015" y="3848100"/>
            <a:ext cx="4572000" cy="2705100"/>
          </a:xfrm>
          <a:prstGeom prst="rect">
            <a:avLst/>
          </a:prstGeom>
          <a:noFill/>
          <a:ln w="9525">
            <a:noFill/>
          </a:ln>
        </p:spPr>
      </p:pic>
      <p:pic>
        <p:nvPicPr>
          <p:cNvPr id="1215497" name="Picture 9" descr="001558d8be910afc791f08"/>
          <p:cNvPicPr>
            <a:picLocks noChangeAspect="1"/>
          </p:cNvPicPr>
          <p:nvPr/>
        </p:nvPicPr>
        <p:blipFill>
          <a:blip r:embed="rId2"/>
          <a:stretch>
            <a:fillRect/>
          </a:stretch>
        </p:blipFill>
        <p:spPr>
          <a:xfrm>
            <a:off x="2220913" y="2362200"/>
            <a:ext cx="3016250" cy="2381250"/>
          </a:xfrm>
          <a:prstGeom prst="rect">
            <a:avLst/>
          </a:prstGeom>
          <a:noFill/>
          <a:ln w="9525">
            <a:noFill/>
          </a:ln>
        </p:spPr>
      </p:pic>
      <p:sp>
        <p:nvSpPr>
          <p:cNvPr id="1215498" name="AutoShape 10"/>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
        <p:nvSpPr>
          <p:cNvPr id="2" name="Rectangle 7"/>
          <p:cNvSpPr/>
          <p:nvPr/>
        </p:nvSpPr>
        <p:spPr>
          <a:xfrm>
            <a:off x="331470" y="5010468"/>
            <a:ext cx="3813175" cy="1198880"/>
          </a:xfrm>
          <a:prstGeom prst="rect">
            <a:avLst/>
          </a:prstGeom>
          <a:noFill/>
          <a:ln w="9525">
            <a:noFill/>
          </a:ln>
        </p:spPr>
        <p:txBody>
          <a:bodyPr wrap="square" anchor="ctr" anchorCtr="0">
            <a:spAutoFit/>
          </a:bodyPr>
          <a:p>
            <a:pPr algn="l"/>
            <a:r>
              <a:rPr lang="zh-CN" sz="2400" b="1">
                <a:solidFill>
                  <a:schemeClr val="accent2"/>
                </a:solidFill>
                <a:latin typeface="楷体_GB2312" charset="-122"/>
                <a:ea typeface="楷体_GB2312" charset="-122"/>
              </a:rPr>
              <a:t>日本的福岛核电站、</a:t>
            </a:r>
            <a:r>
              <a:rPr lang="en-GB" altLang="zh-CN" sz="2400" b="1">
                <a:solidFill>
                  <a:schemeClr val="accent2"/>
                </a:solidFill>
                <a:latin typeface="楷体_GB2312" charset="-122"/>
                <a:ea typeface="楷体_GB2312" charset="-122"/>
              </a:rPr>
              <a:t> </a:t>
            </a:r>
            <a:r>
              <a:rPr lang="zh-CN" altLang="en-GB" sz="2400" b="1">
                <a:solidFill>
                  <a:schemeClr val="accent2"/>
                </a:solidFill>
                <a:latin typeface="楷体_GB2312" charset="-122"/>
                <a:ea typeface="楷体_GB2312" charset="-122"/>
              </a:rPr>
              <a:t>英国</a:t>
            </a:r>
            <a:r>
              <a:rPr lang="en-GB" altLang="zh-CN" sz="2400" b="1">
                <a:solidFill>
                  <a:schemeClr val="accent2"/>
                </a:solidFill>
                <a:latin typeface="楷体_GB2312" charset="-122"/>
                <a:ea typeface="楷体_GB2312" charset="-122"/>
              </a:rPr>
              <a:t>坎布里亚海岸的塞拉菲尔德</a:t>
            </a:r>
            <a:r>
              <a:rPr lang="zh-CN" altLang="en-GB" sz="2400" b="1">
                <a:solidFill>
                  <a:schemeClr val="accent2"/>
                </a:solidFill>
                <a:latin typeface="楷体_GB2312" charset="-122"/>
                <a:ea typeface="楷体_GB2312" charset="-122"/>
              </a:rPr>
              <a:t>核电站泄露</a:t>
            </a:r>
            <a:endParaRPr lang="zh-CN" altLang="en-GB" sz="2400" b="1">
              <a:solidFill>
                <a:schemeClr val="accent2"/>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5495"/>
                                        </p:tgtEl>
                                        <p:attrNameLst>
                                          <p:attrName>style.visibility</p:attrName>
                                        </p:attrNameLst>
                                      </p:cBhvr>
                                      <p:to>
                                        <p:strVal val="visible"/>
                                      </p:to>
                                    </p:set>
                                    <p:anim calcmode="lin" valueType="num">
                                      <p:cBhvr additive="base">
                                        <p:cTn id="7" dur="500" fill="hold"/>
                                        <p:tgtEl>
                                          <p:spTgt spid="1215495"/>
                                        </p:tgtEl>
                                        <p:attrNameLst>
                                          <p:attrName>ppt_x</p:attrName>
                                        </p:attrNameLst>
                                      </p:cBhvr>
                                      <p:tavLst>
                                        <p:tav tm="0">
                                          <p:val>
                                            <p:strVal val="0-#ppt_w/2"/>
                                          </p:val>
                                        </p:tav>
                                        <p:tav tm="100000">
                                          <p:val>
                                            <p:strVal val="#ppt_x"/>
                                          </p:val>
                                        </p:tav>
                                      </p:tavLst>
                                    </p:anim>
                                    <p:anim calcmode="lin" valueType="num">
                                      <p:cBhvr additive="base">
                                        <p:cTn id="8" dur="500" fill="hold"/>
                                        <p:tgtEl>
                                          <p:spTgt spid="121549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1215494"/>
                                        </p:tgtEl>
                                        <p:attrNameLst>
                                          <p:attrName>style.visibility</p:attrName>
                                        </p:attrNameLst>
                                      </p:cBhvr>
                                      <p:to>
                                        <p:strVal val="visible"/>
                                      </p:to>
                                    </p:set>
                                    <p:animEffect transition="in" filter="blinds(vertical)">
                                      <p:cBhvr>
                                        <p:cTn id="13" dur="500"/>
                                        <p:tgtEl>
                                          <p:spTgt spid="1215494"/>
                                        </p:tgtEl>
                                      </p:cBhvr>
                                    </p:animEffect>
                                  </p:childTnLst>
                                </p:cTn>
                              </p:par>
                              <p:par>
                                <p:cTn id="14" presetID="3" presetClass="entr" presetSubtype="5" fill="hold" nodeType="withEffect">
                                  <p:stCondLst>
                                    <p:cond delay="0"/>
                                  </p:stCondLst>
                                  <p:childTnLst>
                                    <p:set>
                                      <p:cBhvr>
                                        <p:cTn id="15" dur="1" fill="hold">
                                          <p:stCondLst>
                                            <p:cond delay="0"/>
                                          </p:stCondLst>
                                        </p:cTn>
                                        <p:tgtEl>
                                          <p:spTgt spid="1215497"/>
                                        </p:tgtEl>
                                        <p:attrNameLst>
                                          <p:attrName>style.visibility</p:attrName>
                                        </p:attrNameLst>
                                      </p:cBhvr>
                                      <p:to>
                                        <p:strVal val="visible"/>
                                      </p:to>
                                    </p:set>
                                    <p:animEffect transition="in" filter="blinds(vertical)">
                                      <p:cBhvr>
                                        <p:cTn id="16" dur="500"/>
                                        <p:tgtEl>
                                          <p:spTgt spid="1215497"/>
                                        </p:tgtEl>
                                      </p:cBhvr>
                                    </p:animEffect>
                                  </p:childTnLst>
                                </p:cTn>
                              </p:par>
                              <p:par>
                                <p:cTn id="17" presetID="3" presetClass="entr" presetSubtype="5" fill="hold" nodeType="withEffect">
                                  <p:stCondLst>
                                    <p:cond delay="0"/>
                                  </p:stCondLst>
                                  <p:childTnLst>
                                    <p:set>
                                      <p:cBhvr>
                                        <p:cTn id="18" dur="1" fill="hold">
                                          <p:stCondLst>
                                            <p:cond delay="0"/>
                                          </p:stCondLst>
                                        </p:cTn>
                                        <p:tgtEl>
                                          <p:spTgt spid="1215496"/>
                                        </p:tgtEl>
                                        <p:attrNameLst>
                                          <p:attrName>style.visibility</p:attrName>
                                        </p:attrNameLst>
                                      </p:cBhvr>
                                      <p:to>
                                        <p:strVal val="visible"/>
                                      </p:to>
                                    </p:set>
                                    <p:animEffect transition="in" filter="blinds(vertical)">
                                      <p:cBhvr>
                                        <p:cTn id="19" dur="500"/>
                                        <p:tgtEl>
                                          <p:spTgt spid="1215496"/>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additive="base">
                                        <p:cTn id="24" dur="500" fill="hold"/>
                                        <p:tgtEl>
                                          <p:spTgt spid="2"/>
                                        </p:tgtEl>
                                        <p:attrNameLst>
                                          <p:attrName>ppt_x</p:attrName>
                                        </p:attrNameLst>
                                      </p:cBhvr>
                                      <p:tavLst>
                                        <p:tav tm="0">
                                          <p:val>
                                            <p:strVal val="0-#ppt_w/2"/>
                                          </p:val>
                                        </p:tav>
                                        <p:tav tm="100000">
                                          <p:val>
                                            <p:strVal val="#ppt_x"/>
                                          </p:val>
                                        </p:tav>
                                      </p:tavLst>
                                    </p:anim>
                                    <p:anim calcmode="lin" valueType="num">
                                      <p:cBhvr additive="base">
                                        <p:cTn id="25"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5494" grpId="0"/>
      <p:bldP spid="1215495"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8724"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8725"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6518" name="Rectangle 6"/>
          <p:cNvSpPr/>
          <p:nvPr/>
        </p:nvSpPr>
        <p:spPr>
          <a:xfrm>
            <a:off x="6934200" y="2388553"/>
            <a:ext cx="4346575" cy="3784600"/>
          </a:xfrm>
          <a:prstGeom prst="rect">
            <a:avLst/>
          </a:prstGeom>
          <a:noFill/>
          <a:ln w="9525">
            <a:noFill/>
          </a:ln>
        </p:spPr>
        <p:txBody>
          <a:bodyPr wrap="square" anchor="ctr" anchorCtr="0">
            <a:spAutoFit/>
          </a:bodyPr>
          <a:p>
            <a:pPr algn="l"/>
            <a:r>
              <a:rPr lang="zh-CN" altLang="en-US" sz="2400" dirty="0">
                <a:latin typeface="楷体_GB2312" charset="-122"/>
                <a:ea typeface="楷体_GB2312" charset="-122"/>
              </a:rPr>
              <a:t>    废水排放引起水体的温度升高，被称为</a:t>
            </a:r>
            <a:r>
              <a:rPr lang="zh-CN" altLang="en-US" sz="2400" b="1" u="sng" dirty="0">
                <a:solidFill>
                  <a:srgbClr val="FC4A26"/>
                </a:solidFill>
                <a:latin typeface="楷体_GB2312" charset="-122"/>
                <a:ea typeface="楷体_GB2312" charset="-122"/>
              </a:rPr>
              <a:t>热污染</a:t>
            </a:r>
            <a:r>
              <a:rPr lang="zh-CN" altLang="en-US" sz="2400" dirty="0">
                <a:latin typeface="楷体_GB2312" charset="-122"/>
                <a:ea typeface="楷体_GB2312" charset="-122"/>
              </a:rPr>
              <a:t>。热污染会影响水生生物的生存及水资源的利用价值。水温升高还会使水中溶解氧减少，同时加速生物的代谢速率，使溶解氧的下降更快，最后导致水体的自净能力降低。</a:t>
            </a:r>
            <a:r>
              <a:rPr lang="zh-CN" altLang="en-US" sz="2400" b="1" u="sng" dirty="0">
                <a:solidFill>
                  <a:schemeClr val="accent2"/>
                </a:solidFill>
                <a:latin typeface="楷体_GB2312" charset="-122"/>
                <a:ea typeface="楷体_GB2312" charset="-122"/>
              </a:rPr>
              <a:t>热电厂、金冶炼厂、石油化工厂</a:t>
            </a:r>
            <a:r>
              <a:rPr lang="zh-CN" altLang="en-US" sz="2400" dirty="0">
                <a:latin typeface="楷体_GB2312" charset="-122"/>
                <a:ea typeface="楷体_GB2312" charset="-122"/>
              </a:rPr>
              <a:t>等常排放高温的废水。</a:t>
            </a:r>
            <a:endParaRPr lang="zh-CN" altLang="en-US" sz="2400" dirty="0">
              <a:latin typeface="楷体_GB2312" charset="-122"/>
              <a:ea typeface="楷体_GB2312" charset="-122"/>
            </a:endParaRPr>
          </a:p>
        </p:txBody>
      </p:sp>
      <p:sp>
        <p:nvSpPr>
          <p:cNvPr id="1216519" name="Rectangle 7"/>
          <p:cNvSpPr/>
          <p:nvPr/>
        </p:nvSpPr>
        <p:spPr>
          <a:xfrm>
            <a:off x="1939925" y="1827213"/>
            <a:ext cx="171450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9</a:t>
            </a:r>
            <a:r>
              <a:rPr lang="zh-CN" altLang="en-US" sz="2400" b="1" dirty="0">
                <a:solidFill>
                  <a:schemeClr val="accent2"/>
                </a:solidFill>
                <a:latin typeface="楷体_GB2312" charset="-122"/>
                <a:ea typeface="楷体_GB2312" charset="-122"/>
              </a:rPr>
              <a:t>、热污染</a:t>
            </a:r>
            <a:r>
              <a:rPr lang="zh-CN" altLang="en-GB" sz="2400" b="1" dirty="0">
                <a:solidFill>
                  <a:schemeClr val="accent2"/>
                </a:solidFill>
                <a:latin typeface="楷体_GB2312" charset="-122"/>
                <a:ea typeface="楷体_GB2312" charset="-122"/>
              </a:rPr>
              <a:t> </a:t>
            </a:r>
            <a:endParaRPr lang="zh-CN" altLang="en-GB" sz="2400" b="1" dirty="0">
              <a:solidFill>
                <a:schemeClr val="accent2"/>
              </a:solidFill>
              <a:latin typeface="楷体_GB2312" charset="-122"/>
              <a:ea typeface="楷体_GB2312" charset="-122"/>
            </a:endParaRPr>
          </a:p>
        </p:txBody>
      </p:sp>
      <p:pic>
        <p:nvPicPr>
          <p:cNvPr id="1216520" name="Picture 8" descr="x1pxzZ39wV--_cBnrSMtsXhkS0l3C1FPSP2BXSgHGdsaA-5TMLr-xYgvXvHteoM6WWXii4Z-KTJus5F7X8D3odR5MKcUG6F_yyA-w9fJSLevX0NUlWHOWjTVhclvt6lH6nn2kYyk15uxR0"/>
          <p:cNvPicPr>
            <a:picLocks noChangeAspect="1"/>
          </p:cNvPicPr>
          <p:nvPr/>
        </p:nvPicPr>
        <p:blipFill>
          <a:blip r:embed="rId1"/>
          <a:stretch>
            <a:fillRect/>
          </a:stretch>
        </p:blipFill>
        <p:spPr>
          <a:xfrm>
            <a:off x="1218565" y="2590800"/>
            <a:ext cx="4705350" cy="3686175"/>
          </a:xfrm>
          <a:prstGeom prst="rect">
            <a:avLst/>
          </a:prstGeom>
          <a:noFill/>
          <a:ln w="9525">
            <a:noFill/>
          </a:ln>
        </p:spPr>
      </p:pic>
      <p:sp>
        <p:nvSpPr>
          <p:cNvPr id="1216521" name="AutoShape 9"/>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6519"/>
                                        </p:tgtEl>
                                        <p:attrNameLst>
                                          <p:attrName>style.visibility</p:attrName>
                                        </p:attrNameLst>
                                      </p:cBhvr>
                                      <p:to>
                                        <p:strVal val="visible"/>
                                      </p:to>
                                    </p:set>
                                    <p:anim calcmode="lin" valueType="num">
                                      <p:cBhvr additive="base">
                                        <p:cTn id="7" dur="500" fill="hold"/>
                                        <p:tgtEl>
                                          <p:spTgt spid="1216519"/>
                                        </p:tgtEl>
                                        <p:attrNameLst>
                                          <p:attrName>ppt_x</p:attrName>
                                        </p:attrNameLst>
                                      </p:cBhvr>
                                      <p:tavLst>
                                        <p:tav tm="0">
                                          <p:val>
                                            <p:strVal val="0-#ppt_w/2"/>
                                          </p:val>
                                        </p:tav>
                                        <p:tav tm="100000">
                                          <p:val>
                                            <p:strVal val="#ppt_x"/>
                                          </p:val>
                                        </p:tav>
                                      </p:tavLst>
                                    </p:anim>
                                    <p:anim calcmode="lin" valueType="num">
                                      <p:cBhvr additive="base">
                                        <p:cTn id="8" dur="500" fill="hold"/>
                                        <p:tgtEl>
                                          <p:spTgt spid="12165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16520"/>
                                        </p:tgtEl>
                                        <p:attrNameLst>
                                          <p:attrName>style.visibility</p:attrName>
                                        </p:attrNameLst>
                                      </p:cBhvr>
                                      <p:to>
                                        <p:strVal val="visible"/>
                                      </p:to>
                                    </p:set>
                                    <p:animEffect transition="in" filter="blinds(vertical)">
                                      <p:cBhvr>
                                        <p:cTn id="13" dur="500"/>
                                        <p:tgtEl>
                                          <p:spTgt spid="1216520"/>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16518"/>
                                        </p:tgtEl>
                                        <p:attrNameLst>
                                          <p:attrName>style.visibility</p:attrName>
                                        </p:attrNameLst>
                                      </p:cBhvr>
                                      <p:to>
                                        <p:strVal val="visible"/>
                                      </p:to>
                                    </p:set>
                                    <p:animEffect transition="in" filter="blinds(vertical)">
                                      <p:cBhvr>
                                        <p:cTn id="16" dur="500"/>
                                        <p:tgtEl>
                                          <p:spTgt spid="1216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6518" grpId="0"/>
      <p:bldP spid="121651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6"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59748"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59749"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主要的水环境污染物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217542" name="Rectangle 6"/>
          <p:cNvSpPr/>
          <p:nvPr/>
        </p:nvSpPr>
        <p:spPr>
          <a:xfrm>
            <a:off x="5679440" y="1197928"/>
            <a:ext cx="4489450" cy="1938020"/>
          </a:xfrm>
          <a:prstGeom prst="rect">
            <a:avLst/>
          </a:prstGeom>
          <a:noFill/>
          <a:ln w="9525">
            <a:noFill/>
          </a:ln>
        </p:spPr>
        <p:txBody>
          <a:bodyPr anchor="ctr" anchorCtr="0">
            <a:spAutoFit/>
          </a:bodyPr>
          <a:p>
            <a:pPr algn="l"/>
            <a:r>
              <a:rPr lang="zh-CN" altLang="en-US" sz="2400" dirty="0">
                <a:latin typeface="楷体_GB2312" charset="-122"/>
                <a:ea typeface="楷体_GB2312" charset="-122"/>
              </a:rPr>
              <a:t>    </a:t>
            </a:r>
            <a:r>
              <a:rPr lang="zh-CN" altLang="en-US" sz="2400" b="1" u="sng" dirty="0">
                <a:solidFill>
                  <a:schemeClr val="accent2"/>
                </a:solidFill>
                <a:latin typeface="楷体_GB2312" charset="-122"/>
                <a:ea typeface="楷体_GB2312" charset="-122"/>
              </a:rPr>
              <a:t>生活污水、医院污水和屠宰、制革、洗毛、生物制品等工业废水</a:t>
            </a:r>
            <a:r>
              <a:rPr lang="zh-CN" altLang="en-US" sz="2400" dirty="0">
                <a:latin typeface="楷体_GB2312" charset="-122"/>
                <a:ea typeface="楷体_GB2312" charset="-122"/>
              </a:rPr>
              <a:t>，常含有病原体，会传播霍乱、伤寒、胃炎、肠炎、痢疾以及其他病毒传染的疾病和寄生虫病</a:t>
            </a:r>
            <a:r>
              <a:rPr lang="zh-CN" altLang="en-US" sz="2400" b="1" dirty="0">
                <a:latin typeface="Arial" panose="020B0604020202020204" pitchFamily="34" charset="0"/>
              </a:rPr>
              <a:t> </a:t>
            </a:r>
            <a:r>
              <a:rPr lang="zh-CN" altLang="en-US" sz="2400" dirty="0">
                <a:latin typeface="楷体_GB2312" charset="-122"/>
                <a:ea typeface="楷体_GB2312" charset="-122"/>
              </a:rPr>
              <a:t>。</a:t>
            </a:r>
            <a:endParaRPr lang="zh-CN" altLang="en-US" sz="2400" dirty="0">
              <a:latin typeface="楷体_GB2312" charset="-122"/>
              <a:ea typeface="楷体_GB2312" charset="-122"/>
            </a:endParaRPr>
          </a:p>
        </p:txBody>
      </p:sp>
      <p:sp>
        <p:nvSpPr>
          <p:cNvPr id="1217543" name="Rectangle 7"/>
          <p:cNvSpPr/>
          <p:nvPr/>
        </p:nvSpPr>
        <p:spPr>
          <a:xfrm>
            <a:off x="1939925" y="1722438"/>
            <a:ext cx="186817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10</a:t>
            </a:r>
            <a:r>
              <a:rPr lang="zh-CN" altLang="en-US" sz="2400" b="1" dirty="0">
                <a:solidFill>
                  <a:schemeClr val="accent2"/>
                </a:solidFill>
                <a:latin typeface="楷体_GB2312" charset="-122"/>
                <a:ea typeface="楷体_GB2312" charset="-122"/>
              </a:rPr>
              <a:t>、病原体</a:t>
            </a:r>
            <a:r>
              <a:rPr lang="zh-CN" altLang="en-GB" sz="2400" b="1" dirty="0">
                <a:solidFill>
                  <a:schemeClr val="accent2"/>
                </a:solidFill>
                <a:latin typeface="楷体_GB2312" charset="-122"/>
                <a:ea typeface="楷体_GB2312" charset="-122"/>
              </a:rPr>
              <a:t> </a:t>
            </a:r>
            <a:endParaRPr lang="zh-CN" altLang="en-GB" sz="2400" b="1" dirty="0">
              <a:solidFill>
                <a:schemeClr val="accent2"/>
              </a:solidFill>
              <a:latin typeface="楷体_GB2312" charset="-122"/>
              <a:ea typeface="楷体_GB2312" charset="-122"/>
            </a:endParaRPr>
          </a:p>
        </p:txBody>
      </p:sp>
      <p:pic>
        <p:nvPicPr>
          <p:cNvPr id="1217544" name="Picture 8" descr="200904220827283817"/>
          <p:cNvPicPr>
            <a:picLocks noChangeAspect="1"/>
          </p:cNvPicPr>
          <p:nvPr/>
        </p:nvPicPr>
        <p:blipFill>
          <a:blip r:embed="rId1"/>
          <a:stretch>
            <a:fillRect/>
          </a:stretch>
        </p:blipFill>
        <p:spPr>
          <a:xfrm>
            <a:off x="1676400" y="2181225"/>
            <a:ext cx="3810000" cy="2911475"/>
          </a:xfrm>
          <a:prstGeom prst="rect">
            <a:avLst/>
          </a:prstGeom>
          <a:noFill/>
          <a:ln w="9525">
            <a:noFill/>
          </a:ln>
        </p:spPr>
      </p:pic>
      <p:pic>
        <p:nvPicPr>
          <p:cNvPr id="1217545" name="Picture 9" descr="200908040747387156"/>
          <p:cNvPicPr>
            <a:picLocks noChangeAspect="1"/>
          </p:cNvPicPr>
          <p:nvPr/>
        </p:nvPicPr>
        <p:blipFill>
          <a:blip r:embed="rId2"/>
          <a:stretch>
            <a:fillRect/>
          </a:stretch>
        </p:blipFill>
        <p:spPr>
          <a:xfrm>
            <a:off x="4876800" y="3505200"/>
            <a:ext cx="4752975" cy="3048000"/>
          </a:xfrm>
          <a:prstGeom prst="rect">
            <a:avLst/>
          </a:prstGeom>
          <a:noFill/>
          <a:ln w="9525">
            <a:noFill/>
          </a:ln>
        </p:spPr>
      </p:pic>
      <p:sp>
        <p:nvSpPr>
          <p:cNvPr id="1217547" name="AutoShape 11"/>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7543"/>
                                        </p:tgtEl>
                                        <p:attrNameLst>
                                          <p:attrName>style.visibility</p:attrName>
                                        </p:attrNameLst>
                                      </p:cBhvr>
                                      <p:to>
                                        <p:strVal val="visible"/>
                                      </p:to>
                                    </p:set>
                                    <p:anim calcmode="lin" valueType="num">
                                      <p:cBhvr additive="base">
                                        <p:cTn id="7" dur="500" fill="hold"/>
                                        <p:tgtEl>
                                          <p:spTgt spid="1217543"/>
                                        </p:tgtEl>
                                        <p:attrNameLst>
                                          <p:attrName>ppt_x</p:attrName>
                                        </p:attrNameLst>
                                      </p:cBhvr>
                                      <p:tavLst>
                                        <p:tav tm="0">
                                          <p:val>
                                            <p:strVal val="0-#ppt_w/2"/>
                                          </p:val>
                                        </p:tav>
                                        <p:tav tm="100000">
                                          <p:val>
                                            <p:strVal val="#ppt_x"/>
                                          </p:val>
                                        </p:tav>
                                      </p:tavLst>
                                    </p:anim>
                                    <p:anim calcmode="lin" valueType="num">
                                      <p:cBhvr additive="base">
                                        <p:cTn id="8" dur="500" fill="hold"/>
                                        <p:tgtEl>
                                          <p:spTgt spid="121754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217544"/>
                                        </p:tgtEl>
                                        <p:attrNameLst>
                                          <p:attrName>style.visibility</p:attrName>
                                        </p:attrNameLst>
                                      </p:cBhvr>
                                      <p:to>
                                        <p:strVal val="visible"/>
                                      </p:to>
                                    </p:set>
                                    <p:animEffect transition="in" filter="blinds(vertical)">
                                      <p:cBhvr>
                                        <p:cTn id="13" dur="500"/>
                                        <p:tgtEl>
                                          <p:spTgt spid="1217544"/>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217542"/>
                                        </p:tgtEl>
                                        <p:attrNameLst>
                                          <p:attrName>style.visibility</p:attrName>
                                        </p:attrNameLst>
                                      </p:cBhvr>
                                      <p:to>
                                        <p:strVal val="visible"/>
                                      </p:to>
                                    </p:set>
                                    <p:animEffect transition="in" filter="blinds(vertical)">
                                      <p:cBhvr>
                                        <p:cTn id="16" dur="500"/>
                                        <p:tgtEl>
                                          <p:spTgt spid="1217542"/>
                                        </p:tgtEl>
                                      </p:cBhvr>
                                    </p:animEffect>
                                  </p:childTnLst>
                                </p:cTn>
                              </p:par>
                              <p:par>
                                <p:cTn id="17" presetID="3" presetClass="entr" presetSubtype="5" fill="hold" nodeType="withEffect">
                                  <p:stCondLst>
                                    <p:cond delay="0"/>
                                  </p:stCondLst>
                                  <p:childTnLst>
                                    <p:set>
                                      <p:cBhvr>
                                        <p:cTn id="18" dur="1" fill="hold">
                                          <p:stCondLst>
                                            <p:cond delay="0"/>
                                          </p:stCondLst>
                                        </p:cTn>
                                        <p:tgtEl>
                                          <p:spTgt spid="1217545"/>
                                        </p:tgtEl>
                                        <p:attrNameLst>
                                          <p:attrName>style.visibility</p:attrName>
                                        </p:attrNameLst>
                                      </p:cBhvr>
                                      <p:to>
                                        <p:strVal val="visible"/>
                                      </p:to>
                                    </p:set>
                                    <p:animEffect transition="in" filter="blinds(vertical)">
                                      <p:cBhvr>
                                        <p:cTn id="19" dur="500"/>
                                        <p:tgtEl>
                                          <p:spTgt spid="1217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7542" grpId="0"/>
      <p:bldP spid="121754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2802" name="文本框 332801"/>
          <p:cNvSpPr txBox="1"/>
          <p:nvPr/>
        </p:nvSpPr>
        <p:spPr>
          <a:xfrm>
            <a:off x="1704975" y="6480175"/>
            <a:ext cx="330200" cy="307340"/>
          </a:xfrm>
          <a:prstGeom prst="rect">
            <a:avLst/>
          </a:prstGeom>
          <a:noFill/>
          <a:ln w="9525">
            <a:noFill/>
          </a:ln>
        </p:spPr>
        <p:txBody>
          <a:bodyPr wrap="none" lIns="0" tIns="0" rIns="0" bIns="0">
            <a:spAutoFit/>
          </a:bodyPr>
          <a:p>
            <a:pPr algn="l" defTabSz="916305">
              <a:lnSpc>
                <a:spcPts val="2400"/>
              </a:lnSpc>
            </a:pPr>
            <a:r>
              <a:rPr lang="en-US" altLang="zh-CN" sz="2600" b="1">
                <a:solidFill>
                  <a:srgbClr val="FFFFFF"/>
                </a:solidFill>
                <a:latin typeface="Times New Roman" panose="02020603050405020304" charset="0"/>
              </a:rPr>
              <a:t>28</a:t>
            </a:r>
            <a:endParaRPr lang="en-US" altLang="zh-CN" sz="2600" b="1">
              <a:solidFill>
                <a:srgbClr val="FFFFFF"/>
              </a:solidFill>
              <a:latin typeface="Times New Roman" panose="02020603050405020304" charset="0"/>
            </a:endParaRPr>
          </a:p>
        </p:txBody>
      </p:sp>
      <p:sp>
        <p:nvSpPr>
          <p:cNvPr id="332803" name="文本框 332802"/>
          <p:cNvSpPr txBox="1"/>
          <p:nvPr/>
        </p:nvSpPr>
        <p:spPr>
          <a:xfrm>
            <a:off x="2417763" y="1392238"/>
            <a:ext cx="8012112" cy="3003550"/>
          </a:xfrm>
          <a:prstGeom prst="rect">
            <a:avLst/>
          </a:prstGeom>
          <a:noFill/>
          <a:ln w="9525">
            <a:noFill/>
          </a:ln>
        </p:spPr>
        <p:txBody>
          <a:bodyPr lIns="0" tIns="0" rIns="0" bIns="0">
            <a:spAutoFit/>
          </a:bodyPr>
          <a:p>
            <a:pPr algn="l" defTabSz="916305">
              <a:lnSpc>
                <a:spcPts val="3615"/>
              </a:lnSpc>
              <a:buClr>
                <a:srgbClr val="003366"/>
              </a:buClr>
              <a:buFont typeface="Wingdings" panose="05000000000000000000" pitchFamily="2" charset="2"/>
              <a:buChar char="Ø"/>
              <a:tabLst>
                <a:tab pos="114300" algn="l"/>
                <a:tab pos="190500" algn="l"/>
                <a:tab pos="459105" algn="l"/>
              </a:tabLst>
            </a:pPr>
            <a:r>
              <a:rPr lang="zh-CN" altLang="en-US" sz="3600" b="1">
                <a:solidFill>
                  <a:srgbClr val="006565"/>
                </a:solidFill>
                <a:latin typeface="楷体_GB2312" charset="-122"/>
                <a:ea typeface="楷体_GB2312" charset="-122"/>
              </a:rPr>
              <a:t>污水的</a:t>
            </a:r>
            <a:r>
              <a:rPr lang="zh-CN" altLang="en-US" sz="3600" b="1" dirty="0">
                <a:solidFill>
                  <a:srgbClr val="006565"/>
                </a:solidFill>
                <a:latin typeface="楷体_GB2312" charset="-122"/>
                <a:ea typeface="楷体_GB2312" charset="-122"/>
              </a:rPr>
              <a:t>细菌污染指标</a:t>
            </a:r>
            <a:endParaRPr lang="zh-CN" altLang="en-US" sz="2000" b="1" dirty="0">
              <a:solidFill>
                <a:srgbClr val="006565"/>
              </a:solidFill>
              <a:latin typeface="楷体_GB2312" charset="-122"/>
              <a:ea typeface="楷体_GB2312" charset="-122"/>
            </a:endParaRPr>
          </a:p>
          <a:p>
            <a:pPr algn="l" defTabSz="916305">
              <a:lnSpc>
                <a:spcPts val="3615"/>
              </a:lnSpc>
              <a:buClr>
                <a:srgbClr val="003366"/>
              </a:buClr>
              <a:buFont typeface="Wingdings" panose="05000000000000000000" pitchFamily="2" charset="2"/>
              <a:tabLst>
                <a:tab pos="114300" algn="l"/>
                <a:tab pos="190500" algn="l"/>
                <a:tab pos="459105" algn="l"/>
              </a:tabLst>
            </a:pPr>
            <a:r>
              <a:rPr lang="zh-CN" altLang="en-US" sz="2800" b="1" dirty="0">
                <a:solidFill>
                  <a:srgbClr val="F60000"/>
                </a:solidFill>
                <a:latin typeface="楷体_GB2312" charset="-122"/>
                <a:ea typeface="楷体_GB2312" charset="-122"/>
              </a:rPr>
              <a:t>两种指标</a:t>
            </a:r>
            <a:r>
              <a:rPr lang="zh-CN" altLang="en-US" sz="2800" b="1" dirty="0">
                <a:solidFill>
                  <a:srgbClr val="003365"/>
                </a:solidFill>
                <a:latin typeface="楷体_GB2312" charset="-122"/>
                <a:ea typeface="楷体_GB2312" charset="-122"/>
              </a:rPr>
              <a:t>表示水体被细菌污染的程度</a:t>
            </a:r>
            <a:endParaRPr lang="zh-CN" altLang="en-US" sz="2800" b="1">
              <a:solidFill>
                <a:srgbClr val="003365"/>
              </a:solidFill>
              <a:latin typeface="楷体_GB2312" charset="-122"/>
              <a:ea typeface="楷体_GB2312" charset="-122"/>
            </a:endParaRPr>
          </a:p>
          <a:p>
            <a:pPr algn="l" defTabSz="916305">
              <a:lnSpc>
                <a:spcPts val="1000"/>
              </a:lnSpc>
              <a:tabLst>
                <a:tab pos="114300" algn="l"/>
                <a:tab pos="190500" algn="l"/>
                <a:tab pos="459105" algn="l"/>
              </a:tabLst>
            </a:pPr>
            <a:endParaRPr lang="zh-CN" altLang="en-US" sz="3600" b="1">
              <a:solidFill>
                <a:srgbClr val="006565"/>
              </a:solidFill>
              <a:latin typeface="楷体_GB2312" charset="-122"/>
              <a:ea typeface="楷体_GB2312" charset="-122"/>
            </a:endParaRPr>
          </a:p>
          <a:p>
            <a:pPr algn="l" defTabSz="916305">
              <a:lnSpc>
                <a:spcPts val="3615"/>
              </a:lnSpc>
              <a:tabLst>
                <a:tab pos="114300" algn="l"/>
                <a:tab pos="190500" algn="l"/>
                <a:tab pos="459105" algn="l"/>
              </a:tabLst>
            </a:pPr>
            <a:r>
              <a:rPr lang="zh-CN" altLang="en-US" sz="3600" b="1">
                <a:solidFill>
                  <a:srgbClr val="006565"/>
                </a:solidFill>
                <a:latin typeface="楷体_GB2312" charset="-122"/>
                <a:ea typeface="楷体_GB2312" charset="-122"/>
              </a:rPr>
              <a:t>	</a:t>
            </a:r>
            <a:r>
              <a:rPr lang="en-US" altLang="zh-CN" sz="2800" b="1">
                <a:solidFill>
                  <a:srgbClr val="003365"/>
                </a:solidFill>
                <a:latin typeface="楷体_GB2312" charset="-122"/>
                <a:ea typeface="楷体_GB2312" charset="-122"/>
              </a:rPr>
              <a:t>1</a:t>
            </a:r>
            <a:r>
              <a:rPr lang="zh-CN" altLang="en-US" sz="2800" b="1">
                <a:solidFill>
                  <a:srgbClr val="003365"/>
                </a:solidFill>
                <a:latin typeface="楷体_GB2312" charset="-122"/>
                <a:ea typeface="楷体_GB2312" charset="-122"/>
              </a:rPr>
              <a:t>毫升水中</a:t>
            </a:r>
            <a:r>
              <a:rPr lang="zh-CN" altLang="en-US" sz="2800" b="1">
                <a:solidFill>
                  <a:srgbClr val="FF0000"/>
                </a:solidFill>
                <a:latin typeface="楷体_GB2312" charset="-122"/>
                <a:ea typeface="楷体_GB2312" charset="-122"/>
              </a:rPr>
              <a:t>细菌（杂菌）的总数</a:t>
            </a:r>
            <a:r>
              <a:rPr lang="en-US" altLang="zh-CN" sz="2800" b="1">
                <a:solidFill>
                  <a:srgbClr val="003365"/>
                </a:solidFill>
                <a:latin typeface="Times New Roman" panose="02020603050405020304" charset="0"/>
                <a:ea typeface="楷体_GB2312" charset="-122"/>
              </a:rPr>
              <a:t>— </a:t>
            </a:r>
            <a:r>
              <a:rPr lang="zh-CN" altLang="en-US" sz="2800" b="1">
                <a:solidFill>
                  <a:srgbClr val="003365"/>
                </a:solidFill>
                <a:latin typeface="楷体_GB2312" charset="-122"/>
                <a:ea typeface="楷体_GB2312" charset="-122"/>
              </a:rPr>
              <a:t>饮用水</a:t>
            </a:r>
            <a:r>
              <a:rPr lang="en-US" altLang="zh-CN" sz="2800" b="1">
                <a:solidFill>
                  <a:srgbClr val="003365"/>
                </a:solidFill>
                <a:latin typeface="楷体_GB2312" charset="-122"/>
                <a:ea typeface="楷体_GB2312" charset="-122"/>
              </a:rPr>
              <a:t>&lt;100</a:t>
            </a:r>
            <a:r>
              <a:rPr lang="zh-CN" altLang="en-US" sz="2800" b="1">
                <a:solidFill>
                  <a:srgbClr val="003365"/>
                </a:solidFill>
                <a:latin typeface="楷体_GB2312" charset="-122"/>
                <a:ea typeface="楷体_GB2312" charset="-122"/>
              </a:rPr>
              <a:t>个。</a:t>
            </a:r>
            <a:endParaRPr lang="zh-CN" altLang="en-US" sz="2800" b="1">
              <a:solidFill>
                <a:srgbClr val="003365"/>
              </a:solidFill>
              <a:latin typeface="楷体_GB2312" charset="-122"/>
              <a:ea typeface="楷体_GB2312" charset="-122"/>
            </a:endParaRPr>
          </a:p>
          <a:p>
            <a:pPr algn="l" defTabSz="916305">
              <a:lnSpc>
                <a:spcPts val="1000"/>
              </a:lnSpc>
              <a:tabLst>
                <a:tab pos="114300" algn="l"/>
                <a:tab pos="190500" algn="l"/>
                <a:tab pos="459105" algn="l"/>
              </a:tabLst>
            </a:pPr>
            <a:endParaRPr lang="zh-CN" altLang="en-US" sz="2800" b="1">
              <a:solidFill>
                <a:srgbClr val="003365"/>
              </a:solidFill>
              <a:latin typeface="楷体_GB2312" charset="-122"/>
              <a:ea typeface="楷体_GB2312" charset="-122"/>
            </a:endParaRPr>
          </a:p>
          <a:p>
            <a:pPr algn="l" defTabSz="916305">
              <a:lnSpc>
                <a:spcPts val="1000"/>
              </a:lnSpc>
              <a:tabLst>
                <a:tab pos="114300" algn="l"/>
                <a:tab pos="190500" algn="l"/>
                <a:tab pos="459105" algn="l"/>
              </a:tabLst>
            </a:pPr>
            <a:endParaRPr lang="zh-CN" altLang="en-US" sz="2800" b="1">
              <a:solidFill>
                <a:srgbClr val="003365"/>
              </a:solidFill>
              <a:latin typeface="楷体_GB2312" charset="-122"/>
              <a:ea typeface="楷体_GB2312" charset="-122"/>
            </a:endParaRPr>
          </a:p>
          <a:p>
            <a:pPr algn="l" defTabSz="916305">
              <a:lnSpc>
                <a:spcPts val="1000"/>
              </a:lnSpc>
              <a:tabLst>
                <a:tab pos="114300" algn="l"/>
                <a:tab pos="190500" algn="l"/>
                <a:tab pos="459105" algn="l"/>
              </a:tabLst>
            </a:pPr>
            <a:endParaRPr lang="zh-CN" altLang="en-US" sz="2800" b="1">
              <a:solidFill>
                <a:srgbClr val="003365"/>
              </a:solidFill>
              <a:latin typeface="楷体_GB2312" charset="-122"/>
              <a:ea typeface="楷体_GB2312" charset="-122"/>
            </a:endParaRPr>
          </a:p>
          <a:p>
            <a:pPr algn="l" defTabSz="916305">
              <a:lnSpc>
                <a:spcPts val="3190"/>
              </a:lnSpc>
              <a:tabLst>
                <a:tab pos="114300" algn="l"/>
                <a:tab pos="190500" algn="l"/>
                <a:tab pos="459105" algn="l"/>
              </a:tabLst>
            </a:pPr>
            <a:r>
              <a:rPr lang="en-US" altLang="zh-CN" sz="2800" b="1">
                <a:solidFill>
                  <a:srgbClr val="003365"/>
                </a:solidFill>
                <a:latin typeface="楷体_GB2312" charset="-122"/>
                <a:ea typeface="楷体_GB2312" charset="-122"/>
              </a:rPr>
              <a:t>1</a:t>
            </a:r>
            <a:r>
              <a:rPr lang="zh-CN" altLang="en-US" sz="2800" b="1">
                <a:solidFill>
                  <a:srgbClr val="003365"/>
                </a:solidFill>
                <a:latin typeface="楷体_GB2312" charset="-122"/>
                <a:ea typeface="楷体_GB2312" charset="-122"/>
              </a:rPr>
              <a:t>升水中</a:t>
            </a:r>
            <a:r>
              <a:rPr lang="zh-CN" altLang="en-US" sz="2800" b="1">
                <a:solidFill>
                  <a:srgbClr val="FF0000"/>
                </a:solidFill>
                <a:latin typeface="楷体_GB2312" charset="-122"/>
                <a:ea typeface="楷体_GB2312" charset="-122"/>
              </a:rPr>
              <a:t>大肠杆菌群</a:t>
            </a:r>
            <a:r>
              <a:rPr lang="zh-CN" altLang="en-US" sz="2800" b="1">
                <a:solidFill>
                  <a:srgbClr val="003365"/>
                </a:solidFill>
                <a:latin typeface="楷体_GB2312" charset="-122"/>
                <a:ea typeface="楷体_GB2312" charset="-122"/>
              </a:rPr>
              <a:t>的多少。污染指</a:t>
            </a:r>
            <a:r>
              <a:rPr lang="zh-CN" altLang="en-US" sz="2800" b="1">
                <a:solidFill>
                  <a:srgbClr val="003365"/>
                </a:solidFill>
                <a:latin typeface="楷体_GB2312" charset="-122"/>
                <a:ea typeface="楷体_GB2312" charset="-122"/>
              </a:rPr>
              <a:t>示</a:t>
            </a:r>
            <a:r>
              <a:rPr lang="en-US" altLang="zh-CN" sz="2800" b="1">
                <a:solidFill>
                  <a:srgbClr val="003365"/>
                </a:solidFill>
                <a:latin typeface="楷体_GB2312" charset="-122"/>
                <a:ea typeface="楷体_GB2312" charset="-122"/>
              </a:rPr>
              <a:t>-</a:t>
            </a:r>
            <a:r>
              <a:rPr lang="zh-CN" altLang="en-US" sz="2800" b="1">
                <a:solidFill>
                  <a:srgbClr val="003365"/>
                </a:solidFill>
                <a:latin typeface="楷体_GB2312" charset="-122"/>
                <a:ea typeface="楷体_GB2312" charset="-122"/>
              </a:rPr>
              <a:t>饮用水</a:t>
            </a:r>
            <a:r>
              <a:rPr lang="en-US" altLang="zh-CN" sz="2800" b="1">
                <a:solidFill>
                  <a:srgbClr val="003365"/>
                </a:solidFill>
                <a:latin typeface="楷体_GB2312" charset="-122"/>
                <a:ea typeface="楷体_GB2312" charset="-122"/>
              </a:rPr>
              <a:t>&lt;3</a:t>
            </a:r>
            <a:endParaRPr lang="en-US" altLang="zh-CN" sz="2800" b="1">
              <a:solidFill>
                <a:srgbClr val="003365"/>
              </a:solidFill>
              <a:latin typeface="楷体_GB2312" charset="-122"/>
              <a:ea typeface="楷体_GB2312" charset="-122"/>
            </a:endParaRPr>
          </a:p>
          <a:p>
            <a:pPr algn="l" defTabSz="916305">
              <a:lnSpc>
                <a:spcPts val="1000"/>
              </a:lnSpc>
              <a:tabLst>
                <a:tab pos="114300" algn="l"/>
                <a:tab pos="190500" algn="l"/>
                <a:tab pos="459105" algn="l"/>
              </a:tabLst>
            </a:pPr>
            <a:endParaRPr lang="en-US" altLang="zh-CN" sz="2800" b="1">
              <a:solidFill>
                <a:srgbClr val="003365"/>
              </a:solidFill>
              <a:latin typeface="楷体_GB2312" charset="-122"/>
              <a:ea typeface="楷体_GB2312" charset="-122"/>
            </a:endParaRPr>
          </a:p>
          <a:p>
            <a:pPr algn="l" defTabSz="916305">
              <a:lnSpc>
                <a:spcPts val="1000"/>
              </a:lnSpc>
              <a:tabLst>
                <a:tab pos="114300" algn="l"/>
                <a:tab pos="190500" algn="l"/>
                <a:tab pos="459105" algn="l"/>
              </a:tabLst>
            </a:pPr>
            <a:endParaRPr lang="en-US" altLang="zh-CN" sz="2800" b="1">
              <a:solidFill>
                <a:srgbClr val="003365"/>
              </a:solidFill>
              <a:latin typeface="楷体_GB2312" charset="-122"/>
              <a:ea typeface="楷体_GB2312" charset="-122"/>
            </a:endParaRPr>
          </a:p>
          <a:p>
            <a:pPr algn="l" defTabSz="916305">
              <a:lnSpc>
                <a:spcPts val="3390"/>
              </a:lnSpc>
              <a:tabLst>
                <a:tab pos="114300" algn="l"/>
                <a:tab pos="190500" algn="l"/>
                <a:tab pos="459105" algn="l"/>
              </a:tabLst>
            </a:pPr>
            <a:r>
              <a:rPr lang="zh-CN" altLang="en-US" sz="2800" b="1">
                <a:solidFill>
                  <a:srgbClr val="003365"/>
                </a:solidFill>
                <a:latin typeface="楷体_GB2312" charset="-122"/>
                <a:ea typeface="楷体_GB2312" charset="-122"/>
              </a:rPr>
              <a:t>个。</a:t>
            </a:r>
            <a:endParaRPr lang="zh-CN" altLang="en-US" sz="2800" b="1">
              <a:solidFill>
                <a:srgbClr val="003365"/>
              </a:solidFill>
              <a:latin typeface="楷体_GB2312" charset="-122"/>
              <a:ea typeface="楷体_GB2312" charset="-122"/>
            </a:endParaRPr>
          </a:p>
        </p:txBody>
      </p:sp>
      <p:sp>
        <p:nvSpPr>
          <p:cNvPr id="332804" name="文本框 332803"/>
          <p:cNvSpPr txBox="1"/>
          <p:nvPr/>
        </p:nvSpPr>
        <p:spPr>
          <a:xfrm>
            <a:off x="2846388" y="5448300"/>
            <a:ext cx="7005637" cy="460375"/>
          </a:xfrm>
          <a:prstGeom prst="rect">
            <a:avLst/>
          </a:prstGeom>
          <a:solidFill>
            <a:srgbClr val="F6FCA2"/>
          </a:solidFill>
          <a:ln w="9525" cap="flat" cmpd="sng">
            <a:solidFill>
              <a:schemeClr val="hlink"/>
            </a:solidFill>
            <a:prstDash val="solid"/>
            <a:miter/>
            <a:headEnd type="none" w="med" len="med"/>
            <a:tailEnd type="none" w="med" len="med"/>
          </a:ln>
        </p:spPr>
        <p:txBody>
          <a:bodyPr lIns="91650" tIns="45825" rIns="91650" bIns="45825">
            <a:spAutoFit/>
          </a:bodyPr>
          <a:p>
            <a:pPr algn="l" defTabSz="916305">
              <a:spcBef>
                <a:spcPct val="50000"/>
              </a:spcBef>
              <a:buFont typeface="Arial" panose="020B0604020202020204" pitchFamily="34" charset="0"/>
              <a:buChar char="♠"/>
            </a:pPr>
            <a:r>
              <a:rPr lang="zh-CN" altLang="en-US" sz="2400" b="1" dirty="0">
                <a:solidFill>
                  <a:srgbClr val="F60000"/>
                </a:solidFill>
                <a:latin typeface="Arial" panose="020B0604020202020204" pitchFamily="34" charset="0"/>
              </a:rPr>
              <a:t>注：以上</a:t>
            </a:r>
            <a:r>
              <a:rPr lang="en-US" altLang="zh-CN" sz="2400" b="1">
                <a:solidFill>
                  <a:srgbClr val="F60000"/>
                </a:solidFill>
                <a:latin typeface="Arial" panose="020B0604020202020204" pitchFamily="34" charset="0"/>
              </a:rPr>
              <a:t>5</a:t>
            </a:r>
            <a:r>
              <a:rPr lang="zh-CN" altLang="en-US" sz="2400" b="1" dirty="0">
                <a:solidFill>
                  <a:srgbClr val="F60000"/>
                </a:solidFill>
                <a:latin typeface="Arial" panose="020B0604020202020204" pitchFamily="34" charset="0"/>
              </a:rPr>
              <a:t>个指标是表示水体污染情况的重要指标</a:t>
            </a:r>
            <a:endParaRPr lang="zh-CN" altLang="en-US" sz="2400" b="1" dirty="0">
              <a:solidFill>
                <a:srgbClr val="F60000"/>
              </a:solidFill>
              <a:latin typeface="Arial" panose="020B0604020202020204" pitchFamily="3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Line 2"/>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160772" name="页脚占位符 1"/>
          <p:cNvSpPr txBox="1">
            <a:spLocks noGrp="1"/>
          </p:cNvSpPr>
          <p:nvPr/>
        </p:nvSpPr>
        <p:spPr>
          <a:xfrm>
            <a:off x="7739063" y="6553200"/>
            <a:ext cx="2895600" cy="304800"/>
          </a:xfrm>
          <a:prstGeom prst="rect">
            <a:avLst/>
          </a:prstGeom>
          <a:noFill/>
          <a:ln w="9525">
            <a:noFill/>
          </a:ln>
        </p:spPr>
        <p:txBody>
          <a:bodyPr/>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0773" name="Rectangle 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水污染的主要来源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029134" name="AutoShape 14"/>
          <p:cNvSpPr>
            <a:spLocks noChangeArrowheads="1"/>
          </p:cNvSpPr>
          <p:nvPr/>
        </p:nvSpPr>
        <p:spPr bwMode="auto">
          <a:xfrm>
            <a:off x="2095500" y="3228975"/>
            <a:ext cx="1943100" cy="904875"/>
          </a:xfrm>
          <a:prstGeom prst="homePlate">
            <a:avLst>
              <a:gd name="adj" fmla="val 42002"/>
            </a:avLst>
          </a:prstGeom>
          <a:solidFill>
            <a:srgbClr val="FFCC00"/>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600" b="1" i="0" u="none" strike="noStrike" kern="1200" cap="none" spc="0" normalizeH="0" baseline="0" noProof="0" smtClean="0">
                <a:ln>
                  <a:noFill/>
                </a:ln>
                <a:solidFill>
                  <a:schemeClr val="accent1"/>
                </a:solidFill>
                <a:effectLst/>
                <a:uLnTx/>
                <a:uFillTx/>
                <a:latin typeface="Arial" panose="020B0604020202020204" pitchFamily="34" charset="0"/>
                <a:ea typeface="楷体_GB2312" charset="-122"/>
                <a:cs typeface="+mn-cs"/>
              </a:rPr>
              <a:t>水污染的</a:t>
            </a:r>
            <a:endParaRPr kumimoji="0" lang="zh-CN" altLang="en-US" sz="2600" b="1" i="0" u="none" strike="noStrike" kern="1200" cap="none" spc="0" normalizeH="0" baseline="0" noProof="0" smtClean="0">
              <a:ln>
                <a:noFill/>
              </a:ln>
              <a:solidFill>
                <a:schemeClr val="accent1"/>
              </a:solidFill>
              <a:effectLst/>
              <a:uLnTx/>
              <a:uFillTx/>
              <a:latin typeface="Arial" panose="020B0604020202020204" pitchFamily="34" charset="0"/>
              <a:ea typeface="楷体_GB2312"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600" b="1" i="0" u="none" strike="noStrike" kern="1200" cap="none" spc="0" normalizeH="0" baseline="0" noProof="0" smtClean="0">
                <a:ln>
                  <a:noFill/>
                </a:ln>
                <a:solidFill>
                  <a:schemeClr val="accent1"/>
                </a:solidFill>
                <a:effectLst/>
                <a:uLnTx/>
                <a:uFillTx/>
                <a:latin typeface="Arial" panose="020B0604020202020204" pitchFamily="34" charset="0"/>
                <a:ea typeface="楷体_GB2312" charset="-122"/>
                <a:cs typeface="+mn-cs"/>
              </a:rPr>
              <a:t>主要来源</a:t>
            </a:r>
            <a:endParaRPr kumimoji="0" lang="en-US" altLang="zh-CN" sz="2600" b="1" i="0" u="none" strike="noStrike" kern="1200" cap="none" spc="0" normalizeH="0" baseline="0" noProof="0" smtClean="0">
              <a:ln>
                <a:noFill/>
              </a:ln>
              <a:solidFill>
                <a:schemeClr val="accent1"/>
              </a:solidFill>
              <a:effectLst/>
              <a:uLnTx/>
              <a:uFillTx/>
              <a:latin typeface="Arial" panose="020B0604020202020204" pitchFamily="34" charset="0"/>
              <a:ea typeface="楷体_GB2312" charset="-122"/>
              <a:cs typeface="+mn-cs"/>
            </a:endParaRPr>
          </a:p>
        </p:txBody>
      </p:sp>
      <p:sp>
        <p:nvSpPr>
          <p:cNvPr id="1218567" name="AutoShape 7"/>
          <p:cNvSpPr/>
          <p:nvPr/>
        </p:nvSpPr>
        <p:spPr bwMode="auto">
          <a:xfrm>
            <a:off x="4038600" y="3486331"/>
            <a:ext cx="342900" cy="313963"/>
          </a:xfrm>
          <a:prstGeom prst="leftBrace">
            <a:avLst>
              <a:gd name="adj1" fmla="val 49769"/>
              <a:gd name="adj2" fmla="val 50000"/>
            </a:avLst>
          </a:prstGeom>
          <a:noFill/>
          <a:ln w="38100">
            <a:solidFill>
              <a:schemeClr val="hlink"/>
            </a:solidFill>
            <a:round/>
          </a:ln>
          <a:effectLst>
            <a:outerShdw dist="107763" dir="18900000" algn="ctr" rotWithShape="0">
              <a:schemeClr val="bg2">
                <a:alpha val="50000"/>
              </a:scheme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128" name="AutoShape 8"/>
          <p:cNvSpPr/>
          <p:nvPr/>
        </p:nvSpPr>
        <p:spPr>
          <a:xfrm>
            <a:off x="4419600" y="2478088"/>
            <a:ext cx="1981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点污染源</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3" name="AutoShape 8"/>
          <p:cNvSpPr/>
          <p:nvPr/>
        </p:nvSpPr>
        <p:spPr>
          <a:xfrm>
            <a:off x="4419600" y="4438650"/>
            <a:ext cx="1981200" cy="436563"/>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面污染源</a:t>
            </a:r>
            <a:endParaRPr lang="en-US" altLang="zh-CN" sz="2400" b="1">
              <a:solidFill>
                <a:srgbClr val="FFFF66"/>
              </a:solidFill>
              <a:latin typeface="宋体" panose="02010600030101010101" pitchFamily="2" charset="-122"/>
              <a:ea typeface="楷体_GB2312" charset="-122"/>
            </a:endParaRPr>
          </a:p>
        </p:txBody>
      </p:sp>
      <p:sp>
        <p:nvSpPr>
          <p:cNvPr id="1029136" name="AutoShape 16"/>
          <p:cNvSpPr>
            <a:spLocks noChangeArrowheads="1"/>
          </p:cNvSpPr>
          <p:nvPr/>
        </p:nvSpPr>
        <p:spPr bwMode="auto">
          <a:xfrm>
            <a:off x="6829425" y="1828800"/>
            <a:ext cx="1704975" cy="360363"/>
          </a:xfrm>
          <a:prstGeom prst="roundRect">
            <a:avLst>
              <a:gd name="adj" fmla="val 10560"/>
            </a:avLst>
          </a:prstGeom>
          <a:solidFill>
            <a:srgbClr val="00FFFF"/>
          </a:solidFill>
          <a:ln w="9525">
            <a:solidFill>
              <a:schemeClr val="tx1"/>
            </a:solidFill>
            <a:round/>
          </a:ln>
          <a:effectLst>
            <a:outerShdw dist="35921" dir="2700000" algn="ctr" rotWithShape="0">
              <a:schemeClr val="tx1"/>
            </a:outerShdw>
          </a:effectLst>
        </p:spPr>
        <p:txBody>
          <a:bodyPr lIns="45720" rIns="45720" anchor="ctr"/>
          <a:lstStyle/>
          <a:p>
            <a:pPr marL="0" marR="0" lvl="0" indent="0" algn="ctr" defTabSz="914400" rtl="0" eaLnBrk="0" fontAlgn="base" latinLnBrk="0" hangingPunct="0">
              <a:lnSpc>
                <a:spcPct val="100000"/>
              </a:lnSpc>
              <a:spcBef>
                <a:spcPct val="100000"/>
              </a:spcBef>
              <a:spcAft>
                <a:spcPct val="0"/>
              </a:spcAft>
              <a:buClrTx/>
              <a:buSzPct val="65000"/>
              <a:buFont typeface="Wingdings" panose="05000000000000000000" pitchFamily="2" charset="2"/>
              <a:buNone/>
              <a:defRPr/>
            </a:pPr>
            <a:r>
              <a:rPr kumimoji="0" lang="zh-CN" altLang="en-GB" sz="2000" b="1" i="0" u="none" strike="noStrike" kern="1200" cap="none" spc="0" normalizeH="0" baseline="0" noProof="0" smtClean="0">
                <a:ln>
                  <a:noFill/>
                </a:ln>
                <a:solidFill>
                  <a:srgbClr val="2C2C00"/>
                </a:solidFill>
                <a:effectLst/>
                <a:uLnTx/>
                <a:uFillTx/>
                <a:latin typeface="宋体" panose="02010600030101010101" pitchFamily="2" charset="-122"/>
                <a:ea typeface="楷体_GB2312" charset="-122"/>
                <a:cs typeface="Arial" panose="020B0604020202020204" pitchFamily="34" charset="0"/>
              </a:rPr>
              <a:t>生活污水</a:t>
            </a:r>
            <a:endParaRPr kumimoji="0" lang="en-US" altLang="zh-CN" sz="2000" b="1" i="0" u="none" strike="noStrike" kern="1200" cap="none" spc="0" normalizeH="0" baseline="0" noProof="0" smtClean="0">
              <a:ln>
                <a:noFill/>
              </a:ln>
              <a:solidFill>
                <a:srgbClr val="2C2C00"/>
              </a:solidFill>
              <a:effectLst/>
              <a:uLnTx/>
              <a:uFillTx/>
              <a:latin typeface="宋体" panose="02010600030101010101" pitchFamily="2" charset="-122"/>
              <a:ea typeface="楷体_GB2312" charset="-122"/>
              <a:cs typeface="Arial" panose="020B0604020202020204" pitchFamily="34" charset="0"/>
            </a:endParaRPr>
          </a:p>
        </p:txBody>
      </p:sp>
      <p:sp>
        <p:nvSpPr>
          <p:cNvPr id="1029143" name="AutoShape 23"/>
          <p:cNvSpPr>
            <a:spLocks noChangeArrowheads="1"/>
          </p:cNvSpPr>
          <p:nvPr/>
        </p:nvSpPr>
        <p:spPr bwMode="auto">
          <a:xfrm>
            <a:off x="6829425" y="2914650"/>
            <a:ext cx="1657350" cy="360363"/>
          </a:xfrm>
          <a:prstGeom prst="roundRect">
            <a:avLst>
              <a:gd name="adj" fmla="val 10560"/>
            </a:avLst>
          </a:prstGeom>
          <a:solidFill>
            <a:srgbClr val="00FFFF"/>
          </a:solidFill>
          <a:ln w="9525">
            <a:solidFill>
              <a:schemeClr val="tx1"/>
            </a:solidFill>
            <a:round/>
          </a:ln>
          <a:effectLst>
            <a:outerShdw dist="35921" dir="2700000" algn="ctr" rotWithShape="0">
              <a:schemeClr val="tx1"/>
            </a:outerShdw>
          </a:effectLst>
        </p:spPr>
        <p:txBody>
          <a:bodyPr lIns="45720" rIns="45720" anchor="ctr"/>
          <a:lstStyle/>
          <a:p>
            <a:pPr marL="0" marR="0" lvl="0" indent="0" algn="ctr" defTabSz="914400" rtl="0" eaLnBrk="0" fontAlgn="base" latinLnBrk="0" hangingPunct="0">
              <a:lnSpc>
                <a:spcPct val="100000"/>
              </a:lnSpc>
              <a:spcBef>
                <a:spcPct val="100000"/>
              </a:spcBef>
              <a:spcAft>
                <a:spcPct val="0"/>
              </a:spcAft>
              <a:buClrTx/>
              <a:buSzPct val="65000"/>
              <a:buFont typeface="Wingdings" panose="05000000000000000000" pitchFamily="2" charset="2"/>
              <a:buNone/>
              <a:defRPr/>
            </a:pPr>
            <a:r>
              <a:rPr kumimoji="0" lang="zh-CN" altLang="en-GB" sz="2000" b="1" i="0" u="none" strike="noStrike" kern="1200" cap="none" spc="0" normalizeH="0" baseline="0" noProof="0" smtClean="0">
                <a:ln>
                  <a:noFill/>
                </a:ln>
                <a:solidFill>
                  <a:srgbClr val="2C2C00"/>
                </a:solidFill>
                <a:effectLst/>
                <a:uLnTx/>
                <a:uFillTx/>
                <a:latin typeface="宋体" panose="02010600030101010101" pitchFamily="2" charset="-122"/>
                <a:ea typeface="楷体_GB2312" charset="-122"/>
                <a:cs typeface="Arial" panose="020B0604020202020204" pitchFamily="34" charset="0"/>
              </a:rPr>
              <a:t>工业废水</a:t>
            </a:r>
            <a:endParaRPr kumimoji="0" lang="en-US" altLang="zh-CN" sz="2000" b="1" i="0" u="none" strike="noStrike" kern="1200" cap="none" spc="0" normalizeH="0" baseline="0" noProof="0" smtClean="0">
              <a:ln>
                <a:noFill/>
              </a:ln>
              <a:solidFill>
                <a:srgbClr val="2C2C00"/>
              </a:solidFill>
              <a:effectLst/>
              <a:uLnTx/>
              <a:uFillTx/>
              <a:latin typeface="宋体" panose="02010600030101010101" pitchFamily="2" charset="-122"/>
              <a:ea typeface="楷体_GB2312" charset="-122"/>
              <a:cs typeface="Arial" panose="020B0604020202020204" pitchFamily="34" charset="0"/>
            </a:endParaRPr>
          </a:p>
        </p:txBody>
      </p:sp>
      <p:sp>
        <p:nvSpPr>
          <p:cNvPr id="1218572" name="AutoShape 12"/>
          <p:cNvSpPr/>
          <p:nvPr/>
        </p:nvSpPr>
        <p:spPr bwMode="auto">
          <a:xfrm>
            <a:off x="6400800" y="2511425"/>
            <a:ext cx="342900" cy="279401"/>
          </a:xfrm>
          <a:prstGeom prst="leftBrace">
            <a:avLst>
              <a:gd name="adj1" fmla="val 32562"/>
              <a:gd name="adj2" fmla="val 50000"/>
            </a:avLst>
          </a:prstGeom>
          <a:noFill/>
          <a:ln w="38100">
            <a:solidFill>
              <a:schemeClr val="accent2"/>
            </a:solidFill>
            <a:round/>
          </a:ln>
          <a:effectLst>
            <a:outerShdw dist="107763" dir="18900000" algn="ctr" rotWithShape="0">
              <a:schemeClr val="bg2">
                <a:alpha val="50000"/>
              </a:schemeClr>
            </a:outerShdw>
          </a:effectLst>
        </p:spPr>
        <p:txBody>
          <a:bodyPr anchor="ctr">
            <a:spAutoFit/>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8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18573" name="Rectangle 13"/>
          <p:cNvSpPr/>
          <p:nvPr/>
        </p:nvSpPr>
        <p:spPr>
          <a:xfrm>
            <a:off x="4419600" y="3426778"/>
            <a:ext cx="4899025" cy="829945"/>
          </a:xfrm>
          <a:prstGeom prst="rect">
            <a:avLst/>
          </a:prstGeom>
          <a:noFill/>
          <a:ln w="9525">
            <a:noFill/>
          </a:ln>
        </p:spPr>
        <p:txBody>
          <a:bodyPr anchor="ctr" anchorCtr="0">
            <a:spAutoFit/>
          </a:bodyPr>
          <a:p>
            <a:pPr algn="l"/>
            <a:r>
              <a:rPr lang="zh-CN" altLang="en-US" sz="1600" dirty="0">
                <a:latin typeface="楷体_GB2312" charset="-122"/>
                <a:ea typeface="楷体_GB2312" charset="-122"/>
              </a:rPr>
              <a:t>    人类活动所排放的各类污水是将污染物带入水体的一大类污染源，由于这些污水、废水多由</a:t>
            </a:r>
            <a:r>
              <a:rPr lang="zh-CN" altLang="en-US" sz="1600" b="1" dirty="0">
                <a:solidFill>
                  <a:schemeClr val="accent2"/>
                </a:solidFill>
                <a:latin typeface="楷体_GB2312" charset="-122"/>
                <a:ea typeface="楷体_GB2312" charset="-122"/>
              </a:rPr>
              <a:t>管道收集</a:t>
            </a:r>
            <a:r>
              <a:rPr lang="zh-CN" altLang="en-US" sz="1600" dirty="0">
                <a:latin typeface="楷体_GB2312" charset="-122"/>
                <a:ea typeface="楷体_GB2312" charset="-122"/>
              </a:rPr>
              <a:t>后集中排除，因此常被称为点污染源。</a:t>
            </a:r>
            <a:r>
              <a:rPr lang="zh-CN" altLang="en-GB" sz="1600" b="1" dirty="0">
                <a:latin typeface="楷体_GB2312" charset="-122"/>
                <a:ea typeface="楷体_GB2312" charset="-122"/>
              </a:rPr>
              <a:t> </a:t>
            </a:r>
            <a:endParaRPr lang="zh-CN" altLang="en-GB" sz="1600" b="1" dirty="0">
              <a:latin typeface="楷体_GB2312" charset="-122"/>
              <a:ea typeface="楷体_GB2312" charset="-122"/>
            </a:endParaRPr>
          </a:p>
        </p:txBody>
      </p:sp>
      <p:sp>
        <p:nvSpPr>
          <p:cNvPr id="1218574" name="Rectangle 14"/>
          <p:cNvSpPr/>
          <p:nvPr/>
        </p:nvSpPr>
        <p:spPr>
          <a:xfrm>
            <a:off x="4381500" y="5025391"/>
            <a:ext cx="5262563" cy="829945"/>
          </a:xfrm>
          <a:prstGeom prst="rect">
            <a:avLst/>
          </a:prstGeom>
          <a:noFill/>
          <a:ln w="9525">
            <a:noFill/>
          </a:ln>
        </p:spPr>
        <p:txBody>
          <a:bodyPr anchor="ctr" anchorCtr="0">
            <a:spAutoFit/>
          </a:bodyPr>
          <a:p>
            <a:pPr algn="l"/>
            <a:r>
              <a:rPr lang="zh-CN" altLang="en-US" sz="1600" dirty="0">
                <a:latin typeface="楷体_GB2312" charset="-122"/>
                <a:ea typeface="楷体_GB2312" charset="-122"/>
              </a:rPr>
              <a:t>    大面积的农田地面径流或雨水径流也会对水体产生污染，由于其进入水体的方式是</a:t>
            </a:r>
            <a:r>
              <a:rPr lang="zh-CN" altLang="en-US" sz="1600" b="1" dirty="0">
                <a:solidFill>
                  <a:schemeClr val="accent2"/>
                </a:solidFill>
                <a:latin typeface="楷体_GB2312" charset="-122"/>
                <a:ea typeface="楷体_GB2312" charset="-122"/>
              </a:rPr>
              <a:t>无组织的</a:t>
            </a:r>
            <a:r>
              <a:rPr lang="zh-CN" altLang="en-US" sz="1600" dirty="0">
                <a:latin typeface="楷体_GB2312" charset="-122"/>
                <a:ea typeface="楷体_GB2312" charset="-122"/>
              </a:rPr>
              <a:t>，通常被称为非点污染源，或面污染源。</a:t>
            </a:r>
            <a:r>
              <a:rPr lang="zh-CN" altLang="en-GB" sz="1600" dirty="0">
                <a:latin typeface="楷体_GB2312" charset="-122"/>
                <a:ea typeface="楷体_GB2312" charset="-122"/>
              </a:rPr>
              <a:t> </a:t>
            </a:r>
            <a:endParaRPr lang="zh-CN" altLang="en-GB" sz="1600" dirty="0">
              <a:latin typeface="楷体_GB2312" charset="-122"/>
              <a:ea typeface="楷体_GB2312" charset="-122"/>
            </a:endParaRPr>
          </a:p>
        </p:txBody>
      </p:sp>
      <p:sp>
        <p:nvSpPr>
          <p:cNvPr id="1218576" name="AutoShape 16"/>
          <p:cNvSpPr>
            <a:spLocks noChangeArrowheads="1"/>
          </p:cNvSpPr>
          <p:nvPr/>
        </p:nvSpPr>
        <p:spPr bwMode="auto">
          <a:xfrm>
            <a:off x="1550988" y="527050"/>
            <a:ext cx="2487613" cy="539750"/>
          </a:xfrm>
          <a:prstGeom prst="homePlate">
            <a:avLst>
              <a:gd name="adj" fmla="val 115221"/>
            </a:avLst>
          </a:prstGeom>
          <a:solidFill>
            <a:schemeClr val="accent2"/>
          </a:solidFill>
          <a:ln w="12700">
            <a:solidFill>
              <a:srgbClr val="000000"/>
            </a:solidFill>
            <a:miter lim="800000"/>
          </a:ln>
          <a:effectLst>
            <a:outerShdw dist="35921" dir="2700000" algn="ctr" rotWithShape="0">
              <a:schemeClr val="tx1"/>
            </a:outerShdw>
          </a:effectLst>
        </p:spPr>
        <p:txBody>
          <a:bodyPr lIns="0" tIns="44450" rIns="0" bIns="4445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rPr>
              <a:t>第二节 水污染</a:t>
            </a:r>
            <a:endParaRPr kumimoji="0" lang="en-US" altLang="zh-CN" sz="2400" b="1" i="0" u="none" strike="noStrike" kern="1200" cap="none" spc="0" normalizeH="0" baseline="0" noProof="0" smtClean="0">
              <a:ln>
                <a:noFill/>
              </a:ln>
              <a:solidFill>
                <a:schemeClr val="bg1"/>
              </a:solidFill>
              <a:effectLst/>
              <a:uLnTx/>
              <a:uFillTx/>
              <a:latin typeface="楷体_GB2312" charset="-122"/>
              <a:ea typeface="楷体_GB2312" charset="-122"/>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9134"/>
                                        </p:tgtEl>
                                        <p:attrNameLst>
                                          <p:attrName>style.visibility</p:attrName>
                                        </p:attrNameLst>
                                      </p:cBhvr>
                                      <p:to>
                                        <p:strVal val="visible"/>
                                      </p:to>
                                    </p:set>
                                    <p:animEffect transition="in" filter="box(in)">
                                      <p:cBhvr>
                                        <p:cTn id="7" dur="500"/>
                                        <p:tgtEl>
                                          <p:spTgt spid="102913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218567"/>
                                        </p:tgtEl>
                                        <p:attrNameLst>
                                          <p:attrName>style.visibility</p:attrName>
                                        </p:attrNameLst>
                                      </p:cBhvr>
                                      <p:to>
                                        <p:strVal val="visible"/>
                                      </p:to>
                                    </p:set>
                                    <p:animEffect transition="in" filter="box(in)">
                                      <p:cBhvr>
                                        <p:cTn id="10" dur="500"/>
                                        <p:tgtEl>
                                          <p:spTgt spid="121856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029128"/>
                                        </p:tgtEl>
                                        <p:attrNameLst>
                                          <p:attrName>style.visibility</p:attrName>
                                        </p:attrNameLst>
                                      </p:cBhvr>
                                      <p:to>
                                        <p:strVal val="visible"/>
                                      </p:to>
                                    </p:set>
                                    <p:animEffect transition="in" filter="checkerboard(across)">
                                      <p:cBhvr>
                                        <p:cTn id="15" dur="500"/>
                                        <p:tgtEl>
                                          <p:spTgt spid="1029128"/>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218573"/>
                                        </p:tgtEl>
                                        <p:attrNameLst>
                                          <p:attrName>style.visibility</p:attrName>
                                        </p:attrNameLst>
                                      </p:cBhvr>
                                      <p:to>
                                        <p:strVal val="visible"/>
                                      </p:to>
                                    </p:set>
                                    <p:animEffect transition="in" filter="slide(fromBottom)">
                                      <p:cBhvr>
                                        <p:cTn id="23" dur="500"/>
                                        <p:tgtEl>
                                          <p:spTgt spid="1218573"/>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218574"/>
                                        </p:tgtEl>
                                        <p:attrNameLst>
                                          <p:attrName>style.visibility</p:attrName>
                                        </p:attrNameLst>
                                      </p:cBhvr>
                                      <p:to>
                                        <p:strVal val="visible"/>
                                      </p:to>
                                    </p:set>
                                    <p:animEffect transition="in" filter="slide(fromBottom)">
                                      <p:cBhvr>
                                        <p:cTn id="28" dur="500"/>
                                        <p:tgtEl>
                                          <p:spTgt spid="1218574"/>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1218572"/>
                                        </p:tgtEl>
                                        <p:attrNameLst>
                                          <p:attrName>style.visibility</p:attrName>
                                        </p:attrNameLst>
                                      </p:cBhvr>
                                      <p:to>
                                        <p:strVal val="visible"/>
                                      </p:to>
                                    </p:set>
                                    <p:animEffect transition="in" filter="checkerboard(across)">
                                      <p:cBhvr>
                                        <p:cTn id="33" dur="500"/>
                                        <p:tgtEl>
                                          <p:spTgt spid="1218572"/>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1029136"/>
                                        </p:tgtEl>
                                        <p:attrNameLst>
                                          <p:attrName>style.visibility</p:attrName>
                                        </p:attrNameLst>
                                      </p:cBhvr>
                                      <p:to>
                                        <p:strVal val="visible"/>
                                      </p:to>
                                    </p:set>
                                    <p:animEffect transition="in" filter="checkerboard(across)">
                                      <p:cBhvr>
                                        <p:cTn id="36" dur="500"/>
                                        <p:tgtEl>
                                          <p:spTgt spid="1029136"/>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1029143"/>
                                        </p:tgtEl>
                                        <p:attrNameLst>
                                          <p:attrName>style.visibility</p:attrName>
                                        </p:attrNameLst>
                                      </p:cBhvr>
                                      <p:to>
                                        <p:strVal val="visible"/>
                                      </p:to>
                                    </p:set>
                                    <p:animEffect transition="in" filter="checkerboard(across)">
                                      <p:cBhvr>
                                        <p:cTn id="39" dur="500"/>
                                        <p:tgtEl>
                                          <p:spTgt spid="1029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34" grpId="0" bldLvl="0" animBg="1"/>
      <p:bldP spid="1218567" grpId="0" bldLvl="0" animBg="1"/>
      <p:bldP spid="1029128" grpId="0" bldLvl="0" animBg="1"/>
      <p:bldP spid="3" grpId="0" bldLvl="0" animBg="1"/>
      <p:bldP spid="1029136" grpId="0" bldLvl="0" animBg="1"/>
      <p:bldP spid="1029143" grpId="0" bldLvl="0" animBg="1"/>
      <p:bldP spid="1218572" grpId="0" bldLvl="0" animBg="1"/>
      <p:bldP spid="1218573" grpId="0"/>
      <p:bldP spid="121857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直接连接符 16179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1797" name="矩形 161796"/>
          <p:cNvSpPr/>
          <p:nvPr/>
        </p:nvSpPr>
        <p:spPr>
          <a:xfrm>
            <a:off x="716915" y="936625"/>
            <a:ext cx="10554970" cy="737235"/>
          </a:xfrm>
          <a:prstGeom prst="rect">
            <a:avLst/>
          </a:prstGeom>
          <a:noFill/>
          <a:ln w="9525">
            <a:noFill/>
          </a:ln>
        </p:spPr>
        <p:txBody>
          <a:bodyPr wrap="square" anchor="ctr" anchorCtr="0">
            <a:spAutoFit/>
          </a:bodyPr>
          <a:p>
            <a:pPr>
              <a:lnSpc>
                <a:spcPct val="150000"/>
              </a:lnSpc>
            </a:pPr>
            <a:r>
              <a:rPr lang="zh-CN" altLang="en-GB" sz="2800" b="1" dirty="0">
                <a:solidFill>
                  <a:srgbClr val="FC4A26"/>
                </a:solidFill>
                <a:latin typeface="楷体_GB2312" charset="-122"/>
                <a:ea typeface="楷体_GB2312" charset="-122"/>
              </a:rPr>
              <a:t>我国地面水质标准</a:t>
            </a:r>
            <a:r>
              <a:rPr lang="en-GB" altLang="zh-CN" sz="2800" b="1">
                <a:solidFill>
                  <a:srgbClr val="FC4A26"/>
                </a:solidFill>
                <a:latin typeface="楷体_GB2312" charset="-122"/>
                <a:ea typeface="楷体_GB2312" charset="-122"/>
              </a:rPr>
              <a:t> </a:t>
            </a:r>
            <a:r>
              <a:rPr lang="zh-CN" altLang="en-GB" sz="2800" b="1">
                <a:solidFill>
                  <a:srgbClr val="FC4A26"/>
                </a:solidFill>
                <a:latin typeface="楷体_GB2312" charset="-122"/>
                <a:ea typeface="楷体_GB2312" charset="-122"/>
              </a:rPr>
              <a:t>《</a:t>
            </a:r>
            <a:r>
              <a:rPr lang="zh-CN" altLang="en-US" sz="2800" b="1">
                <a:solidFill>
                  <a:srgbClr val="FC4A26"/>
                </a:solidFill>
                <a:latin typeface="楷体_GB2312" charset="-122"/>
                <a:ea typeface="楷体_GB2312" charset="-122"/>
              </a:rPr>
              <a:t>地表水环境质量标准》（</a:t>
            </a:r>
            <a:r>
              <a:rPr lang="en-US" altLang="zh-CN" sz="2800" b="1">
                <a:solidFill>
                  <a:srgbClr val="FC4A26"/>
                </a:solidFill>
                <a:latin typeface="楷体_GB2312" charset="-122"/>
                <a:ea typeface="楷体_GB2312" charset="-122"/>
              </a:rPr>
              <a:t>GB 3838-2002 </a:t>
            </a:r>
            <a:r>
              <a:rPr lang="zh-CN" altLang="en-US" sz="2800" b="1">
                <a:solidFill>
                  <a:srgbClr val="FC4A26"/>
                </a:solidFill>
                <a:latin typeface="楷体_GB2312" charset="-122"/>
                <a:ea typeface="楷体_GB2312" charset="-122"/>
              </a:rPr>
              <a:t>）</a:t>
            </a:r>
            <a:endParaRPr lang="zh-CN" altLang="en-US" sz="2800" b="1">
              <a:solidFill>
                <a:srgbClr val="FC4A26"/>
              </a:solidFill>
              <a:latin typeface="楷体_GB2312" charset="-122"/>
              <a:ea typeface="楷体_GB2312" charset="-122"/>
            </a:endParaRPr>
          </a:p>
        </p:txBody>
      </p:sp>
      <p:sp>
        <p:nvSpPr>
          <p:cNvPr id="161798" name="五边形 161797"/>
          <p:cNvSpPr/>
          <p:nvPr/>
        </p:nvSpPr>
        <p:spPr>
          <a:xfrm>
            <a:off x="1550988" y="527050"/>
            <a:ext cx="2487612" cy="539750"/>
          </a:xfrm>
          <a:prstGeom prst="homePlate">
            <a:avLst>
              <a:gd name="adj" fmla="val 115220"/>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第二节 水污染</a:t>
            </a:r>
            <a:endParaRPr lang="en-US" altLang="zh-CN" sz="2400" b="1">
              <a:solidFill>
                <a:schemeClr val="bg1"/>
              </a:solidFill>
              <a:latin typeface="楷体_GB2312" charset="-122"/>
              <a:ea typeface="楷体_GB2312" charset="-122"/>
            </a:endParaRPr>
          </a:p>
        </p:txBody>
      </p:sp>
      <p:sp>
        <p:nvSpPr>
          <p:cNvPr id="161799" name="左大括号 161798"/>
          <p:cNvSpPr/>
          <p:nvPr/>
        </p:nvSpPr>
        <p:spPr>
          <a:xfrm>
            <a:off x="2362200" y="1981200"/>
            <a:ext cx="342900" cy="3886200"/>
          </a:xfrm>
          <a:prstGeom prst="leftBrace">
            <a:avLst>
              <a:gd name="adj1" fmla="val 94444"/>
              <a:gd name="adj2" fmla="val 50000"/>
            </a:avLst>
          </a:prstGeom>
          <a:noFill/>
          <a:ln w="38100" cap="flat" cmpd="sng">
            <a:solidFill>
              <a:schemeClr val="accent2"/>
            </a:solidFill>
            <a:prstDash val="solid"/>
            <a:headEnd type="none" w="med" len="med"/>
            <a:tailEnd type="none" w="med" len="med"/>
          </a:ln>
          <a:effectLst>
            <a:outerShdw dist="107763" dir="18900000" algn="ctr" rotWithShape="0">
              <a:schemeClr val="bg2">
                <a:alpha val="50000"/>
              </a:schemeClr>
            </a:outerShdw>
          </a:effectLst>
        </p:spPr>
        <p:txBody>
          <a:bodyPr/>
          <a:p>
            <a:endParaRPr lang="zh-CN" altLang="en-US"/>
          </a:p>
        </p:txBody>
      </p:sp>
      <p:sp>
        <p:nvSpPr>
          <p:cNvPr id="161800" name="矩形 161799"/>
          <p:cNvSpPr/>
          <p:nvPr/>
        </p:nvSpPr>
        <p:spPr>
          <a:xfrm>
            <a:off x="2705100" y="1961992"/>
            <a:ext cx="7575550" cy="3815080"/>
          </a:xfrm>
          <a:prstGeom prst="rect">
            <a:avLst/>
          </a:prstGeom>
          <a:noFill/>
          <a:ln w="9525">
            <a:noFill/>
          </a:ln>
        </p:spPr>
        <p:txBody>
          <a:bodyPr anchor="ctr" anchorCtr="0">
            <a:spAutoFit/>
          </a:bodyPr>
          <a:p>
            <a:pPr algn="l"/>
            <a:r>
              <a:rPr lang="en-GB" altLang="zh-CN" sz="2200" b="1">
                <a:solidFill>
                  <a:srgbClr val="009999"/>
                </a:solidFill>
                <a:latin typeface="Arial" panose="020B0604020202020204" pitchFamily="34" charset="0"/>
                <a:ea typeface="楷体_GB2312" charset="-122"/>
              </a:rPr>
              <a:t>Ⅰ</a:t>
            </a:r>
            <a:r>
              <a:rPr lang="zh-CN" altLang="en-GB" sz="2200" b="1" dirty="0">
                <a:solidFill>
                  <a:srgbClr val="009999"/>
                </a:solidFill>
                <a:latin typeface="Arial" panose="020B0604020202020204" pitchFamily="34" charset="0"/>
                <a:ea typeface="楷体_GB2312" charset="-122"/>
              </a:rPr>
              <a:t>类水体</a:t>
            </a:r>
            <a:r>
              <a:rPr lang="zh-CN" altLang="en-GB" sz="2200" dirty="0">
                <a:latin typeface="Arial" panose="020B0604020202020204" pitchFamily="34" charset="0"/>
                <a:ea typeface="楷体_GB2312" charset="-122"/>
              </a:rPr>
              <a:t>：源头水及其自然保护区</a:t>
            </a:r>
            <a:endParaRPr lang="zh-CN" altLang="en-GB" sz="2200" dirty="0">
              <a:latin typeface="Arial" panose="020B0604020202020204" pitchFamily="34" charset="0"/>
              <a:ea typeface="楷体_GB2312" charset="-122"/>
            </a:endParaRPr>
          </a:p>
          <a:p>
            <a:pPr algn="l"/>
            <a:endParaRPr lang="zh-CN" altLang="en-GB" sz="2200" dirty="0">
              <a:latin typeface="Arial" panose="020B0604020202020204" pitchFamily="34" charset="0"/>
              <a:ea typeface="楷体_GB2312" charset="-122"/>
            </a:endParaRPr>
          </a:p>
          <a:p>
            <a:pPr algn="l"/>
            <a:r>
              <a:rPr lang="en-GB" altLang="zh-CN" sz="2200" b="1">
                <a:solidFill>
                  <a:srgbClr val="009999"/>
                </a:solidFill>
                <a:latin typeface="Arial" panose="020B0604020202020204" pitchFamily="34" charset="0"/>
                <a:ea typeface="楷体_GB2312" charset="-122"/>
              </a:rPr>
              <a:t>Ⅱ</a:t>
            </a:r>
            <a:r>
              <a:rPr lang="zh-CN" altLang="en-GB" sz="2200" b="1" dirty="0">
                <a:solidFill>
                  <a:srgbClr val="009999"/>
                </a:solidFill>
                <a:latin typeface="Arial" panose="020B0604020202020204" pitchFamily="34" charset="0"/>
                <a:ea typeface="楷体_GB2312" charset="-122"/>
              </a:rPr>
              <a:t>类水体</a:t>
            </a:r>
            <a:r>
              <a:rPr lang="zh-CN" altLang="en-GB" sz="2200" dirty="0">
                <a:latin typeface="Arial" panose="020B0604020202020204" pitchFamily="34" charset="0"/>
                <a:ea typeface="楷体_GB2312" charset="-122"/>
              </a:rPr>
              <a:t>：集中生活饮用水水源地一级保护区，珍贵鱼类保   </a:t>
            </a:r>
            <a:endParaRPr lang="zh-CN" altLang="en-GB" sz="2200" dirty="0">
              <a:latin typeface="Arial" panose="020B0604020202020204" pitchFamily="34" charset="0"/>
              <a:ea typeface="楷体_GB2312" charset="-122"/>
            </a:endParaRPr>
          </a:p>
          <a:p>
            <a:pPr algn="l"/>
            <a:r>
              <a:rPr lang="zh-CN" altLang="en-GB" sz="2200" dirty="0">
                <a:latin typeface="Arial" panose="020B0604020202020204" pitchFamily="34" charset="0"/>
                <a:ea typeface="楷体_GB2312" charset="-122"/>
              </a:rPr>
              <a:t>                  护区，鱼虾产卵场等</a:t>
            </a:r>
            <a:endParaRPr lang="zh-CN" altLang="en-GB" sz="2200" dirty="0">
              <a:latin typeface="Arial" panose="020B0604020202020204" pitchFamily="34" charset="0"/>
              <a:ea typeface="楷体_GB2312" charset="-122"/>
            </a:endParaRPr>
          </a:p>
          <a:p>
            <a:pPr algn="l"/>
            <a:endParaRPr lang="zh-CN" altLang="en-GB" sz="2200" dirty="0">
              <a:latin typeface="Arial" panose="020B0604020202020204" pitchFamily="34" charset="0"/>
              <a:ea typeface="楷体_GB2312" charset="-122"/>
            </a:endParaRPr>
          </a:p>
          <a:p>
            <a:pPr algn="l"/>
            <a:r>
              <a:rPr lang="en-GB" altLang="zh-CN" sz="2200" b="1">
                <a:solidFill>
                  <a:srgbClr val="009999"/>
                </a:solidFill>
                <a:latin typeface="Arial" panose="020B0604020202020204" pitchFamily="34" charset="0"/>
                <a:ea typeface="楷体_GB2312" charset="-122"/>
              </a:rPr>
              <a:t>Ⅲ</a:t>
            </a:r>
            <a:r>
              <a:rPr lang="zh-CN" altLang="en-GB" sz="2200" b="1" dirty="0">
                <a:solidFill>
                  <a:srgbClr val="009999"/>
                </a:solidFill>
                <a:latin typeface="Arial" panose="020B0604020202020204" pitchFamily="34" charset="0"/>
                <a:ea typeface="楷体_GB2312" charset="-122"/>
              </a:rPr>
              <a:t>类水体</a:t>
            </a:r>
            <a:r>
              <a:rPr lang="zh-CN" altLang="en-GB" sz="2200" dirty="0">
                <a:latin typeface="Arial" panose="020B0604020202020204" pitchFamily="34" charset="0"/>
                <a:ea typeface="楷体_GB2312" charset="-122"/>
              </a:rPr>
              <a:t>：集中饮用水水源地二级保护区，一类鱼类保护</a:t>
            </a:r>
            <a:endParaRPr lang="zh-CN" altLang="en-GB" sz="2200" dirty="0">
              <a:latin typeface="Arial" panose="020B0604020202020204" pitchFamily="34" charset="0"/>
              <a:ea typeface="楷体_GB2312" charset="-122"/>
            </a:endParaRPr>
          </a:p>
          <a:p>
            <a:pPr algn="l"/>
            <a:r>
              <a:rPr lang="zh-CN" altLang="en-GB" sz="2200" dirty="0">
                <a:latin typeface="Arial" panose="020B0604020202020204" pitchFamily="34" charset="0"/>
                <a:ea typeface="楷体_GB2312" charset="-122"/>
              </a:rPr>
              <a:t>                   区，游泳区等</a:t>
            </a:r>
            <a:endParaRPr lang="zh-CN" altLang="en-GB" sz="2200" dirty="0">
              <a:latin typeface="Arial" panose="020B0604020202020204" pitchFamily="34" charset="0"/>
              <a:ea typeface="楷体_GB2312" charset="-122"/>
            </a:endParaRPr>
          </a:p>
          <a:p>
            <a:pPr algn="l"/>
            <a:endParaRPr lang="zh-CN" altLang="en-GB" sz="2200" dirty="0">
              <a:latin typeface="Arial" panose="020B0604020202020204" pitchFamily="34" charset="0"/>
              <a:ea typeface="楷体_GB2312" charset="-122"/>
            </a:endParaRPr>
          </a:p>
          <a:p>
            <a:pPr algn="l"/>
            <a:r>
              <a:rPr lang="en-GB" altLang="zh-CN" sz="2200" b="1">
                <a:solidFill>
                  <a:srgbClr val="009999"/>
                </a:solidFill>
                <a:latin typeface="Arial" panose="020B0604020202020204" pitchFamily="34" charset="0"/>
                <a:ea typeface="楷体_GB2312" charset="-122"/>
              </a:rPr>
              <a:t>Ⅳ</a:t>
            </a:r>
            <a:r>
              <a:rPr lang="zh-CN" altLang="en-GB" sz="2200" b="1" dirty="0">
                <a:solidFill>
                  <a:srgbClr val="009999"/>
                </a:solidFill>
                <a:latin typeface="Arial" panose="020B0604020202020204" pitchFamily="34" charset="0"/>
                <a:ea typeface="楷体_GB2312" charset="-122"/>
              </a:rPr>
              <a:t>类水体</a:t>
            </a:r>
            <a:r>
              <a:rPr lang="zh-CN" altLang="en-GB" sz="2200" dirty="0">
                <a:latin typeface="Arial" panose="020B0604020202020204" pitchFamily="34" charset="0"/>
                <a:ea typeface="楷体_GB2312" charset="-122"/>
              </a:rPr>
              <a:t>：工业用水区，人体不直接接触的娱乐用水区</a:t>
            </a:r>
            <a:endParaRPr lang="zh-CN" altLang="en-GB" sz="2200" dirty="0">
              <a:latin typeface="Arial" panose="020B0604020202020204" pitchFamily="34" charset="0"/>
              <a:ea typeface="楷体_GB2312" charset="-122"/>
            </a:endParaRPr>
          </a:p>
          <a:p>
            <a:pPr algn="l"/>
            <a:endParaRPr lang="zh-CN" altLang="en-GB" sz="2200" dirty="0">
              <a:latin typeface="Arial" panose="020B0604020202020204" pitchFamily="34" charset="0"/>
              <a:ea typeface="楷体_GB2312" charset="-122"/>
            </a:endParaRPr>
          </a:p>
          <a:p>
            <a:pPr algn="l"/>
            <a:r>
              <a:rPr lang="en-GB" altLang="zh-CN" sz="2200" b="1">
                <a:solidFill>
                  <a:srgbClr val="009999"/>
                </a:solidFill>
                <a:latin typeface="Arial" panose="020B0604020202020204" pitchFamily="34" charset="0"/>
                <a:ea typeface="楷体_GB2312" charset="-122"/>
              </a:rPr>
              <a:t>Ⅴ</a:t>
            </a:r>
            <a:r>
              <a:rPr lang="zh-CN" altLang="en-GB" sz="2200" b="1" dirty="0">
                <a:solidFill>
                  <a:srgbClr val="009999"/>
                </a:solidFill>
                <a:latin typeface="Arial" panose="020B0604020202020204" pitchFamily="34" charset="0"/>
                <a:ea typeface="楷体_GB2312" charset="-122"/>
              </a:rPr>
              <a:t>类水体</a:t>
            </a:r>
            <a:r>
              <a:rPr lang="zh-CN" altLang="en-GB" sz="2200" dirty="0">
                <a:latin typeface="Arial" panose="020B0604020202020204" pitchFamily="34" charset="0"/>
                <a:ea typeface="楷体_GB2312" charset="-122"/>
              </a:rPr>
              <a:t>：农业用水区，一般景观要求水域</a:t>
            </a:r>
            <a:endParaRPr lang="zh-CN" altLang="en-GB" sz="2200" dirty="0">
              <a:latin typeface="Arial" panose="020B0604020202020204" pitchFamily="3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1799"/>
                                        </p:tgtEl>
                                        <p:attrNameLst>
                                          <p:attrName>style.visibility</p:attrName>
                                        </p:attrNameLst>
                                      </p:cBhvr>
                                      <p:to>
                                        <p:strVal val="visible"/>
                                      </p:to>
                                    </p:set>
                                    <p:animEffect transition="in" filter="blinds(vertical)">
                                      <p:cBhvr>
                                        <p:cTn id="7" dur="500"/>
                                        <p:tgtEl>
                                          <p:spTgt spid="161799"/>
                                        </p:tgtEl>
                                      </p:cBhvr>
                                    </p:animEffect>
                                  </p:childTnLst>
                                </p:cTn>
                              </p:par>
                              <p:par>
                                <p:cTn id="8" presetID="3" presetClass="entr" presetSubtype="5" fill="hold" grpId="0" nodeType="withEffect">
                                  <p:stCondLst>
                                    <p:cond delay="0"/>
                                  </p:stCondLst>
                                  <p:childTnLst>
                                    <p:set>
                                      <p:cBhvr>
                                        <p:cTn id="9" dur="1" fill="hold">
                                          <p:stCondLst>
                                            <p:cond delay="0"/>
                                          </p:stCondLst>
                                        </p:cTn>
                                        <p:tgtEl>
                                          <p:spTgt spid="161800"/>
                                        </p:tgtEl>
                                        <p:attrNameLst>
                                          <p:attrName>style.visibility</p:attrName>
                                        </p:attrNameLst>
                                      </p:cBhvr>
                                      <p:to>
                                        <p:strVal val="visible"/>
                                      </p:to>
                                    </p:set>
                                    <p:animEffect transition="in" filter="blinds(vertical)">
                                      <p:cBhvr>
                                        <p:cTn id="10" dur="500"/>
                                        <p:tgtEl>
                                          <p:spTgt spid="161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80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直接连接符 16281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2821" name="矩形 162820"/>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中国水污染的特征</a:t>
            </a:r>
            <a:endParaRPr lang="zh-CN" altLang="en-GB" sz="2800" b="1" dirty="0">
              <a:solidFill>
                <a:srgbClr val="FC4A26"/>
              </a:solidFill>
              <a:latin typeface="楷体_GB2312" charset="-122"/>
              <a:ea typeface="楷体_GB2312" charset="-122"/>
            </a:endParaRPr>
          </a:p>
        </p:txBody>
      </p:sp>
      <p:sp>
        <p:nvSpPr>
          <p:cNvPr id="24581" name="Rectangle 3"/>
          <p:cNvSpPr txBox="1">
            <a:spLocks noRot="1"/>
          </p:cNvSpPr>
          <p:nvPr/>
        </p:nvSpPr>
        <p:spPr>
          <a:xfrm>
            <a:off x="1981200" y="121920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1</a:t>
            </a:r>
            <a:r>
              <a:rPr lang="zh-CN" altLang="en-US" sz="2400" dirty="0">
                <a:latin typeface="Times New Roman" panose="02020603050405020304" charset="0"/>
                <a:ea typeface="楷体_GB2312" charset="-122"/>
              </a:rPr>
              <a:t>、污染不断加剧，水质恶化日趋严重</a:t>
            </a:r>
            <a:r>
              <a:rPr lang="zh-CN" altLang="en-US"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162823" name="矩形 162822"/>
          <p:cNvSpPr/>
          <p:nvPr/>
        </p:nvSpPr>
        <p:spPr>
          <a:xfrm>
            <a:off x="1987550" y="2628900"/>
            <a:ext cx="8299450" cy="3784600"/>
          </a:xfrm>
          <a:prstGeom prst="rect">
            <a:avLst/>
          </a:prstGeom>
          <a:noFill/>
          <a:ln w="9525" cap="flat" cmpd="sng">
            <a:solidFill>
              <a:srgbClr val="FF0000"/>
            </a:solidFill>
            <a:prstDash val="solid"/>
            <a:miter/>
            <a:headEnd type="none" w="med" len="med"/>
            <a:tailEnd type="none" w="med" len="med"/>
          </a:ln>
        </p:spPr>
        <p:txBody>
          <a:bodyPr anchor="ctr" anchorCtr="0">
            <a:spAutoFit/>
          </a:bodyPr>
          <a:p>
            <a:pPr algn="l">
              <a:lnSpc>
                <a:spcPct val="150000"/>
              </a:lnSpc>
            </a:pPr>
            <a:r>
              <a:rPr lang="zh-CN" altLang="en-US" sz="1800" dirty="0">
                <a:latin typeface="Times New Roman" panose="02020603050405020304" charset="0"/>
                <a:ea typeface="楷体_GB2312" charset="-122"/>
              </a:rPr>
              <a:t>        </a:t>
            </a:r>
            <a:r>
              <a:rPr lang="zh-CN" altLang="en-US" sz="2000" dirty="0">
                <a:latin typeface="Times New Roman" panose="02020603050405020304" charset="0"/>
                <a:ea typeface="楷体_GB2312" charset="-122"/>
              </a:rPr>
              <a:t>从</a:t>
            </a:r>
            <a:r>
              <a:rPr lang="en-US" altLang="zh-CN" sz="2000">
                <a:latin typeface="Times New Roman" panose="02020603050405020304" charset="0"/>
                <a:ea typeface="楷体_GB2312" charset="-122"/>
              </a:rPr>
              <a:t>2009</a:t>
            </a:r>
            <a:r>
              <a:rPr lang="zh-CN" altLang="en-US" sz="2000" dirty="0">
                <a:latin typeface="Times New Roman" panose="02020603050405020304" charset="0"/>
                <a:ea typeface="楷体_GB2312" charset="-122"/>
              </a:rPr>
              <a:t>年</a:t>
            </a:r>
            <a:r>
              <a:rPr lang="en-US" altLang="zh-CN" sz="2000">
                <a:latin typeface="Times New Roman" panose="02020603050405020304" charset="0"/>
                <a:ea typeface="楷体_GB2312" charset="-122"/>
              </a:rPr>
              <a:t>7</a:t>
            </a:r>
            <a:r>
              <a:rPr lang="zh-CN" altLang="en-US" sz="2000" dirty="0">
                <a:latin typeface="Times New Roman" panose="02020603050405020304" charset="0"/>
                <a:ea typeface="楷体_GB2312" charset="-122"/>
              </a:rPr>
              <a:t>月</a:t>
            </a:r>
            <a:r>
              <a:rPr lang="en-US" altLang="zh-CN" sz="2000">
                <a:latin typeface="Times New Roman" panose="02020603050405020304" charset="0"/>
                <a:ea typeface="楷体_GB2312" charset="-122"/>
              </a:rPr>
              <a:t>1</a:t>
            </a:r>
            <a:r>
              <a:rPr lang="zh-CN" altLang="en-US" sz="2000" dirty="0">
                <a:latin typeface="Times New Roman" panose="02020603050405020304" charset="0"/>
                <a:ea typeface="楷体_GB2312" charset="-122"/>
              </a:rPr>
              <a:t>日起，公众将可以登陆国家环境保护部（下称环保部）网站（</a:t>
            </a:r>
            <a:r>
              <a:rPr lang="en-US" altLang="zh-CN" sz="2000">
                <a:latin typeface="Times New Roman" panose="02020603050405020304" charset="0"/>
                <a:ea typeface="楷体_GB2312" charset="-122"/>
                <a:hlinkClick r:id="rId1"/>
              </a:rPr>
              <a:t>www.mep.gov.cn</a:t>
            </a:r>
            <a:r>
              <a:rPr lang="zh-CN" altLang="en-US" sz="2000" dirty="0">
                <a:latin typeface="Times New Roman" panose="02020603050405020304" charset="0"/>
                <a:ea typeface="楷体_GB2312" charset="-122"/>
              </a:rPr>
              <a:t>），随时查阅国家地表水水质自动监测站的实时监测数据。 这套实时监测数据发布系统的数据，来自于全国主要河流的省界断面、入海口、支流汇入口以及重要湖区及国界河流上</a:t>
            </a:r>
            <a:r>
              <a:rPr lang="en-US" altLang="zh-CN" sz="2000">
                <a:latin typeface="Times New Roman" panose="02020603050405020304" charset="0"/>
                <a:ea typeface="楷体_GB2312" charset="-122"/>
              </a:rPr>
              <a:t>100</a:t>
            </a:r>
            <a:r>
              <a:rPr lang="zh-CN" altLang="en-US" sz="2000" dirty="0">
                <a:latin typeface="Times New Roman" panose="02020603050405020304" charset="0"/>
                <a:ea typeface="楷体_GB2312" charset="-122"/>
              </a:rPr>
              <a:t>个水质自动监测站。监测频次为每四个小时一次，每天动态发布六次监测数据。通过</a:t>
            </a:r>
            <a:r>
              <a:rPr lang="zh-CN" altLang="en-US" sz="2000" b="1" u="sng" dirty="0">
                <a:solidFill>
                  <a:srgbClr val="FC4A26"/>
                </a:solidFill>
                <a:latin typeface="Times New Roman" panose="02020603050405020304" charset="0"/>
                <a:ea typeface="楷体_GB2312" charset="-122"/>
              </a:rPr>
              <a:t>酸碱度（</a:t>
            </a:r>
            <a:r>
              <a:rPr lang="en-US" altLang="zh-CN" sz="2000" b="1" u="sng">
                <a:solidFill>
                  <a:srgbClr val="FC4A26"/>
                </a:solidFill>
                <a:latin typeface="Times New Roman" panose="02020603050405020304" charset="0"/>
                <a:ea typeface="楷体_GB2312" charset="-122"/>
              </a:rPr>
              <a:t>pH</a:t>
            </a:r>
            <a:r>
              <a:rPr lang="zh-CN" altLang="en-US" sz="2000" b="1" u="sng" dirty="0">
                <a:solidFill>
                  <a:srgbClr val="FC4A26"/>
                </a:solidFill>
                <a:latin typeface="Times New Roman" panose="02020603050405020304" charset="0"/>
                <a:ea typeface="楷体_GB2312" charset="-122"/>
              </a:rPr>
              <a:t>）、溶解氧（</a:t>
            </a:r>
            <a:r>
              <a:rPr lang="en-US" altLang="zh-CN" sz="2000" b="1" u="sng">
                <a:solidFill>
                  <a:srgbClr val="FC4A26"/>
                </a:solidFill>
                <a:latin typeface="Times New Roman" panose="02020603050405020304" charset="0"/>
                <a:ea typeface="楷体_GB2312" charset="-122"/>
              </a:rPr>
              <a:t>DO</a:t>
            </a:r>
            <a:r>
              <a:rPr lang="zh-CN" altLang="en-US" sz="2000" b="1" u="sng" dirty="0">
                <a:solidFill>
                  <a:srgbClr val="FC4A26"/>
                </a:solidFill>
                <a:latin typeface="Times New Roman" panose="02020603050405020304" charset="0"/>
                <a:ea typeface="楷体_GB2312" charset="-122"/>
              </a:rPr>
              <a:t>）、化学需氧量（</a:t>
            </a:r>
            <a:r>
              <a:rPr lang="en-US" altLang="zh-CN" sz="2000" b="1" u="sng">
                <a:solidFill>
                  <a:srgbClr val="FC4A26"/>
                </a:solidFill>
                <a:latin typeface="Times New Roman" panose="02020603050405020304" charset="0"/>
                <a:ea typeface="楷体_GB2312" charset="-122"/>
              </a:rPr>
              <a:t>COD</a:t>
            </a:r>
            <a:r>
              <a:rPr lang="zh-CN" altLang="en-US" sz="2000" b="1" u="sng" dirty="0">
                <a:solidFill>
                  <a:srgbClr val="FC4A26"/>
                </a:solidFill>
                <a:latin typeface="Times New Roman" panose="02020603050405020304" charset="0"/>
                <a:ea typeface="楷体_GB2312" charset="-122"/>
              </a:rPr>
              <a:t>）、氨氮和总有机碳（</a:t>
            </a:r>
            <a:r>
              <a:rPr lang="en-US" altLang="zh-CN" sz="2000" b="1" u="sng">
                <a:solidFill>
                  <a:srgbClr val="FC4A26"/>
                </a:solidFill>
                <a:latin typeface="Times New Roman" panose="02020603050405020304" charset="0"/>
                <a:ea typeface="楷体_GB2312" charset="-122"/>
              </a:rPr>
              <a:t>TOC</a:t>
            </a:r>
            <a:r>
              <a:rPr lang="zh-CN" altLang="en-US" sz="2000" b="1" u="sng" dirty="0">
                <a:solidFill>
                  <a:srgbClr val="FC4A26"/>
                </a:solidFill>
                <a:latin typeface="Times New Roman" panose="02020603050405020304" charset="0"/>
                <a:ea typeface="楷体_GB2312" charset="-122"/>
              </a:rPr>
              <a:t>）五项指标</a:t>
            </a:r>
            <a:r>
              <a:rPr lang="zh-CN" altLang="en-US" sz="2000" dirty="0">
                <a:latin typeface="Times New Roman" panose="02020603050405020304" charset="0"/>
                <a:ea typeface="楷体_GB2312" charset="-122"/>
              </a:rPr>
              <a:t>，公众基本可以对监测点周围的地表水水质情况有基本和较为全面的了解。</a:t>
            </a:r>
            <a:endParaRPr lang="zh-CN" altLang="en-GB" sz="2000" dirty="0">
              <a:latin typeface="Times New Roman" panose="02020603050405020304" charset="0"/>
              <a:ea typeface="楷体_GB2312" charset="-122"/>
            </a:endParaRPr>
          </a:p>
        </p:txBody>
      </p:sp>
      <p:sp>
        <p:nvSpPr>
          <p:cNvPr id="162824" name="五边形 162823"/>
          <p:cNvSpPr/>
          <p:nvPr/>
        </p:nvSpPr>
        <p:spPr>
          <a:xfrm>
            <a:off x="1550988" y="527050"/>
            <a:ext cx="2487612" cy="539750"/>
          </a:xfrm>
          <a:prstGeom prst="homePlate">
            <a:avLst>
              <a:gd name="adj" fmla="val 115220"/>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第二节 水污染</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checkerboard(across)">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2823"/>
                                        </p:tgtEl>
                                        <p:attrNameLst>
                                          <p:attrName>style.visibility</p:attrName>
                                        </p:attrNameLst>
                                      </p:cBhvr>
                                      <p:to>
                                        <p:strVal val="visible"/>
                                      </p:to>
                                    </p:set>
                                    <p:animEffect transition="in" filter="slide(fromBottom)">
                                      <p:cBhvr>
                                        <p:cTn id="12" dur="500"/>
                                        <p:tgtEl>
                                          <p:spTgt spid="162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162823"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直接连接符 16384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3845" name="矩形 163844"/>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中国水污染的特征</a:t>
            </a:r>
            <a:endParaRPr lang="zh-CN" altLang="en-GB" sz="2800" b="1" dirty="0">
              <a:solidFill>
                <a:srgbClr val="FC4A26"/>
              </a:solidFill>
              <a:latin typeface="楷体_GB2312" charset="-122"/>
              <a:ea typeface="楷体_GB2312" charset="-122"/>
            </a:endParaRPr>
          </a:p>
        </p:txBody>
      </p:sp>
      <p:sp>
        <p:nvSpPr>
          <p:cNvPr id="24581" name="Rectangle 3"/>
          <p:cNvSpPr txBox="1">
            <a:spLocks noRot="1"/>
          </p:cNvSpPr>
          <p:nvPr/>
        </p:nvSpPr>
        <p:spPr>
          <a:xfrm>
            <a:off x="1927225" y="128587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2</a:t>
            </a:r>
            <a:r>
              <a:rPr lang="zh-CN" altLang="en-US" sz="2400" dirty="0">
                <a:latin typeface="Times New Roman" panose="02020603050405020304" charset="0"/>
                <a:ea typeface="楷体_GB2312" charset="-122"/>
              </a:rPr>
              <a:t>、各流域水体自南向北水质逐渐变差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163847" name="矩形 163846"/>
          <p:cNvSpPr/>
          <p:nvPr/>
        </p:nvSpPr>
        <p:spPr>
          <a:xfrm>
            <a:off x="1981200" y="2561114"/>
            <a:ext cx="8299450" cy="2445385"/>
          </a:xfrm>
          <a:prstGeom prst="rect">
            <a:avLst/>
          </a:prstGeom>
          <a:noFill/>
          <a:ln w="9525" cap="flat" cmpd="sng">
            <a:solidFill>
              <a:srgbClr val="FF0000"/>
            </a:solidFill>
            <a:prstDash val="solid"/>
            <a:miter/>
            <a:headEnd type="none" w="med" len="med"/>
            <a:tailEnd type="none" w="med" len="med"/>
          </a:ln>
        </p:spPr>
        <p:txBody>
          <a:bodyPr anchor="ctr" anchorCtr="0">
            <a:spAutoFit/>
          </a:bodyPr>
          <a:p>
            <a:pPr algn="l">
              <a:lnSpc>
                <a:spcPct val="150000"/>
              </a:lnSpc>
            </a:pPr>
            <a:r>
              <a:rPr lang="zh-CN" altLang="en-US" sz="2200" dirty="0">
                <a:latin typeface="Times New Roman" panose="02020603050405020304" charset="0"/>
                <a:ea typeface="楷体_GB2312" charset="-122"/>
              </a:rPr>
              <a:t>        </a:t>
            </a:r>
            <a:r>
              <a:rPr lang="zh-CN" altLang="en-US" sz="2000" dirty="0">
                <a:latin typeface="Times New Roman" panose="02020603050405020304" charset="0"/>
                <a:ea typeface="楷体_GB2312" charset="-122"/>
              </a:rPr>
              <a:t>各流域片的水质状况是：</a:t>
            </a:r>
            <a:r>
              <a:rPr lang="zh-CN" altLang="en-US" sz="2000" b="1" u="sng" dirty="0">
                <a:solidFill>
                  <a:schemeClr val="hlink"/>
                </a:solidFill>
                <a:latin typeface="Times New Roman" panose="02020603050405020304" charset="0"/>
                <a:ea typeface="楷体_GB2312" charset="-122"/>
              </a:rPr>
              <a:t>内陆河片、西南诸河片、东南诸河片、长江片和珠江片</a:t>
            </a:r>
            <a:r>
              <a:rPr lang="zh-CN" altLang="en-US" sz="2000" dirty="0">
                <a:latin typeface="Times New Roman" panose="02020603050405020304" charset="0"/>
                <a:ea typeface="楷体_GB2312" charset="-122"/>
              </a:rPr>
              <a:t>水质良好或尚可，符合和优于</a:t>
            </a:r>
            <a:r>
              <a:rPr lang="en-US" altLang="zh-CN" sz="2000">
                <a:latin typeface="Times New Roman" panose="02020603050405020304" charset="0"/>
                <a:ea typeface="楷体_GB2312" charset="-122"/>
              </a:rPr>
              <a:t>Ⅲ</a:t>
            </a:r>
            <a:r>
              <a:rPr lang="zh-CN" altLang="en-US" sz="2000" dirty="0">
                <a:latin typeface="Times New Roman" panose="02020603050405020304" charset="0"/>
                <a:ea typeface="楷体_GB2312" charset="-122"/>
              </a:rPr>
              <a:t>类的河长分别占</a:t>
            </a:r>
            <a:r>
              <a:rPr lang="en-US" altLang="zh-CN" sz="2000">
                <a:latin typeface="Times New Roman" panose="02020603050405020304" charset="0"/>
                <a:ea typeface="楷体_GB2312" charset="-122"/>
              </a:rPr>
              <a:t>90.7</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83.2</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74.1</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74.0</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63.1</a:t>
            </a:r>
            <a:r>
              <a:rPr lang="zh-CN" altLang="en-US" sz="2000" dirty="0">
                <a:latin typeface="Times New Roman" panose="02020603050405020304" charset="0"/>
                <a:ea typeface="楷体_GB2312" charset="-122"/>
              </a:rPr>
              <a:t>％；</a:t>
            </a:r>
            <a:r>
              <a:rPr lang="zh-CN" altLang="en-US" sz="2000" b="1" u="sng" dirty="0">
                <a:solidFill>
                  <a:schemeClr val="hlink"/>
                </a:solidFill>
                <a:latin typeface="Times New Roman" panose="02020603050405020304" charset="0"/>
                <a:ea typeface="楷体_GB2312" charset="-122"/>
              </a:rPr>
              <a:t>黄河片、海河片、松辽河片、淮河片</a:t>
            </a:r>
            <a:r>
              <a:rPr lang="zh-CN" altLang="en-US" sz="2000" dirty="0">
                <a:latin typeface="Times New Roman" panose="02020603050405020304" charset="0"/>
                <a:ea typeface="楷体_GB2312" charset="-122"/>
              </a:rPr>
              <a:t>水质较差，符合和优于</a:t>
            </a:r>
            <a:r>
              <a:rPr lang="en-US" altLang="zh-CN" sz="2000">
                <a:latin typeface="Times New Roman" panose="02020603050405020304" charset="0"/>
                <a:ea typeface="楷体_GB2312" charset="-122"/>
              </a:rPr>
              <a:t>Ⅲ</a:t>
            </a:r>
            <a:r>
              <a:rPr lang="zh-CN" altLang="en-US" sz="2000" dirty="0">
                <a:latin typeface="Times New Roman" panose="02020603050405020304" charset="0"/>
                <a:ea typeface="楷体_GB2312" charset="-122"/>
              </a:rPr>
              <a:t>类的河长分别占</a:t>
            </a:r>
            <a:r>
              <a:rPr lang="en-US" altLang="zh-CN" sz="2000">
                <a:latin typeface="Times New Roman" panose="02020603050405020304" charset="0"/>
                <a:ea typeface="楷体_GB2312" charset="-122"/>
              </a:rPr>
              <a:t>46.7</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34.9</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33.7</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26.2</a:t>
            </a:r>
            <a:r>
              <a:rPr lang="zh-CN" altLang="en-US" sz="2000" dirty="0">
                <a:latin typeface="Times New Roman" panose="02020603050405020304" charset="0"/>
                <a:ea typeface="楷体_GB2312" charset="-122"/>
              </a:rPr>
              <a:t>％。</a:t>
            </a:r>
            <a:r>
              <a:rPr lang="zh-CN" altLang="en-US" sz="1800" b="1" dirty="0">
                <a:latin typeface="Times New Roman" panose="02020603050405020304" charset="0"/>
                <a:ea typeface="楷体_GB2312" charset="-122"/>
              </a:rPr>
              <a:t> </a:t>
            </a:r>
            <a:r>
              <a:rPr lang="zh-CN" altLang="en-GB" sz="1800" b="1" dirty="0">
                <a:latin typeface="Times New Roman" panose="02020603050405020304" charset="0"/>
                <a:ea typeface="楷体_GB2312" charset="-122"/>
              </a:rPr>
              <a:t> </a:t>
            </a:r>
            <a:endParaRPr lang="zh-CN" altLang="en-GB" sz="1800" b="1" dirty="0">
              <a:latin typeface="Times New Roman" panose="02020603050405020304" charset="0"/>
              <a:ea typeface="楷体_GB2312" charset="-122"/>
            </a:endParaRPr>
          </a:p>
        </p:txBody>
      </p:sp>
      <p:sp>
        <p:nvSpPr>
          <p:cNvPr id="163848" name="五边形 163847"/>
          <p:cNvSpPr/>
          <p:nvPr/>
        </p:nvSpPr>
        <p:spPr>
          <a:xfrm>
            <a:off x="1550988" y="527050"/>
            <a:ext cx="2487612" cy="539750"/>
          </a:xfrm>
          <a:prstGeom prst="homePlate">
            <a:avLst>
              <a:gd name="adj" fmla="val 115220"/>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第二节 水污染</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checkerboard(across)">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3847"/>
                                        </p:tgtEl>
                                        <p:attrNameLst>
                                          <p:attrName>style.visibility</p:attrName>
                                        </p:attrNameLst>
                                      </p:cBhvr>
                                      <p:to>
                                        <p:strVal val="visible"/>
                                      </p:to>
                                    </p:set>
                                    <p:animEffect transition="in" filter="slide(fromBottom)">
                                      <p:cBhvr>
                                        <p:cTn id="12" dur="500"/>
                                        <p:tgtEl>
                                          <p:spTgt spid="163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163847"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直接连接符 16486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4869" name="矩形 164868"/>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中国水污染的特征</a:t>
            </a:r>
            <a:endParaRPr lang="zh-CN" altLang="en-GB" sz="2800" b="1" dirty="0">
              <a:solidFill>
                <a:srgbClr val="FC4A26"/>
              </a:solidFill>
              <a:latin typeface="楷体_GB2312" charset="-122"/>
              <a:ea typeface="楷体_GB2312" charset="-122"/>
            </a:endParaRPr>
          </a:p>
        </p:txBody>
      </p:sp>
      <p:sp>
        <p:nvSpPr>
          <p:cNvPr id="24581" name="Rectangle 3"/>
          <p:cNvSpPr txBox="1">
            <a:spLocks noRot="1"/>
          </p:cNvSpPr>
          <p:nvPr/>
        </p:nvSpPr>
        <p:spPr>
          <a:xfrm>
            <a:off x="1909763" y="106680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3</a:t>
            </a:r>
            <a:r>
              <a:rPr lang="zh-CN" altLang="en-US" sz="2400" dirty="0">
                <a:latin typeface="Times New Roman" panose="02020603050405020304" charset="0"/>
                <a:ea typeface="楷体_GB2312" charset="-122"/>
              </a:rPr>
              <a:t>、湖泊水库水体富营养化不容轻视</a:t>
            </a:r>
            <a:r>
              <a:rPr lang="zh-CN" altLang="en-GB"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164871" name="五边形 164870"/>
          <p:cNvSpPr/>
          <p:nvPr/>
        </p:nvSpPr>
        <p:spPr>
          <a:xfrm>
            <a:off x="1550988" y="527050"/>
            <a:ext cx="2487612" cy="539750"/>
          </a:xfrm>
          <a:prstGeom prst="homePlate">
            <a:avLst>
              <a:gd name="adj" fmla="val 115220"/>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第二节 水污染</a:t>
            </a:r>
            <a:endParaRPr lang="en-US" altLang="zh-CN" sz="2400" b="1">
              <a:solidFill>
                <a:schemeClr val="bg1"/>
              </a:solidFill>
              <a:latin typeface="楷体_GB2312" charset="-122"/>
              <a:ea typeface="楷体_GB2312" charset="-122"/>
            </a:endParaRPr>
          </a:p>
        </p:txBody>
      </p:sp>
      <p:pic>
        <p:nvPicPr>
          <p:cNvPr id="164872" name="图片 164871" descr="10152317_916215"/>
          <p:cNvPicPr preferRelativeResize="0"/>
          <p:nvPr/>
        </p:nvPicPr>
        <p:blipFill>
          <a:blip r:embed="rId1"/>
          <a:stretch>
            <a:fillRect/>
          </a:stretch>
        </p:blipFill>
        <p:spPr>
          <a:xfrm>
            <a:off x="2514600" y="4491038"/>
            <a:ext cx="3113088" cy="2138362"/>
          </a:xfrm>
          <a:prstGeom prst="rect">
            <a:avLst/>
          </a:prstGeom>
          <a:noFill/>
          <a:ln w="9525">
            <a:noFill/>
          </a:ln>
        </p:spPr>
      </p:pic>
      <p:pic>
        <p:nvPicPr>
          <p:cNvPr id="164873" name="图片 164872" descr="200311140684_341404"/>
          <p:cNvPicPr preferRelativeResize="0"/>
          <p:nvPr/>
        </p:nvPicPr>
        <p:blipFill>
          <a:blip r:embed="rId2"/>
          <a:stretch>
            <a:fillRect/>
          </a:stretch>
        </p:blipFill>
        <p:spPr>
          <a:xfrm>
            <a:off x="6553200" y="4419600"/>
            <a:ext cx="3113088" cy="2138363"/>
          </a:xfrm>
          <a:prstGeom prst="rect">
            <a:avLst/>
          </a:prstGeom>
          <a:noFill/>
          <a:ln w="9525">
            <a:noFill/>
          </a:ln>
        </p:spPr>
      </p:pic>
      <p:pic>
        <p:nvPicPr>
          <p:cNvPr id="164874" name="图片 164873" descr="huanhu"/>
          <p:cNvPicPr>
            <a:picLocks noChangeAspect="1"/>
          </p:cNvPicPr>
          <p:nvPr/>
        </p:nvPicPr>
        <p:blipFill>
          <a:blip r:embed="rId3"/>
          <a:stretch>
            <a:fillRect/>
          </a:stretch>
        </p:blipFill>
        <p:spPr>
          <a:xfrm>
            <a:off x="4625975" y="2219325"/>
            <a:ext cx="3113088" cy="213677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checkerboard(across)">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64874"/>
                                        </p:tgtEl>
                                        <p:attrNameLst>
                                          <p:attrName>style.visibility</p:attrName>
                                        </p:attrNameLst>
                                      </p:cBhvr>
                                      <p:to>
                                        <p:strVal val="visible"/>
                                      </p:to>
                                    </p:set>
                                    <p:anim calcmode="lin" valueType="num">
                                      <p:cBhvr additive="base">
                                        <p:cTn id="12" dur="500" fill="hold"/>
                                        <p:tgtEl>
                                          <p:spTgt spid="164874"/>
                                        </p:tgtEl>
                                        <p:attrNameLst>
                                          <p:attrName>ppt_x</p:attrName>
                                        </p:attrNameLst>
                                      </p:cBhvr>
                                      <p:tavLst>
                                        <p:tav tm="0">
                                          <p:val>
                                            <p:strVal val="0-#ppt_w/2"/>
                                          </p:val>
                                        </p:tav>
                                        <p:tav tm="100000">
                                          <p:val>
                                            <p:strVal val="#ppt_x"/>
                                          </p:val>
                                        </p:tav>
                                      </p:tavLst>
                                    </p:anim>
                                    <p:anim calcmode="lin" valueType="num">
                                      <p:cBhvr additive="base">
                                        <p:cTn id="13" dur="500" fill="hold"/>
                                        <p:tgtEl>
                                          <p:spTgt spid="16487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164872"/>
                                        </p:tgtEl>
                                        <p:attrNameLst>
                                          <p:attrName>style.visibility</p:attrName>
                                        </p:attrNameLst>
                                      </p:cBhvr>
                                      <p:to>
                                        <p:strVal val="visible"/>
                                      </p:to>
                                    </p:set>
                                    <p:animEffect transition="in" filter="slide(fromBottom)">
                                      <p:cBhvr>
                                        <p:cTn id="18" dur="500"/>
                                        <p:tgtEl>
                                          <p:spTgt spid="164872"/>
                                        </p:tgtEl>
                                      </p:cBhvr>
                                    </p:animEffect>
                                  </p:childTnLst>
                                </p:cTn>
                              </p:par>
                              <p:par>
                                <p:cTn id="19" presetID="12" presetClass="entr" presetSubtype="4" fill="hold" nodeType="withEffect">
                                  <p:stCondLst>
                                    <p:cond delay="0"/>
                                  </p:stCondLst>
                                  <p:childTnLst>
                                    <p:set>
                                      <p:cBhvr>
                                        <p:cTn id="20" dur="1" fill="hold">
                                          <p:stCondLst>
                                            <p:cond delay="0"/>
                                          </p:stCondLst>
                                        </p:cTn>
                                        <p:tgtEl>
                                          <p:spTgt spid="164873"/>
                                        </p:tgtEl>
                                        <p:attrNameLst>
                                          <p:attrName>style.visibility</p:attrName>
                                        </p:attrNameLst>
                                      </p:cBhvr>
                                      <p:to>
                                        <p:strVal val="visible"/>
                                      </p:to>
                                    </p:set>
                                    <p:animEffect transition="in" filter="slide(fromBottom)">
                                      <p:cBhvr>
                                        <p:cTn id="21" dur="500"/>
                                        <p:tgtEl>
                                          <p:spTgt spid="1648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直接连接符 165889"/>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5893" name="矩形 165892"/>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水污染的危害</a:t>
            </a:r>
            <a:endParaRPr lang="zh-CN" altLang="en-GB" sz="2800" b="1" dirty="0">
              <a:solidFill>
                <a:srgbClr val="FC4A26"/>
              </a:solidFill>
              <a:latin typeface="楷体_GB2312" charset="-122"/>
              <a:ea typeface="楷体_GB2312" charset="-122"/>
            </a:endParaRPr>
          </a:p>
        </p:txBody>
      </p:sp>
      <p:sp>
        <p:nvSpPr>
          <p:cNvPr id="24581" name="Rectangle 3"/>
          <p:cNvSpPr txBox="1">
            <a:spLocks noRot="1"/>
          </p:cNvSpPr>
          <p:nvPr/>
        </p:nvSpPr>
        <p:spPr>
          <a:xfrm>
            <a:off x="1981200" y="121920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1</a:t>
            </a:r>
            <a:r>
              <a:rPr lang="zh-CN" altLang="en-US" sz="2400" dirty="0">
                <a:latin typeface="Times New Roman" panose="02020603050405020304" charset="0"/>
                <a:ea typeface="楷体_GB2312" charset="-122"/>
              </a:rPr>
              <a:t>、危害人体健康</a:t>
            </a:r>
            <a:r>
              <a:rPr lang="zh-CN" altLang="en-US"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3" name="Rectangle 3"/>
          <p:cNvSpPr txBox="1">
            <a:spLocks noRot="1"/>
          </p:cNvSpPr>
          <p:nvPr/>
        </p:nvSpPr>
        <p:spPr>
          <a:xfrm>
            <a:off x="1927225" y="191452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2</a:t>
            </a:r>
            <a:r>
              <a:rPr lang="zh-CN" altLang="en-US" sz="2400" dirty="0">
                <a:latin typeface="Times New Roman" panose="02020603050405020304" charset="0"/>
                <a:ea typeface="楷体_GB2312" charset="-122"/>
              </a:rPr>
              <a:t>、降低农作物的产量和质量</a:t>
            </a:r>
            <a:r>
              <a:rPr lang="zh-CN" altLang="en-US"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4" name="Rectangle 3"/>
          <p:cNvSpPr txBox="1">
            <a:spLocks noRot="1"/>
          </p:cNvSpPr>
          <p:nvPr/>
        </p:nvSpPr>
        <p:spPr>
          <a:xfrm>
            <a:off x="1909763" y="252412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3</a:t>
            </a:r>
            <a:r>
              <a:rPr lang="zh-CN" altLang="en-US" sz="2400" dirty="0">
                <a:latin typeface="Times New Roman" panose="02020603050405020304" charset="0"/>
                <a:ea typeface="楷体_GB2312" charset="-122"/>
              </a:rPr>
              <a:t>、影响渔业生产的产量和质量；</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5" name="Rectangle 3"/>
          <p:cNvSpPr txBox="1">
            <a:spLocks noRot="1"/>
          </p:cNvSpPr>
          <p:nvPr/>
        </p:nvSpPr>
        <p:spPr>
          <a:xfrm>
            <a:off x="1900238" y="321945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4</a:t>
            </a:r>
            <a:r>
              <a:rPr lang="zh-CN" altLang="en-US" sz="2400" dirty="0">
                <a:latin typeface="Times New Roman" panose="02020603050405020304" charset="0"/>
                <a:ea typeface="楷体_GB2312" charset="-122"/>
              </a:rPr>
              <a:t>、制约工业的发展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latin typeface="Times New Roman" panose="02020603050405020304" charset="0"/>
                <a:ea typeface="楷体_GB2312" charset="-122"/>
              </a:rPr>
              <a:t>            </a:t>
            </a:r>
            <a:endParaRPr lang="zh-CN" altLang="en-US" sz="2400" dirty="0">
              <a:latin typeface="Times New Roman" panose="02020603050405020304" charset="0"/>
              <a:ea typeface="楷体_GB2312" charset="-122"/>
            </a:endParaRPr>
          </a:p>
        </p:txBody>
      </p:sp>
      <p:sp>
        <p:nvSpPr>
          <p:cNvPr id="6" name="Rectangle 3"/>
          <p:cNvSpPr txBox="1">
            <a:spLocks noRot="1"/>
          </p:cNvSpPr>
          <p:nvPr/>
        </p:nvSpPr>
        <p:spPr>
          <a:xfrm>
            <a:off x="1846263" y="389572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5</a:t>
            </a:r>
            <a:r>
              <a:rPr lang="zh-CN" altLang="en-US" sz="2400" dirty="0">
                <a:latin typeface="Times New Roman" panose="02020603050405020304" charset="0"/>
                <a:ea typeface="楷体_GB2312" charset="-122"/>
              </a:rPr>
              <a:t>、加速生态环境的退化和破环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7" name="Rectangle 3"/>
          <p:cNvSpPr txBox="1">
            <a:spLocks noRot="1"/>
          </p:cNvSpPr>
          <p:nvPr/>
        </p:nvSpPr>
        <p:spPr>
          <a:xfrm>
            <a:off x="1828800" y="452437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6</a:t>
            </a:r>
            <a:r>
              <a:rPr lang="zh-CN" altLang="en-US" sz="2400" dirty="0">
                <a:latin typeface="Times New Roman" panose="02020603050405020304" charset="0"/>
                <a:ea typeface="楷体_GB2312" charset="-122"/>
              </a:rPr>
              <a:t>、造成经济损失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165900" name="五边形 165899"/>
          <p:cNvSpPr/>
          <p:nvPr/>
        </p:nvSpPr>
        <p:spPr>
          <a:xfrm>
            <a:off x="1550988" y="527050"/>
            <a:ext cx="2487612" cy="539750"/>
          </a:xfrm>
          <a:prstGeom prst="homePlate">
            <a:avLst>
              <a:gd name="adj" fmla="val 115220"/>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第二节 水污染</a:t>
            </a:r>
            <a:endParaRPr lang="en-US" altLang="zh-CN" sz="2400" b="1">
              <a:solidFill>
                <a:schemeClr val="bg1"/>
              </a:solidFill>
              <a:latin typeface="楷体_GB2312" charset="-122"/>
              <a:ea typeface="楷体_GB2312" charset="-122"/>
            </a:endParaRPr>
          </a:p>
        </p:txBody>
      </p:sp>
      <p:sp>
        <p:nvSpPr>
          <p:cNvPr id="165901" name="矩形 165900"/>
          <p:cNvSpPr/>
          <p:nvPr/>
        </p:nvSpPr>
        <p:spPr>
          <a:xfrm>
            <a:off x="2286000" y="2336800"/>
            <a:ext cx="7994650" cy="3692525"/>
          </a:xfrm>
          <a:prstGeom prst="rect">
            <a:avLst/>
          </a:prstGeom>
          <a:noFill/>
          <a:ln w="9525" cap="flat" cmpd="sng">
            <a:solidFill>
              <a:srgbClr val="FF0000"/>
            </a:solidFill>
            <a:prstDash val="solid"/>
            <a:miter/>
            <a:headEnd type="none" w="med" len="med"/>
            <a:tailEnd type="none" w="med" len="med"/>
          </a:ln>
        </p:spPr>
        <p:txBody>
          <a:bodyPr anchor="ctr" anchorCtr="0">
            <a:spAutoFit/>
          </a:bodyPr>
          <a:p>
            <a:pPr algn="l">
              <a:lnSpc>
                <a:spcPct val="130000"/>
              </a:lnSpc>
            </a:pPr>
            <a:r>
              <a:rPr lang="zh-CN" altLang="en-US" dirty="0">
                <a:latin typeface="Arial" panose="020B0604020202020204" pitchFamily="34" charset="0"/>
              </a:rPr>
              <a:t>                 </a:t>
            </a:r>
            <a:r>
              <a:rPr lang="zh-CN" altLang="en-GB" sz="2000" dirty="0">
                <a:latin typeface="Times New Roman" panose="02020603050405020304" charset="0"/>
                <a:ea typeface="楷体_GB2312" charset="-122"/>
              </a:rPr>
              <a:t>水污染直接影响饮用水源的水质。当饮用水源受到合成有机物污染时，原有的水处理厂不能保证饮用水的安全可靠，这将会导致如</a:t>
            </a:r>
            <a:r>
              <a:rPr lang="zh-CN" altLang="en-GB" sz="2000" u="sng" dirty="0">
                <a:solidFill>
                  <a:srgbClr val="FC4A26"/>
                </a:solidFill>
                <a:latin typeface="Times New Roman" panose="02020603050405020304" charset="0"/>
                <a:ea typeface="楷体_GB2312" charset="-122"/>
              </a:rPr>
              <a:t>腹水、腹泻、肠道线虫、肝炎、胃癌、肝癌</a:t>
            </a:r>
            <a:r>
              <a:rPr lang="zh-CN" altLang="en-GB" sz="2000" dirty="0">
                <a:latin typeface="Times New Roman" panose="02020603050405020304" charset="0"/>
                <a:ea typeface="楷体_GB2312" charset="-122"/>
              </a:rPr>
              <a:t>等很多疾病的产生。与不洁的水接触也会染上如</a:t>
            </a:r>
            <a:r>
              <a:rPr lang="zh-CN" altLang="en-GB" sz="2000" u="sng" dirty="0">
                <a:solidFill>
                  <a:srgbClr val="FC4A26"/>
                </a:solidFill>
                <a:latin typeface="Times New Roman" panose="02020603050405020304" charset="0"/>
                <a:ea typeface="楷体_GB2312" charset="-122"/>
              </a:rPr>
              <a:t>皮肤病、沙眼、血吸虫、钩虫病</a:t>
            </a:r>
            <a:r>
              <a:rPr lang="zh-CN" altLang="en-GB" sz="2000" dirty="0">
                <a:latin typeface="Times New Roman" panose="02020603050405020304" charset="0"/>
                <a:ea typeface="楷体_GB2312" charset="-122"/>
              </a:rPr>
              <a:t>等疾病。</a:t>
            </a:r>
            <a:endParaRPr lang="zh-CN" altLang="en-GB" sz="2000" dirty="0">
              <a:latin typeface="Times New Roman" panose="02020603050405020304" charset="0"/>
              <a:ea typeface="楷体_GB2312" charset="-122"/>
            </a:endParaRPr>
          </a:p>
          <a:p>
            <a:pPr algn="l">
              <a:lnSpc>
                <a:spcPct val="130000"/>
              </a:lnSpc>
            </a:pPr>
            <a:r>
              <a:rPr lang="zh-CN" altLang="en-US" sz="2000" dirty="0">
                <a:latin typeface="Times New Roman" panose="02020603050405020304" charset="0"/>
                <a:ea typeface="楷体_GB2312" charset="-122"/>
              </a:rPr>
              <a:t>        </a:t>
            </a:r>
            <a:r>
              <a:rPr lang="zh-CN" altLang="en-GB" sz="2000" dirty="0">
                <a:latin typeface="Times New Roman" panose="02020603050405020304" charset="0"/>
                <a:ea typeface="楷体_GB2312" charset="-122"/>
              </a:rPr>
              <a:t>据世界银行调查资料，与其他收入水平相当的发展中国家相比，中国的安全饮用水供给水平及卫生设施水平是比较高的。因此，与水污染有关的疾病的</a:t>
            </a:r>
            <a:r>
              <a:rPr lang="zh-CN" altLang="en-GB" sz="2000" u="sng" dirty="0">
                <a:solidFill>
                  <a:srgbClr val="FC4A26"/>
                </a:solidFill>
                <a:latin typeface="Times New Roman" panose="02020603050405020304" charset="0"/>
                <a:ea typeface="楷体_GB2312" charset="-122"/>
              </a:rPr>
              <a:t>发病率相对较低</a:t>
            </a:r>
            <a:r>
              <a:rPr lang="zh-CN" altLang="en-GB" sz="2000" dirty="0">
                <a:latin typeface="Times New Roman" panose="02020603050405020304" charset="0"/>
                <a:ea typeface="楷体_GB2312" charset="-122"/>
              </a:rPr>
              <a:t>。我国有</a:t>
            </a:r>
            <a:r>
              <a:rPr lang="en-US" altLang="zh-CN" sz="2000">
                <a:latin typeface="Times New Roman" panose="02020603050405020304" charset="0"/>
                <a:ea typeface="楷体_GB2312" charset="-122"/>
              </a:rPr>
              <a:t>1.5%</a:t>
            </a:r>
            <a:r>
              <a:rPr lang="zh-CN" altLang="en-GB" sz="2000" dirty="0">
                <a:latin typeface="Times New Roman" panose="02020603050405020304" charset="0"/>
                <a:ea typeface="楷体_GB2312" charset="-122"/>
              </a:rPr>
              <a:t>的总死亡率和</a:t>
            </a:r>
            <a:r>
              <a:rPr lang="en-US" altLang="zh-CN" sz="2000">
                <a:latin typeface="Times New Roman" panose="02020603050405020304" charset="0"/>
                <a:ea typeface="楷体_GB2312" charset="-122"/>
              </a:rPr>
              <a:t>3%</a:t>
            </a:r>
            <a:r>
              <a:rPr lang="zh-CN" altLang="en-GB" sz="2000" dirty="0">
                <a:latin typeface="Times New Roman" panose="02020603050405020304" charset="0"/>
                <a:ea typeface="楷体_GB2312" charset="-122"/>
              </a:rPr>
              <a:t>的总疾病率与供水及其卫生条件相关。相比之下，与空气污染有关的慢性障碍性呼吸道疾病却占总死亡率的</a:t>
            </a:r>
            <a:r>
              <a:rPr lang="en-US" altLang="zh-CN" sz="2000">
                <a:latin typeface="Times New Roman" panose="02020603050405020304" charset="0"/>
                <a:ea typeface="楷体_GB2312" charset="-122"/>
              </a:rPr>
              <a:t>16%</a:t>
            </a:r>
            <a:r>
              <a:rPr lang="zh-CN" altLang="en-GB" sz="2000" dirty="0">
                <a:latin typeface="Times New Roman" panose="02020603050405020304" charset="0"/>
                <a:ea typeface="楷体_GB2312" charset="-122"/>
              </a:rPr>
              <a:t>和总疾病率的</a:t>
            </a:r>
            <a:r>
              <a:rPr lang="en-US" altLang="zh-CN" sz="2000">
                <a:latin typeface="Times New Roman" panose="02020603050405020304" charset="0"/>
                <a:ea typeface="楷体_GB2312" charset="-122"/>
              </a:rPr>
              <a:t>8.5%</a:t>
            </a:r>
            <a:r>
              <a:rPr lang="zh-CN" altLang="en-GB" sz="2000" dirty="0">
                <a:latin typeface="Times New Roman" panose="02020603050405020304" charset="0"/>
                <a:ea typeface="楷体_GB2312" charset="-122"/>
              </a:rPr>
              <a:t>。</a:t>
            </a:r>
            <a:endParaRPr lang="zh-CN" altLang="en-GB" sz="2000" dirty="0">
              <a:latin typeface="Times New Roman" panose="0202060305040502030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checkerboard(across)">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65901"/>
                                        </p:tgtEl>
                                        <p:attrNameLst>
                                          <p:attrName>style.visibility</p:attrName>
                                        </p:attrNameLst>
                                      </p:cBhvr>
                                      <p:to>
                                        <p:strVal val="visible"/>
                                      </p:to>
                                    </p:set>
                                    <p:animEffect transition="in" filter="blinds(vertical)">
                                      <p:cBhvr>
                                        <p:cTn id="12" dur="500"/>
                                        <p:tgtEl>
                                          <p:spTgt spid="165901"/>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65901"/>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checkerboard(across)">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checkerboard(across)">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checkerboard(across)">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checkerboard(across)">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checkerboard(across)">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3" grpId="0"/>
      <p:bldP spid="4" grpId="0"/>
      <p:bldP spid="5" grpId="0"/>
      <p:bldP spid="6" grpId="0"/>
      <p:bldP spid="7" grpId="0"/>
      <p:bldP spid="165901" grpId="0" bldLvl="0" animBg="1"/>
      <p:bldP spid="165901" grpId="1"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1474" name="未知"/>
          <p:cNvSpPr/>
          <p:nvPr/>
        </p:nvSpPr>
        <p:spPr>
          <a:xfrm>
            <a:off x="1778000" y="757238"/>
            <a:ext cx="6113463" cy="611187"/>
          </a:xfrm>
          <a:custGeom>
            <a:avLst/>
            <a:gdLst/>
            <a:ahLst/>
            <a:cxnLst/>
            <a:pathLst>
              <a:path w="3840" h="384">
                <a:moveTo>
                  <a:pt x="504" y="0"/>
                </a:moveTo>
                <a:cubicBezTo>
                  <a:pt x="398" y="0"/>
                  <a:pt x="312" y="86"/>
                  <a:pt x="312" y="192"/>
                </a:cubicBezTo>
                <a:cubicBezTo>
                  <a:pt x="312" y="298"/>
                  <a:pt x="0" y="352"/>
                  <a:pt x="504" y="384"/>
                </a:cubicBezTo>
                <a:lnTo>
                  <a:pt x="3336" y="384"/>
                </a:lnTo>
                <a:cubicBezTo>
                  <a:pt x="3442" y="384"/>
                  <a:pt x="3528" y="298"/>
                  <a:pt x="3528" y="192"/>
                </a:cubicBezTo>
                <a:cubicBezTo>
                  <a:pt x="3528" y="86"/>
                  <a:pt x="3840" y="32"/>
                  <a:pt x="3336" y="0"/>
                </a:cubicBezTo>
                <a:lnTo>
                  <a:pt x="504" y="0"/>
                </a:lnTo>
                <a:close/>
              </a:path>
            </a:pathLst>
          </a:custGeom>
          <a:solidFill>
            <a:srgbClr val="FFFFFF">
              <a:alpha val="100000"/>
            </a:srgbClr>
          </a:solidFill>
          <a:ln w="12700" cap="flat" cmpd="sng">
            <a:solidFill>
              <a:srgbClr val="000000">
                <a:alpha val="0"/>
              </a:srgbClr>
            </a:solidFill>
            <a:prstDash val="solid"/>
            <a:headEnd type="none" w="med" len="med"/>
            <a:tailEnd type="none" w="med" len="med"/>
          </a:ln>
        </p:spPr>
        <p:txBody>
          <a:bodyPr/>
          <a:p>
            <a:endParaRPr lang="zh-CN" altLang="en-US"/>
          </a:p>
        </p:txBody>
      </p:sp>
      <p:sp>
        <p:nvSpPr>
          <p:cNvPr id="361475" name="文本框 361474"/>
          <p:cNvSpPr txBox="1"/>
          <p:nvPr/>
        </p:nvSpPr>
        <p:spPr>
          <a:xfrm>
            <a:off x="1908175" y="687388"/>
            <a:ext cx="8521700" cy="4505960"/>
          </a:xfrm>
          <a:prstGeom prst="rect">
            <a:avLst/>
          </a:prstGeom>
          <a:noFill/>
          <a:ln w="9525">
            <a:noFill/>
          </a:ln>
        </p:spPr>
        <p:txBody>
          <a:bodyPr lIns="0" tIns="0" rIns="0" bIns="0">
            <a:spAutoFit/>
          </a:bodyPr>
          <a:p>
            <a:pPr algn="l" defTabSz="916305">
              <a:lnSpc>
                <a:spcPts val="3615"/>
              </a:lnSpc>
              <a:tabLst>
                <a:tab pos="76200" algn="l"/>
                <a:tab pos="228600" algn="l"/>
                <a:tab pos="916305" algn="l"/>
              </a:tabLst>
            </a:pPr>
            <a:r>
              <a:rPr lang="zh-CN" altLang="en-US" sz="3600" b="1">
                <a:solidFill>
                  <a:srgbClr val="FF0000"/>
                </a:solidFill>
                <a:latin typeface="楷体_GB2312" charset="-122"/>
                <a:ea typeface="楷体_GB2312" charset="-122"/>
              </a:rPr>
              <a:t>五、水污染控制途径和方法</a:t>
            </a:r>
            <a:endParaRPr lang="zh-CN" altLang="en-US" sz="3600" b="1">
              <a:solidFill>
                <a:srgbClr val="FF0000"/>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3600" b="1">
              <a:solidFill>
                <a:srgbClr val="FF0000"/>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3600" b="1">
              <a:solidFill>
                <a:srgbClr val="FF0000"/>
              </a:solidFill>
              <a:latin typeface="楷体_GB2312" charset="-122"/>
              <a:ea typeface="楷体_GB2312" charset="-122"/>
            </a:endParaRPr>
          </a:p>
          <a:p>
            <a:pPr algn="l" defTabSz="916305">
              <a:lnSpc>
                <a:spcPts val="2940"/>
              </a:lnSpc>
              <a:tabLst>
                <a:tab pos="76200" algn="l"/>
                <a:tab pos="228600" algn="l"/>
                <a:tab pos="916305" algn="l"/>
              </a:tabLst>
            </a:pPr>
            <a:r>
              <a:rPr lang="zh-CN" altLang="en-US" sz="3600" b="1">
                <a:solidFill>
                  <a:srgbClr val="FF0000"/>
                </a:solidFill>
                <a:latin typeface="楷体_GB2312" charset="-122"/>
                <a:ea typeface="楷体_GB2312" charset="-122"/>
              </a:rPr>
              <a:t>	</a:t>
            </a:r>
            <a:r>
              <a:rPr lang="en-US" altLang="zh-CN" sz="2800" b="1">
                <a:solidFill>
                  <a:srgbClr val="003365"/>
                </a:solidFill>
                <a:latin typeface="楷体_GB2312" charset="-122"/>
                <a:ea typeface="楷体_GB2312" charset="-122"/>
              </a:rPr>
              <a:t>1.</a:t>
            </a:r>
            <a:r>
              <a:rPr lang="zh-CN" altLang="en-US" sz="2800" b="1">
                <a:solidFill>
                  <a:srgbClr val="003365"/>
                </a:solidFill>
                <a:latin typeface="楷体_GB2312" charset="-122"/>
                <a:ea typeface="楷体_GB2312" charset="-122"/>
              </a:rPr>
              <a:t>基本原则</a:t>
            </a:r>
            <a:endParaRPr lang="zh-CN" altLang="en-US" sz="28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8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800" b="1">
              <a:solidFill>
                <a:srgbClr val="003365"/>
              </a:solidFill>
              <a:latin typeface="楷体_GB2312" charset="-122"/>
              <a:ea typeface="楷体_GB2312" charset="-122"/>
            </a:endParaRPr>
          </a:p>
          <a:p>
            <a:pPr algn="l" defTabSz="916305">
              <a:lnSpc>
                <a:spcPts val="3390"/>
              </a:lnSpc>
              <a:tabLst>
                <a:tab pos="76200" algn="l"/>
                <a:tab pos="228600" algn="l"/>
                <a:tab pos="916305" algn="l"/>
              </a:tabLst>
            </a:pPr>
            <a:r>
              <a:rPr lang="zh-CN" altLang="en-US" sz="2800" b="1">
                <a:solidFill>
                  <a:srgbClr val="003365"/>
                </a:solidFill>
                <a:latin typeface="楷体_GB2312" charset="-122"/>
                <a:ea typeface="楷体_GB2312" charset="-122"/>
              </a:rPr>
              <a:t>		（</a:t>
            </a:r>
            <a:r>
              <a:rPr lang="en-US" altLang="zh-CN" sz="2800" b="1">
                <a:solidFill>
                  <a:srgbClr val="003365"/>
                </a:solidFill>
                <a:latin typeface="楷体_GB2312" charset="-122"/>
                <a:ea typeface="楷体_GB2312" charset="-122"/>
              </a:rPr>
              <a:t>1</a:t>
            </a:r>
            <a:r>
              <a:rPr lang="zh-CN" altLang="en-US" sz="2800" b="1">
                <a:solidFill>
                  <a:srgbClr val="003365"/>
                </a:solidFill>
                <a:latin typeface="楷体_GB2312" charset="-122"/>
                <a:ea typeface="楷体_GB2312" charset="-122"/>
              </a:rPr>
              <a:t>） 防</a:t>
            </a:r>
            <a:endParaRPr lang="zh-CN" altLang="en-US" sz="28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8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800" b="1">
              <a:solidFill>
                <a:srgbClr val="003365"/>
              </a:solidFill>
              <a:latin typeface="楷体_GB2312" charset="-122"/>
              <a:ea typeface="楷体_GB2312" charset="-122"/>
            </a:endParaRPr>
          </a:p>
          <a:p>
            <a:pPr algn="l" defTabSz="916305">
              <a:lnSpc>
                <a:spcPts val="2475"/>
              </a:lnSpc>
              <a:tabLst>
                <a:tab pos="76200" algn="l"/>
                <a:tab pos="228600" algn="l"/>
                <a:tab pos="916305" algn="l"/>
              </a:tabLst>
            </a:pPr>
            <a:r>
              <a:rPr lang="zh-CN" altLang="en-US" sz="2800" b="1">
                <a:solidFill>
                  <a:srgbClr val="003365"/>
                </a:solidFill>
                <a:latin typeface="楷体_GB2312" charset="-122"/>
                <a:ea typeface="楷体_GB2312" charset="-122"/>
              </a:rPr>
              <a:t>			</a:t>
            </a:r>
            <a:r>
              <a:rPr lang="en-US" altLang="zh-CN" sz="2400" b="1">
                <a:solidFill>
                  <a:srgbClr val="FF0000"/>
                </a:solidFill>
                <a:latin typeface="楷体_GB2312" charset="-122"/>
                <a:ea typeface="楷体_GB2312" charset="-122"/>
              </a:rPr>
              <a:t>a</a:t>
            </a:r>
            <a:r>
              <a:rPr lang="zh-CN" altLang="en-US" sz="2400" b="1">
                <a:solidFill>
                  <a:srgbClr val="FF0000"/>
                </a:solidFill>
                <a:latin typeface="楷体_GB2312" charset="-122"/>
                <a:ea typeface="楷体_GB2312" charset="-122"/>
              </a:rPr>
              <a:t>：</a:t>
            </a:r>
            <a:r>
              <a:rPr lang="zh-CN" altLang="en-US" sz="2400" b="1">
                <a:solidFill>
                  <a:srgbClr val="F60000"/>
                </a:solidFill>
                <a:latin typeface="楷体_GB2312" charset="-122"/>
                <a:ea typeface="楷体_GB2312" charset="-122"/>
              </a:rPr>
              <a:t>工业布局合理</a:t>
            </a:r>
            <a:r>
              <a:rPr lang="zh-CN" altLang="en-US" sz="2400" b="1">
                <a:solidFill>
                  <a:srgbClr val="003365"/>
                </a:solidFill>
                <a:latin typeface="楷体_GB2312" charset="-122"/>
                <a:ea typeface="楷体_GB2312" charset="-122"/>
              </a:rPr>
              <a:t>：不在居民集中区、缺水区布置工</a:t>
            </a:r>
            <a:endParaRPr lang="zh-CN" altLang="en-US" sz="2400" b="1">
              <a:solidFill>
                <a:srgbClr val="003365"/>
              </a:solidFill>
              <a:latin typeface="楷体_GB2312" charset="-122"/>
              <a:ea typeface="楷体_GB2312" charset="-122"/>
            </a:endParaRPr>
          </a:p>
          <a:p>
            <a:pPr algn="l" defTabSz="916305">
              <a:lnSpc>
                <a:spcPts val="3440"/>
              </a:lnSpc>
              <a:tabLst>
                <a:tab pos="76200" algn="l"/>
                <a:tab pos="228600" algn="l"/>
                <a:tab pos="916305" algn="l"/>
              </a:tabLst>
            </a:pPr>
            <a:r>
              <a:rPr lang="zh-CN" altLang="en-US" sz="2400" b="1">
                <a:solidFill>
                  <a:srgbClr val="003365"/>
                </a:solidFill>
                <a:latin typeface="楷体_GB2312" charset="-122"/>
                <a:ea typeface="楷体_GB2312" charset="-122"/>
              </a:rPr>
              <a:t>			业企业，发展闭合工艺圈</a:t>
            </a:r>
            <a:r>
              <a:rPr lang="en-US" altLang="zh-CN" sz="2400" b="1">
                <a:solidFill>
                  <a:srgbClr val="003365"/>
                </a:solidFill>
                <a:latin typeface="Times New Roman" panose="02020603050405020304" charset="0"/>
                <a:ea typeface="楷体_GB2312" charset="-122"/>
              </a:rPr>
              <a:t>—</a:t>
            </a:r>
            <a:r>
              <a:rPr lang="zh-CN" altLang="en-US" sz="2400" b="1">
                <a:solidFill>
                  <a:srgbClr val="003365"/>
                </a:solidFill>
                <a:latin typeface="楷体_GB2312" charset="-122"/>
                <a:ea typeface="楷体_GB2312" charset="-122"/>
              </a:rPr>
              <a:t>生态工艺；</a:t>
            </a:r>
            <a:endParaRPr lang="zh-CN" altLang="en-US" sz="24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4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400" b="1">
              <a:solidFill>
                <a:srgbClr val="003365"/>
              </a:solidFill>
              <a:latin typeface="楷体_GB2312" charset="-122"/>
              <a:ea typeface="楷体_GB2312" charset="-122"/>
            </a:endParaRPr>
          </a:p>
          <a:p>
            <a:pPr algn="l" defTabSz="916305">
              <a:lnSpc>
                <a:spcPts val="2790"/>
              </a:lnSpc>
              <a:tabLst>
                <a:tab pos="76200" algn="l"/>
                <a:tab pos="228600" algn="l"/>
                <a:tab pos="916305" algn="l"/>
              </a:tabLst>
            </a:pPr>
            <a:r>
              <a:rPr lang="zh-CN" altLang="en-US" sz="2400" b="1">
                <a:solidFill>
                  <a:srgbClr val="003365"/>
                </a:solidFill>
                <a:latin typeface="楷体_GB2312" charset="-122"/>
                <a:ea typeface="楷体_GB2312" charset="-122"/>
              </a:rPr>
              <a:t>			</a:t>
            </a:r>
            <a:r>
              <a:rPr lang="en-US" altLang="zh-CN" sz="2400" b="1">
                <a:solidFill>
                  <a:srgbClr val="FF0000"/>
                </a:solidFill>
                <a:latin typeface="楷体_GB2312" charset="-122"/>
                <a:ea typeface="楷体_GB2312" charset="-122"/>
              </a:rPr>
              <a:t>b: </a:t>
            </a:r>
            <a:r>
              <a:rPr lang="zh-CN" altLang="en-US" sz="2400" b="1">
                <a:solidFill>
                  <a:srgbClr val="F60000"/>
                </a:solidFill>
                <a:latin typeface="楷体_GB2312" charset="-122"/>
                <a:ea typeface="楷体_GB2312" charset="-122"/>
              </a:rPr>
              <a:t>改革落后工艺</a:t>
            </a:r>
            <a:r>
              <a:rPr lang="zh-CN" altLang="en-US" sz="2400" b="1">
                <a:solidFill>
                  <a:srgbClr val="003365"/>
                </a:solidFill>
                <a:latin typeface="楷体_GB2312" charset="-122"/>
                <a:ea typeface="楷体_GB2312" charset="-122"/>
              </a:rPr>
              <a:t>：无水印染代替有水印染，无氰电</a:t>
            </a:r>
            <a:endParaRPr lang="zh-CN" altLang="en-US" sz="24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400" b="1">
              <a:solidFill>
                <a:srgbClr val="003365"/>
              </a:solidFill>
              <a:latin typeface="楷体_GB2312" charset="-122"/>
              <a:ea typeface="楷体_GB2312" charset="-122"/>
            </a:endParaRPr>
          </a:p>
          <a:p>
            <a:pPr algn="l" defTabSz="916305">
              <a:lnSpc>
                <a:spcPts val="3325"/>
              </a:lnSpc>
              <a:tabLst>
                <a:tab pos="76200" algn="l"/>
                <a:tab pos="228600" algn="l"/>
                <a:tab pos="916305" algn="l"/>
              </a:tabLst>
            </a:pPr>
            <a:r>
              <a:rPr lang="zh-CN" altLang="en-US" sz="2400" b="1">
                <a:solidFill>
                  <a:srgbClr val="003365"/>
                </a:solidFill>
                <a:latin typeface="楷体_GB2312" charset="-122"/>
                <a:ea typeface="楷体_GB2312" charset="-122"/>
              </a:rPr>
              <a:t>			镀代替有氰电镀；</a:t>
            </a:r>
            <a:endParaRPr lang="zh-CN" altLang="en-US" sz="2400" b="1">
              <a:solidFill>
                <a:srgbClr val="003365"/>
              </a:solidFill>
              <a:latin typeface="楷体_GB2312" charset="-122"/>
              <a:ea typeface="楷体_GB2312" charset="-122"/>
            </a:endParaRPr>
          </a:p>
          <a:p>
            <a:pPr algn="l" defTabSz="916305">
              <a:lnSpc>
                <a:spcPts val="1000"/>
              </a:lnSpc>
              <a:tabLst>
                <a:tab pos="76200" algn="l"/>
                <a:tab pos="228600" algn="l"/>
                <a:tab pos="916305" algn="l"/>
              </a:tabLst>
            </a:pPr>
            <a:endParaRPr lang="zh-CN" altLang="en-US" sz="2400" b="1">
              <a:solidFill>
                <a:srgbClr val="003365"/>
              </a:solidFill>
              <a:latin typeface="楷体_GB2312" charset="-122"/>
              <a:ea typeface="楷体_GB2312" charset="-122"/>
            </a:endParaRPr>
          </a:p>
          <a:p>
            <a:pPr algn="l" defTabSz="916305">
              <a:lnSpc>
                <a:spcPts val="3165"/>
              </a:lnSpc>
              <a:tabLst>
                <a:tab pos="76200" algn="l"/>
                <a:tab pos="228600" algn="l"/>
                <a:tab pos="916305" algn="l"/>
              </a:tabLst>
            </a:pPr>
            <a:r>
              <a:rPr lang="zh-CN" altLang="en-US" sz="2400" b="1">
                <a:solidFill>
                  <a:srgbClr val="003365"/>
                </a:solidFill>
                <a:latin typeface="楷体_GB2312" charset="-122"/>
                <a:ea typeface="楷体_GB2312" charset="-122"/>
              </a:rPr>
              <a:t>			</a:t>
            </a:r>
            <a:r>
              <a:rPr lang="en-US" altLang="zh-CN" sz="2400" b="1">
                <a:solidFill>
                  <a:srgbClr val="FF0000"/>
                </a:solidFill>
                <a:latin typeface="楷体_GB2312" charset="-122"/>
                <a:ea typeface="楷体_GB2312" charset="-122"/>
              </a:rPr>
              <a:t>c:</a:t>
            </a:r>
            <a:r>
              <a:rPr lang="zh-CN" altLang="en-US" sz="2400" b="1">
                <a:solidFill>
                  <a:srgbClr val="F60000"/>
                </a:solidFill>
                <a:latin typeface="楷体_GB2312" charset="-122"/>
                <a:ea typeface="楷体_GB2312" charset="-122"/>
              </a:rPr>
              <a:t>重复利用废水</a:t>
            </a:r>
            <a:r>
              <a:rPr lang="zh-CN" altLang="en-US" sz="2400" b="1">
                <a:solidFill>
                  <a:srgbClr val="003365"/>
                </a:solidFill>
                <a:latin typeface="楷体_GB2312" charset="-122"/>
                <a:ea typeface="楷体_GB2312" charset="-122"/>
              </a:rPr>
              <a:t>：一水多用</a:t>
            </a:r>
            <a:endParaRPr lang="zh-CN" altLang="en-US" sz="2400" b="1">
              <a:solidFill>
                <a:srgbClr val="003365"/>
              </a:solidFill>
              <a:latin typeface="楷体_GB2312" charset="-122"/>
              <a:ea typeface="楷体_GB231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2498" name="未知"/>
          <p:cNvSpPr/>
          <p:nvPr/>
        </p:nvSpPr>
        <p:spPr>
          <a:xfrm>
            <a:off x="1778000" y="757238"/>
            <a:ext cx="6113463" cy="611187"/>
          </a:xfrm>
          <a:custGeom>
            <a:avLst/>
            <a:gdLst/>
            <a:ahLst/>
            <a:cxnLst/>
            <a:pathLst>
              <a:path w="3840" h="384">
                <a:moveTo>
                  <a:pt x="504" y="0"/>
                </a:moveTo>
                <a:cubicBezTo>
                  <a:pt x="398" y="0"/>
                  <a:pt x="312" y="86"/>
                  <a:pt x="312" y="192"/>
                </a:cubicBezTo>
                <a:cubicBezTo>
                  <a:pt x="312" y="298"/>
                  <a:pt x="0" y="352"/>
                  <a:pt x="504" y="384"/>
                </a:cubicBezTo>
                <a:lnTo>
                  <a:pt x="3336" y="384"/>
                </a:lnTo>
                <a:cubicBezTo>
                  <a:pt x="3442" y="384"/>
                  <a:pt x="3528" y="298"/>
                  <a:pt x="3528" y="192"/>
                </a:cubicBezTo>
                <a:cubicBezTo>
                  <a:pt x="3528" y="86"/>
                  <a:pt x="3840" y="32"/>
                  <a:pt x="3336" y="0"/>
                </a:cubicBezTo>
                <a:lnTo>
                  <a:pt x="504" y="0"/>
                </a:lnTo>
                <a:close/>
              </a:path>
            </a:pathLst>
          </a:custGeom>
          <a:solidFill>
            <a:srgbClr val="FFFFFF">
              <a:alpha val="100000"/>
            </a:srgbClr>
          </a:solidFill>
          <a:ln w="12700" cap="flat" cmpd="sng">
            <a:solidFill>
              <a:srgbClr val="000000">
                <a:alpha val="0"/>
              </a:srgbClr>
            </a:solidFill>
            <a:prstDash val="solid"/>
            <a:headEnd type="none" w="med" len="med"/>
            <a:tailEnd type="none" w="med" len="med"/>
          </a:ln>
        </p:spPr>
        <p:txBody>
          <a:bodyPr/>
          <a:p>
            <a:endParaRPr lang="zh-CN" altLang="en-US"/>
          </a:p>
        </p:txBody>
      </p:sp>
      <p:sp>
        <p:nvSpPr>
          <p:cNvPr id="362499" name="文本框 362498"/>
          <p:cNvSpPr txBox="1"/>
          <p:nvPr/>
        </p:nvSpPr>
        <p:spPr>
          <a:xfrm>
            <a:off x="1704975" y="6480175"/>
            <a:ext cx="330200" cy="307340"/>
          </a:xfrm>
          <a:prstGeom prst="rect">
            <a:avLst/>
          </a:prstGeom>
          <a:noFill/>
          <a:ln w="9525">
            <a:noFill/>
          </a:ln>
        </p:spPr>
        <p:txBody>
          <a:bodyPr wrap="none" lIns="0" tIns="0" rIns="0" bIns="0">
            <a:spAutoFit/>
          </a:bodyPr>
          <a:p>
            <a:pPr algn="l" defTabSz="916305">
              <a:lnSpc>
                <a:spcPts val="2400"/>
              </a:lnSpc>
            </a:pPr>
            <a:r>
              <a:rPr lang="en-US" altLang="zh-CN" sz="2600" b="1">
                <a:solidFill>
                  <a:srgbClr val="FFFFFF"/>
                </a:solidFill>
                <a:latin typeface="Times New Roman" panose="02020603050405020304" charset="0"/>
              </a:rPr>
              <a:t>61</a:t>
            </a:r>
            <a:endParaRPr lang="en-US" altLang="zh-CN" sz="2600" b="1">
              <a:solidFill>
                <a:srgbClr val="FFFFFF"/>
              </a:solidFill>
              <a:latin typeface="Times New Roman" panose="02020603050405020304" charset="0"/>
            </a:endParaRPr>
          </a:p>
        </p:txBody>
      </p:sp>
      <p:sp>
        <p:nvSpPr>
          <p:cNvPr id="362500" name="文本框 362499"/>
          <p:cNvSpPr txBox="1"/>
          <p:nvPr/>
        </p:nvSpPr>
        <p:spPr>
          <a:xfrm>
            <a:off x="2557463" y="831850"/>
            <a:ext cx="7510462" cy="4225290"/>
          </a:xfrm>
          <a:prstGeom prst="rect">
            <a:avLst/>
          </a:prstGeom>
          <a:noFill/>
          <a:ln w="9525">
            <a:noFill/>
          </a:ln>
        </p:spPr>
        <p:txBody>
          <a:bodyPr lIns="0" tIns="0" rIns="0" bIns="0">
            <a:spAutoFit/>
          </a:bodyPr>
          <a:p>
            <a:pPr algn="l" defTabSz="916305">
              <a:lnSpc>
                <a:spcPts val="2815"/>
              </a:lnSpc>
              <a:tabLst>
                <a:tab pos="408305" algn="l"/>
              </a:tabLst>
            </a:pPr>
            <a:r>
              <a:rPr lang="en-US" altLang="zh-CN" sz="2800" b="1">
                <a:solidFill>
                  <a:srgbClr val="FF0000"/>
                </a:solidFill>
                <a:latin typeface="楷体_GB2312" charset="-122"/>
                <a:ea typeface="楷体_GB2312" charset="-122"/>
              </a:rPr>
              <a:t>d:</a:t>
            </a:r>
            <a:r>
              <a:rPr lang="zh-CN" altLang="en-US" sz="2800" b="1">
                <a:solidFill>
                  <a:srgbClr val="F60000"/>
                </a:solidFill>
                <a:latin typeface="楷体_GB2312" charset="-122"/>
                <a:ea typeface="楷体_GB2312" charset="-122"/>
              </a:rPr>
              <a:t>严格环评制度</a:t>
            </a:r>
            <a:r>
              <a:rPr lang="zh-CN" altLang="en-US" sz="2800" b="1">
                <a:solidFill>
                  <a:srgbClr val="003365"/>
                </a:solidFill>
                <a:latin typeface="楷体_GB2312" charset="-122"/>
                <a:ea typeface="楷体_GB2312" charset="-122"/>
              </a:rPr>
              <a:t>：抵制重污染的新建、扩建</a:t>
            </a:r>
            <a:endParaRPr lang="zh-CN" altLang="en-US" sz="2800" b="1">
              <a:solidFill>
                <a:srgbClr val="003365"/>
              </a:solidFill>
              <a:latin typeface="楷体_GB2312" charset="-122"/>
              <a:ea typeface="楷体_GB2312" charset="-122"/>
            </a:endParaRPr>
          </a:p>
          <a:p>
            <a:pPr algn="l" defTabSz="916305">
              <a:lnSpc>
                <a:spcPts val="1000"/>
              </a:lnSpc>
              <a:tabLst>
                <a:tab pos="408305" algn="l"/>
              </a:tabLst>
            </a:pPr>
            <a:endParaRPr lang="zh-CN" altLang="en-US" sz="2800" b="1">
              <a:solidFill>
                <a:srgbClr val="003365"/>
              </a:solidFill>
              <a:latin typeface="楷体_GB2312" charset="-122"/>
              <a:ea typeface="楷体_GB2312" charset="-122"/>
            </a:endParaRPr>
          </a:p>
          <a:p>
            <a:pPr algn="l" defTabSz="916305">
              <a:lnSpc>
                <a:spcPts val="3725"/>
              </a:lnSpc>
              <a:tabLst>
                <a:tab pos="408305" algn="l"/>
              </a:tabLst>
            </a:pPr>
            <a:r>
              <a:rPr lang="zh-CN" altLang="en-US" sz="2800" b="1">
                <a:solidFill>
                  <a:srgbClr val="003365"/>
                </a:solidFill>
                <a:latin typeface="楷体_GB2312" charset="-122"/>
                <a:ea typeface="楷体_GB2312" charset="-122"/>
              </a:rPr>
              <a:t>企业（实行淘汰制度）</a:t>
            </a:r>
            <a:endParaRPr lang="zh-CN" altLang="en-US" sz="2800" b="1">
              <a:solidFill>
                <a:srgbClr val="003365"/>
              </a:solidFill>
              <a:latin typeface="楷体_GB2312" charset="-122"/>
              <a:ea typeface="楷体_GB2312" charset="-122"/>
            </a:endParaRPr>
          </a:p>
          <a:p>
            <a:pPr algn="l" defTabSz="916305">
              <a:lnSpc>
                <a:spcPts val="1000"/>
              </a:lnSpc>
              <a:tabLst>
                <a:tab pos="408305" algn="l"/>
              </a:tabLst>
            </a:pPr>
            <a:endParaRPr lang="zh-CN" altLang="en-US" sz="2800" b="1">
              <a:solidFill>
                <a:srgbClr val="003365"/>
              </a:solidFill>
              <a:latin typeface="楷体_GB2312" charset="-122"/>
              <a:ea typeface="楷体_GB2312" charset="-122"/>
            </a:endParaRPr>
          </a:p>
          <a:p>
            <a:pPr algn="l" defTabSz="916305">
              <a:lnSpc>
                <a:spcPts val="1000"/>
              </a:lnSpc>
              <a:tabLst>
                <a:tab pos="408305" algn="l"/>
              </a:tabLst>
            </a:pPr>
            <a:endParaRPr lang="zh-CN" altLang="en-US" sz="2800" b="1">
              <a:solidFill>
                <a:srgbClr val="003365"/>
              </a:solidFill>
              <a:latin typeface="楷体_GB2312" charset="-122"/>
              <a:ea typeface="楷体_GB2312" charset="-122"/>
            </a:endParaRPr>
          </a:p>
          <a:p>
            <a:pPr algn="l" defTabSz="916305">
              <a:lnSpc>
                <a:spcPts val="2650"/>
              </a:lnSpc>
              <a:tabLst>
                <a:tab pos="408305" algn="l"/>
              </a:tabLst>
            </a:pPr>
            <a:r>
              <a:rPr lang="zh-CN" altLang="en-US" sz="2800" b="1">
                <a:solidFill>
                  <a:srgbClr val="003365"/>
                </a:solidFill>
                <a:latin typeface="楷体_GB2312" charset="-122"/>
                <a:ea typeface="楷体_GB2312" charset="-122"/>
              </a:rPr>
              <a:t>	</a:t>
            </a:r>
            <a:r>
              <a:rPr lang="zh-CN" altLang="en-US" sz="2400" b="1">
                <a:solidFill>
                  <a:srgbClr val="003365"/>
                </a:solidFill>
                <a:latin typeface="楷体_GB2312" charset="-122"/>
                <a:ea typeface="楷体_GB2312" charset="-122"/>
              </a:rPr>
              <a:t>产业结构调整指导目录（</a:t>
            </a:r>
            <a:r>
              <a:rPr lang="en-US" altLang="zh-CN" sz="2400" b="1">
                <a:solidFill>
                  <a:srgbClr val="003365"/>
                </a:solidFill>
                <a:latin typeface="楷体_GB2312" charset="-122"/>
                <a:ea typeface="楷体_GB2312" charset="-122"/>
              </a:rPr>
              <a:t>2005</a:t>
            </a:r>
            <a:r>
              <a:rPr lang="zh-CN" altLang="en-US" sz="2400" b="1">
                <a:solidFill>
                  <a:srgbClr val="003365"/>
                </a:solidFill>
                <a:latin typeface="楷体_GB2312" charset="-122"/>
                <a:ea typeface="楷体_GB2312" charset="-122"/>
              </a:rPr>
              <a:t>年本）由鼓励、限</a:t>
            </a:r>
            <a:endParaRPr lang="zh-CN" altLang="en-US" sz="2400" b="1">
              <a:solidFill>
                <a:srgbClr val="003365"/>
              </a:solidFill>
              <a:latin typeface="楷体_GB2312" charset="-122"/>
              <a:ea typeface="楷体_GB2312" charset="-122"/>
            </a:endParaRPr>
          </a:p>
          <a:p>
            <a:pPr algn="l" defTabSz="916305">
              <a:lnSpc>
                <a:spcPts val="1000"/>
              </a:lnSpc>
              <a:tabLst>
                <a:tab pos="408305" algn="l"/>
              </a:tabLst>
            </a:pPr>
            <a:endParaRPr lang="zh-CN" altLang="en-US" sz="2400" b="1">
              <a:solidFill>
                <a:srgbClr val="003365"/>
              </a:solidFill>
              <a:latin typeface="楷体_GB2312" charset="-122"/>
              <a:ea typeface="楷体_GB2312" charset="-122"/>
            </a:endParaRPr>
          </a:p>
          <a:p>
            <a:pPr algn="l" defTabSz="916305">
              <a:lnSpc>
                <a:spcPts val="3040"/>
              </a:lnSpc>
              <a:tabLst>
                <a:tab pos="408305" algn="l"/>
              </a:tabLst>
            </a:pPr>
            <a:r>
              <a:rPr lang="zh-CN" altLang="en-US" sz="2400" b="1">
                <a:solidFill>
                  <a:srgbClr val="003365"/>
                </a:solidFill>
                <a:latin typeface="楷体_GB2312" charset="-122"/>
                <a:ea typeface="楷体_GB2312" charset="-122"/>
              </a:rPr>
              <a:t>	制、淘汰三类组成。对于限制、淘汰类的建设项</a:t>
            </a:r>
            <a:endParaRPr lang="zh-CN" altLang="en-US" sz="2400" b="1">
              <a:solidFill>
                <a:srgbClr val="003365"/>
              </a:solidFill>
              <a:latin typeface="楷体_GB2312" charset="-122"/>
              <a:ea typeface="楷体_GB2312" charset="-122"/>
            </a:endParaRPr>
          </a:p>
          <a:p>
            <a:pPr algn="l" defTabSz="916305">
              <a:lnSpc>
                <a:spcPts val="1000"/>
              </a:lnSpc>
              <a:tabLst>
                <a:tab pos="408305" algn="l"/>
              </a:tabLst>
            </a:pPr>
            <a:endParaRPr lang="zh-CN" altLang="en-US" sz="2400" b="1">
              <a:solidFill>
                <a:srgbClr val="003365"/>
              </a:solidFill>
              <a:latin typeface="楷体_GB2312" charset="-122"/>
              <a:ea typeface="楷体_GB2312" charset="-122"/>
            </a:endParaRPr>
          </a:p>
          <a:p>
            <a:pPr algn="l" defTabSz="916305">
              <a:lnSpc>
                <a:spcPts val="3040"/>
              </a:lnSpc>
              <a:tabLst>
                <a:tab pos="408305" algn="l"/>
              </a:tabLst>
            </a:pPr>
            <a:r>
              <a:rPr lang="zh-CN" altLang="en-US" sz="2400" b="1">
                <a:solidFill>
                  <a:srgbClr val="003365"/>
                </a:solidFill>
                <a:latin typeface="楷体_GB2312" charset="-122"/>
                <a:ea typeface="楷体_GB2312" charset="-122"/>
              </a:rPr>
              <a:t>	目，禁止投资。</a:t>
            </a:r>
            <a:endParaRPr lang="zh-CN" altLang="en-US" sz="2400" b="1">
              <a:solidFill>
                <a:srgbClr val="003365"/>
              </a:solidFill>
              <a:latin typeface="楷体_GB2312" charset="-122"/>
              <a:ea typeface="楷体_GB2312" charset="-122"/>
            </a:endParaRPr>
          </a:p>
          <a:p>
            <a:pPr algn="l" defTabSz="916305">
              <a:lnSpc>
                <a:spcPts val="1000"/>
              </a:lnSpc>
              <a:tabLst>
                <a:tab pos="408305" algn="l"/>
              </a:tabLst>
            </a:pPr>
            <a:endParaRPr lang="zh-CN" altLang="en-US" sz="2400" b="1">
              <a:solidFill>
                <a:srgbClr val="003365"/>
              </a:solidFill>
              <a:latin typeface="楷体_GB2312" charset="-122"/>
              <a:ea typeface="楷体_GB2312" charset="-122"/>
            </a:endParaRPr>
          </a:p>
          <a:p>
            <a:pPr algn="l" defTabSz="916305">
              <a:lnSpc>
                <a:spcPts val="1000"/>
              </a:lnSpc>
              <a:tabLst>
                <a:tab pos="408305" algn="l"/>
              </a:tabLst>
            </a:pPr>
            <a:endParaRPr lang="zh-CN" altLang="en-US" sz="2400" b="1">
              <a:solidFill>
                <a:srgbClr val="003365"/>
              </a:solidFill>
              <a:latin typeface="楷体_GB2312" charset="-122"/>
              <a:ea typeface="楷体_GB2312" charset="-122"/>
            </a:endParaRPr>
          </a:p>
          <a:p>
            <a:pPr algn="l" defTabSz="916305">
              <a:lnSpc>
                <a:spcPts val="2600"/>
              </a:lnSpc>
              <a:tabLst>
                <a:tab pos="408305" algn="l"/>
              </a:tabLst>
            </a:pPr>
            <a:r>
              <a:rPr lang="zh-CN" altLang="en-US" sz="2400" b="1">
                <a:solidFill>
                  <a:srgbClr val="003365"/>
                </a:solidFill>
                <a:latin typeface="楷体_GB2312" charset="-122"/>
                <a:ea typeface="楷体_GB2312" charset="-122"/>
              </a:rPr>
              <a:t>	</a:t>
            </a:r>
            <a:r>
              <a:rPr lang="zh-CN" altLang="en-US" sz="2400" b="1">
                <a:solidFill>
                  <a:srgbClr val="F60000"/>
                </a:solidFill>
                <a:latin typeface="楷体_GB2312" charset="-122"/>
                <a:ea typeface="楷体_GB2312" charset="-122"/>
              </a:rPr>
              <a:t>淘汰类：</a:t>
            </a:r>
            <a:r>
              <a:rPr lang="zh-CN" altLang="en-US" sz="2400" b="1">
                <a:solidFill>
                  <a:srgbClr val="003365"/>
                </a:solidFill>
                <a:latin typeface="楷体_GB2312" charset="-122"/>
                <a:ea typeface="楷体_GB2312" charset="-122"/>
              </a:rPr>
              <a:t>不具备安全生产条件、严重污染环境或</a:t>
            </a:r>
            <a:endParaRPr lang="zh-CN" altLang="en-US" sz="2400" b="1">
              <a:solidFill>
                <a:srgbClr val="003365"/>
              </a:solidFill>
              <a:latin typeface="楷体_GB2312" charset="-122"/>
              <a:ea typeface="楷体_GB2312" charset="-122"/>
            </a:endParaRPr>
          </a:p>
          <a:p>
            <a:pPr algn="l" defTabSz="916305">
              <a:lnSpc>
                <a:spcPts val="1000"/>
              </a:lnSpc>
              <a:tabLst>
                <a:tab pos="408305" algn="l"/>
              </a:tabLst>
            </a:pPr>
            <a:endParaRPr lang="zh-CN" altLang="en-US" sz="2400" b="1">
              <a:solidFill>
                <a:srgbClr val="003365"/>
              </a:solidFill>
              <a:latin typeface="楷体_GB2312" charset="-122"/>
              <a:ea typeface="楷体_GB2312" charset="-122"/>
            </a:endParaRPr>
          </a:p>
          <a:p>
            <a:pPr algn="l" defTabSz="916305">
              <a:lnSpc>
                <a:spcPts val="3040"/>
              </a:lnSpc>
              <a:tabLst>
                <a:tab pos="408305" algn="l"/>
              </a:tabLst>
            </a:pPr>
            <a:r>
              <a:rPr lang="zh-CN" altLang="en-US" sz="2400" b="1">
                <a:solidFill>
                  <a:srgbClr val="003365"/>
                </a:solidFill>
                <a:latin typeface="楷体_GB2312" charset="-122"/>
                <a:ea typeface="楷体_GB2312" charset="-122"/>
              </a:rPr>
              <a:t>	破坏生态环境、产品质量低于国家或行业标准、</a:t>
            </a:r>
            <a:endParaRPr lang="zh-CN" altLang="en-US" sz="2400" b="1">
              <a:solidFill>
                <a:srgbClr val="003365"/>
              </a:solidFill>
              <a:latin typeface="楷体_GB2312" charset="-122"/>
              <a:ea typeface="楷体_GB2312" charset="-122"/>
            </a:endParaRPr>
          </a:p>
          <a:p>
            <a:pPr algn="l" defTabSz="916305">
              <a:lnSpc>
                <a:spcPts val="1000"/>
              </a:lnSpc>
              <a:tabLst>
                <a:tab pos="408305" algn="l"/>
              </a:tabLst>
            </a:pPr>
            <a:endParaRPr lang="zh-CN" altLang="en-US" sz="2400" b="1">
              <a:solidFill>
                <a:srgbClr val="003365"/>
              </a:solidFill>
              <a:latin typeface="楷体_GB2312" charset="-122"/>
              <a:ea typeface="楷体_GB2312" charset="-122"/>
            </a:endParaRPr>
          </a:p>
          <a:p>
            <a:pPr algn="l" defTabSz="916305">
              <a:lnSpc>
                <a:spcPts val="3040"/>
              </a:lnSpc>
              <a:tabLst>
                <a:tab pos="408305" algn="l"/>
              </a:tabLst>
            </a:pPr>
            <a:r>
              <a:rPr lang="zh-CN" altLang="en-US" sz="2400" b="1">
                <a:solidFill>
                  <a:srgbClr val="003365"/>
                </a:solidFill>
                <a:latin typeface="楷体_GB2312" charset="-122"/>
                <a:ea typeface="楷体_GB2312" charset="-122"/>
              </a:rPr>
              <a:t>	严重浪费资源、能源的建设项目</a:t>
            </a:r>
            <a:endParaRPr lang="zh-CN" altLang="en-US" sz="2400" b="1">
              <a:solidFill>
                <a:srgbClr val="003365"/>
              </a:solidFill>
              <a:latin typeface="楷体_GB2312" charset="-122"/>
              <a:ea typeface="楷体_GB231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3522" name="未知"/>
          <p:cNvSpPr/>
          <p:nvPr/>
        </p:nvSpPr>
        <p:spPr>
          <a:xfrm>
            <a:off x="1778000" y="757238"/>
            <a:ext cx="6113463" cy="611187"/>
          </a:xfrm>
          <a:custGeom>
            <a:avLst/>
            <a:gdLst/>
            <a:ahLst/>
            <a:cxnLst/>
            <a:pathLst>
              <a:path w="3840" h="384">
                <a:moveTo>
                  <a:pt x="504" y="0"/>
                </a:moveTo>
                <a:cubicBezTo>
                  <a:pt x="398" y="0"/>
                  <a:pt x="312" y="86"/>
                  <a:pt x="312" y="192"/>
                </a:cubicBezTo>
                <a:cubicBezTo>
                  <a:pt x="312" y="298"/>
                  <a:pt x="0" y="352"/>
                  <a:pt x="504" y="384"/>
                </a:cubicBezTo>
                <a:lnTo>
                  <a:pt x="3336" y="384"/>
                </a:lnTo>
                <a:cubicBezTo>
                  <a:pt x="3442" y="384"/>
                  <a:pt x="3528" y="298"/>
                  <a:pt x="3528" y="192"/>
                </a:cubicBezTo>
                <a:cubicBezTo>
                  <a:pt x="3528" y="86"/>
                  <a:pt x="3840" y="32"/>
                  <a:pt x="3336" y="0"/>
                </a:cubicBezTo>
                <a:lnTo>
                  <a:pt x="504" y="0"/>
                </a:lnTo>
                <a:close/>
              </a:path>
            </a:pathLst>
          </a:custGeom>
          <a:solidFill>
            <a:srgbClr val="FFFFFF">
              <a:alpha val="100000"/>
            </a:srgbClr>
          </a:solidFill>
          <a:ln w="12700" cap="flat" cmpd="sng">
            <a:solidFill>
              <a:srgbClr val="000000">
                <a:alpha val="0"/>
              </a:srgbClr>
            </a:solidFill>
            <a:prstDash val="solid"/>
            <a:headEnd type="none" w="med" len="med"/>
            <a:tailEnd type="none" w="med" len="med"/>
          </a:ln>
        </p:spPr>
        <p:txBody>
          <a:bodyPr/>
          <a:p>
            <a:endParaRPr lang="zh-CN" altLang="en-US"/>
          </a:p>
        </p:txBody>
      </p:sp>
      <p:sp>
        <p:nvSpPr>
          <p:cNvPr id="363523" name="文本框 363522"/>
          <p:cNvSpPr txBox="1"/>
          <p:nvPr/>
        </p:nvSpPr>
        <p:spPr>
          <a:xfrm>
            <a:off x="1704975" y="6480175"/>
            <a:ext cx="330200" cy="307340"/>
          </a:xfrm>
          <a:prstGeom prst="rect">
            <a:avLst/>
          </a:prstGeom>
          <a:noFill/>
          <a:ln w="9525">
            <a:noFill/>
          </a:ln>
        </p:spPr>
        <p:txBody>
          <a:bodyPr wrap="none" lIns="0" tIns="0" rIns="0" bIns="0">
            <a:spAutoFit/>
          </a:bodyPr>
          <a:p>
            <a:pPr algn="l" defTabSz="916305">
              <a:lnSpc>
                <a:spcPts val="2400"/>
              </a:lnSpc>
            </a:pPr>
            <a:r>
              <a:rPr lang="en-US" altLang="zh-CN" sz="2600" b="1">
                <a:solidFill>
                  <a:srgbClr val="FFFFFF"/>
                </a:solidFill>
                <a:latin typeface="Times New Roman" panose="02020603050405020304" charset="0"/>
              </a:rPr>
              <a:t>62</a:t>
            </a:r>
            <a:endParaRPr lang="en-US" altLang="zh-CN" sz="2600" b="1">
              <a:solidFill>
                <a:srgbClr val="FFFFFF"/>
              </a:solidFill>
              <a:latin typeface="Times New Roman" panose="02020603050405020304" charset="0"/>
            </a:endParaRPr>
          </a:p>
        </p:txBody>
      </p:sp>
      <p:sp>
        <p:nvSpPr>
          <p:cNvPr id="363524" name="文本框 363523"/>
          <p:cNvSpPr txBox="1"/>
          <p:nvPr/>
        </p:nvSpPr>
        <p:spPr>
          <a:xfrm>
            <a:off x="2979738" y="1016000"/>
            <a:ext cx="2466975" cy="360680"/>
          </a:xfrm>
          <a:prstGeom prst="rect">
            <a:avLst/>
          </a:prstGeom>
          <a:noFill/>
          <a:ln w="9525">
            <a:noFill/>
          </a:ln>
        </p:spPr>
        <p:txBody>
          <a:bodyPr lIns="0" tIns="0" rIns="0" bIns="0">
            <a:spAutoFit/>
          </a:bodyPr>
          <a:p>
            <a:pPr algn="l" defTabSz="916305">
              <a:lnSpc>
                <a:spcPts val="2815"/>
              </a:lnSpc>
            </a:pPr>
            <a:r>
              <a:rPr lang="zh-CN" altLang="en-US" sz="2800" b="1">
                <a:solidFill>
                  <a:srgbClr val="003365"/>
                </a:solidFill>
                <a:latin typeface="楷体_GB2312" charset="-122"/>
                <a:ea typeface="楷体_GB2312" charset="-122"/>
              </a:rPr>
              <a:t>（</a:t>
            </a:r>
            <a:r>
              <a:rPr lang="en-US" altLang="zh-CN" sz="2800" b="1">
                <a:solidFill>
                  <a:srgbClr val="003365"/>
                </a:solidFill>
                <a:latin typeface="楷体_GB2312" charset="-122"/>
                <a:ea typeface="楷体_GB2312" charset="-122"/>
              </a:rPr>
              <a:t>2</a:t>
            </a:r>
            <a:r>
              <a:rPr lang="zh-CN" altLang="en-US" sz="2800" b="1">
                <a:solidFill>
                  <a:srgbClr val="003365"/>
                </a:solidFill>
                <a:latin typeface="楷体_GB2312" charset="-122"/>
                <a:ea typeface="楷体_GB2312" charset="-122"/>
              </a:rPr>
              <a:t>）管</a:t>
            </a:r>
            <a:endParaRPr lang="zh-CN" altLang="en-US" sz="2800" b="1">
              <a:solidFill>
                <a:srgbClr val="003365"/>
              </a:solidFill>
              <a:latin typeface="楷体_GB2312" charset="-122"/>
              <a:ea typeface="楷体_GB2312" charset="-122"/>
            </a:endParaRPr>
          </a:p>
        </p:txBody>
      </p:sp>
      <p:sp>
        <p:nvSpPr>
          <p:cNvPr id="363525" name="文本框 363524"/>
          <p:cNvSpPr txBox="1"/>
          <p:nvPr/>
        </p:nvSpPr>
        <p:spPr>
          <a:xfrm>
            <a:off x="3436938" y="1606550"/>
            <a:ext cx="120650" cy="2432050"/>
          </a:xfrm>
          <a:prstGeom prst="rect">
            <a:avLst/>
          </a:prstGeom>
          <a:noFill/>
          <a:ln w="9525">
            <a:noFill/>
          </a:ln>
        </p:spPr>
        <p:txBody>
          <a:bodyPr wrap="none" lIns="0" tIns="0" rIns="0" bIns="0">
            <a:spAutoFit/>
          </a:bodyPr>
          <a:p>
            <a:pPr algn="l" defTabSz="916305">
              <a:lnSpc>
                <a:spcPts val="1715"/>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a:p>
            <a:pPr algn="l" defTabSz="916305">
              <a:lnSpc>
                <a:spcPts val="1000"/>
              </a:lnSpc>
            </a:pPr>
            <a:endParaRPr lang="en-US" altLang="zh-CN" sz="1900">
              <a:solidFill>
                <a:srgbClr val="003365"/>
              </a:solidFill>
              <a:latin typeface="Times New Roman" panose="02020603050405020304" charset="0"/>
            </a:endParaRPr>
          </a:p>
          <a:p>
            <a:pPr algn="l" defTabSz="916305">
              <a:lnSpc>
                <a:spcPts val="2450"/>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a:p>
            <a:pPr algn="l" defTabSz="916305">
              <a:lnSpc>
                <a:spcPts val="1000"/>
              </a:lnSpc>
            </a:pPr>
            <a:endParaRPr lang="en-US" altLang="zh-CN" sz="1900">
              <a:solidFill>
                <a:srgbClr val="003365"/>
              </a:solidFill>
              <a:latin typeface="Times New Roman" panose="02020603050405020304" charset="0"/>
            </a:endParaRPr>
          </a:p>
          <a:p>
            <a:pPr algn="l" defTabSz="916305">
              <a:lnSpc>
                <a:spcPts val="2450"/>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a:p>
            <a:pPr algn="l" defTabSz="916305">
              <a:lnSpc>
                <a:spcPts val="1000"/>
              </a:lnSpc>
            </a:pPr>
            <a:endParaRPr lang="en-US" altLang="zh-CN" sz="1900">
              <a:solidFill>
                <a:srgbClr val="003365"/>
              </a:solidFill>
              <a:latin typeface="Times New Roman" panose="02020603050405020304" charset="0"/>
            </a:endParaRPr>
          </a:p>
          <a:p>
            <a:pPr algn="l" defTabSz="916305">
              <a:lnSpc>
                <a:spcPts val="2450"/>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a:p>
            <a:pPr algn="l" defTabSz="916305">
              <a:lnSpc>
                <a:spcPts val="1000"/>
              </a:lnSpc>
            </a:pPr>
            <a:endParaRPr lang="en-US" altLang="zh-CN" sz="1900">
              <a:solidFill>
                <a:srgbClr val="003365"/>
              </a:solidFill>
              <a:latin typeface="Times New Roman" panose="02020603050405020304" charset="0"/>
            </a:endParaRPr>
          </a:p>
          <a:p>
            <a:pPr algn="l" defTabSz="916305">
              <a:lnSpc>
                <a:spcPts val="2450"/>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a:p>
            <a:pPr algn="l" defTabSz="916305">
              <a:lnSpc>
                <a:spcPts val="1000"/>
              </a:lnSpc>
            </a:pPr>
            <a:endParaRPr lang="en-US" altLang="zh-CN" sz="1900">
              <a:solidFill>
                <a:srgbClr val="003365"/>
              </a:solidFill>
              <a:latin typeface="Times New Roman" panose="02020603050405020304" charset="0"/>
            </a:endParaRPr>
          </a:p>
          <a:p>
            <a:pPr algn="l" defTabSz="916305">
              <a:lnSpc>
                <a:spcPts val="2450"/>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p:txBody>
      </p:sp>
      <p:sp>
        <p:nvSpPr>
          <p:cNvPr id="363526" name="文本框 363525"/>
          <p:cNvSpPr txBox="1"/>
          <p:nvPr/>
        </p:nvSpPr>
        <p:spPr>
          <a:xfrm>
            <a:off x="3667125" y="1509713"/>
            <a:ext cx="4956175" cy="2519680"/>
          </a:xfrm>
          <a:prstGeom prst="rect">
            <a:avLst/>
          </a:prstGeom>
          <a:noFill/>
          <a:ln w="9525">
            <a:noFill/>
          </a:ln>
        </p:spPr>
        <p:txBody>
          <a:bodyPr lIns="0" tIns="0" rIns="0" bIns="0">
            <a:spAutoFit/>
          </a:bodyPr>
          <a:p>
            <a:pPr algn="l" defTabSz="916305">
              <a:lnSpc>
                <a:spcPts val="2400"/>
              </a:lnSpc>
            </a:pPr>
            <a:r>
              <a:rPr lang="en-US" altLang="zh-CN" sz="2400" b="1">
                <a:solidFill>
                  <a:srgbClr val="003365"/>
                </a:solidFill>
                <a:latin typeface="楷体_GB2312" charset="-122"/>
                <a:ea typeface="楷体_GB2312" charset="-122"/>
              </a:rPr>
              <a:t>a:</a:t>
            </a:r>
            <a:r>
              <a:rPr lang="zh-CN" altLang="en-US" sz="2400" b="1">
                <a:solidFill>
                  <a:srgbClr val="003365"/>
                </a:solidFill>
                <a:latin typeface="楷体_GB2312" charset="-122"/>
                <a:ea typeface="楷体_GB2312" charset="-122"/>
              </a:rPr>
              <a:t>认真执行环保法规和标准</a:t>
            </a:r>
            <a:endParaRPr lang="zh-CN" altLang="en-US" sz="2400" b="1">
              <a:solidFill>
                <a:srgbClr val="003365"/>
              </a:solidFill>
              <a:latin typeface="楷体_GB2312" charset="-122"/>
              <a:ea typeface="楷体_GB2312" charset="-122"/>
            </a:endParaRPr>
          </a:p>
          <a:p>
            <a:pPr algn="l" defTabSz="916305">
              <a:lnSpc>
                <a:spcPts val="1000"/>
              </a:lnSpc>
            </a:pPr>
            <a:endParaRPr lang="zh-CN" altLang="en-US" sz="2400" b="1">
              <a:solidFill>
                <a:srgbClr val="003365"/>
              </a:solidFill>
              <a:latin typeface="楷体_GB2312" charset="-122"/>
              <a:ea typeface="楷体_GB2312" charset="-122"/>
            </a:endParaRPr>
          </a:p>
          <a:p>
            <a:pPr algn="l" defTabSz="916305">
              <a:lnSpc>
                <a:spcPts val="2450"/>
              </a:lnSpc>
            </a:pPr>
            <a:r>
              <a:rPr lang="en-US" altLang="zh-CN" sz="2400" b="1">
                <a:solidFill>
                  <a:srgbClr val="003365"/>
                </a:solidFill>
                <a:latin typeface="楷体_GB2312" charset="-122"/>
                <a:ea typeface="楷体_GB2312" charset="-122"/>
              </a:rPr>
              <a:t>b:</a:t>
            </a:r>
            <a:r>
              <a:rPr lang="zh-CN" altLang="en-US" sz="2400" b="1">
                <a:solidFill>
                  <a:srgbClr val="003365"/>
                </a:solidFill>
                <a:latin typeface="楷体_GB2312" charset="-122"/>
                <a:ea typeface="楷体_GB2312" charset="-122"/>
              </a:rPr>
              <a:t>环境总体规划，统一管理</a:t>
            </a:r>
            <a:endParaRPr lang="zh-CN" altLang="en-US" sz="2400" b="1">
              <a:solidFill>
                <a:srgbClr val="003365"/>
              </a:solidFill>
              <a:latin typeface="楷体_GB2312" charset="-122"/>
              <a:ea typeface="楷体_GB2312" charset="-122"/>
            </a:endParaRPr>
          </a:p>
          <a:p>
            <a:pPr algn="l" defTabSz="916305">
              <a:lnSpc>
                <a:spcPts val="1000"/>
              </a:lnSpc>
            </a:pPr>
            <a:endParaRPr lang="zh-CN" altLang="en-US" sz="2400" b="1">
              <a:solidFill>
                <a:srgbClr val="003365"/>
              </a:solidFill>
              <a:latin typeface="楷体_GB2312" charset="-122"/>
              <a:ea typeface="楷体_GB2312" charset="-122"/>
            </a:endParaRPr>
          </a:p>
          <a:p>
            <a:pPr algn="l" defTabSz="916305">
              <a:lnSpc>
                <a:spcPts val="2450"/>
              </a:lnSpc>
            </a:pPr>
            <a:r>
              <a:rPr lang="en-US" altLang="zh-CN" sz="2400" b="1">
                <a:solidFill>
                  <a:srgbClr val="003365"/>
                </a:solidFill>
                <a:latin typeface="楷体_GB2312" charset="-122"/>
                <a:ea typeface="楷体_GB2312" charset="-122"/>
              </a:rPr>
              <a:t>c:</a:t>
            </a:r>
            <a:r>
              <a:rPr lang="zh-CN" altLang="en-US" sz="2400" b="1">
                <a:solidFill>
                  <a:srgbClr val="003365"/>
                </a:solidFill>
                <a:latin typeface="楷体_GB2312" charset="-122"/>
                <a:ea typeface="楷体_GB2312" charset="-122"/>
              </a:rPr>
              <a:t>排污总量控制技术</a:t>
            </a:r>
            <a:endParaRPr lang="zh-CN" altLang="en-US" sz="2400" b="1">
              <a:solidFill>
                <a:srgbClr val="003365"/>
              </a:solidFill>
              <a:latin typeface="楷体_GB2312" charset="-122"/>
              <a:ea typeface="楷体_GB2312" charset="-122"/>
            </a:endParaRPr>
          </a:p>
          <a:p>
            <a:pPr algn="l" defTabSz="916305">
              <a:lnSpc>
                <a:spcPts val="1000"/>
              </a:lnSpc>
            </a:pPr>
            <a:endParaRPr lang="zh-CN" altLang="en-US" sz="2400" b="1">
              <a:solidFill>
                <a:srgbClr val="003365"/>
              </a:solidFill>
              <a:latin typeface="楷体_GB2312" charset="-122"/>
              <a:ea typeface="楷体_GB2312" charset="-122"/>
            </a:endParaRPr>
          </a:p>
          <a:p>
            <a:pPr algn="l" defTabSz="916305">
              <a:lnSpc>
                <a:spcPts val="2450"/>
              </a:lnSpc>
            </a:pPr>
            <a:r>
              <a:rPr lang="en-US" altLang="zh-CN" sz="2400" b="1">
                <a:solidFill>
                  <a:srgbClr val="003365"/>
                </a:solidFill>
                <a:latin typeface="楷体_GB2312" charset="-122"/>
                <a:ea typeface="楷体_GB2312" charset="-122"/>
              </a:rPr>
              <a:t>d:</a:t>
            </a:r>
            <a:r>
              <a:rPr lang="zh-CN" altLang="en-US" sz="2400" b="1">
                <a:solidFill>
                  <a:srgbClr val="003365"/>
                </a:solidFill>
                <a:latin typeface="楷体_GB2312" charset="-122"/>
                <a:ea typeface="楷体_GB2312" charset="-122"/>
              </a:rPr>
              <a:t>推行排污许可证制度</a:t>
            </a:r>
            <a:endParaRPr lang="zh-CN" altLang="en-US" sz="2400" b="1">
              <a:solidFill>
                <a:srgbClr val="003365"/>
              </a:solidFill>
              <a:latin typeface="楷体_GB2312" charset="-122"/>
              <a:ea typeface="楷体_GB2312" charset="-122"/>
            </a:endParaRPr>
          </a:p>
          <a:p>
            <a:pPr algn="l" defTabSz="916305">
              <a:lnSpc>
                <a:spcPts val="1000"/>
              </a:lnSpc>
            </a:pPr>
            <a:endParaRPr lang="zh-CN" altLang="en-US" sz="2400" b="1">
              <a:solidFill>
                <a:srgbClr val="003365"/>
              </a:solidFill>
              <a:latin typeface="楷体_GB2312" charset="-122"/>
              <a:ea typeface="楷体_GB2312" charset="-122"/>
            </a:endParaRPr>
          </a:p>
          <a:p>
            <a:pPr algn="l" defTabSz="916305">
              <a:lnSpc>
                <a:spcPts val="2450"/>
              </a:lnSpc>
            </a:pPr>
            <a:r>
              <a:rPr lang="en-US" altLang="zh-CN" sz="2400" b="1">
                <a:solidFill>
                  <a:srgbClr val="003365"/>
                </a:solidFill>
                <a:latin typeface="楷体_GB2312" charset="-122"/>
                <a:ea typeface="楷体_GB2312" charset="-122"/>
              </a:rPr>
              <a:t>c:</a:t>
            </a:r>
            <a:r>
              <a:rPr lang="zh-CN" altLang="en-US" sz="2400" b="1">
                <a:solidFill>
                  <a:srgbClr val="003365"/>
                </a:solidFill>
                <a:latin typeface="楷体_GB2312" charset="-122"/>
                <a:ea typeface="楷体_GB2312" charset="-122"/>
              </a:rPr>
              <a:t>工厂内建立环境考核指标</a:t>
            </a:r>
            <a:endParaRPr lang="zh-CN" altLang="en-US" sz="2400" b="1">
              <a:solidFill>
                <a:srgbClr val="003365"/>
              </a:solidFill>
              <a:latin typeface="楷体_GB2312" charset="-122"/>
              <a:ea typeface="楷体_GB2312" charset="-122"/>
            </a:endParaRPr>
          </a:p>
          <a:p>
            <a:pPr algn="l" defTabSz="916305">
              <a:lnSpc>
                <a:spcPts val="1000"/>
              </a:lnSpc>
            </a:pPr>
            <a:endParaRPr lang="zh-CN" altLang="en-US" sz="2400" b="1">
              <a:solidFill>
                <a:srgbClr val="003365"/>
              </a:solidFill>
              <a:latin typeface="楷体_GB2312" charset="-122"/>
              <a:ea typeface="楷体_GB2312" charset="-122"/>
            </a:endParaRPr>
          </a:p>
          <a:p>
            <a:pPr algn="l" defTabSz="916305">
              <a:lnSpc>
                <a:spcPts val="2450"/>
              </a:lnSpc>
            </a:pPr>
            <a:r>
              <a:rPr lang="en-US" altLang="zh-CN" sz="2400" b="1">
                <a:solidFill>
                  <a:srgbClr val="003365"/>
                </a:solidFill>
                <a:latin typeface="楷体_GB2312" charset="-122"/>
                <a:ea typeface="楷体_GB2312" charset="-122"/>
              </a:rPr>
              <a:t>e:</a:t>
            </a:r>
            <a:r>
              <a:rPr lang="zh-CN" altLang="en-US" sz="2400" b="1">
                <a:solidFill>
                  <a:srgbClr val="003365"/>
                </a:solidFill>
                <a:latin typeface="楷体_GB2312" charset="-122"/>
                <a:ea typeface="楷体_GB2312" charset="-122"/>
              </a:rPr>
              <a:t>鼓励采用节水措施</a:t>
            </a:r>
            <a:endParaRPr lang="zh-CN" altLang="en-US" sz="2400" b="1">
              <a:solidFill>
                <a:srgbClr val="003365"/>
              </a:solidFill>
              <a:latin typeface="楷体_GB2312" charset="-122"/>
              <a:ea typeface="楷体_GB2312" charset="-122"/>
            </a:endParaRPr>
          </a:p>
        </p:txBody>
      </p:sp>
      <p:sp>
        <p:nvSpPr>
          <p:cNvPr id="363527" name="文本框 363526"/>
          <p:cNvSpPr txBox="1"/>
          <p:nvPr/>
        </p:nvSpPr>
        <p:spPr>
          <a:xfrm>
            <a:off x="2979738" y="4164013"/>
            <a:ext cx="2609850" cy="360680"/>
          </a:xfrm>
          <a:prstGeom prst="rect">
            <a:avLst/>
          </a:prstGeom>
          <a:noFill/>
          <a:ln w="9525">
            <a:noFill/>
          </a:ln>
        </p:spPr>
        <p:txBody>
          <a:bodyPr lIns="0" tIns="0" rIns="0" bIns="0">
            <a:spAutoFit/>
          </a:bodyPr>
          <a:p>
            <a:pPr algn="l" defTabSz="916305">
              <a:lnSpc>
                <a:spcPts val="2815"/>
              </a:lnSpc>
            </a:pPr>
            <a:r>
              <a:rPr lang="zh-CN" altLang="en-US" sz="2800" b="1">
                <a:solidFill>
                  <a:srgbClr val="003365"/>
                </a:solidFill>
                <a:latin typeface="楷体_GB2312" charset="-122"/>
                <a:ea typeface="楷体_GB2312" charset="-122"/>
              </a:rPr>
              <a:t>（</a:t>
            </a:r>
            <a:r>
              <a:rPr lang="en-US" altLang="zh-CN" sz="2800" b="1">
                <a:solidFill>
                  <a:srgbClr val="003365"/>
                </a:solidFill>
                <a:latin typeface="楷体_GB2312" charset="-122"/>
                <a:ea typeface="楷体_GB2312" charset="-122"/>
              </a:rPr>
              <a:t>3</a:t>
            </a:r>
            <a:r>
              <a:rPr lang="zh-CN" altLang="en-US" sz="2800" b="1">
                <a:solidFill>
                  <a:srgbClr val="003365"/>
                </a:solidFill>
                <a:latin typeface="楷体_GB2312" charset="-122"/>
                <a:ea typeface="楷体_GB2312" charset="-122"/>
              </a:rPr>
              <a:t>）治</a:t>
            </a:r>
            <a:endParaRPr lang="zh-CN" altLang="en-US" sz="2800" b="1">
              <a:solidFill>
                <a:srgbClr val="003365"/>
              </a:solidFill>
              <a:latin typeface="楷体_GB2312" charset="-122"/>
              <a:ea typeface="楷体_GB2312" charset="-122"/>
            </a:endParaRPr>
          </a:p>
        </p:txBody>
      </p:sp>
      <p:sp>
        <p:nvSpPr>
          <p:cNvPr id="363528" name="文本框 363527"/>
          <p:cNvSpPr txBox="1"/>
          <p:nvPr/>
        </p:nvSpPr>
        <p:spPr>
          <a:xfrm>
            <a:off x="3436938" y="4879975"/>
            <a:ext cx="120650" cy="219710"/>
          </a:xfrm>
          <a:prstGeom prst="rect">
            <a:avLst/>
          </a:prstGeom>
          <a:noFill/>
          <a:ln w="9525">
            <a:noFill/>
          </a:ln>
        </p:spPr>
        <p:txBody>
          <a:bodyPr wrap="none" lIns="0" tIns="0" rIns="0" bIns="0">
            <a:spAutoFit/>
          </a:bodyPr>
          <a:p>
            <a:pPr algn="l" defTabSz="916305">
              <a:lnSpc>
                <a:spcPts val="1715"/>
              </a:lnSpc>
            </a:pPr>
            <a:r>
              <a:rPr lang="en-US" altLang="zh-CN" sz="1900">
                <a:solidFill>
                  <a:srgbClr val="003365"/>
                </a:solidFill>
                <a:latin typeface="Times New Roman" panose="02020603050405020304" charset="0"/>
              </a:rPr>
              <a:t>–</a:t>
            </a:r>
            <a:endParaRPr lang="en-US" altLang="zh-CN" sz="1900">
              <a:solidFill>
                <a:srgbClr val="003365"/>
              </a:solidFill>
              <a:latin typeface="Times New Roman" panose="02020603050405020304" charset="0"/>
            </a:endParaRPr>
          </a:p>
        </p:txBody>
      </p:sp>
      <p:sp>
        <p:nvSpPr>
          <p:cNvPr id="363529" name="文本框 363528"/>
          <p:cNvSpPr txBox="1"/>
          <p:nvPr/>
        </p:nvSpPr>
        <p:spPr>
          <a:xfrm>
            <a:off x="3667125" y="4783138"/>
            <a:ext cx="6427470" cy="825500"/>
          </a:xfrm>
          <a:prstGeom prst="rect">
            <a:avLst/>
          </a:prstGeom>
          <a:noFill/>
          <a:ln w="9525">
            <a:noFill/>
          </a:ln>
        </p:spPr>
        <p:txBody>
          <a:bodyPr wrap="none" lIns="0" tIns="0" rIns="0" bIns="0">
            <a:spAutoFit/>
          </a:bodyPr>
          <a:p>
            <a:pPr algn="l" defTabSz="916305">
              <a:lnSpc>
                <a:spcPts val="2400"/>
              </a:lnSpc>
            </a:pPr>
            <a:r>
              <a:rPr lang="zh-CN" altLang="en-US" sz="2400" b="1">
                <a:solidFill>
                  <a:srgbClr val="003365"/>
                </a:solidFill>
                <a:latin typeface="Arial" panose="020B0604020202020204" pitchFamily="34" charset="0"/>
                <a:ea typeface="楷体_GB2312" charset="-122"/>
              </a:rPr>
              <a:t>以排放为目的；以回用、资源化为目的，选择经</a:t>
            </a:r>
            <a:endParaRPr lang="zh-CN" altLang="en-US" sz="2400" b="1">
              <a:solidFill>
                <a:srgbClr val="003365"/>
              </a:solidFill>
              <a:latin typeface="Arial" panose="020B0604020202020204" pitchFamily="34" charset="0"/>
              <a:ea typeface="楷体_GB2312" charset="-122"/>
            </a:endParaRPr>
          </a:p>
          <a:p>
            <a:pPr algn="l" defTabSz="916305">
              <a:lnSpc>
                <a:spcPts val="1000"/>
              </a:lnSpc>
            </a:pPr>
            <a:endParaRPr lang="zh-CN" altLang="en-US" sz="2400" b="1">
              <a:solidFill>
                <a:srgbClr val="003365"/>
              </a:solidFill>
              <a:latin typeface="Arial" panose="020B0604020202020204" pitchFamily="34" charset="0"/>
              <a:ea typeface="楷体_GB2312" charset="-122"/>
            </a:endParaRPr>
          </a:p>
          <a:p>
            <a:pPr algn="l" defTabSz="916305">
              <a:lnSpc>
                <a:spcPts val="3040"/>
              </a:lnSpc>
            </a:pPr>
            <a:r>
              <a:rPr lang="zh-CN" altLang="en-US" sz="2400" b="1">
                <a:solidFill>
                  <a:srgbClr val="003365"/>
                </a:solidFill>
                <a:latin typeface="Arial" panose="020B0604020202020204" pitchFamily="34" charset="0"/>
                <a:ea typeface="楷体_GB2312" charset="-122"/>
              </a:rPr>
              <a:t>济合理、技术先进的流程对污水进行处理。</a:t>
            </a:r>
            <a:endParaRPr lang="zh-CN" altLang="en-US" sz="2400" b="1">
              <a:solidFill>
                <a:srgbClr val="003365"/>
              </a:solidFill>
              <a:latin typeface="Arial" panose="020B0604020202020204" pitchFamily="34" charset="0"/>
              <a:ea typeface="楷体_GB2312"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4546" name="未知"/>
          <p:cNvSpPr/>
          <p:nvPr/>
        </p:nvSpPr>
        <p:spPr>
          <a:xfrm>
            <a:off x="1778000" y="757238"/>
            <a:ext cx="6113463" cy="611187"/>
          </a:xfrm>
          <a:custGeom>
            <a:avLst/>
            <a:gdLst/>
            <a:ahLst/>
            <a:cxnLst/>
            <a:pathLst>
              <a:path w="3840" h="384">
                <a:moveTo>
                  <a:pt x="504" y="0"/>
                </a:moveTo>
                <a:cubicBezTo>
                  <a:pt x="398" y="0"/>
                  <a:pt x="312" y="86"/>
                  <a:pt x="312" y="192"/>
                </a:cubicBezTo>
                <a:cubicBezTo>
                  <a:pt x="312" y="298"/>
                  <a:pt x="0" y="352"/>
                  <a:pt x="504" y="384"/>
                </a:cubicBezTo>
                <a:lnTo>
                  <a:pt x="3336" y="384"/>
                </a:lnTo>
                <a:cubicBezTo>
                  <a:pt x="3442" y="384"/>
                  <a:pt x="3528" y="298"/>
                  <a:pt x="3528" y="192"/>
                </a:cubicBezTo>
                <a:cubicBezTo>
                  <a:pt x="3528" y="86"/>
                  <a:pt x="3840" y="32"/>
                  <a:pt x="3336" y="0"/>
                </a:cubicBezTo>
                <a:lnTo>
                  <a:pt x="504" y="0"/>
                </a:lnTo>
                <a:close/>
              </a:path>
            </a:pathLst>
          </a:custGeom>
          <a:solidFill>
            <a:srgbClr val="FFFFFF">
              <a:alpha val="100000"/>
            </a:srgbClr>
          </a:solidFill>
          <a:ln w="12700" cap="flat" cmpd="sng">
            <a:solidFill>
              <a:srgbClr val="000000">
                <a:alpha val="0"/>
              </a:srgbClr>
            </a:solidFill>
            <a:prstDash val="solid"/>
            <a:headEnd type="none" w="med" len="med"/>
            <a:tailEnd type="none" w="med" len="med"/>
          </a:ln>
        </p:spPr>
        <p:txBody>
          <a:bodyPr/>
          <a:p>
            <a:endParaRPr lang="zh-CN" altLang="en-US"/>
          </a:p>
        </p:txBody>
      </p:sp>
      <p:sp>
        <p:nvSpPr>
          <p:cNvPr id="364547" name="文本框 364546"/>
          <p:cNvSpPr txBox="1"/>
          <p:nvPr/>
        </p:nvSpPr>
        <p:spPr>
          <a:xfrm>
            <a:off x="1704975" y="6480175"/>
            <a:ext cx="330200" cy="307340"/>
          </a:xfrm>
          <a:prstGeom prst="rect">
            <a:avLst/>
          </a:prstGeom>
          <a:noFill/>
          <a:ln w="9525">
            <a:noFill/>
          </a:ln>
        </p:spPr>
        <p:txBody>
          <a:bodyPr wrap="none" lIns="0" tIns="0" rIns="0" bIns="0">
            <a:spAutoFit/>
          </a:bodyPr>
          <a:p>
            <a:pPr algn="l" defTabSz="916305">
              <a:lnSpc>
                <a:spcPts val="2400"/>
              </a:lnSpc>
            </a:pPr>
            <a:r>
              <a:rPr lang="en-US" altLang="zh-CN" sz="2600" b="1">
                <a:solidFill>
                  <a:srgbClr val="FFFFFF"/>
                </a:solidFill>
                <a:latin typeface="Times New Roman" panose="02020603050405020304" charset="0"/>
              </a:rPr>
              <a:t>63</a:t>
            </a:r>
            <a:endParaRPr lang="en-US" altLang="zh-CN" sz="2600" b="1">
              <a:solidFill>
                <a:srgbClr val="FFFFFF"/>
              </a:solidFill>
              <a:latin typeface="Times New Roman" panose="02020603050405020304" charset="0"/>
            </a:endParaRPr>
          </a:p>
        </p:txBody>
      </p:sp>
      <p:sp>
        <p:nvSpPr>
          <p:cNvPr id="364548" name="文本框 364547"/>
          <p:cNvSpPr txBox="1"/>
          <p:nvPr/>
        </p:nvSpPr>
        <p:spPr>
          <a:xfrm>
            <a:off x="2414588" y="1092200"/>
            <a:ext cx="7437437" cy="5358130"/>
          </a:xfrm>
          <a:prstGeom prst="rect">
            <a:avLst/>
          </a:prstGeom>
          <a:noFill/>
          <a:ln w="9525">
            <a:noFill/>
          </a:ln>
        </p:spPr>
        <p:txBody>
          <a:bodyPr lIns="0" tIns="0" rIns="0" bIns="0">
            <a:spAutoFit/>
          </a:bodyPr>
          <a:p>
            <a:pPr algn="l" defTabSz="916305">
              <a:lnSpc>
                <a:spcPts val="3215"/>
              </a:lnSpc>
              <a:tabLst>
                <a:tab pos="203200" algn="l"/>
                <a:tab pos="433705" algn="l"/>
              </a:tabLst>
            </a:pPr>
            <a:r>
              <a:rPr lang="en-US" altLang="zh-CN" sz="3200" b="1">
                <a:solidFill>
                  <a:srgbClr val="0000FF"/>
                </a:solidFill>
                <a:latin typeface="楷体_GB2312" charset="-122"/>
                <a:ea typeface="楷体_GB2312" charset="-122"/>
              </a:rPr>
              <a:t>2.</a:t>
            </a:r>
            <a:r>
              <a:rPr lang="zh-CN" altLang="en-US" sz="3200" b="1">
                <a:solidFill>
                  <a:srgbClr val="0000FF"/>
                </a:solidFill>
                <a:latin typeface="楷体_GB2312" charset="-122"/>
                <a:ea typeface="楷体_GB2312" charset="-122"/>
              </a:rPr>
              <a:t>基本方法</a:t>
            </a:r>
            <a:endParaRPr lang="zh-CN" altLang="en-US" sz="3200" b="1">
              <a:solidFill>
                <a:srgbClr val="0000FF"/>
              </a:solidFill>
              <a:latin typeface="楷体_GB2312" charset="-122"/>
              <a:ea typeface="楷体_GB2312" charset="-122"/>
            </a:endParaRPr>
          </a:p>
          <a:p>
            <a:pPr algn="l" defTabSz="916305">
              <a:lnSpc>
                <a:spcPts val="1000"/>
              </a:lnSpc>
              <a:tabLst>
                <a:tab pos="203200" algn="l"/>
                <a:tab pos="433705" algn="l"/>
              </a:tabLst>
            </a:pPr>
            <a:endParaRPr lang="zh-CN" altLang="en-US" sz="3200" b="1">
              <a:solidFill>
                <a:srgbClr val="0000FF"/>
              </a:solidFill>
              <a:latin typeface="楷体_GB2312" charset="-122"/>
              <a:ea typeface="楷体_GB2312" charset="-122"/>
            </a:endParaRPr>
          </a:p>
          <a:p>
            <a:pPr algn="l" defTabSz="916305">
              <a:lnSpc>
                <a:spcPts val="1000"/>
              </a:lnSpc>
              <a:tabLst>
                <a:tab pos="203200" algn="l"/>
                <a:tab pos="433705" algn="l"/>
              </a:tabLst>
            </a:pPr>
            <a:endParaRPr lang="zh-CN" altLang="en-US" sz="3200" b="1">
              <a:solidFill>
                <a:srgbClr val="0000FF"/>
              </a:solidFill>
              <a:latin typeface="楷体_GB2312" charset="-122"/>
              <a:ea typeface="楷体_GB2312" charset="-122"/>
            </a:endParaRPr>
          </a:p>
          <a:p>
            <a:pPr algn="l" defTabSz="916305">
              <a:lnSpc>
                <a:spcPts val="3515"/>
              </a:lnSpc>
              <a:tabLst>
                <a:tab pos="203200" algn="l"/>
                <a:tab pos="433705" algn="l"/>
              </a:tabLst>
            </a:pPr>
            <a:r>
              <a:rPr lang="zh-CN" altLang="en-US" sz="3200" b="1">
                <a:solidFill>
                  <a:srgbClr val="0000FF"/>
                </a:solidFill>
                <a:latin typeface="楷体_GB2312" charset="-122"/>
                <a:ea typeface="楷体_GB2312" charset="-122"/>
              </a:rPr>
              <a:t>	</a:t>
            </a:r>
            <a:r>
              <a:rPr lang="zh-CN" altLang="en-US" sz="2800" b="1">
                <a:solidFill>
                  <a:srgbClr val="003365"/>
                </a:solidFill>
                <a:latin typeface="楷体_GB2312" charset="-122"/>
                <a:ea typeface="楷体_GB2312" charset="-122"/>
              </a:rPr>
              <a:t>大体分为两类：分离法，转化法</a:t>
            </a: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3025"/>
              </a:lnSpc>
              <a:tabLst>
                <a:tab pos="203200" algn="l"/>
                <a:tab pos="433705" algn="l"/>
              </a:tabLst>
            </a:pPr>
            <a:r>
              <a:rPr lang="zh-CN" altLang="en-US" sz="2800" b="1">
                <a:solidFill>
                  <a:srgbClr val="003365"/>
                </a:solidFill>
                <a:latin typeface="楷体_GB2312" charset="-122"/>
                <a:ea typeface="楷体_GB2312" charset="-122"/>
              </a:rPr>
              <a:t>	传统的分类：物理法、化学法、物理化学法、</a:t>
            </a: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3390"/>
              </a:lnSpc>
              <a:tabLst>
                <a:tab pos="203200" algn="l"/>
                <a:tab pos="433705" algn="l"/>
              </a:tabLst>
            </a:pPr>
            <a:r>
              <a:rPr lang="zh-CN" altLang="en-US" sz="2800" b="1">
                <a:solidFill>
                  <a:srgbClr val="003365"/>
                </a:solidFill>
                <a:latin typeface="楷体_GB2312" charset="-122"/>
                <a:ea typeface="楷体_GB2312" charset="-122"/>
              </a:rPr>
              <a:t>		生物法等</a:t>
            </a: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3475"/>
              </a:lnSpc>
              <a:tabLst>
                <a:tab pos="203200" algn="l"/>
                <a:tab pos="433705" algn="l"/>
              </a:tabLst>
            </a:pPr>
            <a:r>
              <a:rPr lang="zh-CN" altLang="en-US" sz="2800" b="1">
                <a:solidFill>
                  <a:srgbClr val="003365"/>
                </a:solidFill>
                <a:latin typeface="楷体_GB2312" charset="-122"/>
                <a:ea typeface="楷体_GB2312" charset="-122"/>
              </a:rPr>
              <a:t>	按处理程度划分：一级、二级、三级（深度处</a:t>
            </a: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3725"/>
              </a:lnSpc>
              <a:tabLst>
                <a:tab pos="203200" algn="l"/>
                <a:tab pos="433705" algn="l"/>
              </a:tabLst>
            </a:pPr>
            <a:r>
              <a:rPr lang="zh-CN" altLang="en-US" sz="2800" b="1">
                <a:solidFill>
                  <a:srgbClr val="003365"/>
                </a:solidFill>
                <a:latin typeface="楷体_GB2312" charset="-122"/>
                <a:ea typeface="楷体_GB2312" charset="-122"/>
              </a:rPr>
              <a:t>		理）</a:t>
            </a: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003365"/>
              </a:solidFill>
              <a:latin typeface="楷体_GB2312" charset="-122"/>
              <a:ea typeface="楷体_GB2312" charset="-122"/>
            </a:endParaRPr>
          </a:p>
          <a:p>
            <a:pPr algn="l" defTabSz="916305">
              <a:lnSpc>
                <a:spcPts val="3700"/>
              </a:lnSpc>
              <a:tabLst>
                <a:tab pos="203200" algn="l"/>
                <a:tab pos="433705" algn="l"/>
              </a:tabLst>
            </a:pPr>
            <a:r>
              <a:rPr lang="zh-CN" altLang="en-US" sz="2800" b="1">
                <a:solidFill>
                  <a:srgbClr val="003365"/>
                </a:solidFill>
                <a:latin typeface="楷体_GB2312" charset="-122"/>
                <a:ea typeface="楷体_GB2312" charset="-122"/>
              </a:rPr>
              <a:t>	</a:t>
            </a:r>
            <a:r>
              <a:rPr lang="zh-CN" altLang="en-US" sz="2800" b="1">
                <a:solidFill>
                  <a:srgbClr val="F60000"/>
                </a:solidFill>
                <a:latin typeface="楷体_GB2312" charset="-122"/>
                <a:ea typeface="楷体_GB2312" charset="-122"/>
              </a:rPr>
              <a:t>废水处理方法一览表</a:t>
            </a:r>
            <a:endParaRPr lang="zh-CN" altLang="en-US" sz="2800" b="1">
              <a:solidFill>
                <a:srgbClr val="F60000"/>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F60000"/>
              </a:solidFill>
              <a:latin typeface="楷体_GB2312" charset="-122"/>
              <a:ea typeface="楷体_GB2312" charset="-122"/>
            </a:endParaRPr>
          </a:p>
          <a:p>
            <a:pPr algn="l" defTabSz="916305">
              <a:lnSpc>
                <a:spcPts val="1000"/>
              </a:lnSpc>
              <a:tabLst>
                <a:tab pos="203200" algn="l"/>
                <a:tab pos="433705" algn="l"/>
              </a:tabLst>
            </a:pPr>
            <a:endParaRPr lang="zh-CN" altLang="en-US" sz="2800" b="1">
              <a:solidFill>
                <a:srgbClr val="F60000"/>
              </a:solidFill>
              <a:latin typeface="楷体_GB2312" charset="-122"/>
              <a:ea typeface="楷体_GB2312" charset="-122"/>
            </a:endParaRPr>
          </a:p>
          <a:p>
            <a:pPr algn="l" defTabSz="916305">
              <a:lnSpc>
                <a:spcPts val="3740"/>
              </a:lnSpc>
              <a:tabLst>
                <a:tab pos="203200" algn="l"/>
                <a:tab pos="433705" algn="l"/>
              </a:tabLst>
            </a:pPr>
            <a:r>
              <a:rPr lang="zh-CN" altLang="en-US" sz="2800" b="1">
                <a:solidFill>
                  <a:srgbClr val="F60000"/>
                </a:solidFill>
                <a:latin typeface="楷体_GB2312" charset="-122"/>
                <a:ea typeface="楷体_GB2312" charset="-122"/>
              </a:rPr>
              <a:t>	</a:t>
            </a:r>
            <a:r>
              <a:rPr lang="zh-CN" altLang="en-US" sz="2800" b="1" dirty="0">
                <a:solidFill>
                  <a:srgbClr val="F60000"/>
                </a:solidFill>
                <a:latin typeface="楷体_GB2312" charset="-122"/>
                <a:ea typeface="楷体_GB2312" charset="-122"/>
              </a:rPr>
              <a:t>城市污水处理</a:t>
            </a:r>
            <a:r>
              <a:rPr lang="zh-CN" altLang="en-US" sz="2800" b="1">
                <a:solidFill>
                  <a:srgbClr val="F60000"/>
                </a:solidFill>
                <a:latin typeface="楷体_GB2312" charset="-122"/>
                <a:ea typeface="楷体_GB2312" charset="-122"/>
              </a:rPr>
              <a:t>流程</a:t>
            </a:r>
            <a:endParaRPr lang="zh-CN" altLang="en-US" sz="2800" b="1">
              <a:solidFill>
                <a:srgbClr val="F60000"/>
              </a:solidFill>
              <a:latin typeface="楷体_GB2312" charset="-122"/>
              <a:ea typeface="楷体_GB2312" charset="-122"/>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65570" name="内容占位符 365569"/>
          <p:cNvGraphicFramePr/>
          <p:nvPr>
            <p:ph/>
          </p:nvPr>
        </p:nvGraphicFramePr>
        <p:xfrm>
          <a:off x="2414588" y="61913"/>
          <a:ext cx="8253095" cy="6795770"/>
        </p:xfrm>
        <a:graphic>
          <a:graphicData uri="http://schemas.openxmlformats.org/drawingml/2006/table">
            <a:tbl>
              <a:tblPr/>
              <a:tblGrid>
                <a:gridCol w="587375"/>
                <a:gridCol w="1129030"/>
                <a:gridCol w="1630045"/>
                <a:gridCol w="3018790"/>
                <a:gridCol w="1887855"/>
              </a:tblGrid>
              <a:tr h="368300">
                <a:tc gridSpan="3">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方法 名 称 </a:t>
                      </a:r>
                      <a:endParaRPr lang="zh-CN" altLang="en-US" sz="1600" dirty="0"/>
                    </a:p>
                  </a:txBody>
                  <a:tcPr marL="91650" marR="91650" marT="45825" marB="45825">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hMerge="1">
                  <a:tcP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hMerge="1">
                  <a:tcPr>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主要设备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处理对象</a:t>
                      </a:r>
                      <a:endParaRPr lang="zh-CN" altLang="en-US" sz="1600" dirty="0"/>
                    </a:p>
                  </a:txBody>
                  <a:tcPr marL="91650" marR="91650" marT="45825" marB="45825">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925830">
                <a:tc rowSpan="4">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分</a:t>
                      </a:r>
                      <a:endParaRPr lang="zh-CN" altLang="en-US" sz="1600" dirty="0"/>
                    </a:p>
                    <a:p>
                      <a:pPr marL="0" lvl="0" indent="0" algn="ctr" defTabSz="914400">
                        <a:buNone/>
                      </a:pPr>
                      <a:r>
                        <a:rPr lang="zh-CN" altLang="en-US" sz="1600" dirty="0"/>
                        <a:t> </a:t>
                      </a:r>
                      <a:endParaRPr lang="zh-CN" altLang="en-US" sz="1600" dirty="0"/>
                    </a:p>
                    <a:p>
                      <a:pPr marL="0" lvl="0" indent="0" algn="ctr" defTabSz="914400">
                        <a:buNone/>
                      </a:pPr>
                      <a:endParaRPr lang="zh-CN" altLang="en-US" sz="1600" dirty="0"/>
                    </a:p>
                    <a:p>
                      <a:pPr marL="0" lvl="0" indent="0" algn="ctr" defTabSz="914400">
                        <a:buNone/>
                      </a:pPr>
                      <a:r>
                        <a:rPr lang="zh-CN" altLang="en-US" sz="1600" dirty="0"/>
                        <a:t>离</a:t>
                      </a:r>
                      <a:endParaRPr lang="zh-CN" altLang="en-US" sz="1600" dirty="0"/>
                    </a:p>
                    <a:p>
                      <a:pPr marL="0" lvl="0" indent="0" algn="ctr" defTabSz="914400">
                        <a:buNone/>
                      </a:pPr>
                      <a:endParaRPr lang="zh-CN" altLang="en-US" sz="1600" dirty="0"/>
                    </a:p>
                    <a:p>
                      <a:pPr marL="0" lvl="0" indent="0" algn="ctr" defTabSz="914400">
                        <a:buNone/>
                      </a:pPr>
                      <a:r>
                        <a:rPr lang="zh-CN" altLang="en-US" sz="1600" dirty="0"/>
                        <a:t> </a:t>
                      </a:r>
                      <a:endParaRPr lang="zh-CN" altLang="en-US" sz="1600" dirty="0"/>
                    </a:p>
                    <a:p>
                      <a:pPr marL="0" lvl="0" indent="0" algn="ctr" defTabSz="914400">
                        <a:buNone/>
                      </a:pPr>
                      <a:r>
                        <a:rPr lang="zh-CN" altLang="en-US" sz="1600" dirty="0"/>
                        <a:t>法 </a:t>
                      </a:r>
                      <a:endParaRPr lang="zh-CN" altLang="en-US" sz="1600" dirty="0"/>
                    </a:p>
                  </a:txBody>
                  <a:tcPr marL="91650" marR="91650" marT="45825" marB="45825" anchor="ctr" anchorCt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澄</a:t>
                      </a:r>
                      <a:endParaRPr lang="zh-CN" altLang="en-US" sz="1600" dirty="0"/>
                    </a:p>
                    <a:p>
                      <a:pPr marL="0" lvl="0" indent="0" algn="ctr" defTabSz="914400">
                        <a:buNone/>
                      </a:pPr>
                      <a:r>
                        <a:rPr lang="zh-CN" altLang="en-US" sz="1600" dirty="0"/>
                        <a:t>清</a:t>
                      </a:r>
                      <a:endParaRPr lang="zh-CN" altLang="en-US" sz="1600" dirty="0"/>
                    </a:p>
                    <a:p>
                      <a:pPr marL="0" lvl="0" indent="0" algn="ctr" defTabSz="914400">
                        <a:buNone/>
                      </a:pPr>
                      <a:r>
                        <a:rPr lang="zh-CN" altLang="en-US" sz="1600" dirty="0"/>
                        <a:t>法 </a:t>
                      </a:r>
                      <a:endParaRPr lang="zh-CN" altLang="en-US" sz="1600" dirty="0"/>
                    </a:p>
                  </a:txBody>
                  <a:tcPr marL="91650" marR="91650" marT="45825" marB="45825" anchor="ctr" anchorCt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沉淀法</a:t>
                      </a:r>
                      <a:endParaRPr lang="zh-CN" altLang="en-US" sz="1600" dirty="0"/>
                    </a:p>
                    <a:p>
                      <a:pPr marL="0" lvl="0" indent="0" defTabSz="914400">
                        <a:buNone/>
                      </a:pPr>
                      <a:r>
                        <a:rPr lang="zh-CN" altLang="en-US" sz="1600" dirty="0"/>
                        <a:t>混凝沉淀法</a:t>
                      </a:r>
                      <a:endParaRPr lang="zh-CN" altLang="en-US" sz="1600" dirty="0"/>
                    </a:p>
                    <a:p>
                      <a:pPr marL="0" lvl="0" indent="0" defTabSz="914400">
                        <a:buNone/>
                      </a:pPr>
                      <a:r>
                        <a:rPr lang="zh-CN" altLang="en-US" sz="1600" dirty="0"/>
                        <a:t>浮选（气浮）法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沉淀池、沉砂池、隔油池</a:t>
                      </a:r>
                      <a:endParaRPr lang="zh-CN" altLang="en-US" sz="1600" dirty="0"/>
                    </a:p>
                    <a:p>
                      <a:pPr marL="0" lvl="0" indent="0" defTabSz="914400">
                        <a:buNone/>
                      </a:pPr>
                      <a:r>
                        <a:rPr lang="zh-CN" altLang="en-US" sz="1600" dirty="0"/>
                        <a:t>混凝池和沉淀池、澄清池</a:t>
                      </a:r>
                      <a:endParaRPr lang="zh-CN" altLang="en-US" sz="1600" dirty="0"/>
                    </a:p>
                    <a:p>
                      <a:pPr marL="0" lvl="0" indent="0" defTabSz="914400">
                        <a:buNone/>
                      </a:pPr>
                      <a:r>
                        <a:rPr lang="zh-CN" altLang="en-US" sz="1600" dirty="0"/>
                        <a:t>浮选（气浮）池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悬浮物</a:t>
                      </a:r>
                      <a:endParaRPr lang="zh-CN" altLang="en-US" sz="1600" dirty="0"/>
                    </a:p>
                    <a:p>
                      <a:pPr marL="0" lvl="0" indent="0" defTabSz="914400">
                        <a:buNone/>
                      </a:pPr>
                      <a:r>
                        <a:rPr lang="zh-CN" altLang="en-US" sz="1600" dirty="0"/>
                        <a:t>悬浮物、胶体物</a:t>
                      </a:r>
                      <a:endParaRPr lang="zh-CN" altLang="en-US" sz="1600" dirty="0"/>
                    </a:p>
                    <a:p>
                      <a:pPr marL="0" lvl="0" indent="0" defTabSz="914400">
                        <a:buNone/>
                      </a:pPr>
                      <a:r>
                        <a:rPr lang="zh-CN" altLang="en-US" sz="1600" dirty="0"/>
                        <a:t>悬浮物、胶体物 </a:t>
                      </a:r>
                      <a:endParaRPr lang="zh-CN" altLang="en-US" sz="1600" dirty="0"/>
                    </a:p>
                  </a:txBody>
                  <a:tcPr marL="91650" marR="91650" marT="45825" marB="45825">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1511300">
                <a:tc vMerge="1">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tcPr>
                </a:tc>
                <a:tc grid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离心法</a:t>
                      </a:r>
                      <a:endParaRPr lang="zh-CN" altLang="en-US" sz="1600" dirty="0"/>
                    </a:p>
                    <a:p>
                      <a:pPr marL="0" lvl="0" indent="0" defTabSz="914400">
                        <a:buNone/>
                      </a:pPr>
                      <a:r>
                        <a:rPr lang="zh-CN" altLang="en-US" sz="1600" dirty="0"/>
                        <a:t>隔滤法</a:t>
                      </a:r>
                      <a:endParaRPr lang="zh-CN" altLang="en-US" sz="1600" dirty="0"/>
                    </a:p>
                    <a:p>
                      <a:pPr marL="0" lvl="0" indent="0" defTabSz="914400">
                        <a:buNone/>
                      </a:pPr>
                      <a:r>
                        <a:rPr lang="zh-CN" altLang="en-US" sz="1600" dirty="0"/>
                        <a:t>化学沉淀法</a:t>
                      </a:r>
                      <a:endParaRPr lang="zh-CN" altLang="en-US" sz="1600" dirty="0"/>
                    </a:p>
                    <a:p>
                      <a:pPr marL="0" lvl="0" indent="0" defTabSz="914400">
                        <a:buNone/>
                      </a:pPr>
                      <a:r>
                        <a:rPr lang="zh-CN" altLang="en-US" sz="1600" dirty="0"/>
                        <a:t>吸附法</a:t>
                      </a:r>
                      <a:endParaRPr lang="zh-CN" altLang="en-US" sz="1600" dirty="0"/>
                    </a:p>
                    <a:p>
                      <a:pPr marL="0" lvl="0" indent="0" defTabSz="914400">
                        <a:buNone/>
                      </a:pPr>
                      <a:r>
                        <a:rPr lang="zh-CN" altLang="en-US" sz="1600" dirty="0"/>
                        <a:t>离子交换法</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hMerge="1">
                  <a:tcPr>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离心机、旋流分离器</a:t>
                      </a:r>
                      <a:endParaRPr lang="zh-CN" altLang="en-US" sz="1600" dirty="0"/>
                    </a:p>
                    <a:p>
                      <a:pPr marL="0" lvl="0" indent="0" defTabSz="914400">
                        <a:buNone/>
                      </a:pPr>
                      <a:r>
                        <a:rPr lang="zh-CN" altLang="en-US" sz="1600" dirty="0"/>
                        <a:t>滤筛、滤机、滤池</a:t>
                      </a:r>
                      <a:endParaRPr lang="zh-CN" altLang="en-US" sz="1600" dirty="0"/>
                    </a:p>
                    <a:p>
                      <a:pPr marL="0" lvl="0" indent="0" defTabSz="914400">
                        <a:buNone/>
                      </a:pPr>
                      <a:r>
                        <a:rPr lang="zh-CN" altLang="en-US" sz="1600" dirty="0"/>
                        <a:t>反应池和沉淀池</a:t>
                      </a:r>
                      <a:endParaRPr lang="zh-CN" altLang="en-US" sz="1600" dirty="0"/>
                    </a:p>
                    <a:p>
                      <a:pPr marL="0" lvl="0" indent="0" defTabSz="914400">
                        <a:buNone/>
                      </a:pPr>
                      <a:r>
                        <a:rPr lang="zh-CN" altLang="en-US" sz="1600" dirty="0"/>
                        <a:t>反应池和沉淀池、滤池</a:t>
                      </a:r>
                      <a:endParaRPr lang="zh-CN" altLang="en-US" sz="1600" dirty="0"/>
                    </a:p>
                    <a:p>
                      <a:pPr marL="0" lvl="0" indent="0" defTabSz="914400">
                        <a:buNone/>
                      </a:pPr>
                      <a:r>
                        <a:rPr lang="zh-CN" altLang="en-US" sz="1600" dirty="0"/>
                        <a:t>滤池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悬浮物</a:t>
                      </a:r>
                      <a:endParaRPr lang="zh-CN" altLang="en-US" sz="1600" dirty="0"/>
                    </a:p>
                    <a:p>
                      <a:pPr marL="0" lvl="0" indent="0" defTabSz="914400">
                        <a:buNone/>
                      </a:pPr>
                      <a:r>
                        <a:rPr lang="zh-CN" altLang="en-US" sz="1600" dirty="0"/>
                        <a:t>悬浮物</a:t>
                      </a:r>
                      <a:endParaRPr lang="zh-CN" altLang="en-US" sz="1600" dirty="0"/>
                    </a:p>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a:t>
                      </a:r>
                      <a:endParaRPr lang="zh-CN" altLang="en-US" sz="1600" dirty="0"/>
                    </a:p>
                  </a:txBody>
                  <a:tcPr marL="91650" marR="91650" marT="45825" marB="45825">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1218565">
                <a:tc vMerge="1">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膜分离法 </a:t>
                      </a:r>
                      <a:endParaRPr lang="zh-CN" altLang="en-US" sz="1600" dirty="0"/>
                    </a:p>
                  </a:txBody>
                  <a:tcPr marL="91650" marR="91650" marT="45825" marB="45825" anchor="ctr" anchorCt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扩散渗析法</a:t>
                      </a:r>
                      <a:endParaRPr lang="zh-CN" altLang="en-US" sz="1600" dirty="0"/>
                    </a:p>
                    <a:p>
                      <a:pPr marL="0" lvl="0" indent="0" defTabSz="914400">
                        <a:buNone/>
                      </a:pPr>
                      <a:r>
                        <a:rPr lang="zh-CN" altLang="en-US" sz="1600" dirty="0"/>
                        <a:t>电渗析法</a:t>
                      </a:r>
                      <a:endParaRPr lang="zh-CN" altLang="en-US" sz="1600" dirty="0"/>
                    </a:p>
                    <a:p>
                      <a:pPr marL="0" lvl="0" indent="0" defTabSz="914400">
                        <a:buNone/>
                      </a:pPr>
                      <a:r>
                        <a:rPr lang="zh-CN" altLang="en-US" sz="1600" dirty="0"/>
                        <a:t>反渗透法</a:t>
                      </a:r>
                      <a:endParaRPr lang="zh-CN" altLang="en-US" sz="1600" dirty="0"/>
                    </a:p>
                    <a:p>
                      <a:pPr marL="0" lvl="0" indent="0" defTabSz="914400">
                        <a:buNone/>
                      </a:pPr>
                      <a:r>
                        <a:rPr lang="zh-CN" altLang="en-US" sz="1600" dirty="0"/>
                        <a:t>超过滤法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渗析槽</a:t>
                      </a:r>
                      <a:endParaRPr lang="zh-CN" altLang="en-US" sz="1600" dirty="0"/>
                    </a:p>
                    <a:p>
                      <a:pPr marL="0" lvl="0" indent="0" defTabSz="914400">
                        <a:buNone/>
                      </a:pPr>
                      <a:r>
                        <a:rPr lang="zh-CN" altLang="en-US" sz="1600" dirty="0"/>
                        <a:t>渗析槽</a:t>
                      </a:r>
                      <a:endParaRPr lang="zh-CN" altLang="en-US" sz="1600" dirty="0"/>
                    </a:p>
                    <a:p>
                      <a:pPr marL="0" lvl="0" indent="0" defTabSz="914400">
                        <a:buNone/>
                      </a:pPr>
                      <a:r>
                        <a:rPr lang="zh-CN" altLang="en-US" sz="1600" dirty="0"/>
                        <a:t>渗透器</a:t>
                      </a:r>
                      <a:endParaRPr lang="zh-CN" altLang="en-US" sz="1600" dirty="0"/>
                    </a:p>
                    <a:p>
                      <a:pPr marL="0" lvl="0" indent="0" defTabSz="914400">
                        <a:buNone/>
                      </a:pPr>
                      <a:r>
                        <a:rPr lang="zh-CN" altLang="en-US" sz="1600" dirty="0"/>
                        <a:t>过滤器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 </a:t>
                      </a:r>
                      <a:endParaRPr lang="zh-CN" altLang="en-US" sz="1600" dirty="0"/>
                    </a:p>
                  </a:txBody>
                  <a:tcPr marL="91650" marR="91650" marT="45825" marB="45825">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1217295">
                <a:tc vMerge="1">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B w="12700" cap="flat" cmpd="sng">
                      <a:solidFill>
                        <a:schemeClr val="tx1"/>
                      </a:solidFill>
                      <a:prstDash val="solid"/>
                      <a:miter/>
                      <a:headEnd type="none" w="med" len="med"/>
                      <a:tailEnd type="none" w="med" len="med"/>
                    </a:lnB>
                  </a:tcPr>
                </a:tc>
                <a:tc grid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电  解法</a:t>
                      </a:r>
                      <a:endParaRPr lang="zh-CN" altLang="en-US" sz="1600" dirty="0"/>
                    </a:p>
                    <a:p>
                      <a:pPr marL="0" lvl="0" indent="0" defTabSz="914400">
                        <a:buNone/>
                      </a:pPr>
                      <a:r>
                        <a:rPr lang="zh-CN" altLang="en-US" sz="1600" dirty="0"/>
                        <a:t>结  晶法</a:t>
                      </a:r>
                      <a:endParaRPr lang="zh-CN" altLang="en-US" sz="1600" dirty="0"/>
                    </a:p>
                    <a:p>
                      <a:pPr marL="0" lvl="0" indent="0" defTabSz="914400">
                        <a:buNone/>
                      </a:pPr>
                      <a:r>
                        <a:rPr lang="zh-CN" altLang="en-US" sz="1600" dirty="0"/>
                        <a:t>萃  取法</a:t>
                      </a:r>
                      <a:endParaRPr lang="zh-CN" altLang="en-US" sz="1600" dirty="0"/>
                    </a:p>
                    <a:p>
                      <a:pPr marL="0" lvl="0" indent="0" defTabSz="914400">
                        <a:buNone/>
                      </a:pPr>
                      <a:r>
                        <a:rPr lang="zh-CN" altLang="en-US" sz="1600" dirty="0"/>
                        <a:t>精  馏法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hMerge="1">
                  <a:tcPr>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电解槽</a:t>
                      </a:r>
                      <a:endParaRPr lang="zh-CN" altLang="en-US" sz="1600" dirty="0"/>
                    </a:p>
                    <a:p>
                      <a:pPr marL="0" lvl="0" indent="0" defTabSz="914400">
                        <a:buNone/>
                      </a:pPr>
                      <a:r>
                        <a:rPr lang="zh-CN" altLang="en-US" sz="1600" dirty="0"/>
                        <a:t>蒸发器和结晶器</a:t>
                      </a:r>
                      <a:endParaRPr lang="zh-CN" altLang="en-US" sz="1600" dirty="0"/>
                    </a:p>
                    <a:p>
                      <a:pPr marL="0" lvl="0" indent="0" defTabSz="914400">
                        <a:buNone/>
                      </a:pPr>
                      <a:r>
                        <a:rPr lang="zh-CN" altLang="en-US" sz="1600" dirty="0"/>
                        <a:t>萃取器和分离器</a:t>
                      </a:r>
                      <a:endParaRPr lang="zh-CN" altLang="en-US" sz="1600" dirty="0"/>
                    </a:p>
                    <a:p>
                      <a:pPr marL="0" lvl="0" indent="0" defTabSz="914400">
                        <a:buNone/>
                      </a:pPr>
                      <a:r>
                        <a:rPr lang="zh-CN" altLang="en-US" sz="1600" dirty="0"/>
                        <a:t>精馏塔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a:t>
                      </a:r>
                      <a:endParaRPr lang="zh-CN" altLang="en-US" sz="1600" dirty="0"/>
                    </a:p>
                    <a:p>
                      <a:pPr marL="0" lvl="0" indent="0" defTabSz="914400">
                        <a:buNone/>
                      </a:pPr>
                      <a:r>
                        <a:rPr lang="zh-CN" altLang="en-US" sz="1600" dirty="0"/>
                        <a:t>某些溶解物 </a:t>
                      </a:r>
                      <a:endParaRPr lang="zh-CN" altLang="en-US" sz="1600" dirty="0"/>
                    </a:p>
                  </a:txBody>
                  <a:tcPr marL="91650" marR="91650" marT="45825" marB="45825">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336550">
                <a:tc row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转</a:t>
                      </a:r>
                      <a:endParaRPr lang="zh-CN" altLang="en-US" sz="1600" dirty="0"/>
                    </a:p>
                    <a:p>
                      <a:pPr marL="0" lvl="0" indent="0" algn="ctr" defTabSz="914400">
                        <a:buNone/>
                      </a:pPr>
                      <a:r>
                        <a:rPr lang="zh-CN" altLang="en-US" sz="1600" dirty="0"/>
                        <a:t> 化 </a:t>
                      </a:r>
                      <a:endParaRPr lang="zh-CN" altLang="en-US" sz="1600" dirty="0"/>
                    </a:p>
                    <a:p>
                      <a:pPr marL="0" lvl="0" indent="0" algn="ctr" defTabSz="914400">
                        <a:buNone/>
                      </a:pPr>
                      <a:r>
                        <a:rPr lang="zh-CN" altLang="en-US" sz="1600" dirty="0"/>
                        <a:t>法 </a:t>
                      </a:r>
                      <a:endParaRPr lang="zh-CN" altLang="en-US" sz="1600" dirty="0"/>
                    </a:p>
                  </a:txBody>
                  <a:tcPr marL="91650" marR="91650" marT="45825" marB="45825" anchor="ctr" anchorCtr="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grid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化  学  法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hMerge="1">
                  <a:tcPr>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中和池、反应池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某些溶解物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1217930">
                <a:tc vMerge="1">
                  <a:tcP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B w="28575" cap="flat" cmpd="sng">
                      <a:solidFill>
                        <a:schemeClr val="tx1"/>
                      </a:solidFill>
                      <a:prstDash val="solid"/>
                      <a:miter/>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buNone/>
                      </a:pPr>
                      <a:r>
                        <a:rPr lang="zh-CN" altLang="en-US" sz="1600" dirty="0"/>
                        <a:t>生</a:t>
                      </a:r>
                      <a:endParaRPr lang="zh-CN" altLang="en-US" sz="1600" dirty="0"/>
                    </a:p>
                    <a:p>
                      <a:pPr marL="0" lvl="0" indent="0" algn="ctr" defTabSz="914400">
                        <a:buNone/>
                      </a:pPr>
                      <a:r>
                        <a:rPr lang="zh-CN" altLang="en-US" sz="1600" dirty="0"/>
                        <a:t>物</a:t>
                      </a:r>
                      <a:endParaRPr lang="zh-CN" altLang="en-US" sz="1600" dirty="0"/>
                    </a:p>
                    <a:p>
                      <a:pPr marL="0" lvl="0" indent="0" algn="ctr" defTabSz="914400">
                        <a:buNone/>
                      </a:pPr>
                      <a:r>
                        <a:rPr lang="zh-CN" altLang="en-US" sz="1600" dirty="0"/>
                        <a:t>法 </a:t>
                      </a:r>
                      <a:endParaRPr lang="zh-CN" altLang="en-US" sz="1600" dirty="0"/>
                    </a:p>
                  </a:txBody>
                  <a:tcPr marL="91650" marR="91650" marT="45825" marB="45825" anchor="ctr" anchorCtr="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自然生物处理法</a:t>
                      </a:r>
                      <a:endParaRPr lang="zh-CN" altLang="en-US" sz="1600" dirty="0"/>
                    </a:p>
                    <a:p>
                      <a:pPr marL="0" lvl="0" indent="0" defTabSz="914400">
                        <a:buNone/>
                      </a:pPr>
                      <a:r>
                        <a:rPr lang="zh-CN" altLang="en-US" sz="1600" dirty="0"/>
                        <a:t>活性污泥法</a:t>
                      </a:r>
                      <a:endParaRPr lang="zh-CN" altLang="en-US" sz="1600" dirty="0"/>
                    </a:p>
                    <a:p>
                      <a:pPr marL="0" lvl="0" indent="0" defTabSz="914400">
                        <a:buNone/>
                      </a:pPr>
                      <a:r>
                        <a:rPr lang="zh-CN" altLang="en-US" sz="1600" dirty="0"/>
                        <a:t>生物膜法</a:t>
                      </a:r>
                      <a:endParaRPr lang="zh-CN" altLang="en-US" sz="1600" dirty="0"/>
                    </a:p>
                    <a:p>
                      <a:pPr marL="0" lvl="0" indent="0" defTabSz="914400">
                        <a:buNone/>
                      </a:pPr>
                      <a:r>
                        <a:rPr lang="zh-CN" altLang="en-US" sz="1600" dirty="0"/>
                        <a:t>厌氧生物处理法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灌溉农田、生物塘</a:t>
                      </a:r>
                      <a:endParaRPr lang="zh-CN" altLang="en-US" sz="1600" dirty="0"/>
                    </a:p>
                    <a:p>
                      <a:pPr marL="0" lvl="0" indent="0" defTabSz="914400">
                        <a:buNone/>
                      </a:pPr>
                      <a:r>
                        <a:rPr lang="zh-CN" altLang="en-US" sz="1600" dirty="0"/>
                        <a:t>曝气池和沉淀池</a:t>
                      </a:r>
                      <a:endParaRPr lang="zh-CN" altLang="en-US" sz="1600" dirty="0"/>
                    </a:p>
                    <a:p>
                      <a:pPr marL="0" lvl="0" indent="0" defTabSz="914400">
                        <a:buNone/>
                      </a:pPr>
                      <a:r>
                        <a:rPr lang="zh-CN" altLang="en-US" sz="1600" dirty="0"/>
                        <a:t>生物滤池和生物转盘</a:t>
                      </a:r>
                      <a:endParaRPr lang="zh-CN" altLang="en-US" sz="1600" dirty="0"/>
                    </a:p>
                    <a:p>
                      <a:pPr marL="0" lvl="0" indent="0" defTabSz="914400">
                        <a:buNone/>
                      </a:pPr>
                      <a:r>
                        <a:rPr lang="zh-CN" altLang="en-US" sz="1600" dirty="0"/>
                        <a:t>消化池、厌氧反应器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defTabSz="914400">
                        <a:buNone/>
                      </a:pPr>
                      <a:r>
                        <a:rPr lang="zh-CN" altLang="en-US" sz="1600" dirty="0"/>
                        <a:t>有机物、硫氰等</a:t>
                      </a:r>
                      <a:endParaRPr lang="zh-CN" altLang="en-US" sz="1600" dirty="0"/>
                    </a:p>
                    <a:p>
                      <a:pPr marL="0" lvl="0" indent="0" defTabSz="914400">
                        <a:buNone/>
                      </a:pPr>
                      <a:r>
                        <a:rPr lang="zh-CN" altLang="en-US" sz="1600" dirty="0"/>
                        <a:t>有机物、硫氰等</a:t>
                      </a:r>
                      <a:endParaRPr lang="zh-CN" altLang="en-US" sz="1600" dirty="0"/>
                    </a:p>
                    <a:p>
                      <a:pPr marL="0" lvl="0" indent="0" defTabSz="914400">
                        <a:buNone/>
                      </a:pPr>
                      <a:r>
                        <a:rPr lang="zh-CN" altLang="en-US" sz="1600" dirty="0"/>
                        <a:t>有机物、硫氰等</a:t>
                      </a:r>
                      <a:endParaRPr lang="zh-CN" altLang="en-US" sz="1600" dirty="0"/>
                    </a:p>
                    <a:p>
                      <a:pPr marL="0" lvl="0" indent="0" defTabSz="914400">
                        <a:buNone/>
                      </a:pPr>
                      <a:r>
                        <a:rPr lang="zh-CN" altLang="en-US" sz="1600" dirty="0"/>
                        <a:t>有机物 </a:t>
                      </a:r>
                      <a:endParaRPr lang="zh-CN" altLang="en-US" sz="1600" dirty="0"/>
                    </a:p>
                  </a:txBody>
                  <a:tcPr marL="91650" marR="91650" marT="45825" marB="45825">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sp>
        <p:nvSpPr>
          <p:cNvPr id="365614" name="文本框 365613"/>
          <p:cNvSpPr txBox="1"/>
          <p:nvPr/>
        </p:nvSpPr>
        <p:spPr>
          <a:xfrm>
            <a:off x="1645285" y="1554163"/>
            <a:ext cx="551815" cy="3100387"/>
          </a:xfrm>
          <a:prstGeom prst="rect">
            <a:avLst/>
          </a:prstGeom>
          <a:noFill/>
          <a:ln w="9525">
            <a:noFill/>
          </a:ln>
        </p:spPr>
        <p:txBody>
          <a:bodyPr vert="eaVert" lIns="91650" tIns="45825" rIns="91650" bIns="45825">
            <a:spAutoFit/>
          </a:bodyPr>
          <a:p>
            <a:pPr algn="l" defTabSz="916305">
              <a:spcBef>
                <a:spcPct val="50000"/>
              </a:spcBef>
            </a:pPr>
            <a:r>
              <a:rPr lang="zh-CN" altLang="en-US" sz="2400" b="1" dirty="0">
                <a:solidFill>
                  <a:srgbClr val="F60000"/>
                </a:solidFill>
                <a:latin typeface="Arial" panose="020B0604020202020204" pitchFamily="34" charset="0"/>
              </a:rPr>
              <a:t>废水处理方法一览表</a:t>
            </a:r>
            <a:endParaRPr lang="zh-CN" altLang="en-US" sz="2400" b="1" dirty="0">
              <a:solidFill>
                <a:srgbClr val="F60000"/>
              </a:solidFill>
              <a:latin typeface="Arial" panose="020B0604020202020204" pitchFamily="3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6594" name="文本框 366593"/>
          <p:cNvSpPr txBox="1"/>
          <p:nvPr/>
        </p:nvSpPr>
        <p:spPr>
          <a:xfrm>
            <a:off x="2486025" y="544513"/>
            <a:ext cx="7199313" cy="4139565"/>
          </a:xfrm>
          <a:prstGeom prst="rect">
            <a:avLst/>
          </a:prstGeom>
          <a:noFill/>
          <a:ln w="9525">
            <a:noFill/>
          </a:ln>
        </p:spPr>
        <p:txBody>
          <a:bodyPr lIns="91431" tIns="45715" rIns="91431" bIns="45715">
            <a:spAutoFit/>
          </a:bodyPr>
          <a:p>
            <a:pPr algn="l">
              <a:lnSpc>
                <a:spcPct val="140000"/>
              </a:lnSpc>
              <a:buClr>
                <a:schemeClr val="folHlink"/>
              </a:buClr>
              <a:buSzPct val="60000"/>
              <a:buFont typeface="Wingdings" panose="05000000000000000000" pitchFamily="2" charset="2"/>
            </a:pPr>
            <a:r>
              <a:rPr lang="zh-CN" altLang="en-US" sz="2400" b="1" dirty="0">
                <a:latin typeface="Tahoma" panose="020B0604030504040204" pitchFamily="34" charset="0"/>
              </a:rPr>
              <a:t>（二）城市污水的处理</a:t>
            </a:r>
            <a:endParaRPr lang="zh-CN" altLang="en-US" sz="2400" b="1" dirty="0">
              <a:latin typeface="Tahoma" panose="020B0604030504040204" pitchFamily="34" charset="0"/>
            </a:endParaRPr>
          </a:p>
          <a:p>
            <a:pPr algn="l">
              <a:lnSpc>
                <a:spcPct val="140000"/>
              </a:lnSpc>
              <a:buClr>
                <a:schemeClr val="folHlink"/>
              </a:buClr>
              <a:buSzPct val="60000"/>
              <a:buFont typeface="Wingdings" panose="05000000000000000000" pitchFamily="2" charset="2"/>
            </a:pPr>
            <a:r>
              <a:rPr lang="zh-CN" altLang="en-US" sz="2400" b="1" dirty="0">
                <a:latin typeface="Tahoma" panose="020B0604030504040204" pitchFamily="34" charset="0"/>
              </a:rPr>
              <a:t>    </a:t>
            </a:r>
            <a:r>
              <a:rPr lang="en-US" altLang="zh-CN" sz="2400" b="1">
                <a:latin typeface="Tahoma" panose="020B0604030504040204" pitchFamily="34" charset="0"/>
              </a:rPr>
              <a:t> </a:t>
            </a:r>
            <a:r>
              <a:rPr lang="zh-CN" altLang="en-US" sz="2000" b="1" dirty="0">
                <a:latin typeface="Tahoma" panose="020B0604030504040204" pitchFamily="34" charset="0"/>
              </a:rPr>
              <a:t>1.一级处理：可由</a:t>
            </a:r>
            <a:r>
              <a:rPr lang="zh-CN" altLang="en-US" sz="2000" b="1" dirty="0">
                <a:solidFill>
                  <a:srgbClr val="F60000"/>
                </a:solidFill>
                <a:latin typeface="Tahoma" panose="020B0604030504040204" pitchFamily="34" charset="0"/>
              </a:rPr>
              <a:t>筛滤</a:t>
            </a:r>
            <a:r>
              <a:rPr lang="zh-CN" altLang="en-US" sz="2000" b="1" dirty="0">
                <a:latin typeface="Tahoma" panose="020B0604030504040204" pitchFamily="34" charset="0"/>
              </a:rPr>
              <a:t>、</a:t>
            </a:r>
            <a:r>
              <a:rPr lang="zh-CN" altLang="en-US" sz="2000" b="1" dirty="0">
                <a:solidFill>
                  <a:srgbClr val="F60000"/>
                </a:solidFill>
                <a:latin typeface="Tahoma" panose="020B0604030504040204" pitchFamily="34" charset="0"/>
              </a:rPr>
              <a:t>重力沉淀</a:t>
            </a:r>
            <a:r>
              <a:rPr lang="zh-CN" altLang="en-US" sz="2000" b="1" dirty="0">
                <a:latin typeface="Tahoma" panose="020B0604030504040204" pitchFamily="34" charset="0"/>
              </a:rPr>
              <a:t>和</a:t>
            </a:r>
            <a:r>
              <a:rPr lang="zh-CN" altLang="en-US" sz="2000" b="1" dirty="0">
                <a:solidFill>
                  <a:srgbClr val="F60000"/>
                </a:solidFill>
                <a:latin typeface="Tahoma" panose="020B0604030504040204" pitchFamily="34" charset="0"/>
              </a:rPr>
              <a:t>浮选</a:t>
            </a:r>
            <a:r>
              <a:rPr lang="zh-CN" altLang="en-US" sz="2000" b="1" dirty="0">
                <a:latin typeface="Tahoma" panose="020B0604030504040204" pitchFamily="34" charset="0"/>
              </a:rPr>
              <a:t>等方法串联而成，</a:t>
            </a:r>
            <a:r>
              <a:rPr lang="zh-CN" altLang="en-US" sz="2000" b="1" dirty="0">
                <a:solidFill>
                  <a:srgbClr val="F60000"/>
                </a:solidFill>
                <a:latin typeface="Tahoma" panose="020B0604030504040204" pitchFamily="34" charset="0"/>
              </a:rPr>
              <a:t>除去废水中大部分粒径在100</a:t>
            </a:r>
            <a:r>
              <a:rPr lang="el-GR" altLang="en-US" sz="2000" b="1" dirty="0">
                <a:solidFill>
                  <a:srgbClr val="F60000"/>
                </a:solidFill>
                <a:latin typeface="Tahoma" panose="020B0604030504040204" pitchFamily="34" charset="0"/>
              </a:rPr>
              <a:t>μ</a:t>
            </a:r>
            <a:r>
              <a:rPr lang="zh-CN" altLang="en-US" sz="2000" b="1" dirty="0">
                <a:solidFill>
                  <a:srgbClr val="F60000"/>
                </a:solidFill>
                <a:latin typeface="Tahoma" panose="020B0604030504040204" pitchFamily="34" charset="0"/>
              </a:rPr>
              <a:t>m以上的</a:t>
            </a:r>
            <a:r>
              <a:rPr lang="zh-CN" altLang="en-US" sz="2000" b="1" dirty="0">
                <a:solidFill>
                  <a:srgbClr val="F60000"/>
                </a:solidFill>
                <a:latin typeface="宋体" panose="02010600030101010101" pitchFamily="2" charset="-122"/>
              </a:rPr>
              <a:t>大颗粒物质。</a:t>
            </a:r>
            <a:endParaRPr lang="zh-CN" altLang="en-US" sz="2000" b="1" dirty="0">
              <a:solidFill>
                <a:srgbClr val="F60000"/>
              </a:solidFill>
              <a:latin typeface="宋体" panose="02010600030101010101" pitchFamily="2" charset="-122"/>
            </a:endParaRPr>
          </a:p>
          <a:p>
            <a:pPr algn="l">
              <a:lnSpc>
                <a:spcPct val="140000"/>
              </a:lnSpc>
              <a:buClr>
                <a:schemeClr val="folHlink"/>
              </a:buClr>
              <a:buSzPct val="60000"/>
              <a:buFont typeface="Wingdings" panose="05000000000000000000" pitchFamily="2" charset="2"/>
            </a:pPr>
            <a:r>
              <a:rPr lang="zh-CN" altLang="en-US" sz="2000" b="1" dirty="0">
                <a:latin typeface="Tahoma" panose="020B0604030504040204" pitchFamily="34" charset="0"/>
              </a:rPr>
              <a:t>      2.二级处理：常用</a:t>
            </a:r>
            <a:r>
              <a:rPr lang="zh-CN" altLang="en-US" sz="2000" b="1" dirty="0">
                <a:solidFill>
                  <a:srgbClr val="F60000"/>
                </a:solidFill>
                <a:latin typeface="Tahoma" panose="020B0604030504040204" pitchFamily="34" charset="0"/>
              </a:rPr>
              <a:t>生物法</a:t>
            </a:r>
            <a:r>
              <a:rPr lang="zh-CN" altLang="en-US" sz="2000" b="1" dirty="0">
                <a:latin typeface="Tahoma" panose="020B0604030504040204" pitchFamily="34" charset="0"/>
              </a:rPr>
              <a:t>和</a:t>
            </a:r>
            <a:r>
              <a:rPr lang="zh-CN" altLang="en-US" sz="2000" b="1" dirty="0">
                <a:solidFill>
                  <a:srgbClr val="F60000"/>
                </a:solidFill>
                <a:latin typeface="Tahoma" panose="020B0604030504040204" pitchFamily="34" charset="0"/>
              </a:rPr>
              <a:t>紊凝法</a:t>
            </a:r>
            <a:r>
              <a:rPr lang="zh-CN" altLang="en-US" sz="2000" b="1" dirty="0">
                <a:latin typeface="Tahoma" panose="020B0604030504040204" pitchFamily="34" charset="0"/>
              </a:rPr>
              <a:t>，</a:t>
            </a:r>
            <a:r>
              <a:rPr lang="zh-CN" altLang="en-US" sz="2000" b="1" dirty="0">
                <a:solidFill>
                  <a:srgbClr val="00CC00"/>
                </a:solidFill>
                <a:latin typeface="Tahoma" panose="020B0604030504040204" pitchFamily="34" charset="0"/>
              </a:rPr>
              <a:t>生物法</a:t>
            </a:r>
            <a:r>
              <a:rPr lang="zh-CN" altLang="en-US" sz="2000" b="1" dirty="0">
                <a:latin typeface="Tahoma" panose="020B0604030504040204" pitchFamily="34" charset="0"/>
              </a:rPr>
              <a:t>主要是除去一级处理后废水中的</a:t>
            </a:r>
            <a:r>
              <a:rPr lang="zh-CN" altLang="en-US" sz="2000" b="1" dirty="0">
                <a:solidFill>
                  <a:srgbClr val="00CC00"/>
                </a:solidFill>
                <a:latin typeface="Tahoma" panose="020B0604030504040204" pitchFamily="34" charset="0"/>
              </a:rPr>
              <a:t>有机物</a:t>
            </a:r>
            <a:r>
              <a:rPr lang="zh-CN" altLang="en-US" sz="2000" b="1" dirty="0">
                <a:latin typeface="Tahoma" panose="020B0604030504040204" pitchFamily="34" charset="0"/>
              </a:rPr>
              <a:t>；</a:t>
            </a:r>
            <a:r>
              <a:rPr lang="zh-CN" altLang="en-US" sz="2000" b="1" dirty="0">
                <a:solidFill>
                  <a:srgbClr val="00CC00"/>
                </a:solidFill>
                <a:latin typeface="Tahoma" panose="020B0604030504040204" pitchFamily="34" charset="0"/>
              </a:rPr>
              <a:t>紊凝法</a:t>
            </a:r>
            <a:r>
              <a:rPr lang="zh-CN" altLang="en-US" sz="2000" b="1" dirty="0">
                <a:latin typeface="Tahoma" panose="020B0604030504040204" pitchFamily="34" charset="0"/>
              </a:rPr>
              <a:t>主要是去除一级处理后废水中</a:t>
            </a:r>
            <a:r>
              <a:rPr lang="zh-CN" altLang="en-US" sz="2000" b="1" dirty="0">
                <a:solidFill>
                  <a:srgbClr val="00CC00"/>
                </a:solidFill>
                <a:latin typeface="Tahoma" panose="020B0604030504040204" pitchFamily="34" charset="0"/>
              </a:rPr>
              <a:t>无机的悬浮物</a:t>
            </a:r>
            <a:r>
              <a:rPr lang="zh-CN" altLang="en-US" sz="2000" b="1" dirty="0">
                <a:latin typeface="Tahoma" panose="020B0604030504040204" pitchFamily="34" charset="0"/>
              </a:rPr>
              <a:t>和</a:t>
            </a:r>
            <a:r>
              <a:rPr lang="zh-CN" altLang="en-US" sz="2000" b="1" dirty="0">
                <a:solidFill>
                  <a:srgbClr val="00CC00"/>
                </a:solidFill>
                <a:latin typeface="Tahoma" panose="020B0604030504040204" pitchFamily="34" charset="0"/>
              </a:rPr>
              <a:t>胶体颗粒物</a:t>
            </a:r>
            <a:r>
              <a:rPr lang="zh-CN" altLang="en-US" sz="2000" b="1" dirty="0">
                <a:latin typeface="Tahoma" panose="020B0604030504040204" pitchFamily="34" charset="0"/>
              </a:rPr>
              <a:t>或低浓度的有机物。</a:t>
            </a:r>
            <a:endParaRPr lang="zh-CN" altLang="en-US" sz="2000" b="1" dirty="0">
              <a:latin typeface="Tahoma" panose="020B0604030504040204" pitchFamily="34" charset="0"/>
            </a:endParaRPr>
          </a:p>
          <a:p>
            <a:pPr algn="l">
              <a:lnSpc>
                <a:spcPct val="140000"/>
              </a:lnSpc>
              <a:buClr>
                <a:schemeClr val="folHlink"/>
              </a:buClr>
              <a:buSzPct val="60000"/>
              <a:buFont typeface="Wingdings" panose="05000000000000000000" pitchFamily="2" charset="2"/>
            </a:pPr>
            <a:r>
              <a:rPr lang="zh-CN" altLang="en-US" sz="2000" b="1" dirty="0">
                <a:latin typeface="Tahoma" panose="020B0604030504040204" pitchFamily="34" charset="0"/>
              </a:rPr>
              <a:t>      3.三级处理：污水的三级处理</a:t>
            </a:r>
            <a:r>
              <a:rPr lang="zh-CN" altLang="en-US" sz="2000" b="1" dirty="0">
                <a:solidFill>
                  <a:srgbClr val="F60000"/>
                </a:solidFill>
                <a:latin typeface="Tahoma" panose="020B0604030504040204" pitchFamily="34" charset="0"/>
              </a:rPr>
              <a:t>目的是为了控制富营养化或达到使废水能够重新回用</a:t>
            </a:r>
            <a:r>
              <a:rPr lang="zh-CN" altLang="en-US" sz="2000" b="1" dirty="0">
                <a:latin typeface="Tahoma" panose="020B0604030504040204" pitchFamily="34" charset="0"/>
              </a:rPr>
              <a:t>，所采用的技术通常分为上述的物理法、化学法和生物处理法三大类。</a:t>
            </a:r>
            <a:endParaRPr lang="zh-CN" altLang="en-US" sz="2400" b="1" dirty="0">
              <a:latin typeface="Tahoma" panose="020B0604030504040204" pitchFamily="34" charset="0"/>
            </a:endParaRPr>
          </a:p>
        </p:txBody>
      </p:sp>
      <p:sp>
        <p:nvSpPr>
          <p:cNvPr id="366595" name="文本框 366594"/>
          <p:cNvSpPr txBox="1"/>
          <p:nvPr/>
        </p:nvSpPr>
        <p:spPr>
          <a:xfrm>
            <a:off x="2557463" y="4872038"/>
            <a:ext cx="7077075" cy="1476375"/>
          </a:xfrm>
          <a:prstGeom prst="rect">
            <a:avLst/>
          </a:prstGeom>
          <a:solidFill>
            <a:srgbClr val="F6FCA2"/>
          </a:solidFill>
          <a:ln w="9525" cap="flat" cmpd="sng">
            <a:solidFill>
              <a:schemeClr val="hlink"/>
            </a:solidFill>
            <a:prstDash val="solid"/>
            <a:miter/>
            <a:headEnd type="none" w="med" len="med"/>
            <a:tailEnd type="none" w="med" len="med"/>
          </a:ln>
        </p:spPr>
        <p:txBody>
          <a:bodyPr lIns="91650" tIns="45825" rIns="91650" bIns="45825">
            <a:spAutoFit/>
          </a:bodyPr>
          <a:p>
            <a:pPr algn="l" defTabSz="916305">
              <a:spcBef>
                <a:spcPct val="50000"/>
              </a:spcBef>
            </a:pPr>
            <a:r>
              <a:rPr lang="zh-CN" altLang="en-US" sz="1800" b="1" dirty="0">
                <a:solidFill>
                  <a:srgbClr val="F60000"/>
                </a:solidFill>
                <a:latin typeface="Arial" panose="020B0604020202020204" pitchFamily="34" charset="0"/>
                <a:ea typeface="楷体_GB2312" charset="-122"/>
              </a:rPr>
              <a:t>污水一级处理为预处理，二级处理为主体，</a:t>
            </a:r>
            <a:r>
              <a:rPr lang="zh-CN" altLang="en-US" sz="1800" b="1" dirty="0">
                <a:latin typeface="Arial" panose="020B0604020202020204" pitchFamily="34" charset="0"/>
                <a:ea typeface="楷体_GB2312" charset="-122"/>
              </a:rPr>
              <a:t>处理后的污水一般能达到排放标准。</a:t>
            </a:r>
            <a:r>
              <a:rPr lang="zh-CN" altLang="en-US" sz="1800" b="1" dirty="0">
                <a:solidFill>
                  <a:srgbClr val="F60000"/>
                </a:solidFill>
                <a:latin typeface="Arial" panose="020B0604020202020204" pitchFamily="34" charset="0"/>
                <a:ea typeface="楷体_GB2312" charset="-122"/>
              </a:rPr>
              <a:t>三级处理为深度处理，</a:t>
            </a:r>
            <a:r>
              <a:rPr lang="zh-CN" altLang="en-US" sz="1800" b="1" dirty="0">
                <a:latin typeface="Arial" panose="020B0604020202020204" pitchFamily="34" charset="0"/>
                <a:ea typeface="楷体_GB2312" charset="-122"/>
              </a:rPr>
              <a:t>出水水质较好，甚至能达到饮用水质标准，但处理费用高，除在一些极度缺水的国家和地区外，应用较少。目前我国许多城市正在筹建和扩建污水二级处理厂，以解决日益严重的水污染问题。</a:t>
            </a:r>
            <a:r>
              <a:rPr lang="zh-CN" altLang="en-US" sz="1800" dirty="0">
                <a:latin typeface="Arial" panose="020B0604020202020204" pitchFamily="34" charset="0"/>
              </a:rPr>
              <a:t> </a:t>
            </a:r>
            <a:endParaRPr lang="zh-CN" altLang="en-US" sz="1800" dirty="0">
              <a:latin typeface="Arial" panose="020B0604020202020204" pitchFamily="3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7618" name="矩形 367617"/>
          <p:cNvSpPr/>
          <p:nvPr/>
        </p:nvSpPr>
        <p:spPr>
          <a:xfrm>
            <a:off x="1774825" y="2868296"/>
            <a:ext cx="5372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污水</a:t>
            </a:r>
            <a:endParaRPr lang="zh-CN" altLang="en-US" sz="1400" b="1">
              <a:latin typeface="Times New Roman" panose="02020603050405020304" charset="0"/>
            </a:endParaRPr>
          </a:p>
        </p:txBody>
      </p:sp>
      <p:sp>
        <p:nvSpPr>
          <p:cNvPr id="367619" name="直接连接符 367618"/>
          <p:cNvSpPr/>
          <p:nvPr/>
        </p:nvSpPr>
        <p:spPr>
          <a:xfrm>
            <a:off x="2279650" y="3068638"/>
            <a:ext cx="360363" cy="0"/>
          </a:xfrm>
          <a:prstGeom prst="line">
            <a:avLst/>
          </a:prstGeom>
          <a:ln w="9525" cap="flat" cmpd="sng">
            <a:solidFill>
              <a:schemeClr val="tx1"/>
            </a:solidFill>
            <a:prstDash val="solid"/>
            <a:headEnd type="none" w="med" len="med"/>
            <a:tailEnd type="triangle" w="med" len="med"/>
          </a:ln>
        </p:spPr>
      </p:sp>
      <p:sp>
        <p:nvSpPr>
          <p:cNvPr id="367620" name="矩形 367619"/>
          <p:cNvSpPr/>
          <p:nvPr/>
        </p:nvSpPr>
        <p:spPr>
          <a:xfrm>
            <a:off x="2640013" y="2852738"/>
            <a:ext cx="900112" cy="360362"/>
          </a:xfrm>
          <a:prstGeom prst="rect">
            <a:avLst/>
          </a:prstGeom>
          <a:gradFill rotWithShape="1">
            <a:gsLst>
              <a:gs pos="0">
                <a:srgbClr val="5E9EFF"/>
              </a:gs>
              <a:gs pos="100000">
                <a:schemeClr val="bg1"/>
              </a:gs>
            </a:gsLst>
            <a:lin ang="5400000" scaled="1"/>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筛滤装置</a:t>
            </a:r>
            <a:endParaRPr lang="zh-CN" altLang="en-US" sz="1400" b="1">
              <a:latin typeface="Times New Roman" panose="02020603050405020304" charset="0"/>
            </a:endParaRPr>
          </a:p>
        </p:txBody>
      </p:sp>
      <p:sp>
        <p:nvSpPr>
          <p:cNvPr id="367621" name="直接连接符 367620"/>
          <p:cNvSpPr/>
          <p:nvPr/>
        </p:nvSpPr>
        <p:spPr>
          <a:xfrm>
            <a:off x="3575050" y="3068638"/>
            <a:ext cx="360363" cy="0"/>
          </a:xfrm>
          <a:prstGeom prst="line">
            <a:avLst/>
          </a:prstGeom>
          <a:ln w="9525" cap="flat" cmpd="sng">
            <a:solidFill>
              <a:schemeClr val="tx1"/>
            </a:solidFill>
            <a:prstDash val="solid"/>
            <a:headEnd type="none" w="med" len="med"/>
            <a:tailEnd type="triangle" w="med" len="med"/>
          </a:ln>
        </p:spPr>
      </p:sp>
      <p:sp>
        <p:nvSpPr>
          <p:cNvPr id="367622" name="矩形 367621"/>
          <p:cNvSpPr/>
          <p:nvPr/>
        </p:nvSpPr>
        <p:spPr>
          <a:xfrm>
            <a:off x="3935413" y="2852738"/>
            <a:ext cx="719137" cy="360362"/>
          </a:xfrm>
          <a:prstGeom prst="rect">
            <a:avLst/>
          </a:prstGeom>
          <a:gradFill rotWithShape="1">
            <a:gsLst>
              <a:gs pos="0">
                <a:srgbClr val="3399FF"/>
              </a:gs>
              <a:gs pos="100000">
                <a:srgbClr val="FFFFFF"/>
              </a:gs>
            </a:gsLst>
            <a:path path="rect">
              <a:fillToRect r="100000" b="100000"/>
            </a:path>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沉砂池</a:t>
            </a:r>
            <a:endParaRPr lang="zh-CN" altLang="en-US" sz="1400" b="1">
              <a:latin typeface="Times New Roman" panose="02020603050405020304" charset="0"/>
            </a:endParaRPr>
          </a:p>
        </p:txBody>
      </p:sp>
      <p:sp>
        <p:nvSpPr>
          <p:cNvPr id="367623" name="直接连接符 367622"/>
          <p:cNvSpPr/>
          <p:nvPr/>
        </p:nvSpPr>
        <p:spPr>
          <a:xfrm>
            <a:off x="4656138" y="3068638"/>
            <a:ext cx="360362" cy="0"/>
          </a:xfrm>
          <a:prstGeom prst="line">
            <a:avLst/>
          </a:prstGeom>
          <a:ln w="9525" cap="flat" cmpd="sng">
            <a:solidFill>
              <a:schemeClr val="tx1"/>
            </a:solidFill>
            <a:prstDash val="solid"/>
            <a:headEnd type="none" w="med" len="med"/>
            <a:tailEnd type="triangle" w="med" len="med"/>
          </a:ln>
        </p:spPr>
      </p:sp>
      <p:sp>
        <p:nvSpPr>
          <p:cNvPr id="367624" name="矩形 367623"/>
          <p:cNvSpPr/>
          <p:nvPr/>
        </p:nvSpPr>
        <p:spPr>
          <a:xfrm>
            <a:off x="5016500" y="2781300"/>
            <a:ext cx="719138" cy="539750"/>
          </a:xfrm>
          <a:prstGeom prst="rect">
            <a:avLst/>
          </a:prstGeom>
          <a:gradFill rotWithShape="1">
            <a:gsLst>
              <a:gs pos="0">
                <a:srgbClr val="3399FF"/>
              </a:gs>
              <a:gs pos="100000">
                <a:srgbClr val="FFFFFF"/>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初次</a:t>
            </a:r>
            <a:endParaRPr lang="zh-CN" altLang="en-US" sz="1400" b="1">
              <a:latin typeface="Times New Roman" panose="02020603050405020304" charset="0"/>
            </a:endParaRPr>
          </a:p>
          <a:p>
            <a:r>
              <a:rPr lang="zh-CN" altLang="en-US" sz="1400" b="1">
                <a:latin typeface="Times New Roman" panose="02020603050405020304" charset="0"/>
              </a:rPr>
              <a:t>沉淀池</a:t>
            </a:r>
            <a:endParaRPr lang="zh-CN" altLang="en-US" sz="1400" b="1">
              <a:latin typeface="Times New Roman" panose="02020603050405020304" charset="0"/>
            </a:endParaRPr>
          </a:p>
        </p:txBody>
      </p:sp>
      <p:sp>
        <p:nvSpPr>
          <p:cNvPr id="367625" name="矩形 367624"/>
          <p:cNvSpPr/>
          <p:nvPr/>
        </p:nvSpPr>
        <p:spPr>
          <a:xfrm>
            <a:off x="6096000" y="2852738"/>
            <a:ext cx="649288" cy="360362"/>
          </a:xfrm>
          <a:prstGeom prst="rect">
            <a:avLst/>
          </a:prstGeom>
          <a:gradFill rotWithShape="1">
            <a:gsLst>
              <a:gs pos="0">
                <a:srgbClr val="FFFFFF"/>
              </a:gs>
              <a:gs pos="100000">
                <a:srgbClr val="3399FF"/>
              </a:gs>
            </a:gsLst>
            <a:lin ang="18900000" scaled="1"/>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生物池</a:t>
            </a:r>
            <a:endParaRPr lang="zh-CN" altLang="en-US" sz="1400" b="1">
              <a:latin typeface="Times New Roman" panose="02020603050405020304" charset="0"/>
            </a:endParaRPr>
          </a:p>
        </p:txBody>
      </p:sp>
      <p:sp>
        <p:nvSpPr>
          <p:cNvPr id="367626" name="直接连接符 367625"/>
          <p:cNvSpPr/>
          <p:nvPr/>
        </p:nvSpPr>
        <p:spPr>
          <a:xfrm>
            <a:off x="5735638" y="3068638"/>
            <a:ext cx="358775" cy="0"/>
          </a:xfrm>
          <a:prstGeom prst="line">
            <a:avLst/>
          </a:prstGeom>
          <a:ln w="9525" cap="flat" cmpd="sng">
            <a:solidFill>
              <a:schemeClr val="tx1"/>
            </a:solidFill>
            <a:prstDash val="solid"/>
            <a:headEnd type="none" w="med" len="med"/>
            <a:tailEnd type="triangle" w="med" len="med"/>
          </a:ln>
        </p:spPr>
      </p:sp>
      <p:sp>
        <p:nvSpPr>
          <p:cNvPr id="367627" name="矩形 367626"/>
          <p:cNvSpPr/>
          <p:nvPr/>
        </p:nvSpPr>
        <p:spPr>
          <a:xfrm>
            <a:off x="7175500" y="2781300"/>
            <a:ext cx="719138" cy="539750"/>
          </a:xfrm>
          <a:prstGeom prst="rect">
            <a:avLst/>
          </a:prstGeom>
          <a:gradFill rotWithShape="1">
            <a:gsLst>
              <a:gs pos="0">
                <a:srgbClr val="3399FF"/>
              </a:gs>
              <a:gs pos="100000">
                <a:srgbClr val="FFFFFF"/>
              </a:gs>
            </a:gsLst>
            <a:lin ang="2700000" scaled="1"/>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二级</a:t>
            </a:r>
            <a:endParaRPr lang="zh-CN" altLang="en-US" sz="1400" b="1">
              <a:latin typeface="Times New Roman" panose="02020603050405020304" charset="0"/>
            </a:endParaRPr>
          </a:p>
          <a:p>
            <a:r>
              <a:rPr lang="zh-CN" altLang="en-US" sz="1400" b="1">
                <a:latin typeface="Times New Roman" panose="02020603050405020304" charset="0"/>
              </a:rPr>
              <a:t>沉淀池</a:t>
            </a:r>
            <a:endParaRPr lang="zh-CN" altLang="en-US" sz="1400" b="1">
              <a:latin typeface="Times New Roman" panose="02020603050405020304" charset="0"/>
            </a:endParaRPr>
          </a:p>
        </p:txBody>
      </p:sp>
      <p:sp>
        <p:nvSpPr>
          <p:cNvPr id="367628" name="直接连接符 367627"/>
          <p:cNvSpPr/>
          <p:nvPr/>
        </p:nvSpPr>
        <p:spPr>
          <a:xfrm>
            <a:off x="6743700" y="3068638"/>
            <a:ext cx="431800" cy="0"/>
          </a:xfrm>
          <a:prstGeom prst="line">
            <a:avLst/>
          </a:prstGeom>
          <a:ln w="9525" cap="flat" cmpd="sng">
            <a:solidFill>
              <a:schemeClr val="tx1"/>
            </a:solidFill>
            <a:prstDash val="solid"/>
            <a:headEnd type="none" w="med" len="med"/>
            <a:tailEnd type="triangle" w="med" len="med"/>
          </a:ln>
        </p:spPr>
      </p:sp>
      <p:sp>
        <p:nvSpPr>
          <p:cNvPr id="367629" name="直接连接符 367628"/>
          <p:cNvSpPr/>
          <p:nvPr/>
        </p:nvSpPr>
        <p:spPr>
          <a:xfrm>
            <a:off x="7896225" y="3068638"/>
            <a:ext cx="504825" cy="0"/>
          </a:xfrm>
          <a:prstGeom prst="line">
            <a:avLst/>
          </a:prstGeom>
          <a:ln w="9525" cap="flat" cmpd="sng">
            <a:solidFill>
              <a:schemeClr val="tx1"/>
            </a:solidFill>
            <a:prstDash val="solid"/>
            <a:headEnd type="none" w="med" len="med"/>
            <a:tailEnd type="triangle" w="med" len="med"/>
          </a:ln>
        </p:spPr>
      </p:sp>
      <p:sp>
        <p:nvSpPr>
          <p:cNvPr id="367630" name="直接连接符 367629"/>
          <p:cNvSpPr/>
          <p:nvPr/>
        </p:nvSpPr>
        <p:spPr>
          <a:xfrm>
            <a:off x="9372600" y="2565400"/>
            <a:ext cx="0" cy="503238"/>
          </a:xfrm>
          <a:prstGeom prst="line">
            <a:avLst/>
          </a:prstGeom>
          <a:ln w="9525" cap="flat" cmpd="sng">
            <a:solidFill>
              <a:schemeClr val="tx1"/>
            </a:solidFill>
            <a:prstDash val="solid"/>
            <a:headEnd type="none" w="med" len="med"/>
            <a:tailEnd type="triangle" w="med" len="med"/>
          </a:ln>
        </p:spPr>
      </p:sp>
      <p:sp>
        <p:nvSpPr>
          <p:cNvPr id="367631" name="矩形 367630"/>
          <p:cNvSpPr/>
          <p:nvPr/>
        </p:nvSpPr>
        <p:spPr>
          <a:xfrm>
            <a:off x="9103995" y="2204721"/>
            <a:ext cx="5372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加氯</a:t>
            </a:r>
            <a:endParaRPr lang="zh-CN" altLang="en-US" sz="1400" b="1">
              <a:latin typeface="Times New Roman" panose="02020603050405020304" charset="0"/>
            </a:endParaRPr>
          </a:p>
        </p:txBody>
      </p:sp>
      <p:sp>
        <p:nvSpPr>
          <p:cNvPr id="367632" name="矩形 367631"/>
          <p:cNvSpPr/>
          <p:nvPr/>
        </p:nvSpPr>
        <p:spPr>
          <a:xfrm>
            <a:off x="8296910" y="2853055"/>
            <a:ext cx="971550" cy="429260"/>
          </a:xfrm>
          <a:prstGeom prst="rect">
            <a:avLst/>
          </a:prstGeom>
          <a:gradFill rotWithShape="1">
            <a:gsLst>
              <a:gs pos="0">
                <a:srgbClr val="3399FF"/>
              </a:gs>
              <a:gs pos="100000">
                <a:srgbClr val="FFFFFF"/>
              </a:gs>
            </a:gsLst>
            <a:path path="rect">
              <a:fillToRect r="100000" b="100000"/>
            </a:path>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深度处理池</a:t>
            </a:r>
            <a:endParaRPr lang="zh-CN" altLang="en-US" sz="1400" b="1">
              <a:latin typeface="Times New Roman" panose="02020603050405020304" charset="0"/>
            </a:endParaRPr>
          </a:p>
        </p:txBody>
      </p:sp>
      <p:sp>
        <p:nvSpPr>
          <p:cNvPr id="367633" name="直接连接符 367632"/>
          <p:cNvSpPr/>
          <p:nvPr/>
        </p:nvSpPr>
        <p:spPr>
          <a:xfrm>
            <a:off x="9268460" y="3068955"/>
            <a:ext cx="427990" cy="635"/>
          </a:xfrm>
          <a:prstGeom prst="line">
            <a:avLst/>
          </a:prstGeom>
          <a:ln w="9525" cap="flat" cmpd="sng">
            <a:solidFill>
              <a:schemeClr val="tx1"/>
            </a:solidFill>
            <a:prstDash val="solid"/>
            <a:headEnd type="none" w="med" len="med"/>
            <a:tailEnd type="triangle" w="med" len="med"/>
          </a:ln>
        </p:spPr>
      </p:sp>
      <p:sp>
        <p:nvSpPr>
          <p:cNvPr id="367634" name="矩形 367633"/>
          <p:cNvSpPr/>
          <p:nvPr/>
        </p:nvSpPr>
        <p:spPr>
          <a:xfrm>
            <a:off x="11111230" y="2852738"/>
            <a:ext cx="5372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出水</a:t>
            </a:r>
            <a:endParaRPr lang="zh-CN" altLang="en-US" sz="1400" b="1">
              <a:latin typeface="Times New Roman" panose="02020603050405020304" charset="0"/>
            </a:endParaRPr>
          </a:p>
        </p:txBody>
      </p:sp>
      <p:sp>
        <p:nvSpPr>
          <p:cNvPr id="367635" name="直接连接符 367634"/>
          <p:cNvSpPr/>
          <p:nvPr/>
        </p:nvSpPr>
        <p:spPr>
          <a:xfrm>
            <a:off x="3071813" y="3213100"/>
            <a:ext cx="0" cy="287338"/>
          </a:xfrm>
          <a:prstGeom prst="line">
            <a:avLst/>
          </a:prstGeom>
          <a:ln w="9525" cap="flat" cmpd="sng">
            <a:solidFill>
              <a:schemeClr val="tx1"/>
            </a:solidFill>
            <a:prstDash val="solid"/>
            <a:headEnd type="none" w="med" len="med"/>
            <a:tailEnd type="triangle" w="med" len="med"/>
          </a:ln>
        </p:spPr>
      </p:sp>
      <p:sp>
        <p:nvSpPr>
          <p:cNvPr id="367636" name="矩形 367635"/>
          <p:cNvSpPr/>
          <p:nvPr/>
        </p:nvSpPr>
        <p:spPr>
          <a:xfrm>
            <a:off x="2782888" y="3392488"/>
            <a:ext cx="1070610" cy="520700"/>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粗细格栅</a:t>
            </a:r>
            <a:endParaRPr lang="zh-CN" altLang="en-US" sz="1400" b="1">
              <a:latin typeface="Times New Roman" panose="02020603050405020304" charset="0"/>
            </a:endParaRPr>
          </a:p>
          <a:p>
            <a:pPr algn="l"/>
            <a:r>
              <a:rPr lang="zh-CN" altLang="en-US" sz="1400" b="1">
                <a:latin typeface="Times New Roman" panose="02020603050405020304" charset="0"/>
              </a:rPr>
              <a:t>大块漂浮物</a:t>
            </a:r>
            <a:endParaRPr lang="zh-CN" altLang="en-US" sz="1400" b="1">
              <a:latin typeface="Times New Roman" panose="02020603050405020304" charset="0"/>
            </a:endParaRPr>
          </a:p>
        </p:txBody>
      </p:sp>
      <p:sp>
        <p:nvSpPr>
          <p:cNvPr id="367637" name="直接连接符 367636"/>
          <p:cNvSpPr/>
          <p:nvPr/>
        </p:nvSpPr>
        <p:spPr>
          <a:xfrm>
            <a:off x="4295775" y="3213100"/>
            <a:ext cx="0" cy="287338"/>
          </a:xfrm>
          <a:prstGeom prst="line">
            <a:avLst/>
          </a:prstGeom>
          <a:ln w="9525" cap="flat" cmpd="sng">
            <a:solidFill>
              <a:schemeClr val="tx1"/>
            </a:solidFill>
            <a:prstDash val="solid"/>
            <a:headEnd type="none" w="med" len="med"/>
            <a:tailEnd type="triangle" w="med" len="med"/>
          </a:ln>
        </p:spPr>
      </p:sp>
      <p:sp>
        <p:nvSpPr>
          <p:cNvPr id="367638" name="矩形 367637"/>
          <p:cNvSpPr/>
          <p:nvPr/>
        </p:nvSpPr>
        <p:spPr>
          <a:xfrm>
            <a:off x="4008438" y="3500121"/>
            <a:ext cx="5372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砂石</a:t>
            </a:r>
            <a:endParaRPr lang="zh-CN" altLang="en-US" sz="1400" b="1">
              <a:latin typeface="Times New Roman" panose="02020603050405020304" charset="0"/>
            </a:endParaRPr>
          </a:p>
        </p:txBody>
      </p:sp>
      <p:sp>
        <p:nvSpPr>
          <p:cNvPr id="367639" name="直接连接符 367638"/>
          <p:cNvSpPr/>
          <p:nvPr/>
        </p:nvSpPr>
        <p:spPr>
          <a:xfrm>
            <a:off x="5375275" y="3357563"/>
            <a:ext cx="0" cy="1439862"/>
          </a:xfrm>
          <a:prstGeom prst="line">
            <a:avLst/>
          </a:prstGeom>
          <a:ln w="9525" cap="flat" cmpd="sng">
            <a:solidFill>
              <a:schemeClr val="tx1"/>
            </a:solidFill>
            <a:prstDash val="solid"/>
            <a:headEnd type="none" w="med" len="med"/>
            <a:tailEnd type="none" w="med" len="med"/>
          </a:ln>
        </p:spPr>
      </p:sp>
      <p:sp>
        <p:nvSpPr>
          <p:cNvPr id="367640" name="直接连接符 367639"/>
          <p:cNvSpPr/>
          <p:nvPr/>
        </p:nvSpPr>
        <p:spPr>
          <a:xfrm>
            <a:off x="5375275" y="4797425"/>
            <a:ext cx="215900" cy="0"/>
          </a:xfrm>
          <a:prstGeom prst="line">
            <a:avLst/>
          </a:prstGeom>
          <a:ln w="9525" cap="flat" cmpd="sng">
            <a:solidFill>
              <a:schemeClr val="tx1"/>
            </a:solidFill>
            <a:prstDash val="solid"/>
            <a:headEnd type="none" w="med" len="med"/>
            <a:tailEnd type="triangle" w="med" len="med"/>
          </a:ln>
        </p:spPr>
      </p:sp>
      <p:sp>
        <p:nvSpPr>
          <p:cNvPr id="367641" name="直接连接符 367640"/>
          <p:cNvSpPr/>
          <p:nvPr/>
        </p:nvSpPr>
        <p:spPr>
          <a:xfrm>
            <a:off x="5880100" y="3068638"/>
            <a:ext cx="0" cy="1223962"/>
          </a:xfrm>
          <a:prstGeom prst="line">
            <a:avLst/>
          </a:prstGeom>
          <a:ln w="9525" cap="flat" cmpd="sng">
            <a:solidFill>
              <a:schemeClr val="tx1"/>
            </a:solidFill>
            <a:prstDash val="solid"/>
            <a:headEnd type="none" w="med" len="med"/>
            <a:tailEnd type="none" w="med" len="med"/>
          </a:ln>
        </p:spPr>
      </p:sp>
      <p:sp>
        <p:nvSpPr>
          <p:cNvPr id="367642" name="直接连接符 367641"/>
          <p:cNvSpPr/>
          <p:nvPr/>
        </p:nvSpPr>
        <p:spPr>
          <a:xfrm>
            <a:off x="5375275" y="4292600"/>
            <a:ext cx="2160588" cy="0"/>
          </a:xfrm>
          <a:prstGeom prst="line">
            <a:avLst/>
          </a:prstGeom>
          <a:ln w="9525" cap="flat" cmpd="sng">
            <a:solidFill>
              <a:schemeClr val="tx1"/>
            </a:solidFill>
            <a:prstDash val="solid"/>
            <a:headEnd type="none" w="med" len="med"/>
            <a:tailEnd type="none" w="med" len="med"/>
          </a:ln>
        </p:spPr>
      </p:sp>
      <p:sp>
        <p:nvSpPr>
          <p:cNvPr id="367643" name="直接连接符 367642"/>
          <p:cNvSpPr/>
          <p:nvPr/>
        </p:nvSpPr>
        <p:spPr>
          <a:xfrm flipV="1">
            <a:off x="6311900" y="3213100"/>
            <a:ext cx="0" cy="287338"/>
          </a:xfrm>
          <a:prstGeom prst="line">
            <a:avLst/>
          </a:prstGeom>
          <a:ln w="9525" cap="flat" cmpd="sng">
            <a:solidFill>
              <a:schemeClr val="tx1"/>
            </a:solidFill>
            <a:prstDash val="solid"/>
            <a:headEnd type="none" w="med" len="med"/>
            <a:tailEnd type="triangle" w="med" len="med"/>
          </a:ln>
        </p:spPr>
      </p:sp>
      <p:sp>
        <p:nvSpPr>
          <p:cNvPr id="367644" name="直接连接符 367643"/>
          <p:cNvSpPr/>
          <p:nvPr/>
        </p:nvSpPr>
        <p:spPr>
          <a:xfrm flipV="1">
            <a:off x="6600825" y="3213100"/>
            <a:ext cx="0" cy="287338"/>
          </a:xfrm>
          <a:prstGeom prst="line">
            <a:avLst/>
          </a:prstGeom>
          <a:ln w="9525" cap="flat" cmpd="sng">
            <a:solidFill>
              <a:schemeClr val="tx1"/>
            </a:solidFill>
            <a:prstDash val="solid"/>
            <a:headEnd type="none" w="med" len="med"/>
            <a:tailEnd type="triangle" w="med" len="med"/>
          </a:ln>
        </p:spPr>
      </p:sp>
      <p:sp>
        <p:nvSpPr>
          <p:cNvPr id="367645" name="矩形 367644"/>
          <p:cNvSpPr/>
          <p:nvPr/>
        </p:nvSpPr>
        <p:spPr>
          <a:xfrm>
            <a:off x="6203950" y="3484246"/>
            <a:ext cx="5372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空气</a:t>
            </a:r>
            <a:endParaRPr lang="zh-CN" altLang="en-US" sz="1400" b="1">
              <a:latin typeface="Times New Roman" panose="02020603050405020304" charset="0"/>
            </a:endParaRPr>
          </a:p>
        </p:txBody>
      </p:sp>
      <p:sp>
        <p:nvSpPr>
          <p:cNvPr id="367646" name="直接连接符 367645"/>
          <p:cNvSpPr/>
          <p:nvPr/>
        </p:nvSpPr>
        <p:spPr>
          <a:xfrm>
            <a:off x="7535863" y="3357563"/>
            <a:ext cx="0" cy="935037"/>
          </a:xfrm>
          <a:prstGeom prst="line">
            <a:avLst/>
          </a:prstGeom>
          <a:ln w="9525" cap="flat" cmpd="sng">
            <a:solidFill>
              <a:schemeClr val="tx1"/>
            </a:solidFill>
            <a:prstDash val="solid"/>
            <a:headEnd type="none" w="med" len="med"/>
            <a:tailEnd type="none" w="med" len="med"/>
          </a:ln>
        </p:spPr>
      </p:sp>
      <p:sp>
        <p:nvSpPr>
          <p:cNvPr id="367647" name="矩形 367646"/>
          <p:cNvSpPr/>
          <p:nvPr/>
        </p:nvSpPr>
        <p:spPr>
          <a:xfrm>
            <a:off x="6569075" y="3933508"/>
            <a:ext cx="8928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活性污泥</a:t>
            </a:r>
            <a:endParaRPr lang="zh-CN" altLang="en-US" sz="1400" b="1">
              <a:latin typeface="Times New Roman" panose="02020603050405020304" charset="0"/>
            </a:endParaRPr>
          </a:p>
        </p:txBody>
      </p:sp>
      <p:sp>
        <p:nvSpPr>
          <p:cNvPr id="367648" name="矩形 367647"/>
          <p:cNvSpPr/>
          <p:nvPr/>
        </p:nvSpPr>
        <p:spPr>
          <a:xfrm>
            <a:off x="5591175" y="4581525"/>
            <a:ext cx="649288" cy="360363"/>
          </a:xfrm>
          <a:prstGeom prst="rect">
            <a:avLst/>
          </a:prstGeom>
          <a:gradFill rotWithShape="1">
            <a:gsLst>
              <a:gs pos="0">
                <a:srgbClr val="3399FF"/>
              </a:gs>
              <a:gs pos="100000">
                <a:srgbClr val="FFFFFF"/>
              </a:gs>
            </a:gsLst>
            <a:path path="rect">
              <a:fillToRect r="100000" b="100000"/>
            </a:path>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浓缩池</a:t>
            </a:r>
            <a:endParaRPr lang="zh-CN" altLang="en-US" sz="1400" b="1">
              <a:latin typeface="Times New Roman" panose="02020603050405020304" charset="0"/>
            </a:endParaRPr>
          </a:p>
        </p:txBody>
      </p:sp>
      <p:sp>
        <p:nvSpPr>
          <p:cNvPr id="367649" name="直接连接符 367648"/>
          <p:cNvSpPr/>
          <p:nvPr/>
        </p:nvSpPr>
        <p:spPr>
          <a:xfrm>
            <a:off x="6240463" y="4797425"/>
            <a:ext cx="431800" cy="0"/>
          </a:xfrm>
          <a:prstGeom prst="line">
            <a:avLst/>
          </a:prstGeom>
          <a:ln w="9525" cap="flat" cmpd="sng">
            <a:solidFill>
              <a:schemeClr val="tx1"/>
            </a:solidFill>
            <a:prstDash val="solid"/>
            <a:headEnd type="none" w="med" len="med"/>
            <a:tailEnd type="triangle" w="med" len="med"/>
          </a:ln>
        </p:spPr>
      </p:sp>
      <p:sp>
        <p:nvSpPr>
          <p:cNvPr id="367650" name="矩形 367649"/>
          <p:cNvSpPr/>
          <p:nvPr/>
        </p:nvSpPr>
        <p:spPr>
          <a:xfrm>
            <a:off x="6672263" y="4508500"/>
            <a:ext cx="719137" cy="539750"/>
          </a:xfrm>
          <a:prstGeom prst="rect">
            <a:avLst/>
          </a:prstGeom>
          <a:gradFill rotWithShape="1">
            <a:gsLst>
              <a:gs pos="0">
                <a:srgbClr val="3399FF"/>
              </a:gs>
              <a:gs pos="100000">
                <a:srgbClr val="FFFFFF"/>
              </a:gs>
            </a:gsLst>
            <a:lin ang="0" scaled="1"/>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污泥</a:t>
            </a:r>
            <a:endParaRPr lang="zh-CN" altLang="en-US" sz="1400" b="1">
              <a:latin typeface="Times New Roman" panose="02020603050405020304" charset="0"/>
            </a:endParaRPr>
          </a:p>
          <a:p>
            <a:r>
              <a:rPr lang="zh-CN" altLang="en-US" sz="1400" b="1">
                <a:latin typeface="Times New Roman" panose="02020603050405020304" charset="0"/>
              </a:rPr>
              <a:t>消化池</a:t>
            </a:r>
            <a:endParaRPr lang="zh-CN" altLang="en-US" sz="1400" b="1">
              <a:latin typeface="Times New Roman" panose="02020603050405020304" charset="0"/>
            </a:endParaRPr>
          </a:p>
        </p:txBody>
      </p:sp>
      <p:sp>
        <p:nvSpPr>
          <p:cNvPr id="367651" name="直接连接符 367650"/>
          <p:cNvSpPr/>
          <p:nvPr/>
        </p:nvSpPr>
        <p:spPr>
          <a:xfrm>
            <a:off x="7391400" y="4797425"/>
            <a:ext cx="719138" cy="0"/>
          </a:xfrm>
          <a:prstGeom prst="line">
            <a:avLst/>
          </a:prstGeom>
          <a:ln w="9525" cap="flat" cmpd="sng">
            <a:solidFill>
              <a:schemeClr val="tx1"/>
            </a:solidFill>
            <a:prstDash val="solid"/>
            <a:headEnd type="none" w="med" len="med"/>
            <a:tailEnd type="triangle" w="med" len="med"/>
          </a:ln>
        </p:spPr>
      </p:sp>
      <p:sp>
        <p:nvSpPr>
          <p:cNvPr id="367652" name="矩形 367651"/>
          <p:cNvSpPr/>
          <p:nvPr/>
        </p:nvSpPr>
        <p:spPr>
          <a:xfrm>
            <a:off x="8112125" y="4581525"/>
            <a:ext cx="760730" cy="360680"/>
          </a:xfrm>
          <a:prstGeom prst="rect">
            <a:avLst/>
          </a:prstGeom>
          <a:gradFill rotWithShape="1">
            <a:gsLst>
              <a:gs pos="0">
                <a:srgbClr val="3399FF"/>
              </a:gs>
              <a:gs pos="100000">
                <a:srgbClr val="FFFFFF"/>
              </a:gs>
            </a:gsLst>
            <a:path path="shape">
              <a:fillToRect l="50000" t="50000" r="50000" b="50000"/>
            </a:path>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脱水干化</a:t>
            </a:r>
            <a:endParaRPr lang="zh-CN" altLang="en-US" sz="1400" b="1">
              <a:latin typeface="Times New Roman" panose="02020603050405020304" charset="0"/>
            </a:endParaRPr>
          </a:p>
        </p:txBody>
      </p:sp>
      <p:sp>
        <p:nvSpPr>
          <p:cNvPr id="367653" name="直接连接符 367652"/>
          <p:cNvSpPr/>
          <p:nvPr/>
        </p:nvSpPr>
        <p:spPr>
          <a:xfrm>
            <a:off x="8759825" y="4797425"/>
            <a:ext cx="719138" cy="0"/>
          </a:xfrm>
          <a:prstGeom prst="line">
            <a:avLst/>
          </a:prstGeom>
          <a:ln w="9525" cap="flat" cmpd="sng">
            <a:solidFill>
              <a:schemeClr val="tx1"/>
            </a:solidFill>
            <a:prstDash val="solid"/>
            <a:headEnd type="none" w="med" len="med"/>
            <a:tailEnd type="triangle" w="med" len="med"/>
          </a:ln>
        </p:spPr>
      </p:sp>
      <p:sp>
        <p:nvSpPr>
          <p:cNvPr id="367654" name="矩形 367653"/>
          <p:cNvSpPr/>
          <p:nvPr/>
        </p:nvSpPr>
        <p:spPr>
          <a:xfrm>
            <a:off x="9048750" y="4868546"/>
            <a:ext cx="1070610" cy="305435"/>
          </a:xfrm>
          <a:prstGeom prst="rect">
            <a:avLst/>
          </a:prstGeom>
          <a:noFill/>
          <a:ln w="9525">
            <a:noFill/>
          </a:ln>
        </p:spPr>
        <p:txBody>
          <a:bodyPr wrap="none" lIns="91431" tIns="45715" rIns="91431" bIns="45715" anchor="ctr" anchorCtr="0">
            <a:spAutoFit/>
          </a:bodyPr>
          <a:p>
            <a:pPr algn="l"/>
            <a:r>
              <a:rPr lang="zh-CN" altLang="en-US" sz="1400" b="1">
                <a:latin typeface="Times New Roman" panose="02020603050405020304" charset="0"/>
              </a:rPr>
              <a:t>污泥处置场</a:t>
            </a:r>
            <a:endParaRPr lang="zh-CN" altLang="en-US" sz="1400" b="1">
              <a:latin typeface="Times New Roman" panose="02020603050405020304" charset="0"/>
            </a:endParaRPr>
          </a:p>
        </p:txBody>
      </p:sp>
      <p:sp>
        <p:nvSpPr>
          <p:cNvPr id="367655" name="矩形 367654"/>
          <p:cNvSpPr/>
          <p:nvPr/>
        </p:nvSpPr>
        <p:spPr>
          <a:xfrm>
            <a:off x="4872038" y="3282951"/>
            <a:ext cx="576262" cy="520700"/>
          </a:xfrm>
          <a:prstGeom prst="rect">
            <a:avLst/>
          </a:prstGeom>
          <a:noFill/>
          <a:ln w="9525">
            <a:noFill/>
          </a:ln>
        </p:spPr>
        <p:txBody>
          <a:bodyPr lIns="91431" tIns="45715" rIns="91431" bIns="45715" anchor="ctr" anchorCtr="0">
            <a:spAutoFit/>
          </a:bodyPr>
          <a:p>
            <a:pPr algn="l"/>
            <a:r>
              <a:rPr lang="zh-CN" altLang="en-US" sz="1400" b="1">
                <a:latin typeface="Times New Roman" panose="02020603050405020304" charset="0"/>
              </a:rPr>
              <a:t>一次</a:t>
            </a:r>
            <a:endParaRPr lang="zh-CN" altLang="en-US" sz="1400" b="1">
              <a:latin typeface="Times New Roman" panose="02020603050405020304" charset="0"/>
            </a:endParaRPr>
          </a:p>
          <a:p>
            <a:pPr algn="l"/>
            <a:r>
              <a:rPr lang="zh-CN" altLang="en-US" sz="1400" b="1">
                <a:latin typeface="Times New Roman" panose="02020603050405020304" charset="0"/>
              </a:rPr>
              <a:t>污泥</a:t>
            </a:r>
            <a:endParaRPr lang="zh-CN" altLang="en-US" sz="1400" b="1">
              <a:latin typeface="Times New Roman" panose="02020603050405020304" charset="0"/>
            </a:endParaRPr>
          </a:p>
        </p:txBody>
      </p:sp>
      <p:sp>
        <p:nvSpPr>
          <p:cNvPr id="367656" name="矩形 367655"/>
          <p:cNvSpPr/>
          <p:nvPr/>
        </p:nvSpPr>
        <p:spPr>
          <a:xfrm>
            <a:off x="3713163" y="858679"/>
            <a:ext cx="4819650" cy="459105"/>
          </a:xfrm>
          <a:prstGeom prst="rect">
            <a:avLst/>
          </a:prstGeom>
          <a:noFill/>
          <a:ln w="9525">
            <a:noFill/>
          </a:ln>
        </p:spPr>
        <p:txBody>
          <a:bodyPr lIns="91431" tIns="45715" rIns="91431" bIns="45715" anchor="ctr" anchorCtr="0">
            <a:spAutoFit/>
          </a:bodyPr>
          <a:p>
            <a:r>
              <a:rPr lang="zh-CN" altLang="en-US" sz="2400" b="1">
                <a:effectLst>
                  <a:outerShdw blurRad="38100" dist="38100" dir="2700000">
                    <a:srgbClr val="C0C0C0"/>
                  </a:outerShdw>
                </a:effectLst>
                <a:latin typeface="Times New Roman" panose="02020603050405020304" charset="0"/>
              </a:rPr>
              <a:t>市政污水处理工艺流程示意图</a:t>
            </a:r>
            <a:endParaRPr lang="zh-CN" altLang="en-US" sz="2400" b="1">
              <a:effectLst>
                <a:outerShdw blurRad="38100" dist="38100" dir="2700000">
                  <a:srgbClr val="C0C0C0"/>
                </a:outerShdw>
              </a:effectLst>
              <a:latin typeface="Times New Roman" panose="02020603050405020304" charset="0"/>
            </a:endParaRPr>
          </a:p>
        </p:txBody>
      </p:sp>
      <p:sp>
        <p:nvSpPr>
          <p:cNvPr id="367657" name="直接连接符 367656"/>
          <p:cNvSpPr/>
          <p:nvPr/>
        </p:nvSpPr>
        <p:spPr>
          <a:xfrm flipV="1">
            <a:off x="5880100" y="3068638"/>
            <a:ext cx="0" cy="1154112"/>
          </a:xfrm>
          <a:prstGeom prst="line">
            <a:avLst/>
          </a:prstGeom>
          <a:ln w="9525" cap="flat" cmpd="sng">
            <a:solidFill>
              <a:schemeClr val="tx1"/>
            </a:solidFill>
            <a:prstDash val="solid"/>
            <a:headEnd type="none" w="med" len="med"/>
            <a:tailEnd type="triangle" w="med" len="med"/>
          </a:ln>
        </p:spPr>
      </p:sp>
      <p:sp>
        <p:nvSpPr>
          <p:cNvPr id="367658" name="直接连接符 367657"/>
          <p:cNvSpPr/>
          <p:nvPr/>
        </p:nvSpPr>
        <p:spPr>
          <a:xfrm flipH="1">
            <a:off x="5373688" y="4294188"/>
            <a:ext cx="2166937" cy="0"/>
          </a:xfrm>
          <a:prstGeom prst="line">
            <a:avLst/>
          </a:prstGeom>
          <a:ln w="9525" cap="flat" cmpd="sng">
            <a:solidFill>
              <a:schemeClr val="tx1"/>
            </a:solidFill>
            <a:prstDash val="solid"/>
            <a:headEnd type="none" w="med" len="med"/>
            <a:tailEnd type="triangle" w="med" len="med"/>
          </a:ln>
        </p:spPr>
      </p:sp>
      <p:sp>
        <p:nvSpPr>
          <p:cNvPr id="367659" name="直接连接符 367658"/>
          <p:cNvSpPr/>
          <p:nvPr/>
        </p:nvSpPr>
        <p:spPr>
          <a:xfrm>
            <a:off x="5373688" y="3357563"/>
            <a:ext cx="0" cy="577850"/>
          </a:xfrm>
          <a:prstGeom prst="line">
            <a:avLst/>
          </a:prstGeom>
          <a:ln w="9525" cap="flat" cmpd="sng">
            <a:solidFill>
              <a:schemeClr val="tx1"/>
            </a:solidFill>
            <a:prstDash val="solid"/>
            <a:headEnd type="none" w="med" len="med"/>
            <a:tailEnd type="triangle" w="med" len="med"/>
          </a:ln>
        </p:spPr>
      </p:sp>
      <p:sp>
        <p:nvSpPr>
          <p:cNvPr id="367660" name="直接连接符 367659"/>
          <p:cNvSpPr/>
          <p:nvPr/>
        </p:nvSpPr>
        <p:spPr>
          <a:xfrm>
            <a:off x="7540625" y="3357563"/>
            <a:ext cx="0" cy="577850"/>
          </a:xfrm>
          <a:prstGeom prst="line">
            <a:avLst/>
          </a:prstGeom>
          <a:ln w="9525" cap="flat" cmpd="sng">
            <a:solidFill>
              <a:schemeClr val="tx1"/>
            </a:solidFill>
            <a:prstDash val="solid"/>
            <a:headEnd type="none" w="med" len="med"/>
            <a:tailEnd type="triangle" w="med" len="med"/>
          </a:ln>
        </p:spPr>
      </p:sp>
      <p:sp>
        <p:nvSpPr>
          <p:cNvPr id="2" name="矩形 1"/>
          <p:cNvSpPr/>
          <p:nvPr/>
        </p:nvSpPr>
        <p:spPr>
          <a:xfrm>
            <a:off x="9696450" y="2813368"/>
            <a:ext cx="649288" cy="360362"/>
          </a:xfrm>
          <a:prstGeom prst="rect">
            <a:avLst/>
          </a:prstGeom>
          <a:gradFill rotWithShape="1">
            <a:gsLst>
              <a:gs pos="0">
                <a:srgbClr val="3399FF"/>
              </a:gs>
              <a:gs pos="100000">
                <a:srgbClr val="FFFFFF"/>
              </a:gs>
            </a:gsLst>
            <a:path path="rect">
              <a:fillToRect r="100000" b="100000"/>
            </a:path>
            <a:tileRect/>
          </a:gradFill>
          <a:ln w="9525" cap="flat" cmpd="sng">
            <a:solidFill>
              <a:schemeClr val="tx1"/>
            </a:solidFill>
            <a:prstDash val="solid"/>
            <a:miter/>
            <a:headEnd type="none" w="med" len="med"/>
            <a:tailEnd type="none" w="med" len="med"/>
          </a:ln>
        </p:spPr>
        <p:txBody>
          <a:bodyPr wrap="none" lIns="91431" tIns="45715" rIns="91431" bIns="45715" anchor="ctr" anchorCtr="0"/>
          <a:p>
            <a:r>
              <a:rPr lang="zh-CN" altLang="en-US" sz="1400" b="1">
                <a:latin typeface="Times New Roman" panose="02020603050405020304" charset="0"/>
              </a:rPr>
              <a:t>消毒池</a:t>
            </a:r>
            <a:endParaRPr lang="zh-CN" altLang="en-US" sz="1400" b="1">
              <a:latin typeface="Times New Roman" panose="02020603050405020304" charset="0"/>
            </a:endParaRPr>
          </a:p>
        </p:txBody>
      </p:sp>
      <p:sp>
        <p:nvSpPr>
          <p:cNvPr id="3" name="直接连接符 2"/>
          <p:cNvSpPr/>
          <p:nvPr/>
        </p:nvSpPr>
        <p:spPr>
          <a:xfrm>
            <a:off x="10346055" y="3020378"/>
            <a:ext cx="647700" cy="0"/>
          </a:xfrm>
          <a:prstGeom prst="line">
            <a:avLst/>
          </a:prstGeom>
          <a:ln w="9525" cap="flat" cmpd="sng">
            <a:solidFill>
              <a:schemeClr val="tx1"/>
            </a:solidFill>
            <a:prstDash val="solid"/>
            <a:headEnd type="none" w="med" len="med"/>
            <a:tailEnd type="triangle" w="med" len="med"/>
          </a:ln>
        </p:spPr>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圆角矩形 166913"/>
          <p:cNvSpPr/>
          <p:nvPr/>
        </p:nvSpPr>
        <p:spPr>
          <a:xfrm>
            <a:off x="3352800" y="5143500"/>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66915" name="直接连接符 166914"/>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6918" name="五边形 166917"/>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
        <p:nvSpPr>
          <p:cNvPr id="166919" name="圆角矩形 166918"/>
          <p:cNvSpPr/>
          <p:nvPr/>
        </p:nvSpPr>
        <p:spPr>
          <a:xfrm>
            <a:off x="3352800" y="23701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66920" name="圆角矩形 166919"/>
          <p:cNvSpPr/>
          <p:nvPr/>
        </p:nvSpPr>
        <p:spPr>
          <a:xfrm>
            <a:off x="3352800" y="32845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66921" name="圆角矩形 166920"/>
          <p:cNvSpPr/>
          <p:nvPr/>
        </p:nvSpPr>
        <p:spPr>
          <a:xfrm>
            <a:off x="3352800" y="4219575"/>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66922" name="矩形 166921"/>
          <p:cNvSpPr/>
          <p:nvPr/>
        </p:nvSpPr>
        <p:spPr>
          <a:xfrm>
            <a:off x="4419600" y="4120833"/>
            <a:ext cx="3417888"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中国大气污染的特征</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66923" name="矩形 166922"/>
          <p:cNvSpPr/>
          <p:nvPr/>
        </p:nvSpPr>
        <p:spPr>
          <a:xfrm>
            <a:off x="4344988" y="2271395"/>
            <a:ext cx="3560762"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大气污染物分类</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
        <p:nvSpPr>
          <p:cNvPr id="166924" name="矩形 166923"/>
          <p:cNvSpPr/>
          <p:nvPr/>
        </p:nvSpPr>
        <p:spPr>
          <a:xfrm>
            <a:off x="4267200" y="3185795"/>
            <a:ext cx="3449638"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大气污染源</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
        <p:nvSpPr>
          <p:cNvPr id="166925" name="圆角矩形 166924"/>
          <p:cNvSpPr/>
          <p:nvPr/>
        </p:nvSpPr>
        <p:spPr>
          <a:xfrm>
            <a:off x="3352800" y="15319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66926" name="矩形 166925"/>
          <p:cNvSpPr/>
          <p:nvPr/>
        </p:nvSpPr>
        <p:spPr>
          <a:xfrm>
            <a:off x="4495800" y="1385570"/>
            <a:ext cx="3357563"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大气污染的定义</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
        <p:nvSpPr>
          <p:cNvPr id="166927" name="矩形 166926"/>
          <p:cNvSpPr/>
          <p:nvPr/>
        </p:nvSpPr>
        <p:spPr>
          <a:xfrm>
            <a:off x="4419600" y="5035233"/>
            <a:ext cx="3275013"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大气污染的危害</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直接连接符 16793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7941" name="矩形 167940"/>
          <p:cNvSpPr/>
          <p:nvPr/>
        </p:nvSpPr>
        <p:spPr>
          <a:xfrm>
            <a:off x="1925638" y="2512060"/>
            <a:ext cx="7827962" cy="2122805"/>
          </a:xfrm>
          <a:prstGeom prst="rect">
            <a:avLst/>
          </a:prstGeom>
          <a:noFill/>
          <a:ln w="9525">
            <a:noFill/>
          </a:ln>
        </p:spPr>
        <p:txBody>
          <a:bodyPr anchor="ctr" anchorCtr="0">
            <a:spAutoFit/>
          </a:bodyPr>
          <a:p>
            <a:pPr algn="l">
              <a:lnSpc>
                <a:spcPct val="150000"/>
              </a:lnSpc>
            </a:pPr>
            <a:r>
              <a:rPr lang="zh-CN" altLang="en-US" sz="2200" b="1" dirty="0">
                <a:solidFill>
                  <a:srgbClr val="FC4A26"/>
                </a:solidFill>
                <a:latin typeface="楷体_GB2312" charset="-122"/>
                <a:ea typeface="楷体_GB2312" charset="-122"/>
              </a:rPr>
              <a:t>    </a:t>
            </a:r>
            <a:r>
              <a:rPr lang="zh-CN" altLang="en-US" sz="2200" b="1" u="sng" dirty="0">
                <a:solidFill>
                  <a:srgbClr val="FC4A26"/>
                </a:solidFill>
                <a:latin typeface="楷体_GB2312" charset="-122"/>
                <a:ea typeface="楷体_GB2312" charset="-122"/>
              </a:rPr>
              <a:t>大气污染</a:t>
            </a:r>
            <a:r>
              <a:rPr lang="zh-CN" altLang="en-US" sz="2200" dirty="0">
                <a:latin typeface="楷体_GB2312" charset="-122"/>
                <a:ea typeface="楷体_GB2312" charset="-122"/>
              </a:rPr>
              <a:t>的定义起源于对有害影响的观察，也就是说，如果大气污染物达到一定浓度，并持续足够的时间，达到对公众健康、动物、植物、材料、大气特性或环境美学因素产生可以测量的影响，这就是大气污染。</a:t>
            </a:r>
            <a:r>
              <a:rPr lang="zh-CN" altLang="en-US" sz="2200" b="1" u="sng" dirty="0">
                <a:solidFill>
                  <a:srgbClr val="FC4A26"/>
                </a:solidFill>
                <a:latin typeface="楷体_GB2312" charset="-122"/>
                <a:ea typeface="楷体_GB2312" charset="-122"/>
              </a:rPr>
              <a:t> </a:t>
            </a:r>
            <a:endParaRPr lang="zh-CN" altLang="en-GB" sz="2200" b="1" u="sng" dirty="0">
              <a:solidFill>
                <a:srgbClr val="FC4A26"/>
              </a:solidFill>
              <a:latin typeface="楷体_GB2312" charset="-122"/>
              <a:ea typeface="楷体_GB2312" charset="-122"/>
            </a:endParaRPr>
          </a:p>
        </p:txBody>
      </p:sp>
      <p:sp>
        <p:nvSpPr>
          <p:cNvPr id="167942" name="矩形 167941"/>
          <p:cNvSpPr/>
          <p:nvPr/>
        </p:nvSpPr>
        <p:spPr>
          <a:xfrm>
            <a:off x="1906588" y="1169670"/>
            <a:ext cx="28178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大气污染的定义 </a:t>
            </a:r>
            <a:endParaRPr lang="zh-CN" altLang="en-GB" sz="2800" b="1" dirty="0">
              <a:solidFill>
                <a:srgbClr val="FC4A26"/>
              </a:solidFill>
              <a:latin typeface="楷体_GB2312" charset="-122"/>
              <a:ea typeface="楷体_GB2312" charset="-122"/>
            </a:endParaRPr>
          </a:p>
        </p:txBody>
      </p:sp>
      <p:sp>
        <p:nvSpPr>
          <p:cNvPr id="167943" name="五边形 167942"/>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
        <p:nvSpPr>
          <p:cNvPr id="167946" name="文本框 167945"/>
          <p:cNvSpPr txBox="1"/>
          <p:nvPr/>
        </p:nvSpPr>
        <p:spPr>
          <a:xfrm>
            <a:off x="2209800" y="4625975"/>
            <a:ext cx="7162800" cy="368300"/>
          </a:xfrm>
          <a:prstGeom prst="rect">
            <a:avLst/>
          </a:prstGeom>
          <a:noFill/>
          <a:ln w="9525">
            <a:noFill/>
          </a:ln>
        </p:spPr>
        <p:txBody>
          <a:bodyPr>
            <a:spAutoFit/>
          </a:bodyPr>
          <a:p>
            <a:pPr>
              <a:spcBef>
                <a:spcPct val="50000"/>
              </a:spcBef>
            </a:pPr>
            <a:endParaRPr lang="zh-CN" altLang="en-US" dirty="0">
              <a:latin typeface="Arial" panose="020B0604020202020204" pitchFamily="34" charset="0"/>
            </a:endParaRPr>
          </a:p>
        </p:txBody>
      </p:sp>
      <p:sp>
        <p:nvSpPr>
          <p:cNvPr id="167947" name="矩形 167946"/>
          <p:cNvSpPr/>
          <p:nvPr/>
        </p:nvSpPr>
        <p:spPr>
          <a:xfrm>
            <a:off x="2203450" y="4840288"/>
            <a:ext cx="7169150" cy="953135"/>
          </a:xfrm>
          <a:prstGeom prst="rect">
            <a:avLst/>
          </a:prstGeom>
          <a:noFill/>
          <a:ln w="9525">
            <a:noFill/>
          </a:ln>
        </p:spPr>
        <p:txBody>
          <a:bodyPr>
            <a:spAutoFit/>
          </a:bodyPr>
          <a:p>
            <a:pPr algn="l">
              <a:lnSpc>
                <a:spcPct val="140000"/>
              </a:lnSpc>
            </a:pPr>
            <a:r>
              <a:rPr lang="zh-CN" altLang="en-US" sz="2000" dirty="0">
                <a:latin typeface="Arial" panose="020B0604020202020204" pitchFamily="34" charset="0"/>
              </a:rPr>
              <a:t>      </a:t>
            </a:r>
            <a:r>
              <a:rPr lang="zh-CN" altLang="en-US" sz="2000" b="1" dirty="0">
                <a:solidFill>
                  <a:srgbClr val="FF3300"/>
                </a:solidFill>
                <a:latin typeface="Arial" panose="020B0604020202020204" pitchFamily="34" charset="0"/>
              </a:rPr>
              <a:t>大气污染物</a:t>
            </a:r>
            <a:r>
              <a:rPr lang="zh-CN" altLang="en-US" sz="2000" b="1" dirty="0">
                <a:latin typeface="Arial" panose="020B0604020202020204" pitchFamily="34" charset="0"/>
              </a:rPr>
              <a:t>是指由于</a:t>
            </a:r>
            <a:r>
              <a:rPr lang="zh-CN" altLang="en-US" sz="2000" b="1" dirty="0">
                <a:solidFill>
                  <a:srgbClr val="FF0000"/>
                </a:solidFill>
                <a:latin typeface="Arial" panose="020B0604020202020204" pitchFamily="34" charset="0"/>
              </a:rPr>
              <a:t>人类活动或自然过程</a:t>
            </a:r>
            <a:r>
              <a:rPr lang="zh-CN" altLang="en-US" sz="2000" b="1" dirty="0">
                <a:latin typeface="Arial" panose="020B0604020202020204" pitchFamily="34" charset="0"/>
              </a:rPr>
              <a:t>排入大气的并对</a:t>
            </a:r>
            <a:r>
              <a:rPr lang="zh-CN" altLang="en-US" sz="2000" b="1" dirty="0">
                <a:solidFill>
                  <a:srgbClr val="FF0000"/>
                </a:solidFill>
                <a:latin typeface="Arial" panose="020B0604020202020204" pitchFamily="34" charset="0"/>
              </a:rPr>
              <a:t>人和环境</a:t>
            </a:r>
            <a:r>
              <a:rPr lang="zh-CN" altLang="en-US" sz="2000" b="1" dirty="0">
                <a:latin typeface="Arial" panose="020B0604020202020204" pitchFamily="34" charset="0"/>
              </a:rPr>
              <a:t>产生有害影响的那些物质。</a:t>
            </a:r>
            <a:endParaRPr lang="zh-CN" altLang="en-US" sz="2000" b="1"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7941"/>
                                        </p:tgtEl>
                                        <p:attrNameLst>
                                          <p:attrName>style.visibility</p:attrName>
                                        </p:attrNameLst>
                                      </p:cBhvr>
                                      <p:to>
                                        <p:strVal val="visible"/>
                                      </p:to>
                                    </p:set>
                                    <p:animEffect transition="in" filter="checkerboard(across)">
                                      <p:cBhvr>
                                        <p:cTn id="7" dur="500"/>
                                        <p:tgtEl>
                                          <p:spTgt spid="1679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直接连接符 16896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8965" name="矩形 168964"/>
          <p:cNvSpPr/>
          <p:nvPr/>
        </p:nvSpPr>
        <p:spPr>
          <a:xfrm>
            <a:off x="2235200" y="1093470"/>
            <a:ext cx="2946400" cy="737235"/>
          </a:xfrm>
          <a:prstGeom prst="rect">
            <a:avLst/>
          </a:prstGeom>
          <a:noFill/>
          <a:ln w="9525">
            <a:noFill/>
          </a:ln>
        </p:spPr>
        <p:txBody>
          <a:bodyPr anchor="ctr" anchorCtr="0">
            <a:spAutoFit/>
          </a:bodyPr>
          <a:p>
            <a:pPr algn="l">
              <a:lnSpc>
                <a:spcPct val="150000"/>
              </a:lnSpc>
            </a:pPr>
            <a:r>
              <a:rPr lang="zh-CN" altLang="en-GB" sz="2800" b="1" dirty="0">
                <a:solidFill>
                  <a:srgbClr val="FC4A26"/>
                </a:solidFill>
                <a:latin typeface="楷体_GB2312" charset="-122"/>
                <a:ea typeface="楷体_GB2312" charset="-122"/>
              </a:rPr>
              <a:t>大气污染物分类 </a:t>
            </a:r>
            <a:endParaRPr lang="zh-CN" altLang="en-GB" sz="2800" b="1" dirty="0">
              <a:solidFill>
                <a:srgbClr val="FC4A26"/>
              </a:solidFill>
              <a:latin typeface="楷体_GB2312" charset="-122"/>
              <a:ea typeface="楷体_GB2312" charset="-122"/>
            </a:endParaRPr>
          </a:p>
        </p:txBody>
      </p:sp>
      <p:sp>
        <p:nvSpPr>
          <p:cNvPr id="1029134" name="AutoShape 14"/>
          <p:cNvSpPr>
            <a:spLocks noChangeArrowheads="1"/>
          </p:cNvSpPr>
          <p:nvPr/>
        </p:nvSpPr>
        <p:spPr bwMode="auto">
          <a:xfrm>
            <a:off x="2095500" y="2847975"/>
            <a:ext cx="1943100" cy="904875"/>
          </a:xfrm>
          <a:prstGeom prst="homePlate">
            <a:avLst>
              <a:gd name="adj" fmla="val 42002"/>
            </a:avLst>
          </a:prstGeom>
          <a:solidFill>
            <a:srgbClr val="FFCC00"/>
          </a:solidFill>
          <a:ln w="12700">
            <a:solidFill>
              <a:srgbClr val="000000"/>
            </a:solidFill>
            <a:miter lim="800000"/>
          </a:ln>
          <a:effectLst>
            <a:outerShdw dist="35921" dir="2700000" algn="ctr" rotWithShape="0">
              <a:schemeClr val="tx1"/>
            </a:outerShdw>
          </a:effectLst>
        </p:spPr>
        <p:txBody>
          <a:bodyPr lIns="0" tIns="44450" rIns="0" bIns="44450" anchor="ctr"/>
          <a:p>
            <a:r>
              <a:rPr lang="zh-CN" altLang="en-US" sz="2600" b="1" dirty="0">
                <a:solidFill>
                  <a:schemeClr val="accent1"/>
                </a:solidFill>
                <a:latin typeface="Arial" panose="020B0604020202020204" pitchFamily="34" charset="0"/>
                <a:ea typeface="楷体_GB2312" charset="-122"/>
              </a:rPr>
              <a:t>大气污染物</a:t>
            </a:r>
            <a:endParaRPr lang="en-US" altLang="zh-CN" sz="2600" b="1">
              <a:solidFill>
                <a:schemeClr val="accent1"/>
              </a:solidFill>
              <a:latin typeface="Arial" panose="020B0604020202020204" pitchFamily="34" charset="0"/>
              <a:ea typeface="楷体_GB2312" charset="-122"/>
            </a:endParaRPr>
          </a:p>
        </p:txBody>
      </p:sp>
      <p:sp>
        <p:nvSpPr>
          <p:cNvPr id="168967" name="左大括号 168966"/>
          <p:cNvSpPr/>
          <p:nvPr/>
        </p:nvSpPr>
        <p:spPr>
          <a:xfrm>
            <a:off x="4038600" y="2238375"/>
            <a:ext cx="342900" cy="2047875"/>
          </a:xfrm>
          <a:prstGeom prst="leftBrace">
            <a:avLst>
              <a:gd name="adj1" fmla="val 49768"/>
              <a:gd name="adj2" fmla="val 50000"/>
            </a:avLst>
          </a:prstGeom>
          <a:noFill/>
          <a:ln w="38100" cap="flat" cmpd="sng">
            <a:solidFill>
              <a:schemeClr val="hlink"/>
            </a:solidFill>
            <a:prstDash val="solid"/>
            <a:headEnd type="none" w="med" len="med"/>
            <a:tailEnd type="none" w="med" len="med"/>
          </a:ln>
          <a:effectLst>
            <a:outerShdw dist="107763" dir="18900000" algn="ctr" rotWithShape="0">
              <a:schemeClr val="bg2">
                <a:alpha val="50000"/>
              </a:schemeClr>
            </a:outerShdw>
          </a:effectLst>
        </p:spPr>
        <p:txBody>
          <a:bodyPr/>
          <a:p>
            <a:endParaRPr lang="zh-CN" altLang="en-US"/>
          </a:p>
        </p:txBody>
      </p:sp>
      <p:sp>
        <p:nvSpPr>
          <p:cNvPr id="168968" name="AutoShape 8"/>
          <p:cNvSpPr/>
          <p:nvPr/>
        </p:nvSpPr>
        <p:spPr>
          <a:xfrm>
            <a:off x="4419600" y="2097088"/>
            <a:ext cx="1981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一次污染物</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168969" name="AutoShape 8"/>
          <p:cNvSpPr/>
          <p:nvPr/>
        </p:nvSpPr>
        <p:spPr>
          <a:xfrm>
            <a:off x="4419600" y="4057650"/>
            <a:ext cx="1981200" cy="436563"/>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二次污染物</a:t>
            </a:r>
            <a:endParaRPr lang="en-US" altLang="zh-CN" sz="2400" b="1">
              <a:solidFill>
                <a:srgbClr val="FFFF66"/>
              </a:solidFill>
              <a:latin typeface="宋体" panose="02010600030101010101" pitchFamily="2" charset="-122"/>
              <a:ea typeface="楷体_GB2312" charset="-122"/>
            </a:endParaRPr>
          </a:p>
        </p:txBody>
      </p:sp>
      <p:sp>
        <p:nvSpPr>
          <p:cNvPr id="168970" name="矩形 168969"/>
          <p:cNvSpPr/>
          <p:nvPr/>
        </p:nvSpPr>
        <p:spPr>
          <a:xfrm>
            <a:off x="4572000" y="2681923"/>
            <a:ext cx="5072063" cy="1014730"/>
          </a:xfrm>
          <a:prstGeom prst="rect">
            <a:avLst/>
          </a:prstGeom>
          <a:noFill/>
          <a:ln w="9525">
            <a:noFill/>
          </a:ln>
        </p:spPr>
        <p:txBody>
          <a:bodyPr anchor="ctr" anchorCtr="0">
            <a:spAutoFit/>
          </a:bodyPr>
          <a:p>
            <a:pPr algn="l"/>
            <a:r>
              <a:rPr lang="en-US" altLang="zh-CN" sz="2000">
                <a:latin typeface="Arial" panose="020B0604020202020204" pitchFamily="34" charset="0"/>
                <a:ea typeface="楷体_GB2312" charset="-122"/>
              </a:rPr>
              <a:t>——</a:t>
            </a:r>
            <a:r>
              <a:rPr lang="zh-CN" altLang="en-US" sz="2000" dirty="0">
                <a:latin typeface="楷体_GB2312" charset="-122"/>
                <a:ea typeface="楷体_GB2312" charset="-122"/>
              </a:rPr>
              <a:t>从污染源直接排出的大气污染物，如颗粒物、二氧化硫、一氧化碳、氮氧化物、碳氢化合物等。 </a:t>
            </a:r>
            <a:r>
              <a:rPr lang="zh-CN" altLang="en-GB" sz="2000" dirty="0">
                <a:latin typeface="楷体_GB2312" charset="-122"/>
                <a:ea typeface="楷体_GB2312" charset="-122"/>
              </a:rPr>
              <a:t> </a:t>
            </a:r>
            <a:endParaRPr lang="zh-CN" altLang="en-GB" sz="2000" dirty="0">
              <a:latin typeface="楷体_GB2312" charset="-122"/>
              <a:ea typeface="楷体_GB2312" charset="-122"/>
            </a:endParaRPr>
          </a:p>
        </p:txBody>
      </p:sp>
      <p:sp>
        <p:nvSpPr>
          <p:cNvPr id="168971" name="矩形 168970"/>
          <p:cNvSpPr/>
          <p:nvPr/>
        </p:nvSpPr>
        <p:spPr>
          <a:xfrm>
            <a:off x="4381500" y="4626928"/>
            <a:ext cx="5372100" cy="1322070"/>
          </a:xfrm>
          <a:prstGeom prst="rect">
            <a:avLst/>
          </a:prstGeom>
          <a:noFill/>
          <a:ln w="9525">
            <a:noFill/>
          </a:ln>
        </p:spPr>
        <p:txBody>
          <a:bodyPr anchor="ctr" anchorCtr="0">
            <a:spAutoFit/>
          </a:bodyPr>
          <a:p>
            <a:pPr algn="l"/>
            <a:r>
              <a:rPr lang="en-US" altLang="zh-CN" sz="2000">
                <a:latin typeface="Arial" panose="020B0604020202020204" pitchFamily="34" charset="0"/>
                <a:ea typeface="楷体_GB2312" charset="-122"/>
              </a:rPr>
              <a:t>——</a:t>
            </a:r>
            <a:r>
              <a:rPr lang="zh-CN" altLang="en-US" sz="2000" dirty="0">
                <a:latin typeface="楷体_GB2312" charset="-122"/>
                <a:ea typeface="楷体_GB2312" charset="-122"/>
              </a:rPr>
              <a:t>由污染源排出的一次污染物与大气正常组分，或几种一次污染物之间，发生了一系列的化学或光化学反应而形成了与原污染物性质不同的新污染物。其毒性一般较一次污染物强。 </a:t>
            </a:r>
            <a:r>
              <a:rPr lang="zh-CN" altLang="en-GB" sz="2000" dirty="0">
                <a:latin typeface="楷体_GB2312" charset="-122"/>
                <a:ea typeface="楷体_GB2312" charset="-122"/>
              </a:rPr>
              <a:t> </a:t>
            </a:r>
            <a:endParaRPr lang="zh-CN" altLang="en-GB" sz="2000" dirty="0">
              <a:latin typeface="楷体_GB2312" charset="-122"/>
              <a:ea typeface="楷体_GB2312" charset="-122"/>
            </a:endParaRPr>
          </a:p>
        </p:txBody>
      </p:sp>
      <p:sp>
        <p:nvSpPr>
          <p:cNvPr id="168972" name="五边形 168971"/>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9134"/>
                                        </p:tgtEl>
                                        <p:attrNameLst>
                                          <p:attrName>style.visibility</p:attrName>
                                        </p:attrNameLst>
                                      </p:cBhvr>
                                      <p:to>
                                        <p:strVal val="visible"/>
                                      </p:to>
                                    </p:set>
                                    <p:animEffect transition="in" filter="box(in)">
                                      <p:cBhvr>
                                        <p:cTn id="7" dur="500"/>
                                        <p:tgtEl>
                                          <p:spTgt spid="1029134"/>
                                        </p:tgtEl>
                                      </p:cBhvr>
                                    </p:animEffect>
                                  </p:childTnLst>
                                </p:cTn>
                              </p:par>
                              <p:par>
                                <p:cTn id="8" presetID="4" presetClass="entr" presetSubtype="16" fill="hold" nodeType="withEffect">
                                  <p:stCondLst>
                                    <p:cond delay="0"/>
                                  </p:stCondLst>
                                  <p:childTnLst>
                                    <p:set>
                                      <p:cBhvr>
                                        <p:cTn id="9" dur="1" fill="hold">
                                          <p:stCondLst>
                                            <p:cond delay="0"/>
                                          </p:stCondLst>
                                        </p:cTn>
                                        <p:tgtEl>
                                          <p:spTgt spid="168967"/>
                                        </p:tgtEl>
                                        <p:attrNameLst>
                                          <p:attrName>style.visibility</p:attrName>
                                        </p:attrNameLst>
                                      </p:cBhvr>
                                      <p:to>
                                        <p:strVal val="visible"/>
                                      </p:to>
                                    </p:set>
                                    <p:animEffect transition="in" filter="box(in)">
                                      <p:cBhvr>
                                        <p:cTn id="10" dur="500"/>
                                        <p:tgtEl>
                                          <p:spTgt spid="168967"/>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68968"/>
                                        </p:tgtEl>
                                        <p:attrNameLst>
                                          <p:attrName>style.visibility</p:attrName>
                                        </p:attrNameLst>
                                      </p:cBhvr>
                                      <p:to>
                                        <p:strVal val="visible"/>
                                      </p:to>
                                    </p:set>
                                    <p:animEffect transition="in" filter="checkerboard(across)">
                                      <p:cBhvr>
                                        <p:cTn id="15" dur="500"/>
                                        <p:tgtEl>
                                          <p:spTgt spid="168968"/>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68969"/>
                                        </p:tgtEl>
                                        <p:attrNameLst>
                                          <p:attrName>style.visibility</p:attrName>
                                        </p:attrNameLst>
                                      </p:cBhvr>
                                      <p:to>
                                        <p:strVal val="visible"/>
                                      </p:to>
                                    </p:set>
                                    <p:animEffect transition="in" filter="checkerboard(across)">
                                      <p:cBhvr>
                                        <p:cTn id="18" dur="500"/>
                                        <p:tgtEl>
                                          <p:spTgt spid="168969"/>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68970"/>
                                        </p:tgtEl>
                                        <p:attrNameLst>
                                          <p:attrName>style.visibility</p:attrName>
                                        </p:attrNameLst>
                                      </p:cBhvr>
                                      <p:to>
                                        <p:strVal val="visible"/>
                                      </p:to>
                                    </p:set>
                                    <p:animEffect transition="in" filter="slide(fromBottom)">
                                      <p:cBhvr>
                                        <p:cTn id="23" dur="500"/>
                                        <p:tgtEl>
                                          <p:spTgt spid="168970"/>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68971"/>
                                        </p:tgtEl>
                                        <p:attrNameLst>
                                          <p:attrName>style.visibility</p:attrName>
                                        </p:attrNameLst>
                                      </p:cBhvr>
                                      <p:to>
                                        <p:strVal val="visible"/>
                                      </p:to>
                                    </p:set>
                                    <p:animEffect transition="in" filter="slide(fromBottom)">
                                      <p:cBhvr>
                                        <p:cTn id="28" dur="500"/>
                                        <p:tgtEl>
                                          <p:spTgt spid="1689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34" grpId="0" bldLvl="0" animBg="1"/>
      <p:bldP spid="168968" grpId="0" bldLvl="0" animBg="1"/>
      <p:bldP spid="168969" grpId="0" bldLvl="0" animBg="1"/>
      <p:bldP spid="168970" grpId="0"/>
      <p:bldP spid="16897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4850" name="文本框 334849"/>
          <p:cNvSpPr txBox="1"/>
          <p:nvPr/>
        </p:nvSpPr>
        <p:spPr>
          <a:xfrm>
            <a:off x="10282238" y="6550025"/>
            <a:ext cx="30480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13</a:t>
            </a:r>
            <a:endParaRPr lang="en-US" altLang="zh-CN" sz="2400">
              <a:solidFill>
                <a:srgbClr val="2A3D7A"/>
              </a:solidFill>
              <a:latin typeface="Times New Roman" panose="02020603050405020304" charset="0"/>
            </a:endParaRPr>
          </a:p>
        </p:txBody>
      </p:sp>
      <p:sp>
        <p:nvSpPr>
          <p:cNvPr id="334851" name="文本框 334850"/>
          <p:cNvSpPr txBox="1"/>
          <p:nvPr/>
        </p:nvSpPr>
        <p:spPr>
          <a:xfrm>
            <a:off x="2640013" y="549275"/>
            <a:ext cx="3266440" cy="1215390"/>
          </a:xfrm>
          <a:prstGeom prst="rect">
            <a:avLst/>
          </a:prstGeom>
          <a:noFill/>
          <a:ln w="9525">
            <a:noFill/>
          </a:ln>
        </p:spPr>
        <p:txBody>
          <a:bodyPr wrap="none" lIns="0" tIns="0" rIns="0" bIns="0">
            <a:spAutoFit/>
          </a:bodyPr>
          <a:p>
            <a:pPr algn="l" defTabSz="916305">
              <a:lnSpc>
                <a:spcPts val="3215"/>
              </a:lnSpc>
            </a:pPr>
            <a:endParaRPr lang="zh-CN" altLang="en-US" sz="3200" dirty="0">
              <a:solidFill>
                <a:srgbClr val="FF0000"/>
              </a:solidFill>
              <a:latin typeface="楷体_GB2312" charset="-122"/>
              <a:ea typeface="楷体_GB2312" charset="-122"/>
            </a:endParaRPr>
          </a:p>
          <a:p>
            <a:pPr algn="l" defTabSz="916305">
              <a:lnSpc>
                <a:spcPts val="1000"/>
              </a:lnSpc>
            </a:pPr>
            <a:endParaRPr lang="zh-CN" altLang="en-US" sz="3200" dirty="0">
              <a:solidFill>
                <a:srgbClr val="FF0000"/>
              </a:solidFill>
              <a:latin typeface="楷体_GB2312" charset="-122"/>
              <a:ea typeface="楷体_GB2312" charset="-122"/>
            </a:endParaRPr>
          </a:p>
          <a:p>
            <a:pPr algn="l" defTabSz="916305">
              <a:lnSpc>
                <a:spcPts val="1000"/>
              </a:lnSpc>
            </a:pPr>
            <a:endParaRPr lang="zh-CN" altLang="en-US" sz="3200" dirty="0">
              <a:solidFill>
                <a:srgbClr val="FF0000"/>
              </a:solidFill>
              <a:latin typeface="楷体_GB2312" charset="-122"/>
              <a:ea typeface="楷体_GB2312" charset="-122"/>
            </a:endParaRPr>
          </a:p>
          <a:p>
            <a:pPr algn="l" defTabSz="916305">
              <a:lnSpc>
                <a:spcPts val="1000"/>
              </a:lnSpc>
            </a:pPr>
            <a:endParaRPr lang="zh-CN" altLang="en-US" sz="3200" dirty="0">
              <a:solidFill>
                <a:srgbClr val="FF0000"/>
              </a:solidFill>
              <a:latin typeface="楷体_GB2312" charset="-122"/>
              <a:ea typeface="楷体_GB2312" charset="-122"/>
            </a:endParaRPr>
          </a:p>
          <a:p>
            <a:pPr algn="l" defTabSz="916305">
              <a:lnSpc>
                <a:spcPts val="3265"/>
              </a:lnSpc>
            </a:pPr>
            <a:r>
              <a:rPr lang="zh-CN" altLang="en-US" sz="3200" b="1" dirty="0">
                <a:latin typeface="楷体_GB2312" charset="-122"/>
                <a:ea typeface="楷体_GB2312" charset="-122"/>
              </a:rPr>
              <a:t>重要的空气污染物</a:t>
            </a:r>
            <a:endParaRPr lang="zh-CN" altLang="en-US" sz="3200" b="1" dirty="0">
              <a:latin typeface="楷体_GB2312" charset="-122"/>
              <a:ea typeface="楷体_GB2312" charset="-122"/>
            </a:endParaRPr>
          </a:p>
        </p:txBody>
      </p:sp>
      <p:sp>
        <p:nvSpPr>
          <p:cNvPr id="334852" name="文本框 334851"/>
          <p:cNvSpPr txBox="1"/>
          <p:nvPr/>
        </p:nvSpPr>
        <p:spPr>
          <a:xfrm>
            <a:off x="3359150" y="2133600"/>
            <a:ext cx="6553200" cy="360680"/>
          </a:xfrm>
          <a:prstGeom prst="rect">
            <a:avLst/>
          </a:prstGeom>
          <a:noFill/>
          <a:ln w="9525">
            <a:noFill/>
          </a:ln>
        </p:spPr>
        <p:txBody>
          <a:bodyPr lIns="0" tIns="0" rIns="0" bIns="0">
            <a:spAutoFit/>
          </a:bodyPr>
          <a:p>
            <a:pPr algn="l" defTabSz="916305">
              <a:lnSpc>
                <a:spcPts val="2815"/>
              </a:lnSpc>
            </a:pPr>
            <a:r>
              <a:rPr lang="zh-CN" altLang="en-US" sz="2800" b="1" dirty="0">
                <a:latin typeface="楷体_GB2312" charset="-122"/>
                <a:ea typeface="楷体_GB2312" charset="-122"/>
              </a:rPr>
              <a:t>碳氢化合物（</a:t>
            </a:r>
            <a:r>
              <a:rPr lang="en-US" altLang="zh-CN" sz="2800" b="1">
                <a:latin typeface="楷体_GB2312" charset="-122"/>
                <a:ea typeface="楷体_GB2312" charset="-122"/>
              </a:rPr>
              <a:t>HC</a:t>
            </a:r>
            <a:r>
              <a:rPr lang="zh-CN" altLang="en-US" sz="2800" b="1" dirty="0">
                <a:latin typeface="楷体_GB2312" charset="-122"/>
                <a:ea typeface="楷体_GB2312" charset="-122"/>
              </a:rPr>
              <a:t>）、一氧化碳（</a:t>
            </a:r>
            <a:r>
              <a:rPr lang="en-US" altLang="zh-CN" sz="2800" b="1">
                <a:latin typeface="楷体_GB2312" charset="-122"/>
                <a:ea typeface="楷体_GB2312" charset="-122"/>
              </a:rPr>
              <a:t>CO</a:t>
            </a:r>
            <a:r>
              <a:rPr lang="zh-CN" altLang="en-US" sz="2800" b="1" dirty="0">
                <a:latin typeface="楷体_GB2312" charset="-122"/>
                <a:ea typeface="楷体_GB2312" charset="-122"/>
              </a:rPr>
              <a:t>）、氮</a:t>
            </a:r>
            <a:endParaRPr lang="zh-CN" altLang="en-US" sz="2800" b="1" dirty="0">
              <a:latin typeface="楷体_GB2312" charset="-122"/>
              <a:ea typeface="楷体_GB2312" charset="-122"/>
            </a:endParaRPr>
          </a:p>
        </p:txBody>
      </p:sp>
      <p:sp>
        <p:nvSpPr>
          <p:cNvPr id="334853" name="文本框 334852"/>
          <p:cNvSpPr txBox="1"/>
          <p:nvPr/>
        </p:nvSpPr>
        <p:spPr>
          <a:xfrm>
            <a:off x="3432175" y="2708275"/>
            <a:ext cx="6325235" cy="447040"/>
          </a:xfrm>
          <a:prstGeom prst="rect">
            <a:avLst/>
          </a:prstGeom>
          <a:noFill/>
          <a:ln w="9525">
            <a:noFill/>
          </a:ln>
        </p:spPr>
        <p:txBody>
          <a:bodyPr wrap="none" lIns="0" tIns="0" rIns="0" bIns="0">
            <a:spAutoFit/>
          </a:bodyPr>
          <a:p>
            <a:pPr algn="l" defTabSz="916305">
              <a:lnSpc>
                <a:spcPts val="3490"/>
              </a:lnSpc>
            </a:pPr>
            <a:r>
              <a:rPr lang="zh-CN" altLang="en-US" sz="2800" b="1" dirty="0">
                <a:latin typeface="楷体_GB2312" charset="-122"/>
                <a:ea typeface="楷体_GB2312" charset="-122"/>
              </a:rPr>
              <a:t>氧化物（</a:t>
            </a:r>
            <a:r>
              <a:rPr lang="en-US" altLang="zh-CN" sz="2800" b="1">
                <a:latin typeface="楷体_GB2312" charset="-122"/>
                <a:ea typeface="楷体_GB2312" charset="-122"/>
              </a:rPr>
              <a:t>NO</a:t>
            </a:r>
            <a:r>
              <a:rPr lang="en-US" altLang="zh-CN" sz="1900" b="1">
                <a:latin typeface="楷体_GB2312" charset="-122"/>
                <a:ea typeface="楷体_GB2312" charset="-122"/>
              </a:rPr>
              <a:t>X</a:t>
            </a:r>
            <a:r>
              <a:rPr lang="zh-CN" altLang="en-US" sz="2800" b="1" dirty="0">
                <a:latin typeface="楷体_GB2312" charset="-122"/>
                <a:ea typeface="楷体_GB2312" charset="-122"/>
              </a:rPr>
              <a:t>）、硫氧化物（</a:t>
            </a:r>
            <a:r>
              <a:rPr lang="en-US" altLang="zh-CN" sz="2800" b="1">
                <a:latin typeface="楷体_GB2312" charset="-122"/>
                <a:ea typeface="楷体_GB2312" charset="-122"/>
              </a:rPr>
              <a:t>SO</a:t>
            </a:r>
            <a:r>
              <a:rPr lang="en-US" altLang="zh-CN" sz="1900" b="1">
                <a:latin typeface="楷体_GB2312" charset="-122"/>
                <a:ea typeface="楷体_GB2312" charset="-122"/>
              </a:rPr>
              <a:t>X</a:t>
            </a:r>
            <a:r>
              <a:rPr lang="zh-CN" altLang="en-US" sz="2800" b="1" dirty="0">
                <a:latin typeface="楷体_GB2312" charset="-122"/>
                <a:ea typeface="楷体_GB2312" charset="-122"/>
              </a:rPr>
              <a:t>）和微粒</a:t>
            </a:r>
            <a:endParaRPr lang="zh-CN" altLang="en-US" sz="2800" b="1" dirty="0">
              <a:latin typeface="楷体_GB2312" charset="-122"/>
              <a:ea typeface="楷体_GB2312" charset="-122"/>
            </a:endParaRPr>
          </a:p>
        </p:txBody>
      </p:sp>
      <p:sp>
        <p:nvSpPr>
          <p:cNvPr id="334854" name="文本框 334853"/>
          <p:cNvSpPr txBox="1"/>
          <p:nvPr/>
        </p:nvSpPr>
        <p:spPr>
          <a:xfrm>
            <a:off x="3503613" y="3429000"/>
            <a:ext cx="4658995" cy="360680"/>
          </a:xfrm>
          <a:prstGeom prst="rect">
            <a:avLst/>
          </a:prstGeom>
          <a:noFill/>
          <a:ln w="9525">
            <a:noFill/>
          </a:ln>
        </p:spPr>
        <p:txBody>
          <a:bodyPr wrap="none" lIns="0" tIns="0" rIns="0" bIns="0">
            <a:spAutoFit/>
          </a:bodyPr>
          <a:p>
            <a:pPr algn="l" defTabSz="916305">
              <a:lnSpc>
                <a:spcPts val="2815"/>
              </a:lnSpc>
            </a:pPr>
            <a:r>
              <a:rPr lang="zh-CN" altLang="en-US" sz="2800" b="1" dirty="0">
                <a:latin typeface="楷体_GB2312" charset="-122"/>
                <a:ea typeface="楷体_GB2312" charset="-122"/>
              </a:rPr>
              <a:t>物质（</a:t>
            </a:r>
            <a:r>
              <a:rPr lang="en-US" altLang="zh-CN" sz="2800" b="1">
                <a:latin typeface="楷体_GB2312" charset="-122"/>
                <a:ea typeface="楷体_GB2312" charset="-122"/>
              </a:rPr>
              <a:t>Particulates</a:t>
            </a:r>
            <a:r>
              <a:rPr lang="zh-CN" altLang="en-US" sz="2800" b="1" dirty="0">
                <a:latin typeface="楷体_GB2312" charset="-122"/>
                <a:ea typeface="楷体_GB2312" charset="-122"/>
              </a:rPr>
              <a:t>）</a:t>
            </a:r>
            <a:r>
              <a:rPr lang="zh-CN" altLang="en-US" sz="2800" b="1" dirty="0">
                <a:solidFill>
                  <a:srgbClr val="FF0000"/>
                </a:solidFill>
                <a:latin typeface="楷体_GB2312" charset="-122"/>
                <a:ea typeface="楷体_GB2312" charset="-122"/>
              </a:rPr>
              <a:t>等五种</a:t>
            </a:r>
            <a:endParaRPr lang="zh-CN" altLang="en-US" sz="2800" b="1" dirty="0">
              <a:solidFill>
                <a:srgbClr val="FF0000"/>
              </a:solidFill>
              <a:latin typeface="楷体_GB2312" charset="-122"/>
              <a:ea typeface="楷体_GB2312"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3762" name="标题 373761"/>
          <p:cNvSpPr>
            <a:spLocks noGrp="1"/>
          </p:cNvSpPr>
          <p:nvPr>
            <p:ph type="title"/>
          </p:nvPr>
        </p:nvSpPr>
        <p:spPr>
          <a:xfrm>
            <a:off x="2279650" y="0"/>
            <a:ext cx="7543800" cy="1143000"/>
          </a:xfrm>
        </p:spPr>
        <p:txBody>
          <a:bodyPr lIns="45720" tIns="0" rIns="45720" bIns="0" anchor="b" anchorCtr="0"/>
          <a:p>
            <a:r>
              <a:rPr lang="en-US" altLang="zh-CN" sz="3200">
                <a:latin typeface="+mj-lt"/>
                <a:ea typeface="+mj-ea"/>
                <a:cs typeface="+mj-cs"/>
              </a:rPr>
              <a:t>2</a:t>
            </a:r>
            <a:r>
              <a:rPr lang="zh-CN" altLang="en-US" sz="3200" dirty="0">
                <a:latin typeface="+mj-lt"/>
                <a:ea typeface="+mj-ea"/>
                <a:cs typeface="+mj-cs"/>
              </a:rPr>
              <a:t>、</a:t>
            </a:r>
            <a:r>
              <a:rPr lang="zh-CN" altLang="en-US" sz="3200" b="0" dirty="0">
                <a:solidFill>
                  <a:srgbClr val="FF0000"/>
                </a:solidFill>
                <a:latin typeface="+mj-lt"/>
                <a:ea typeface="+mj-ea"/>
                <a:cs typeface="+mj-cs"/>
              </a:rPr>
              <a:t>大气污染源</a:t>
            </a:r>
            <a:r>
              <a:rPr lang="zh-CN" altLang="en-US" sz="3200" dirty="0">
                <a:latin typeface="+mj-lt"/>
                <a:ea typeface="+mj-ea"/>
                <a:cs typeface="+mj-cs"/>
              </a:rPr>
              <a:t>的分类</a:t>
            </a:r>
            <a:endParaRPr lang="zh-CN" altLang="en-US" sz="3200">
              <a:latin typeface="+mj-lt"/>
              <a:ea typeface="+mj-ea"/>
              <a:cs typeface="+mj-cs"/>
            </a:endParaRPr>
          </a:p>
        </p:txBody>
      </p:sp>
      <p:sp>
        <p:nvSpPr>
          <p:cNvPr id="373763" name="文本占位符 373762"/>
          <p:cNvSpPr>
            <a:spLocks noGrp="1"/>
          </p:cNvSpPr>
          <p:nvPr>
            <p:ph type="body" idx="1"/>
          </p:nvPr>
        </p:nvSpPr>
        <p:spPr>
          <a:xfrm>
            <a:off x="2279650" y="908050"/>
            <a:ext cx="7620000" cy="5105400"/>
          </a:xfrm>
        </p:spPr>
        <p:txBody>
          <a:bodyPr lIns="45720" rIns="45720" anchor="t" anchorCtr="0"/>
          <a:p>
            <a:pPr defTabSz="914400">
              <a:lnSpc>
                <a:spcPct val="110000"/>
              </a:lnSpc>
              <a:buSzPct val="25000"/>
            </a:pPr>
            <a:r>
              <a:rPr lang="zh-CN" altLang="en-US" sz="3200" dirty="0">
                <a:solidFill>
                  <a:srgbClr val="2A3D7A"/>
                </a:solidFill>
                <a:latin typeface="+mn-lt"/>
                <a:ea typeface="+mn-ea"/>
                <a:cs typeface="+mn-cs"/>
              </a:rPr>
              <a:t>       在环境科学中，概括不同的研究目的以及污染源的特点，污染源的类型有四种划分方法</a:t>
            </a:r>
            <a:endParaRPr lang="zh-CN" altLang="en-US" sz="3200" dirty="0">
              <a:solidFill>
                <a:srgbClr val="2A3D7A"/>
              </a:solidFill>
              <a:latin typeface="+mn-lt"/>
              <a:ea typeface="+mn-ea"/>
              <a:cs typeface="+mn-cs"/>
            </a:endParaRPr>
          </a:p>
          <a:p>
            <a:pPr defTabSz="914400">
              <a:lnSpc>
                <a:spcPct val="110000"/>
              </a:lnSpc>
              <a:buSzPct val="25000"/>
            </a:pPr>
            <a:r>
              <a:rPr lang="zh-CN" altLang="en-US" sz="3200" dirty="0">
                <a:latin typeface="+mn-lt"/>
                <a:ea typeface="+mn-ea"/>
                <a:cs typeface="+mn-cs"/>
              </a:rPr>
              <a:t>（</a:t>
            </a:r>
            <a:r>
              <a:rPr lang="en-US" altLang="zh-CN" sz="3200">
                <a:latin typeface="+mn-lt"/>
                <a:ea typeface="+mn-ea"/>
                <a:cs typeface="+mn-cs"/>
              </a:rPr>
              <a:t>1</a:t>
            </a:r>
            <a:r>
              <a:rPr lang="zh-CN" altLang="en-US" sz="3200" dirty="0">
                <a:latin typeface="+mn-lt"/>
                <a:ea typeface="+mn-ea"/>
                <a:cs typeface="+mn-cs"/>
              </a:rPr>
              <a:t>）按污染源存在的形式分</a:t>
            </a:r>
            <a:endParaRPr lang="zh-CN" altLang="en-US" sz="3200" dirty="0">
              <a:latin typeface="+mn-lt"/>
              <a:ea typeface="+mn-ea"/>
              <a:cs typeface="+mn-cs"/>
            </a:endParaRPr>
          </a:p>
          <a:p>
            <a:pPr defTabSz="914400">
              <a:lnSpc>
                <a:spcPct val="110000"/>
              </a:lnSpc>
              <a:buSzPct val="25000"/>
            </a:pPr>
            <a:r>
              <a:rPr lang="zh-CN" altLang="en-US" sz="3200" dirty="0">
                <a:latin typeface="+mn-lt"/>
                <a:ea typeface="+mn-ea"/>
                <a:cs typeface="+mn-cs"/>
              </a:rPr>
              <a:t>（</a:t>
            </a:r>
            <a:r>
              <a:rPr lang="en-US" altLang="zh-CN" sz="3200">
                <a:latin typeface="+mn-lt"/>
                <a:ea typeface="+mn-ea"/>
                <a:cs typeface="+mn-cs"/>
              </a:rPr>
              <a:t>2</a:t>
            </a:r>
            <a:r>
              <a:rPr lang="zh-CN" altLang="en-US" sz="3200" dirty="0">
                <a:latin typeface="+mn-lt"/>
                <a:ea typeface="+mn-ea"/>
                <a:cs typeface="+mn-cs"/>
              </a:rPr>
              <a:t>）按污染物排放的方式分</a:t>
            </a:r>
            <a:endParaRPr lang="zh-CN" altLang="en-US" sz="3200" dirty="0">
              <a:latin typeface="+mn-lt"/>
              <a:ea typeface="+mn-ea"/>
              <a:cs typeface="+mn-cs"/>
            </a:endParaRPr>
          </a:p>
          <a:p>
            <a:pPr defTabSz="914400">
              <a:lnSpc>
                <a:spcPct val="110000"/>
              </a:lnSpc>
              <a:buSzPct val="25000"/>
            </a:pPr>
            <a:r>
              <a:rPr lang="zh-CN" altLang="en-US" sz="3200" dirty="0">
                <a:latin typeface="+mn-lt"/>
                <a:ea typeface="+mn-ea"/>
                <a:cs typeface="+mn-cs"/>
              </a:rPr>
              <a:t>（</a:t>
            </a:r>
            <a:r>
              <a:rPr lang="en-US" altLang="zh-CN" sz="3200">
                <a:latin typeface="+mn-lt"/>
                <a:ea typeface="+mn-ea"/>
                <a:cs typeface="+mn-cs"/>
              </a:rPr>
              <a:t>3</a:t>
            </a:r>
            <a:r>
              <a:rPr lang="zh-CN" altLang="en-US" sz="3200" dirty="0">
                <a:latin typeface="+mn-lt"/>
                <a:ea typeface="+mn-ea"/>
                <a:cs typeface="+mn-cs"/>
              </a:rPr>
              <a:t>）按污染物排放的时间分</a:t>
            </a:r>
            <a:endParaRPr lang="zh-CN" altLang="en-US" sz="3200" dirty="0">
              <a:latin typeface="+mn-lt"/>
              <a:ea typeface="+mn-ea"/>
              <a:cs typeface="+mn-cs"/>
            </a:endParaRPr>
          </a:p>
          <a:p>
            <a:pPr defTabSz="914400">
              <a:lnSpc>
                <a:spcPct val="110000"/>
              </a:lnSpc>
              <a:buSzPct val="25000"/>
            </a:pPr>
            <a:r>
              <a:rPr lang="zh-CN" altLang="en-US" sz="3200" dirty="0">
                <a:latin typeface="+mn-lt"/>
                <a:ea typeface="+mn-ea"/>
                <a:cs typeface="+mn-cs"/>
              </a:rPr>
              <a:t>（</a:t>
            </a:r>
            <a:r>
              <a:rPr lang="en-US" altLang="zh-CN" sz="3200">
                <a:latin typeface="+mn-lt"/>
                <a:ea typeface="+mn-ea"/>
                <a:cs typeface="+mn-cs"/>
              </a:rPr>
              <a:t>4</a:t>
            </a:r>
            <a:r>
              <a:rPr lang="zh-CN" altLang="en-US" sz="3200" dirty="0">
                <a:latin typeface="+mn-lt"/>
                <a:ea typeface="+mn-ea"/>
                <a:cs typeface="+mn-cs"/>
              </a:rPr>
              <a:t>）按污染物产生的类型分</a:t>
            </a:r>
            <a:endParaRPr lang="zh-CN" altLang="en-US" sz="3200" dirty="0">
              <a:latin typeface="+mn-lt"/>
              <a:ea typeface="+mn-ea"/>
              <a:cs typeface="+mn-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4786" name="文本框 374785"/>
          <p:cNvSpPr txBox="1"/>
          <p:nvPr/>
        </p:nvSpPr>
        <p:spPr>
          <a:xfrm>
            <a:off x="10436225" y="6550025"/>
            <a:ext cx="15240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9</a:t>
            </a:r>
            <a:endParaRPr lang="en-US" altLang="zh-CN" sz="2400">
              <a:solidFill>
                <a:srgbClr val="2A3D7A"/>
              </a:solidFill>
              <a:latin typeface="Times New Roman" panose="02020603050405020304" charset="0"/>
            </a:endParaRPr>
          </a:p>
        </p:txBody>
      </p:sp>
      <p:sp>
        <p:nvSpPr>
          <p:cNvPr id="374787" name="文本框 374786"/>
          <p:cNvSpPr txBox="1"/>
          <p:nvPr/>
        </p:nvSpPr>
        <p:spPr>
          <a:xfrm>
            <a:off x="2495550" y="981075"/>
            <a:ext cx="4445000" cy="360680"/>
          </a:xfrm>
          <a:prstGeom prst="rect">
            <a:avLst/>
          </a:prstGeom>
          <a:noFill/>
          <a:ln w="9525">
            <a:noFill/>
          </a:ln>
        </p:spPr>
        <p:txBody>
          <a:bodyPr wrap="none" lIns="0" tIns="0" rIns="0" bIns="0">
            <a:spAutoFit/>
          </a:bodyPr>
          <a:p>
            <a:pPr algn="l" defTabSz="916305">
              <a:lnSpc>
                <a:spcPts val="2815"/>
              </a:lnSpc>
            </a:pPr>
            <a:r>
              <a:rPr lang="en-US" altLang="zh-CN" sz="2800">
                <a:solidFill>
                  <a:srgbClr val="3333FF"/>
                </a:solidFill>
                <a:latin typeface="楷体_GB2312" charset="-122"/>
                <a:ea typeface="楷体_GB2312" charset="-122"/>
              </a:rPr>
              <a:t>1</a:t>
            </a:r>
            <a:r>
              <a:rPr lang="zh-CN" altLang="en-US" sz="2800" dirty="0">
                <a:solidFill>
                  <a:srgbClr val="3333FF"/>
                </a:solidFill>
                <a:latin typeface="楷体_GB2312" charset="-122"/>
                <a:ea typeface="楷体_GB2312" charset="-122"/>
              </a:rPr>
              <a:t>．按污染源存在的形式划分</a:t>
            </a:r>
            <a:endParaRPr lang="zh-CN" altLang="en-US" sz="2800" dirty="0">
              <a:solidFill>
                <a:srgbClr val="3333FF"/>
              </a:solidFill>
              <a:latin typeface="楷体_GB2312" charset="-122"/>
              <a:ea typeface="楷体_GB2312" charset="-122"/>
            </a:endParaRPr>
          </a:p>
        </p:txBody>
      </p:sp>
      <p:sp>
        <p:nvSpPr>
          <p:cNvPr id="374788" name="文本框 374787"/>
          <p:cNvSpPr txBox="1"/>
          <p:nvPr/>
        </p:nvSpPr>
        <p:spPr>
          <a:xfrm>
            <a:off x="2927350" y="1700213"/>
            <a:ext cx="7039610" cy="85598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3333FF"/>
                </a:solidFill>
                <a:latin typeface="Arial" panose="020B0604020202020204" pitchFamily="34" charset="0"/>
                <a:ea typeface="楷体_GB2312" charset="-122"/>
              </a:rPr>
              <a:t>①固定污染源</a:t>
            </a:r>
            <a:r>
              <a:rPr lang="zh-CN" altLang="en-US" sz="2400" b="1" dirty="0">
                <a:latin typeface="Arial" panose="020B0604020202020204" pitchFamily="34" charset="0"/>
                <a:ea typeface="楷体_GB2312" charset="-122"/>
              </a:rPr>
              <a:t>：位置固定，如工厂的排烟或排气。</a:t>
            </a:r>
            <a:endParaRPr lang="zh-CN" altLang="en-US" sz="2400" b="1" dirty="0">
              <a:latin typeface="Arial" panose="020B0604020202020204" pitchFamily="34" charset="0"/>
              <a:ea typeface="楷体_GB2312" charset="-122"/>
            </a:endParaRPr>
          </a:p>
          <a:p>
            <a:pPr algn="l" defTabSz="916305">
              <a:lnSpc>
                <a:spcPts val="1000"/>
              </a:lnSpc>
            </a:pPr>
            <a:endParaRPr lang="zh-CN" altLang="en-US" sz="2400" b="1" dirty="0">
              <a:latin typeface="Arial" panose="020B0604020202020204" pitchFamily="34" charset="0"/>
              <a:ea typeface="楷体_GB2312" charset="-122"/>
            </a:endParaRPr>
          </a:p>
          <a:p>
            <a:pPr algn="l" defTabSz="916305">
              <a:lnSpc>
                <a:spcPts val="3275"/>
              </a:lnSpc>
            </a:pPr>
            <a:r>
              <a:rPr lang="zh-CN" altLang="en-US" sz="2400" b="1" dirty="0">
                <a:solidFill>
                  <a:srgbClr val="3333FF"/>
                </a:solidFill>
                <a:latin typeface="Arial" panose="020B0604020202020204" pitchFamily="34" charset="0"/>
                <a:ea typeface="楷体_GB2312" charset="-122"/>
              </a:rPr>
              <a:t>②移动污染源</a:t>
            </a:r>
            <a:r>
              <a:rPr lang="zh-CN" altLang="en-US" sz="2400" b="1" dirty="0">
                <a:latin typeface="Arial" panose="020B0604020202020204" pitchFamily="34" charset="0"/>
                <a:ea typeface="楷体_GB2312" charset="-122"/>
              </a:rPr>
              <a:t>：位置可以移动，在移动过程中排放大</a:t>
            </a:r>
            <a:endParaRPr lang="zh-CN" altLang="en-US" sz="2400" b="1" dirty="0">
              <a:latin typeface="Arial" panose="020B0604020202020204" pitchFamily="34" charset="0"/>
              <a:ea typeface="楷体_GB2312" charset="-122"/>
            </a:endParaRPr>
          </a:p>
        </p:txBody>
      </p:sp>
      <p:sp>
        <p:nvSpPr>
          <p:cNvPr id="374789" name="文本框 374788"/>
          <p:cNvSpPr txBox="1"/>
          <p:nvPr/>
        </p:nvSpPr>
        <p:spPr>
          <a:xfrm>
            <a:off x="3503613" y="2708275"/>
            <a:ext cx="2754630" cy="307340"/>
          </a:xfrm>
          <a:prstGeom prst="rect">
            <a:avLst/>
          </a:prstGeom>
          <a:noFill/>
          <a:ln w="9525">
            <a:noFill/>
          </a:ln>
        </p:spPr>
        <p:txBody>
          <a:bodyPr wrap="none" lIns="0" tIns="0" rIns="0" bIns="0">
            <a:spAutoFit/>
          </a:bodyPr>
          <a:p>
            <a:pPr algn="l" defTabSz="916305">
              <a:lnSpc>
                <a:spcPts val="2400"/>
              </a:lnSpc>
            </a:pPr>
            <a:r>
              <a:rPr lang="zh-CN" altLang="en-US" sz="2400" b="1" dirty="0">
                <a:latin typeface="Arial" panose="020B0604020202020204" pitchFamily="34" charset="0"/>
                <a:ea typeface="楷体_GB2312" charset="-122"/>
              </a:rPr>
              <a:t>量废气，如汽车等。</a:t>
            </a:r>
            <a:endParaRPr lang="zh-CN" altLang="en-US" sz="2400" b="1" dirty="0">
              <a:latin typeface="Arial" panose="020B0604020202020204" pitchFamily="34" charset="0"/>
              <a:ea typeface="楷体_GB2312" charset="-122"/>
            </a:endParaRPr>
          </a:p>
        </p:txBody>
      </p:sp>
      <p:sp>
        <p:nvSpPr>
          <p:cNvPr id="374790" name="文本框 374789"/>
          <p:cNvSpPr txBox="1"/>
          <p:nvPr/>
        </p:nvSpPr>
        <p:spPr>
          <a:xfrm>
            <a:off x="3000375" y="3213100"/>
            <a:ext cx="7345680" cy="30734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Arial" panose="020B0604020202020204" pitchFamily="34" charset="0"/>
                <a:ea typeface="楷体_GB2312" charset="-122"/>
              </a:rPr>
              <a:t>注：</a:t>
            </a:r>
            <a:r>
              <a:rPr lang="zh-CN" altLang="en-US" sz="2400" b="1" dirty="0">
                <a:latin typeface="Arial" panose="020B0604020202020204" pitchFamily="34" charset="0"/>
                <a:ea typeface="楷体_GB2312" charset="-122"/>
              </a:rPr>
              <a:t>这种分类方法适用于进行</a:t>
            </a:r>
            <a:r>
              <a:rPr lang="zh-CN" altLang="en-US" sz="2400" b="1" dirty="0">
                <a:solidFill>
                  <a:srgbClr val="FF0000"/>
                </a:solidFill>
                <a:latin typeface="Arial" panose="020B0604020202020204" pitchFamily="34" charset="0"/>
                <a:ea typeface="楷体_GB2312" charset="-122"/>
              </a:rPr>
              <a:t>大气环境质量评价时满足</a:t>
            </a:r>
            <a:endParaRPr lang="zh-CN" altLang="en-US" sz="2400" b="1" dirty="0">
              <a:solidFill>
                <a:srgbClr val="FF0000"/>
              </a:solidFill>
              <a:latin typeface="Arial" panose="020B0604020202020204" pitchFamily="34" charset="0"/>
              <a:ea typeface="楷体_GB2312" charset="-122"/>
            </a:endParaRPr>
          </a:p>
        </p:txBody>
      </p:sp>
      <p:sp>
        <p:nvSpPr>
          <p:cNvPr id="374791" name="文本框 374790"/>
          <p:cNvSpPr txBox="1"/>
          <p:nvPr/>
        </p:nvSpPr>
        <p:spPr>
          <a:xfrm>
            <a:off x="3071813" y="3789363"/>
            <a:ext cx="3826510" cy="30734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楷体_GB2312" charset="-122"/>
                <a:ea typeface="楷体_GB2312" charset="-122"/>
              </a:rPr>
              <a:t>绘制污染源分析图的需要 。</a:t>
            </a:r>
            <a:endParaRPr lang="zh-CN" altLang="en-US" sz="2400" b="1" dirty="0">
              <a:solidFill>
                <a:srgbClr val="FF0000"/>
              </a:solidFill>
              <a:latin typeface="楷体_GB2312" charset="-122"/>
              <a:ea typeface="楷体_GB231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5810" name="文本框 375809"/>
          <p:cNvSpPr txBox="1"/>
          <p:nvPr/>
        </p:nvSpPr>
        <p:spPr>
          <a:xfrm>
            <a:off x="10282238" y="6550025"/>
            <a:ext cx="30480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10</a:t>
            </a:r>
            <a:endParaRPr lang="en-US" altLang="zh-CN" sz="2400">
              <a:solidFill>
                <a:srgbClr val="2A3D7A"/>
              </a:solidFill>
              <a:latin typeface="Times New Roman" panose="02020603050405020304" charset="0"/>
            </a:endParaRPr>
          </a:p>
        </p:txBody>
      </p:sp>
      <p:sp>
        <p:nvSpPr>
          <p:cNvPr id="375811" name="文本框 375810"/>
          <p:cNvSpPr txBox="1"/>
          <p:nvPr/>
        </p:nvSpPr>
        <p:spPr>
          <a:xfrm>
            <a:off x="2933700" y="2025650"/>
            <a:ext cx="7410450" cy="360680"/>
          </a:xfrm>
          <a:prstGeom prst="rect">
            <a:avLst/>
          </a:prstGeom>
          <a:noFill/>
          <a:ln w="9525">
            <a:noFill/>
          </a:ln>
        </p:spPr>
        <p:txBody>
          <a:bodyPr lIns="0" tIns="0" rIns="0" bIns="0">
            <a:spAutoFit/>
          </a:bodyPr>
          <a:p>
            <a:pPr algn="l" defTabSz="916305">
              <a:lnSpc>
                <a:spcPts val="2815"/>
              </a:lnSpc>
            </a:pPr>
            <a:r>
              <a:rPr lang="zh-CN" altLang="en-US" sz="2800" dirty="0">
                <a:solidFill>
                  <a:srgbClr val="3333FF"/>
                </a:solidFill>
                <a:latin typeface="Arial" panose="020B0604020202020204" pitchFamily="34" charset="0"/>
                <a:ea typeface="楷体_GB2312" charset="-122"/>
              </a:rPr>
              <a:t> ①点源（高架源）</a:t>
            </a:r>
            <a:r>
              <a:rPr lang="zh-CN" altLang="en-US" sz="2800" dirty="0">
                <a:solidFill>
                  <a:srgbClr val="5B5249"/>
                </a:solidFill>
                <a:latin typeface="Arial" panose="020B0604020202020204" pitchFamily="34" charset="0"/>
                <a:ea typeface="楷体_GB2312" charset="-122"/>
              </a:rPr>
              <a:t>：</a:t>
            </a:r>
            <a:r>
              <a:rPr lang="zh-CN" altLang="en-US" sz="2800" b="1" dirty="0">
                <a:latin typeface="Arial" panose="020B0604020202020204" pitchFamily="34" charset="0"/>
                <a:ea typeface="楷体_GB2312" charset="-122"/>
              </a:rPr>
              <a:t>污染物通过高烟囱排放。</a:t>
            </a:r>
            <a:endParaRPr lang="zh-CN" altLang="en-US" sz="2800" b="1" dirty="0">
              <a:latin typeface="Arial" panose="020B0604020202020204" pitchFamily="34" charset="0"/>
              <a:ea typeface="楷体_GB2312" charset="-122"/>
            </a:endParaRPr>
          </a:p>
        </p:txBody>
      </p:sp>
      <p:sp>
        <p:nvSpPr>
          <p:cNvPr id="375812" name="文本框 375811"/>
          <p:cNvSpPr txBox="1"/>
          <p:nvPr/>
        </p:nvSpPr>
        <p:spPr>
          <a:xfrm>
            <a:off x="3071813" y="2636838"/>
            <a:ext cx="6792595" cy="360680"/>
          </a:xfrm>
          <a:prstGeom prst="rect">
            <a:avLst/>
          </a:prstGeom>
          <a:noFill/>
          <a:ln w="9525">
            <a:noFill/>
          </a:ln>
        </p:spPr>
        <p:txBody>
          <a:bodyPr wrap="none" lIns="0" tIns="0" rIns="0" bIns="0">
            <a:spAutoFit/>
          </a:bodyPr>
          <a:p>
            <a:pPr algn="l" defTabSz="916305">
              <a:lnSpc>
                <a:spcPts val="2815"/>
              </a:lnSpc>
            </a:pPr>
            <a:r>
              <a:rPr lang="zh-CN" altLang="en-US" sz="2800" b="1" dirty="0">
                <a:latin typeface="Arial" panose="020B0604020202020204" pitchFamily="34" charset="0"/>
                <a:ea typeface="楷体_GB2312" charset="-122"/>
              </a:rPr>
              <a:t>一般情况下，这是排放量比较大的污染源。</a:t>
            </a:r>
            <a:endParaRPr lang="zh-CN" altLang="en-US" sz="2800" b="1" dirty="0">
              <a:latin typeface="Arial" panose="020B0604020202020204" pitchFamily="34" charset="0"/>
              <a:ea typeface="楷体_GB2312" charset="-122"/>
            </a:endParaRPr>
          </a:p>
        </p:txBody>
      </p:sp>
      <p:sp>
        <p:nvSpPr>
          <p:cNvPr id="375813" name="文本框 375812"/>
          <p:cNvSpPr txBox="1"/>
          <p:nvPr/>
        </p:nvSpPr>
        <p:spPr>
          <a:xfrm>
            <a:off x="3113088" y="3367088"/>
            <a:ext cx="7142480" cy="360680"/>
          </a:xfrm>
          <a:prstGeom prst="rect">
            <a:avLst/>
          </a:prstGeom>
          <a:noFill/>
          <a:ln w="9525">
            <a:noFill/>
          </a:ln>
        </p:spPr>
        <p:txBody>
          <a:bodyPr wrap="none" lIns="0" tIns="0" rIns="0" bIns="0">
            <a:spAutoFit/>
          </a:bodyPr>
          <a:p>
            <a:pPr algn="l" defTabSz="916305">
              <a:lnSpc>
                <a:spcPts val="2815"/>
              </a:lnSpc>
            </a:pPr>
            <a:r>
              <a:rPr lang="zh-CN" altLang="en-US" sz="2800" dirty="0">
                <a:solidFill>
                  <a:srgbClr val="3333FF"/>
                </a:solidFill>
                <a:latin typeface="Arial" panose="020B0604020202020204" pitchFamily="34" charset="0"/>
                <a:ea typeface="楷体_GB2312" charset="-122"/>
              </a:rPr>
              <a:t>②面源</a:t>
            </a:r>
            <a:r>
              <a:rPr lang="zh-CN" altLang="en-US" sz="2800" dirty="0">
                <a:solidFill>
                  <a:srgbClr val="5B5249"/>
                </a:solidFill>
                <a:latin typeface="Arial" panose="020B0604020202020204" pitchFamily="34" charset="0"/>
                <a:ea typeface="楷体_GB2312" charset="-122"/>
              </a:rPr>
              <a:t>：</a:t>
            </a:r>
            <a:r>
              <a:rPr lang="zh-CN" altLang="en-US" sz="2800" b="1" dirty="0">
                <a:latin typeface="Arial" panose="020B0604020202020204" pitchFamily="34" charset="0"/>
                <a:ea typeface="楷体_GB2312" charset="-122"/>
              </a:rPr>
              <a:t>许多低矮烟囱集合起来而构成的一个</a:t>
            </a:r>
            <a:endParaRPr lang="zh-CN" altLang="en-US" sz="2800" b="1" dirty="0">
              <a:latin typeface="Arial" panose="020B0604020202020204" pitchFamily="34" charset="0"/>
              <a:ea typeface="楷体_GB2312" charset="-122"/>
            </a:endParaRPr>
          </a:p>
        </p:txBody>
      </p:sp>
      <p:sp>
        <p:nvSpPr>
          <p:cNvPr id="375814" name="文本框 375813"/>
          <p:cNvSpPr txBox="1"/>
          <p:nvPr/>
        </p:nvSpPr>
        <p:spPr>
          <a:xfrm>
            <a:off x="3113088" y="3924300"/>
            <a:ext cx="6750050" cy="1047115"/>
          </a:xfrm>
          <a:prstGeom prst="rect">
            <a:avLst/>
          </a:prstGeom>
          <a:noFill/>
          <a:ln w="9525">
            <a:noFill/>
          </a:ln>
        </p:spPr>
        <p:txBody>
          <a:bodyPr wrap="none" lIns="0" tIns="0" rIns="0" bIns="0">
            <a:spAutoFit/>
          </a:bodyPr>
          <a:p>
            <a:pPr algn="l" defTabSz="916305">
              <a:lnSpc>
                <a:spcPts val="2815"/>
              </a:lnSpc>
              <a:tabLst>
                <a:tab pos="279400" algn="l"/>
              </a:tabLst>
            </a:pPr>
            <a:r>
              <a:rPr lang="zh-CN" altLang="en-US" sz="1800" dirty="0">
                <a:latin typeface="Arial" panose="020B0604020202020204" pitchFamily="34" charset="0"/>
              </a:rPr>
              <a:t>	</a:t>
            </a:r>
            <a:r>
              <a:rPr lang="zh-CN" altLang="en-US" sz="2800" b="1" dirty="0">
                <a:latin typeface="Arial" panose="020B0604020202020204" pitchFamily="34" charset="0"/>
                <a:ea typeface="楷体_GB2312" charset="-122"/>
              </a:rPr>
              <a:t>区域性的污染源。高度小于</a:t>
            </a:r>
            <a:r>
              <a:rPr lang="en-US" altLang="zh-CN" sz="2800" b="1">
                <a:latin typeface="Arial" panose="020B0604020202020204" pitchFamily="34" charset="0"/>
                <a:ea typeface="楷体_GB2312" charset="-122"/>
              </a:rPr>
              <a:t>15</a:t>
            </a:r>
            <a:r>
              <a:rPr lang="zh-CN" altLang="en-US" sz="2800" b="1" dirty="0">
                <a:latin typeface="Arial" panose="020B0604020202020204" pitchFamily="34" charset="0"/>
                <a:ea typeface="楷体_GB2312" charset="-122"/>
              </a:rPr>
              <a:t>米的烟囱</a:t>
            </a:r>
            <a:r>
              <a:rPr lang="zh-CN" altLang="en-US" sz="2800" dirty="0">
                <a:latin typeface="楷体_GB2312" charset="-122"/>
                <a:ea typeface="楷体_GB2312" charset="-122"/>
              </a:rPr>
              <a:t>。</a:t>
            </a:r>
            <a:endParaRPr lang="zh-CN" altLang="en-US" sz="2800" dirty="0">
              <a:latin typeface="楷体_GB2312" charset="-122"/>
              <a:ea typeface="楷体_GB2312" charset="-122"/>
            </a:endParaRPr>
          </a:p>
          <a:p>
            <a:pPr algn="l" defTabSz="916305">
              <a:lnSpc>
                <a:spcPts val="1000"/>
              </a:lnSpc>
              <a:tabLst>
                <a:tab pos="279400" algn="l"/>
              </a:tabLst>
            </a:pPr>
            <a:endParaRPr lang="zh-CN" altLang="en-US" sz="2800" dirty="0">
              <a:latin typeface="楷体_GB2312" charset="-122"/>
              <a:ea typeface="楷体_GB2312" charset="-122"/>
            </a:endParaRPr>
          </a:p>
          <a:p>
            <a:pPr algn="l" defTabSz="916305">
              <a:lnSpc>
                <a:spcPts val="1000"/>
              </a:lnSpc>
              <a:tabLst>
                <a:tab pos="279400" algn="l"/>
              </a:tabLst>
            </a:pPr>
            <a:endParaRPr lang="zh-CN" altLang="en-US" sz="2800" dirty="0">
              <a:solidFill>
                <a:srgbClr val="5B5249"/>
              </a:solidFill>
              <a:latin typeface="楷体_GB2312" charset="-122"/>
              <a:ea typeface="楷体_GB2312" charset="-122"/>
            </a:endParaRPr>
          </a:p>
          <a:p>
            <a:pPr algn="l" defTabSz="916305">
              <a:lnSpc>
                <a:spcPts val="3350"/>
              </a:lnSpc>
              <a:tabLst>
                <a:tab pos="279400" algn="l"/>
              </a:tabLst>
            </a:pPr>
            <a:r>
              <a:rPr lang="zh-CN" altLang="en-US" sz="2800" dirty="0">
                <a:solidFill>
                  <a:srgbClr val="3333FF"/>
                </a:solidFill>
                <a:latin typeface="Arial" panose="020B0604020202020204" pitchFamily="34" charset="0"/>
                <a:ea typeface="楷体_GB2312" charset="-122"/>
              </a:rPr>
              <a:t>③线源</a:t>
            </a:r>
            <a:r>
              <a:rPr lang="zh-CN" altLang="en-US" sz="2800" dirty="0">
                <a:solidFill>
                  <a:srgbClr val="5B5249"/>
                </a:solidFill>
                <a:latin typeface="Arial" panose="020B0604020202020204" pitchFamily="34" charset="0"/>
                <a:ea typeface="楷体_GB2312" charset="-122"/>
              </a:rPr>
              <a:t>：</a:t>
            </a:r>
            <a:r>
              <a:rPr lang="zh-CN" altLang="en-US" sz="2800" b="1" dirty="0">
                <a:latin typeface="Arial" panose="020B0604020202020204" pitchFamily="34" charset="0"/>
                <a:ea typeface="楷体_GB2312" charset="-122"/>
              </a:rPr>
              <a:t>移动污染源形成线形的污染。</a:t>
            </a:r>
            <a:endParaRPr lang="zh-CN" altLang="en-US" sz="2800" b="1" dirty="0">
              <a:latin typeface="Arial" panose="020B0604020202020204" pitchFamily="34" charset="0"/>
              <a:ea typeface="楷体_GB2312" charset="-122"/>
            </a:endParaRPr>
          </a:p>
        </p:txBody>
      </p:sp>
      <p:sp>
        <p:nvSpPr>
          <p:cNvPr id="375815" name="文本框 375814"/>
          <p:cNvSpPr txBox="1"/>
          <p:nvPr/>
        </p:nvSpPr>
        <p:spPr>
          <a:xfrm>
            <a:off x="3648075" y="5362575"/>
            <a:ext cx="6435090" cy="360680"/>
          </a:xfrm>
          <a:prstGeom prst="rect">
            <a:avLst/>
          </a:prstGeom>
          <a:noFill/>
          <a:ln w="9525">
            <a:noFill/>
          </a:ln>
        </p:spPr>
        <p:txBody>
          <a:bodyPr wrap="none" lIns="0" tIns="0" rIns="0" bIns="0">
            <a:spAutoFit/>
          </a:bodyPr>
          <a:p>
            <a:pPr algn="l" defTabSz="916305">
              <a:lnSpc>
                <a:spcPts val="2815"/>
              </a:lnSpc>
            </a:pPr>
            <a:r>
              <a:rPr lang="zh-CN" altLang="en-US" sz="2800" b="1" dirty="0">
                <a:solidFill>
                  <a:srgbClr val="FF0000"/>
                </a:solidFill>
                <a:latin typeface="Arial" panose="020B0604020202020204" pitchFamily="34" charset="0"/>
                <a:ea typeface="楷体_GB2312" charset="-122"/>
              </a:rPr>
              <a:t>注：这种分类方法适用于大气扩散计算</a:t>
            </a:r>
            <a:r>
              <a:rPr lang="zh-CN" altLang="en-US" sz="2800" b="1" dirty="0">
                <a:solidFill>
                  <a:srgbClr val="5B5249"/>
                </a:solidFill>
                <a:latin typeface="Arial" panose="020B0604020202020204" pitchFamily="34" charset="0"/>
                <a:ea typeface="楷体_GB2312" charset="-122"/>
              </a:rPr>
              <a:t>。</a:t>
            </a:r>
            <a:endParaRPr lang="zh-CN" altLang="en-US" sz="2800" b="1" dirty="0">
              <a:solidFill>
                <a:srgbClr val="5B5249"/>
              </a:solidFill>
              <a:latin typeface="Arial" panose="020B0604020202020204" pitchFamily="34" charset="0"/>
              <a:ea typeface="楷体_GB2312" charset="-122"/>
            </a:endParaRPr>
          </a:p>
        </p:txBody>
      </p:sp>
      <p:sp>
        <p:nvSpPr>
          <p:cNvPr id="375816" name="文本框 375815"/>
          <p:cNvSpPr txBox="1"/>
          <p:nvPr/>
        </p:nvSpPr>
        <p:spPr>
          <a:xfrm>
            <a:off x="2360613" y="1006475"/>
            <a:ext cx="6256337" cy="463550"/>
          </a:xfrm>
          <a:prstGeom prst="rect">
            <a:avLst/>
          </a:prstGeom>
          <a:noFill/>
          <a:ln w="9525">
            <a:noFill/>
          </a:ln>
        </p:spPr>
        <p:txBody>
          <a:bodyPr lIns="0" tIns="0" rIns="0" bIns="0">
            <a:spAutoFit/>
          </a:bodyPr>
          <a:p>
            <a:pPr algn="l" defTabSz="916305">
              <a:lnSpc>
                <a:spcPts val="3615"/>
              </a:lnSpc>
            </a:pPr>
            <a:r>
              <a:rPr lang="en-US" altLang="zh-CN" sz="3600">
                <a:solidFill>
                  <a:srgbClr val="3333FF"/>
                </a:solidFill>
                <a:latin typeface="楷体_GB2312" charset="-122"/>
                <a:ea typeface="楷体_GB2312" charset="-122"/>
              </a:rPr>
              <a:t>2</a:t>
            </a:r>
            <a:r>
              <a:rPr lang="zh-CN" altLang="en-US" sz="3600" dirty="0">
                <a:solidFill>
                  <a:srgbClr val="3333FF"/>
                </a:solidFill>
                <a:latin typeface="楷体_GB2312" charset="-122"/>
                <a:ea typeface="楷体_GB2312" charset="-122"/>
              </a:rPr>
              <a:t>．按污染物排放的方式分</a:t>
            </a:r>
            <a:endParaRPr lang="zh-CN" altLang="en-US" sz="3600" dirty="0">
              <a:solidFill>
                <a:srgbClr val="3333FF"/>
              </a:solidFill>
              <a:latin typeface="楷体_GB2312" charset="-122"/>
              <a:ea typeface="楷体_GB231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6834" name="文本框 376833"/>
          <p:cNvSpPr txBox="1"/>
          <p:nvPr/>
        </p:nvSpPr>
        <p:spPr>
          <a:xfrm>
            <a:off x="10282238" y="6550025"/>
            <a:ext cx="29337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11</a:t>
            </a:r>
            <a:endParaRPr lang="en-US" altLang="zh-CN" sz="2400">
              <a:solidFill>
                <a:srgbClr val="2A3D7A"/>
              </a:solidFill>
              <a:latin typeface="Times New Roman" panose="02020603050405020304" charset="0"/>
            </a:endParaRPr>
          </a:p>
        </p:txBody>
      </p:sp>
      <p:sp>
        <p:nvSpPr>
          <p:cNvPr id="376835" name="文本框 376834"/>
          <p:cNvSpPr txBox="1"/>
          <p:nvPr/>
        </p:nvSpPr>
        <p:spPr>
          <a:xfrm>
            <a:off x="3143250" y="1412875"/>
            <a:ext cx="5257800" cy="463550"/>
          </a:xfrm>
          <a:prstGeom prst="rect">
            <a:avLst/>
          </a:prstGeom>
          <a:noFill/>
          <a:ln w="9525">
            <a:noFill/>
          </a:ln>
        </p:spPr>
        <p:txBody>
          <a:bodyPr wrap="none" lIns="0" tIns="0" rIns="0" bIns="0">
            <a:spAutoFit/>
          </a:bodyPr>
          <a:p>
            <a:pPr algn="l" defTabSz="916305">
              <a:lnSpc>
                <a:spcPts val="3615"/>
              </a:lnSpc>
            </a:pPr>
            <a:r>
              <a:rPr lang="en-US" altLang="zh-CN" sz="3600">
                <a:solidFill>
                  <a:srgbClr val="3333FF"/>
                </a:solidFill>
                <a:latin typeface="楷体_GB2312" charset="-122"/>
                <a:ea typeface="楷体_GB2312" charset="-122"/>
              </a:rPr>
              <a:t>3</a:t>
            </a:r>
            <a:r>
              <a:rPr lang="zh-CN" altLang="en-US" sz="3600" dirty="0">
                <a:solidFill>
                  <a:srgbClr val="3333FF"/>
                </a:solidFill>
                <a:latin typeface="楷体_GB2312" charset="-122"/>
                <a:ea typeface="楷体_GB2312" charset="-122"/>
              </a:rPr>
              <a:t>．按污染物排放的时间分</a:t>
            </a:r>
            <a:endParaRPr lang="zh-CN" altLang="en-US" sz="3600" dirty="0">
              <a:solidFill>
                <a:srgbClr val="3333FF"/>
              </a:solidFill>
              <a:latin typeface="楷体_GB2312" charset="-122"/>
              <a:ea typeface="楷体_GB2312" charset="-122"/>
            </a:endParaRPr>
          </a:p>
        </p:txBody>
      </p:sp>
      <p:sp>
        <p:nvSpPr>
          <p:cNvPr id="376836" name="文本框 376835"/>
          <p:cNvSpPr txBox="1"/>
          <p:nvPr/>
        </p:nvSpPr>
        <p:spPr>
          <a:xfrm>
            <a:off x="2654300" y="2170113"/>
            <a:ext cx="7039610" cy="30734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3333FF"/>
                </a:solidFill>
                <a:latin typeface="Arial" panose="020B0604020202020204" pitchFamily="34" charset="0"/>
                <a:ea typeface="楷体_GB2312" charset="-122"/>
              </a:rPr>
              <a:t>①连续源</a:t>
            </a:r>
            <a:r>
              <a:rPr lang="zh-CN" altLang="en-US" sz="2400" b="1" dirty="0">
                <a:latin typeface="Arial" panose="020B0604020202020204" pitchFamily="34" charset="0"/>
                <a:ea typeface="楷体_GB2312" charset="-122"/>
              </a:rPr>
              <a:t>：污染物连续排放，如化工厂的排气筒等。</a:t>
            </a:r>
            <a:endParaRPr lang="zh-CN" altLang="en-US" sz="2400" b="1" dirty="0">
              <a:latin typeface="Arial" panose="020B0604020202020204" pitchFamily="34" charset="0"/>
              <a:ea typeface="楷体_GB2312" charset="-122"/>
            </a:endParaRPr>
          </a:p>
        </p:txBody>
      </p:sp>
      <p:sp>
        <p:nvSpPr>
          <p:cNvPr id="376837" name="文本框 376836"/>
          <p:cNvSpPr txBox="1"/>
          <p:nvPr/>
        </p:nvSpPr>
        <p:spPr>
          <a:xfrm>
            <a:off x="2654300" y="2884488"/>
            <a:ext cx="7039610" cy="920115"/>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3333FF"/>
                </a:solidFill>
                <a:latin typeface="Arial" panose="020B0604020202020204" pitchFamily="34" charset="0"/>
                <a:ea typeface="楷体_GB2312" charset="-122"/>
              </a:rPr>
              <a:t>②间断源</a:t>
            </a:r>
            <a:r>
              <a:rPr lang="zh-CN" altLang="en-US" sz="2400" b="1" dirty="0">
                <a:latin typeface="Arial" panose="020B0604020202020204" pitchFamily="34" charset="0"/>
                <a:ea typeface="楷体_GB2312" charset="-122"/>
              </a:rPr>
              <a:t>：排出源时断时续，如取暖锅炉的烟囱。</a:t>
            </a:r>
            <a:endParaRPr lang="zh-CN" altLang="en-US" sz="2400" b="1" dirty="0">
              <a:latin typeface="Arial" panose="020B0604020202020204" pitchFamily="34" charset="0"/>
              <a:ea typeface="楷体_GB2312" charset="-122"/>
            </a:endParaRPr>
          </a:p>
          <a:p>
            <a:pPr algn="l" defTabSz="916305">
              <a:lnSpc>
                <a:spcPts val="1000"/>
              </a:lnSpc>
            </a:pPr>
            <a:endParaRPr lang="zh-CN" altLang="en-US" sz="2400" b="1" dirty="0">
              <a:latin typeface="Arial" panose="020B0604020202020204" pitchFamily="34" charset="0"/>
              <a:ea typeface="楷体_GB2312" charset="-122"/>
            </a:endParaRPr>
          </a:p>
          <a:p>
            <a:pPr algn="l" defTabSz="916305">
              <a:lnSpc>
                <a:spcPts val="1000"/>
              </a:lnSpc>
            </a:pPr>
            <a:endParaRPr lang="zh-CN" altLang="en-US" sz="2400" b="1" dirty="0">
              <a:solidFill>
                <a:srgbClr val="5B5249"/>
              </a:solidFill>
              <a:latin typeface="Arial" panose="020B0604020202020204" pitchFamily="34" charset="0"/>
              <a:ea typeface="楷体_GB2312" charset="-122"/>
            </a:endParaRPr>
          </a:p>
          <a:p>
            <a:pPr algn="l" defTabSz="916305">
              <a:lnSpc>
                <a:spcPts val="2775"/>
              </a:lnSpc>
            </a:pPr>
            <a:r>
              <a:rPr lang="zh-CN" altLang="en-US" sz="2400" b="1" dirty="0">
                <a:solidFill>
                  <a:srgbClr val="3333FF"/>
                </a:solidFill>
                <a:latin typeface="Arial" panose="020B0604020202020204" pitchFamily="34" charset="0"/>
                <a:ea typeface="楷体_GB2312" charset="-122"/>
              </a:rPr>
              <a:t>③瞬间源</a:t>
            </a:r>
            <a:r>
              <a:rPr lang="zh-CN" altLang="en-US" sz="2400" b="1" dirty="0">
                <a:latin typeface="Arial" panose="020B0604020202020204" pitchFamily="34" charset="0"/>
                <a:ea typeface="楷体_GB2312" charset="-122"/>
              </a:rPr>
              <a:t>：排放时间暂短，如某些工厂的事故排放。</a:t>
            </a:r>
            <a:endParaRPr lang="zh-CN" altLang="en-US" sz="2400" b="1" dirty="0">
              <a:latin typeface="Arial" panose="020B0604020202020204" pitchFamily="34" charset="0"/>
              <a:ea typeface="楷体_GB2312" charset="-122"/>
            </a:endParaRPr>
          </a:p>
        </p:txBody>
      </p:sp>
      <p:sp>
        <p:nvSpPr>
          <p:cNvPr id="376838" name="文本框 376837"/>
          <p:cNvSpPr txBox="1"/>
          <p:nvPr/>
        </p:nvSpPr>
        <p:spPr>
          <a:xfrm>
            <a:off x="2806700" y="4076700"/>
            <a:ext cx="2448560" cy="307340"/>
          </a:xfrm>
          <a:prstGeom prst="rect">
            <a:avLst/>
          </a:prstGeom>
          <a:noFill/>
          <a:ln w="9525">
            <a:noFill/>
          </a:ln>
        </p:spPr>
        <p:txBody>
          <a:bodyPr wrap="none" lIns="0" tIns="0" rIns="0" bIns="0">
            <a:spAutoFit/>
          </a:bodyPr>
          <a:p>
            <a:pPr algn="l" defTabSz="916305">
              <a:lnSpc>
                <a:spcPts val="2400"/>
              </a:lnSpc>
            </a:pPr>
            <a:r>
              <a:rPr lang="zh-CN" altLang="en-US" sz="2400" b="1" dirty="0">
                <a:latin typeface="Arial" panose="020B0604020202020204" pitchFamily="34" charset="0"/>
                <a:ea typeface="楷体_GB2312" charset="-122"/>
              </a:rPr>
              <a:t>吉林双苯厂爆炸。</a:t>
            </a:r>
            <a:endParaRPr lang="zh-CN" altLang="en-US" sz="2400" b="1" dirty="0">
              <a:latin typeface="Arial" panose="020B0604020202020204" pitchFamily="34" charset="0"/>
              <a:ea typeface="楷体_GB2312" charset="-122"/>
            </a:endParaRPr>
          </a:p>
        </p:txBody>
      </p:sp>
      <p:sp>
        <p:nvSpPr>
          <p:cNvPr id="376839" name="文本框 376838"/>
          <p:cNvSpPr txBox="1"/>
          <p:nvPr/>
        </p:nvSpPr>
        <p:spPr>
          <a:xfrm>
            <a:off x="2654300" y="4660900"/>
            <a:ext cx="7345680" cy="30734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Arial" panose="020B0604020202020204" pitchFamily="34" charset="0"/>
                <a:ea typeface="楷体_GB2312" charset="-122"/>
              </a:rPr>
              <a:t>注：这种分类方法适用于分析污染物排放的时间规律</a:t>
            </a:r>
            <a:r>
              <a:rPr lang="zh-CN" altLang="en-US" sz="2400" b="1" dirty="0">
                <a:solidFill>
                  <a:srgbClr val="5B5249"/>
                </a:solidFill>
                <a:latin typeface="Arial" panose="020B0604020202020204" pitchFamily="34" charset="0"/>
                <a:ea typeface="楷体_GB2312" charset="-122"/>
              </a:rPr>
              <a:t>。</a:t>
            </a:r>
            <a:endParaRPr lang="zh-CN" altLang="en-US" sz="2400" b="1" dirty="0">
              <a:solidFill>
                <a:srgbClr val="5B5249"/>
              </a:solidFill>
              <a:latin typeface="Arial" panose="020B0604020202020204" pitchFamily="34" charset="0"/>
              <a:ea typeface="楷体_GB231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6" name="直接连接符 16998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69989" name="矩形 169988"/>
          <p:cNvSpPr/>
          <p:nvPr/>
        </p:nvSpPr>
        <p:spPr>
          <a:xfrm>
            <a:off x="2235200" y="1093470"/>
            <a:ext cx="2946400" cy="737235"/>
          </a:xfrm>
          <a:prstGeom prst="rect">
            <a:avLst/>
          </a:prstGeom>
          <a:noFill/>
          <a:ln w="9525">
            <a:noFill/>
          </a:ln>
        </p:spPr>
        <p:txBody>
          <a:bodyPr anchor="ctr" anchorCtr="0">
            <a:spAutoFit/>
          </a:bodyPr>
          <a:p>
            <a:pPr algn="l">
              <a:lnSpc>
                <a:spcPct val="150000"/>
              </a:lnSpc>
            </a:pPr>
            <a:r>
              <a:rPr lang="zh-CN" altLang="en-GB" sz="2800" b="1" dirty="0">
                <a:solidFill>
                  <a:srgbClr val="FC4A26"/>
                </a:solidFill>
                <a:latin typeface="楷体_GB2312" charset="-122"/>
                <a:ea typeface="楷体_GB2312" charset="-122"/>
              </a:rPr>
              <a:t>大气污染源 </a:t>
            </a:r>
            <a:endParaRPr lang="zh-CN" altLang="en-GB" sz="2800" b="1" dirty="0">
              <a:solidFill>
                <a:srgbClr val="FC4A26"/>
              </a:solidFill>
              <a:latin typeface="楷体_GB2312" charset="-122"/>
              <a:ea typeface="楷体_GB2312" charset="-122"/>
            </a:endParaRPr>
          </a:p>
        </p:txBody>
      </p:sp>
      <p:sp>
        <p:nvSpPr>
          <p:cNvPr id="169990" name="AutoShape 8"/>
          <p:cNvSpPr/>
          <p:nvPr/>
        </p:nvSpPr>
        <p:spPr>
          <a:xfrm>
            <a:off x="3276600" y="3638550"/>
            <a:ext cx="2133600" cy="611188"/>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800" b="1" dirty="0">
                <a:solidFill>
                  <a:srgbClr val="FFFF66"/>
                </a:solidFill>
                <a:latin typeface="宋体" panose="02010600030101010101" pitchFamily="2" charset="-122"/>
                <a:ea typeface="楷体_GB2312" charset="-122"/>
              </a:rPr>
              <a:t>大气污染源</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1029136" name="AutoShape 16"/>
          <p:cNvSpPr>
            <a:spLocks noChangeArrowheads="1"/>
          </p:cNvSpPr>
          <p:nvPr/>
        </p:nvSpPr>
        <p:spPr bwMode="auto">
          <a:xfrm>
            <a:off x="5791200" y="3200400"/>
            <a:ext cx="2465388" cy="498475"/>
          </a:xfrm>
          <a:prstGeom prst="roundRect">
            <a:avLst>
              <a:gd name="adj" fmla="val 10560"/>
            </a:avLst>
          </a:prstGeom>
          <a:solidFill>
            <a:srgbClr val="00FFFF"/>
          </a:solidFill>
          <a:ln w="9525">
            <a:solidFill>
              <a:schemeClr val="tx1"/>
            </a:solidFill>
            <a:round/>
          </a:ln>
          <a:effectLst>
            <a:outerShdw dist="35921" dir="2700000" algn="ctr" rotWithShape="0">
              <a:schemeClr val="tx1"/>
            </a:outerShdw>
          </a:effectLst>
        </p:spPr>
        <p:txBody>
          <a:bodyPr lIns="45720" rIns="45720" anchor="ctr"/>
          <a:p>
            <a:pPr eaLnBrk="0" hangingPunct="0">
              <a:spcBef>
                <a:spcPct val="100000"/>
              </a:spcBef>
              <a:buSzPct val="65000"/>
              <a:buFont typeface="Wingdings" panose="05000000000000000000" pitchFamily="2" charset="2"/>
              <a:buNone/>
            </a:pPr>
            <a:r>
              <a:rPr lang="zh-CN" altLang="en-GB" sz="2400" b="1" dirty="0">
                <a:solidFill>
                  <a:srgbClr val="2C2C00"/>
                </a:solidFill>
                <a:latin typeface="宋体" panose="02010600030101010101" pitchFamily="2" charset="-122"/>
                <a:ea typeface="楷体_GB2312" charset="-122"/>
              </a:rPr>
              <a:t>农业污染源</a:t>
            </a:r>
            <a:endParaRPr lang="en-US" altLang="zh-CN" sz="2400" b="1">
              <a:solidFill>
                <a:srgbClr val="2C2C00"/>
              </a:solidFill>
              <a:latin typeface="宋体" panose="02010600030101010101" pitchFamily="2" charset="-122"/>
              <a:ea typeface="楷体_GB2312" charset="-122"/>
            </a:endParaRPr>
          </a:p>
        </p:txBody>
      </p:sp>
      <p:sp>
        <p:nvSpPr>
          <p:cNvPr id="169992" name="左大括号 169991"/>
          <p:cNvSpPr/>
          <p:nvPr/>
        </p:nvSpPr>
        <p:spPr>
          <a:xfrm>
            <a:off x="5448300" y="2514600"/>
            <a:ext cx="342900" cy="2860675"/>
          </a:xfrm>
          <a:prstGeom prst="leftBrace">
            <a:avLst>
              <a:gd name="adj1" fmla="val 69521"/>
              <a:gd name="adj2" fmla="val 50000"/>
            </a:avLst>
          </a:prstGeom>
          <a:noFill/>
          <a:ln w="38100" cap="flat" cmpd="sng">
            <a:solidFill>
              <a:schemeClr val="accent2"/>
            </a:solidFill>
            <a:prstDash val="solid"/>
            <a:headEnd type="none" w="med" len="med"/>
            <a:tailEnd type="none" w="med" len="med"/>
          </a:ln>
          <a:effectLst>
            <a:outerShdw dist="107763" dir="18900000" algn="ctr" rotWithShape="0">
              <a:schemeClr val="bg2">
                <a:alpha val="50000"/>
              </a:schemeClr>
            </a:outerShdw>
          </a:effectLst>
        </p:spPr>
        <p:txBody>
          <a:bodyPr/>
          <a:p>
            <a:endParaRPr lang="zh-CN" altLang="en-US"/>
          </a:p>
        </p:txBody>
      </p:sp>
      <p:sp>
        <p:nvSpPr>
          <p:cNvPr id="3" name="AutoShape 16"/>
          <p:cNvSpPr>
            <a:spLocks noChangeArrowheads="1"/>
          </p:cNvSpPr>
          <p:nvPr/>
        </p:nvSpPr>
        <p:spPr bwMode="auto">
          <a:xfrm>
            <a:off x="5791200" y="2306638"/>
            <a:ext cx="2465388" cy="498475"/>
          </a:xfrm>
          <a:prstGeom prst="roundRect">
            <a:avLst>
              <a:gd name="adj" fmla="val 10560"/>
            </a:avLst>
          </a:prstGeom>
          <a:solidFill>
            <a:srgbClr val="00FFFF"/>
          </a:solidFill>
          <a:ln w="9525">
            <a:solidFill>
              <a:schemeClr val="tx1"/>
            </a:solidFill>
            <a:round/>
          </a:ln>
          <a:effectLst>
            <a:outerShdw dist="35921" dir="2700000" algn="ctr" rotWithShape="0">
              <a:schemeClr val="tx1"/>
            </a:outerShdw>
          </a:effectLst>
        </p:spPr>
        <p:txBody>
          <a:bodyPr lIns="45720" rIns="45720" anchor="ctr"/>
          <a:p>
            <a:pPr eaLnBrk="0" hangingPunct="0">
              <a:spcBef>
                <a:spcPct val="100000"/>
              </a:spcBef>
              <a:buSzPct val="65000"/>
              <a:buFont typeface="Wingdings" panose="05000000000000000000" pitchFamily="2" charset="2"/>
              <a:buNone/>
            </a:pPr>
            <a:r>
              <a:rPr lang="zh-CN" altLang="en-GB" sz="2400" b="1" dirty="0">
                <a:solidFill>
                  <a:srgbClr val="2C2C00"/>
                </a:solidFill>
                <a:latin typeface="宋体" panose="02010600030101010101" pitchFamily="2" charset="-122"/>
                <a:ea typeface="楷体_GB2312" charset="-122"/>
              </a:rPr>
              <a:t>工业污染源</a:t>
            </a:r>
            <a:endParaRPr lang="en-US" altLang="zh-CN" sz="2400" b="1">
              <a:solidFill>
                <a:srgbClr val="2C2C00"/>
              </a:solidFill>
              <a:latin typeface="宋体" panose="02010600030101010101" pitchFamily="2" charset="-122"/>
              <a:ea typeface="楷体_GB2312" charset="-122"/>
            </a:endParaRPr>
          </a:p>
        </p:txBody>
      </p:sp>
      <p:sp>
        <p:nvSpPr>
          <p:cNvPr id="4" name="AutoShape 16"/>
          <p:cNvSpPr>
            <a:spLocks noChangeArrowheads="1"/>
          </p:cNvSpPr>
          <p:nvPr/>
        </p:nvSpPr>
        <p:spPr bwMode="auto">
          <a:xfrm>
            <a:off x="5791200" y="4114800"/>
            <a:ext cx="2466975" cy="498475"/>
          </a:xfrm>
          <a:prstGeom prst="roundRect">
            <a:avLst>
              <a:gd name="adj" fmla="val 10560"/>
            </a:avLst>
          </a:prstGeom>
          <a:solidFill>
            <a:srgbClr val="00FFFF"/>
          </a:solidFill>
          <a:ln w="9525">
            <a:solidFill>
              <a:schemeClr val="tx1"/>
            </a:solidFill>
            <a:round/>
          </a:ln>
          <a:effectLst>
            <a:outerShdw dist="35921" dir="2700000" algn="ctr" rotWithShape="0">
              <a:schemeClr val="tx1"/>
            </a:outerShdw>
          </a:effectLst>
        </p:spPr>
        <p:txBody>
          <a:bodyPr lIns="45720" rIns="45720" anchor="ctr"/>
          <a:p>
            <a:pPr eaLnBrk="0" hangingPunct="0">
              <a:spcBef>
                <a:spcPct val="100000"/>
              </a:spcBef>
              <a:buSzPct val="65000"/>
              <a:buFont typeface="Wingdings" panose="05000000000000000000" pitchFamily="2" charset="2"/>
              <a:buNone/>
            </a:pPr>
            <a:r>
              <a:rPr lang="zh-CN" altLang="en-GB" sz="2400" b="1" dirty="0">
                <a:solidFill>
                  <a:srgbClr val="2C2C00"/>
                </a:solidFill>
                <a:latin typeface="宋体" panose="02010600030101010101" pitchFamily="2" charset="-122"/>
                <a:ea typeface="楷体_GB2312" charset="-122"/>
              </a:rPr>
              <a:t>交通运输污染源</a:t>
            </a:r>
            <a:endParaRPr lang="en-US" altLang="zh-CN" sz="2400" b="1">
              <a:solidFill>
                <a:srgbClr val="2C2C00"/>
              </a:solidFill>
              <a:latin typeface="宋体" panose="02010600030101010101" pitchFamily="2" charset="-122"/>
              <a:ea typeface="楷体_GB2312" charset="-122"/>
            </a:endParaRPr>
          </a:p>
        </p:txBody>
      </p:sp>
      <p:sp>
        <p:nvSpPr>
          <p:cNvPr id="5" name="AutoShape 16"/>
          <p:cNvSpPr>
            <a:spLocks noChangeArrowheads="1"/>
          </p:cNvSpPr>
          <p:nvPr/>
        </p:nvSpPr>
        <p:spPr bwMode="auto">
          <a:xfrm>
            <a:off x="5867400" y="4911725"/>
            <a:ext cx="2465388" cy="498475"/>
          </a:xfrm>
          <a:prstGeom prst="roundRect">
            <a:avLst>
              <a:gd name="adj" fmla="val 10560"/>
            </a:avLst>
          </a:prstGeom>
          <a:solidFill>
            <a:srgbClr val="00FFFF"/>
          </a:solidFill>
          <a:ln w="9525">
            <a:solidFill>
              <a:schemeClr val="tx1"/>
            </a:solidFill>
            <a:round/>
          </a:ln>
          <a:effectLst>
            <a:outerShdw dist="35921" dir="2700000" algn="ctr" rotWithShape="0">
              <a:schemeClr val="tx1"/>
            </a:outerShdw>
          </a:effectLst>
        </p:spPr>
        <p:txBody>
          <a:bodyPr lIns="45720" rIns="45720" anchor="ctr"/>
          <a:p>
            <a:pPr eaLnBrk="0" hangingPunct="0">
              <a:spcBef>
                <a:spcPct val="100000"/>
              </a:spcBef>
              <a:buSzPct val="65000"/>
              <a:buFont typeface="Wingdings" panose="05000000000000000000" pitchFamily="2" charset="2"/>
              <a:buNone/>
            </a:pPr>
            <a:r>
              <a:rPr lang="zh-CN" altLang="en-GB" sz="2400" b="1" dirty="0">
                <a:solidFill>
                  <a:srgbClr val="2C2C00"/>
                </a:solidFill>
                <a:latin typeface="宋体" panose="02010600030101010101" pitchFamily="2" charset="-122"/>
                <a:ea typeface="楷体_GB2312" charset="-122"/>
              </a:rPr>
              <a:t>生活污染源</a:t>
            </a:r>
            <a:endParaRPr lang="en-US" altLang="zh-CN" sz="2400" b="1">
              <a:solidFill>
                <a:srgbClr val="2C2C00"/>
              </a:solidFill>
              <a:latin typeface="宋体" panose="02010600030101010101" pitchFamily="2" charset="-122"/>
              <a:ea typeface="楷体_GB2312" charset="-122"/>
            </a:endParaRPr>
          </a:p>
        </p:txBody>
      </p:sp>
      <p:sp>
        <p:nvSpPr>
          <p:cNvPr id="169996" name="五边形 169995"/>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9990"/>
                                        </p:tgtEl>
                                        <p:attrNameLst>
                                          <p:attrName>style.visibility</p:attrName>
                                        </p:attrNameLst>
                                      </p:cBhvr>
                                      <p:to>
                                        <p:strVal val="visible"/>
                                      </p:to>
                                    </p:set>
                                    <p:animEffect transition="in" filter="checkerboard(across)">
                                      <p:cBhvr>
                                        <p:cTn id="7" dur="500"/>
                                        <p:tgtEl>
                                          <p:spTgt spid="16999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69992"/>
                                        </p:tgtEl>
                                        <p:attrNameLst>
                                          <p:attrName>style.visibility</p:attrName>
                                        </p:attrNameLst>
                                      </p:cBhvr>
                                      <p:to>
                                        <p:strVal val="visible"/>
                                      </p:to>
                                    </p:set>
                                    <p:animEffect transition="in" filter="checkerboard(across)">
                                      <p:cBhvr>
                                        <p:cTn id="12" dur="500"/>
                                        <p:tgtEl>
                                          <p:spTgt spid="169992"/>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1029136"/>
                                        </p:tgtEl>
                                        <p:attrNameLst>
                                          <p:attrName>style.visibility</p:attrName>
                                        </p:attrNameLst>
                                      </p:cBhvr>
                                      <p:to>
                                        <p:strVal val="visible"/>
                                      </p:to>
                                    </p:set>
                                    <p:animEffect transition="in" filter="checkerboard(across)">
                                      <p:cBhvr>
                                        <p:cTn id="15" dur="500"/>
                                        <p:tgtEl>
                                          <p:spTgt spid="1029136"/>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checkerboard(across)">
                                      <p:cBhvr>
                                        <p:cTn id="21" dur="500"/>
                                        <p:tgtEl>
                                          <p:spTgt spid="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checkerboard(across)">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0" grpId="0" bldLvl="0" animBg="1"/>
      <p:bldP spid="1029136" grpId="0" bldLvl="0" animBg="1"/>
      <p:bldP spid="3" grpId="0" bldLvl="0" animBg="1"/>
      <p:bldP spid="4" grpId="0" bldLvl="0" animBg="1"/>
      <p:bldP spid="5"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10" name="直接连接符 171009"/>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1013" name="矩形 171012"/>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大气污染源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71014" name="矩形 171013"/>
          <p:cNvSpPr/>
          <p:nvPr/>
        </p:nvSpPr>
        <p:spPr>
          <a:xfrm>
            <a:off x="5237480" y="1099662"/>
            <a:ext cx="4891088" cy="2553335"/>
          </a:xfrm>
          <a:prstGeom prst="rect">
            <a:avLst/>
          </a:prstGeom>
          <a:noFill/>
          <a:ln w="9525">
            <a:noFill/>
          </a:ln>
        </p:spPr>
        <p:txBody>
          <a:bodyPr anchor="ctr" anchorCtr="0">
            <a:spAutoFit/>
          </a:bodyPr>
          <a:p>
            <a:pPr algn="l"/>
            <a:r>
              <a:rPr lang="zh-CN" altLang="en-US" sz="2000" dirty="0">
                <a:latin typeface="楷体_GB2312" charset="-122"/>
                <a:ea typeface="楷体_GB2312" charset="-122"/>
              </a:rPr>
              <a:t>    由</a:t>
            </a:r>
            <a:r>
              <a:rPr lang="zh-CN" altLang="en-US" sz="2000" b="1" u="sng" dirty="0">
                <a:solidFill>
                  <a:schemeClr val="accent2"/>
                </a:solidFill>
                <a:latin typeface="楷体_GB2312" charset="-122"/>
                <a:ea typeface="楷体_GB2312" charset="-122"/>
              </a:rPr>
              <a:t>火力发电、钢铁、化工和硅酸盐等工矿企业</a:t>
            </a:r>
            <a:r>
              <a:rPr lang="zh-CN" altLang="en-US" sz="2000" dirty="0">
                <a:latin typeface="楷体_GB2312" charset="-122"/>
                <a:ea typeface="楷体_GB2312" charset="-122"/>
              </a:rPr>
              <a:t>在生产过程、中所排放的煤烟、粉尘及有害化合物等形成的污染源。此类污染源由于不同工矿企业的生产性质和流程工艺的不同，其所排放的污染物种类和数量大不相同，但有一个</a:t>
            </a:r>
            <a:r>
              <a:rPr lang="zh-CN" altLang="en-US" sz="2000" b="1" dirty="0">
                <a:solidFill>
                  <a:srgbClr val="FF3300"/>
                </a:solidFill>
                <a:latin typeface="楷体_GB2312" charset="-122"/>
                <a:ea typeface="楷体_GB2312" charset="-122"/>
              </a:rPr>
              <a:t>共同的特点是，排放源集中、浓度高、局地污染强度高</a:t>
            </a:r>
            <a:r>
              <a:rPr lang="zh-CN" altLang="en-US" sz="2000" dirty="0">
                <a:solidFill>
                  <a:srgbClr val="FF3300"/>
                </a:solidFill>
                <a:latin typeface="楷体_GB2312" charset="-122"/>
                <a:ea typeface="楷体_GB2312" charset="-122"/>
              </a:rPr>
              <a:t>。</a:t>
            </a:r>
            <a:r>
              <a:rPr lang="zh-CN" altLang="en-US" sz="2000" b="1" u="sng" dirty="0">
                <a:solidFill>
                  <a:srgbClr val="FC4A26"/>
                </a:solidFill>
                <a:latin typeface="楷体_GB2312" charset="-122"/>
                <a:ea typeface="楷体_GB2312" charset="-122"/>
              </a:rPr>
              <a:t>是城市大气污染的罪魁祸首</a:t>
            </a:r>
            <a:r>
              <a:rPr lang="zh-CN" altLang="en-US" sz="2000" dirty="0">
                <a:latin typeface="楷体_GB2312" charset="-122"/>
                <a:ea typeface="楷体_GB2312" charset="-122"/>
              </a:rPr>
              <a:t>。 </a:t>
            </a:r>
            <a:endParaRPr lang="zh-CN" altLang="en-US" sz="2000" dirty="0">
              <a:latin typeface="楷体_GB2312" charset="-122"/>
              <a:ea typeface="楷体_GB2312" charset="-122"/>
            </a:endParaRPr>
          </a:p>
        </p:txBody>
      </p:sp>
      <p:sp>
        <p:nvSpPr>
          <p:cNvPr id="171015" name="矩形 171014"/>
          <p:cNvSpPr/>
          <p:nvPr/>
        </p:nvSpPr>
        <p:spPr>
          <a:xfrm>
            <a:off x="1939925" y="1722438"/>
            <a:ext cx="232664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1</a:t>
            </a:r>
            <a:r>
              <a:rPr lang="zh-CN" altLang="en-US" sz="2400" b="1" dirty="0">
                <a:solidFill>
                  <a:schemeClr val="accent2"/>
                </a:solidFill>
                <a:latin typeface="楷体_GB2312" charset="-122"/>
                <a:ea typeface="楷体_GB2312" charset="-122"/>
              </a:rPr>
              <a:t>、工业污染源</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71016" name="图片 171015" descr="W020080411495367381361"/>
          <p:cNvPicPr>
            <a:picLocks noChangeAspect="1"/>
          </p:cNvPicPr>
          <p:nvPr/>
        </p:nvPicPr>
        <p:blipFill>
          <a:blip r:embed="rId1"/>
          <a:stretch>
            <a:fillRect/>
          </a:stretch>
        </p:blipFill>
        <p:spPr>
          <a:xfrm>
            <a:off x="4991100" y="3924300"/>
            <a:ext cx="4762500" cy="2628900"/>
          </a:xfrm>
          <a:prstGeom prst="rect">
            <a:avLst/>
          </a:prstGeom>
          <a:noFill/>
          <a:ln w="9525">
            <a:noFill/>
          </a:ln>
        </p:spPr>
      </p:pic>
      <p:pic>
        <p:nvPicPr>
          <p:cNvPr id="171017" name="图片 171016" descr="dqwr"/>
          <p:cNvPicPr>
            <a:picLocks noChangeAspect="1"/>
          </p:cNvPicPr>
          <p:nvPr/>
        </p:nvPicPr>
        <p:blipFill>
          <a:blip r:embed="rId2"/>
          <a:stretch>
            <a:fillRect/>
          </a:stretch>
        </p:blipFill>
        <p:spPr>
          <a:xfrm>
            <a:off x="2124075" y="2181225"/>
            <a:ext cx="3067050" cy="3457575"/>
          </a:xfrm>
          <a:prstGeom prst="rect">
            <a:avLst/>
          </a:prstGeom>
          <a:noFill/>
          <a:ln w="9525">
            <a:noFill/>
          </a:ln>
        </p:spPr>
      </p:pic>
      <p:sp>
        <p:nvSpPr>
          <p:cNvPr id="171018" name="五边形 171017"/>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1015"/>
                                        </p:tgtEl>
                                        <p:attrNameLst>
                                          <p:attrName>style.visibility</p:attrName>
                                        </p:attrNameLst>
                                      </p:cBhvr>
                                      <p:to>
                                        <p:strVal val="visible"/>
                                      </p:to>
                                    </p:set>
                                    <p:anim calcmode="lin" valueType="num">
                                      <p:cBhvr additive="base">
                                        <p:cTn id="7" dur="500" fill="hold"/>
                                        <p:tgtEl>
                                          <p:spTgt spid="171015"/>
                                        </p:tgtEl>
                                        <p:attrNameLst>
                                          <p:attrName>ppt_x</p:attrName>
                                        </p:attrNameLst>
                                      </p:cBhvr>
                                      <p:tavLst>
                                        <p:tav tm="0">
                                          <p:val>
                                            <p:strVal val="0-#ppt_w/2"/>
                                          </p:val>
                                        </p:tav>
                                        <p:tav tm="100000">
                                          <p:val>
                                            <p:strVal val="#ppt_x"/>
                                          </p:val>
                                        </p:tav>
                                      </p:tavLst>
                                    </p:anim>
                                    <p:anim calcmode="lin" valueType="num">
                                      <p:cBhvr additive="base">
                                        <p:cTn id="8" dur="500" fill="hold"/>
                                        <p:tgtEl>
                                          <p:spTgt spid="1710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71017"/>
                                        </p:tgtEl>
                                        <p:attrNameLst>
                                          <p:attrName>style.visibility</p:attrName>
                                        </p:attrNameLst>
                                      </p:cBhvr>
                                      <p:to>
                                        <p:strVal val="visible"/>
                                      </p:to>
                                    </p:set>
                                    <p:animEffect transition="in" filter="blinds(vertical)">
                                      <p:cBhvr>
                                        <p:cTn id="13" dur="500"/>
                                        <p:tgtEl>
                                          <p:spTgt spid="171017"/>
                                        </p:tgtEl>
                                      </p:cBhvr>
                                    </p:animEffect>
                                  </p:childTnLst>
                                </p:cTn>
                              </p:par>
                              <p:par>
                                <p:cTn id="14" presetID="3" presetClass="entr" presetSubtype="5" fill="hold" nodeType="withEffect">
                                  <p:stCondLst>
                                    <p:cond delay="0"/>
                                  </p:stCondLst>
                                  <p:childTnLst>
                                    <p:set>
                                      <p:cBhvr>
                                        <p:cTn id="15" dur="1" fill="hold">
                                          <p:stCondLst>
                                            <p:cond delay="0"/>
                                          </p:stCondLst>
                                        </p:cTn>
                                        <p:tgtEl>
                                          <p:spTgt spid="171016"/>
                                        </p:tgtEl>
                                        <p:attrNameLst>
                                          <p:attrName>style.visibility</p:attrName>
                                        </p:attrNameLst>
                                      </p:cBhvr>
                                      <p:to>
                                        <p:strVal val="visible"/>
                                      </p:to>
                                    </p:set>
                                    <p:animEffect transition="in" filter="blinds(vertical)">
                                      <p:cBhvr>
                                        <p:cTn id="16" dur="500"/>
                                        <p:tgtEl>
                                          <p:spTgt spid="171016"/>
                                        </p:tgtEl>
                                      </p:cBhvr>
                                    </p:animEffect>
                                  </p:childTnLst>
                                </p:cTn>
                              </p:par>
                              <p:par>
                                <p:cTn id="17" presetID="3" presetClass="entr" presetSubtype="5" fill="hold" grpId="0" nodeType="withEffect">
                                  <p:stCondLst>
                                    <p:cond delay="0"/>
                                  </p:stCondLst>
                                  <p:childTnLst>
                                    <p:set>
                                      <p:cBhvr>
                                        <p:cTn id="18" dur="1" fill="hold">
                                          <p:stCondLst>
                                            <p:cond delay="0"/>
                                          </p:stCondLst>
                                        </p:cTn>
                                        <p:tgtEl>
                                          <p:spTgt spid="171014"/>
                                        </p:tgtEl>
                                        <p:attrNameLst>
                                          <p:attrName>style.visibility</p:attrName>
                                        </p:attrNameLst>
                                      </p:cBhvr>
                                      <p:to>
                                        <p:strVal val="visible"/>
                                      </p:to>
                                    </p:set>
                                    <p:animEffect transition="in" filter="blinds(vertical)">
                                      <p:cBhvr>
                                        <p:cTn id="19" dur="500"/>
                                        <p:tgtEl>
                                          <p:spTgt spid="171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p:bldP spid="17101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4" name="直接连接符 17203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2037" name="矩形 172036"/>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大气污染源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72038" name="矩形 172037"/>
          <p:cNvSpPr/>
          <p:nvPr/>
        </p:nvSpPr>
        <p:spPr>
          <a:xfrm>
            <a:off x="5791200" y="1726089"/>
            <a:ext cx="4208463" cy="1630045"/>
          </a:xfrm>
          <a:prstGeom prst="rect">
            <a:avLst/>
          </a:prstGeom>
          <a:noFill/>
          <a:ln w="9525">
            <a:noFill/>
          </a:ln>
        </p:spPr>
        <p:txBody>
          <a:bodyPr anchor="ctr" anchorCtr="0">
            <a:spAutoFit/>
          </a:bodyPr>
          <a:p>
            <a:pPr algn="l"/>
            <a:r>
              <a:rPr lang="zh-CN" altLang="en-US" sz="2000" dirty="0">
                <a:latin typeface="楷体_GB2312" charset="-122"/>
                <a:ea typeface="楷体_GB2312" charset="-122"/>
              </a:rPr>
              <a:t>    </a:t>
            </a:r>
            <a:r>
              <a:rPr lang="zh-CN" altLang="en-US" sz="2000" dirty="0">
                <a:latin typeface="Times New Roman" panose="02020603050405020304" charset="0"/>
                <a:ea typeface="楷体_GB2312" charset="-122"/>
              </a:rPr>
              <a:t>主要是不当施用农药、化肥、有机粪肥等过程产生的</a:t>
            </a:r>
            <a:r>
              <a:rPr lang="zh-CN" altLang="en-US" sz="2000" b="1" u="sng" dirty="0">
                <a:solidFill>
                  <a:schemeClr val="accent2"/>
                </a:solidFill>
                <a:latin typeface="Times New Roman" panose="02020603050405020304" charset="0"/>
                <a:ea typeface="楷体_GB2312" charset="-122"/>
              </a:rPr>
              <a:t>有害物质挥发扩散</a:t>
            </a:r>
            <a:r>
              <a:rPr lang="zh-CN" altLang="en-US" sz="2000" dirty="0">
                <a:latin typeface="Times New Roman" panose="02020603050405020304" charset="0"/>
                <a:ea typeface="楷体_GB2312" charset="-122"/>
              </a:rPr>
              <a:t>，以及施用后期</a:t>
            </a:r>
            <a:r>
              <a:rPr lang="en-US" altLang="zh-CN" sz="2000" b="1" u="sng">
                <a:solidFill>
                  <a:schemeClr val="accent2"/>
                </a:solidFill>
                <a:latin typeface="Times New Roman" panose="02020603050405020304" charset="0"/>
                <a:ea typeface="楷体_GB2312" charset="-122"/>
              </a:rPr>
              <a:t>NO</a:t>
            </a:r>
            <a:r>
              <a:rPr lang="en-US" altLang="zh-CN" sz="2000" b="1" u="sng" baseline="-25000">
                <a:solidFill>
                  <a:schemeClr val="accent2"/>
                </a:solidFill>
                <a:latin typeface="Times New Roman" panose="02020603050405020304" charset="0"/>
                <a:ea typeface="楷体_GB2312" charset="-122"/>
              </a:rPr>
              <a:t>X</a:t>
            </a:r>
            <a:r>
              <a:rPr lang="zh-CN" altLang="en-US" sz="2000" b="1" u="sng" dirty="0">
                <a:solidFill>
                  <a:schemeClr val="accent2"/>
                </a:solidFill>
                <a:latin typeface="Times New Roman" panose="02020603050405020304" charset="0"/>
                <a:ea typeface="楷体_GB2312" charset="-122"/>
              </a:rPr>
              <a:t>、</a:t>
            </a:r>
            <a:r>
              <a:rPr lang="en-US" altLang="zh-CN" sz="2000" b="1" u="sng">
                <a:solidFill>
                  <a:schemeClr val="accent2"/>
                </a:solidFill>
                <a:latin typeface="Times New Roman" panose="02020603050405020304" charset="0"/>
                <a:ea typeface="楷体_GB2312" charset="-122"/>
              </a:rPr>
              <a:t>CH</a:t>
            </a:r>
            <a:r>
              <a:rPr lang="en-US" altLang="zh-CN" sz="2000" b="1" u="sng" baseline="-25000">
                <a:solidFill>
                  <a:schemeClr val="accent2"/>
                </a:solidFill>
                <a:latin typeface="Times New Roman" panose="02020603050405020304" charset="0"/>
                <a:ea typeface="楷体_GB2312" charset="-122"/>
              </a:rPr>
              <a:t>4</a:t>
            </a:r>
            <a:r>
              <a:rPr lang="zh-CN" altLang="en-US" sz="2000" b="1" u="sng" dirty="0">
                <a:solidFill>
                  <a:schemeClr val="accent2"/>
                </a:solidFill>
                <a:latin typeface="Times New Roman" panose="02020603050405020304" charset="0"/>
                <a:ea typeface="楷体_GB2312" charset="-122"/>
              </a:rPr>
              <a:t>、挥发性农药成分</a:t>
            </a:r>
            <a:r>
              <a:rPr lang="zh-CN" altLang="en-US" sz="2000" dirty="0">
                <a:latin typeface="Times New Roman" panose="02020603050405020304" charset="0"/>
                <a:ea typeface="楷体_GB2312" charset="-122"/>
              </a:rPr>
              <a:t>从土壤中</a:t>
            </a:r>
            <a:r>
              <a:rPr lang="zh-CN" altLang="en-US" sz="2000" b="1" u="sng" dirty="0">
                <a:solidFill>
                  <a:schemeClr val="accent2"/>
                </a:solidFill>
                <a:latin typeface="Times New Roman" panose="02020603050405020304" charset="0"/>
                <a:ea typeface="楷体_GB2312" charset="-122"/>
              </a:rPr>
              <a:t>逸散</a:t>
            </a:r>
            <a:r>
              <a:rPr lang="zh-CN" altLang="en-US" sz="2000" dirty="0">
                <a:latin typeface="Times New Roman" panose="02020603050405020304" charset="0"/>
                <a:ea typeface="楷体_GB2312" charset="-122"/>
              </a:rPr>
              <a:t>进入大气等形成的污染源</a:t>
            </a:r>
            <a:r>
              <a:rPr lang="zh-CN" altLang="en-US" sz="2000" dirty="0">
                <a:latin typeface="楷体_GB2312" charset="-122"/>
                <a:ea typeface="楷体_GB2312" charset="-122"/>
              </a:rPr>
              <a:t>。</a:t>
            </a:r>
            <a:endParaRPr lang="zh-CN" altLang="en-US" sz="2000" dirty="0">
              <a:latin typeface="楷体_GB2312" charset="-122"/>
              <a:ea typeface="楷体_GB2312" charset="-122"/>
            </a:endParaRPr>
          </a:p>
        </p:txBody>
      </p:sp>
      <p:sp>
        <p:nvSpPr>
          <p:cNvPr id="172039" name="矩形 172038"/>
          <p:cNvSpPr/>
          <p:nvPr/>
        </p:nvSpPr>
        <p:spPr>
          <a:xfrm>
            <a:off x="1939925" y="1722438"/>
            <a:ext cx="232664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2</a:t>
            </a:r>
            <a:r>
              <a:rPr lang="zh-CN" altLang="en-US" sz="2400" b="1" dirty="0">
                <a:solidFill>
                  <a:schemeClr val="accent2"/>
                </a:solidFill>
                <a:latin typeface="楷体_GB2312" charset="-122"/>
                <a:ea typeface="楷体_GB2312" charset="-122"/>
              </a:rPr>
              <a:t>、农业污染源</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72040" name="图片 172039" descr="wykj403"/>
          <p:cNvPicPr>
            <a:picLocks noChangeAspect="1"/>
          </p:cNvPicPr>
          <p:nvPr/>
        </p:nvPicPr>
        <p:blipFill>
          <a:blip r:embed="rId1"/>
          <a:stretch>
            <a:fillRect/>
          </a:stretch>
        </p:blipFill>
        <p:spPr>
          <a:xfrm>
            <a:off x="5105400" y="3810000"/>
            <a:ext cx="4648200" cy="2508250"/>
          </a:xfrm>
          <a:prstGeom prst="rect">
            <a:avLst/>
          </a:prstGeom>
          <a:noFill/>
          <a:ln w="9525">
            <a:noFill/>
          </a:ln>
        </p:spPr>
      </p:pic>
      <p:pic>
        <p:nvPicPr>
          <p:cNvPr id="172041" name="图片 172040" descr="image-thumb8"/>
          <p:cNvPicPr>
            <a:picLocks noChangeAspect="1"/>
          </p:cNvPicPr>
          <p:nvPr/>
        </p:nvPicPr>
        <p:blipFill>
          <a:blip r:embed="rId2"/>
          <a:stretch>
            <a:fillRect/>
          </a:stretch>
        </p:blipFill>
        <p:spPr>
          <a:xfrm>
            <a:off x="2362200" y="2181225"/>
            <a:ext cx="3028950" cy="3810000"/>
          </a:xfrm>
          <a:prstGeom prst="rect">
            <a:avLst/>
          </a:prstGeom>
          <a:noFill/>
          <a:ln w="9525">
            <a:noFill/>
          </a:ln>
        </p:spPr>
      </p:pic>
      <p:sp>
        <p:nvSpPr>
          <p:cNvPr id="172042" name="五边形 172041"/>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2039"/>
                                        </p:tgtEl>
                                        <p:attrNameLst>
                                          <p:attrName>style.visibility</p:attrName>
                                        </p:attrNameLst>
                                      </p:cBhvr>
                                      <p:to>
                                        <p:strVal val="visible"/>
                                      </p:to>
                                    </p:set>
                                    <p:anim calcmode="lin" valueType="num">
                                      <p:cBhvr additive="base">
                                        <p:cTn id="7" dur="500" fill="hold"/>
                                        <p:tgtEl>
                                          <p:spTgt spid="172039"/>
                                        </p:tgtEl>
                                        <p:attrNameLst>
                                          <p:attrName>ppt_x</p:attrName>
                                        </p:attrNameLst>
                                      </p:cBhvr>
                                      <p:tavLst>
                                        <p:tav tm="0">
                                          <p:val>
                                            <p:strVal val="0-#ppt_w/2"/>
                                          </p:val>
                                        </p:tav>
                                        <p:tav tm="100000">
                                          <p:val>
                                            <p:strVal val="#ppt_x"/>
                                          </p:val>
                                        </p:tav>
                                      </p:tavLst>
                                    </p:anim>
                                    <p:anim calcmode="lin" valueType="num">
                                      <p:cBhvr additive="base">
                                        <p:cTn id="8" dur="500" fill="hold"/>
                                        <p:tgtEl>
                                          <p:spTgt spid="17203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72041"/>
                                        </p:tgtEl>
                                        <p:attrNameLst>
                                          <p:attrName>style.visibility</p:attrName>
                                        </p:attrNameLst>
                                      </p:cBhvr>
                                      <p:to>
                                        <p:strVal val="visible"/>
                                      </p:to>
                                    </p:set>
                                    <p:animEffect transition="in" filter="blinds(vertical)">
                                      <p:cBhvr>
                                        <p:cTn id="13" dur="500"/>
                                        <p:tgtEl>
                                          <p:spTgt spid="172041"/>
                                        </p:tgtEl>
                                      </p:cBhvr>
                                    </p:animEffect>
                                  </p:childTnLst>
                                </p:cTn>
                              </p:par>
                              <p:par>
                                <p:cTn id="14" presetID="3" presetClass="entr" presetSubtype="5" fill="hold" nodeType="withEffect">
                                  <p:stCondLst>
                                    <p:cond delay="0"/>
                                  </p:stCondLst>
                                  <p:childTnLst>
                                    <p:set>
                                      <p:cBhvr>
                                        <p:cTn id="15" dur="1" fill="hold">
                                          <p:stCondLst>
                                            <p:cond delay="0"/>
                                          </p:stCondLst>
                                        </p:cTn>
                                        <p:tgtEl>
                                          <p:spTgt spid="172040"/>
                                        </p:tgtEl>
                                        <p:attrNameLst>
                                          <p:attrName>style.visibility</p:attrName>
                                        </p:attrNameLst>
                                      </p:cBhvr>
                                      <p:to>
                                        <p:strVal val="visible"/>
                                      </p:to>
                                    </p:set>
                                    <p:animEffect transition="in" filter="blinds(vertical)">
                                      <p:cBhvr>
                                        <p:cTn id="16" dur="500"/>
                                        <p:tgtEl>
                                          <p:spTgt spid="172040"/>
                                        </p:tgtEl>
                                      </p:cBhvr>
                                    </p:animEffect>
                                  </p:childTnLst>
                                </p:cTn>
                              </p:par>
                              <p:par>
                                <p:cTn id="17" presetID="3" presetClass="entr" presetSubtype="5" fill="hold" grpId="0" nodeType="withEffect">
                                  <p:stCondLst>
                                    <p:cond delay="0"/>
                                  </p:stCondLst>
                                  <p:childTnLst>
                                    <p:set>
                                      <p:cBhvr>
                                        <p:cTn id="18" dur="1" fill="hold">
                                          <p:stCondLst>
                                            <p:cond delay="0"/>
                                          </p:stCondLst>
                                        </p:cTn>
                                        <p:tgtEl>
                                          <p:spTgt spid="172038"/>
                                        </p:tgtEl>
                                        <p:attrNameLst>
                                          <p:attrName>style.visibility</p:attrName>
                                        </p:attrNameLst>
                                      </p:cBhvr>
                                      <p:to>
                                        <p:strVal val="visible"/>
                                      </p:to>
                                    </p:set>
                                    <p:animEffect transition="in" filter="blinds(vertical)">
                                      <p:cBhvr>
                                        <p:cTn id="19" dur="500"/>
                                        <p:tgtEl>
                                          <p:spTgt spid="1720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8" grpId="0"/>
      <p:bldP spid="17203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8" name="直接连接符 17305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3061" name="矩形 173060"/>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大气污染源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73062" name="矩形 173061"/>
          <p:cNvSpPr/>
          <p:nvPr/>
        </p:nvSpPr>
        <p:spPr>
          <a:xfrm>
            <a:off x="5237480" y="1557496"/>
            <a:ext cx="4891088" cy="1630045"/>
          </a:xfrm>
          <a:prstGeom prst="rect">
            <a:avLst/>
          </a:prstGeom>
          <a:noFill/>
          <a:ln w="9525">
            <a:noFill/>
          </a:ln>
        </p:spPr>
        <p:txBody>
          <a:bodyPr anchor="ctr" anchorCtr="0">
            <a:spAutoFit/>
          </a:bodyPr>
          <a:p>
            <a:pPr algn="l"/>
            <a:r>
              <a:rPr lang="zh-CN" altLang="en-US" sz="2000" dirty="0">
                <a:latin typeface="楷体_GB2312" charset="-122"/>
                <a:ea typeface="楷体_GB2312" charset="-122"/>
              </a:rPr>
              <a:t>    </a:t>
            </a:r>
            <a:r>
              <a:rPr lang="zh-CN" altLang="en-US" sz="2000" dirty="0">
                <a:latin typeface="Times New Roman" panose="02020603050405020304" charset="0"/>
                <a:ea typeface="楷体_GB2312" charset="-122"/>
              </a:rPr>
              <a:t>由汽车、飞机、火车和轮船等</a:t>
            </a:r>
            <a:r>
              <a:rPr lang="zh-CN" altLang="en-US" sz="2000" b="1" u="sng" dirty="0">
                <a:solidFill>
                  <a:schemeClr val="accent2"/>
                </a:solidFill>
                <a:latin typeface="Times New Roman" panose="02020603050405020304" charset="0"/>
                <a:ea typeface="楷体_GB2312" charset="-122"/>
              </a:rPr>
              <a:t>交通运输工具运行时向大气中排放的尾气</a:t>
            </a:r>
            <a:r>
              <a:rPr lang="zh-CN" altLang="en-US" sz="2000" dirty="0">
                <a:latin typeface="Times New Roman" panose="02020603050405020304" charset="0"/>
                <a:ea typeface="楷体_GB2312" charset="-122"/>
              </a:rPr>
              <a:t>。这类污染源属流动污染源，主要污染物是烟尘、碳氢化合物、</a:t>
            </a:r>
            <a:r>
              <a:rPr lang="en-US" altLang="zh-CN" sz="2000">
                <a:latin typeface="Times New Roman" panose="02020603050405020304" charset="0"/>
                <a:ea typeface="楷体_GB2312" charset="-122"/>
              </a:rPr>
              <a:t>NO</a:t>
            </a:r>
            <a:r>
              <a:rPr lang="en-US" altLang="zh-CN" sz="2000" baseline="-25000">
                <a:latin typeface="Times New Roman" panose="02020603050405020304" charset="0"/>
                <a:ea typeface="楷体_GB2312" charset="-122"/>
              </a:rPr>
              <a:t>X</a:t>
            </a:r>
            <a:r>
              <a:rPr lang="zh-CN" altLang="en-US" sz="2000" dirty="0">
                <a:latin typeface="Times New Roman" panose="02020603050405020304" charset="0"/>
                <a:ea typeface="楷体_GB2312" charset="-122"/>
              </a:rPr>
              <a:t>、金属尘埃等，是</a:t>
            </a:r>
            <a:r>
              <a:rPr lang="zh-CN" altLang="en-US" sz="2000" dirty="0">
                <a:latin typeface="楷体_GB2312" charset="-122"/>
                <a:ea typeface="楷体_GB2312" charset="-122"/>
              </a:rPr>
              <a:t>城市大气环境恶化的主要原因之一。</a:t>
            </a:r>
            <a:endParaRPr lang="zh-CN" altLang="en-US" sz="2000" dirty="0">
              <a:latin typeface="楷体_GB2312" charset="-122"/>
              <a:ea typeface="楷体_GB2312" charset="-122"/>
            </a:endParaRPr>
          </a:p>
        </p:txBody>
      </p:sp>
      <p:sp>
        <p:nvSpPr>
          <p:cNvPr id="173063" name="矩形 173062"/>
          <p:cNvSpPr/>
          <p:nvPr/>
        </p:nvSpPr>
        <p:spPr>
          <a:xfrm>
            <a:off x="1939925" y="1722438"/>
            <a:ext cx="293878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3</a:t>
            </a:r>
            <a:r>
              <a:rPr lang="zh-CN" altLang="en-US" sz="2400" b="1" dirty="0">
                <a:solidFill>
                  <a:schemeClr val="accent2"/>
                </a:solidFill>
                <a:latin typeface="楷体_GB2312" charset="-122"/>
                <a:ea typeface="楷体_GB2312" charset="-122"/>
              </a:rPr>
              <a:t>、交通运输污染源</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73064" name="图片 173063" descr="6658160159961"/>
          <p:cNvPicPr>
            <a:picLocks noChangeAspect="1"/>
          </p:cNvPicPr>
          <p:nvPr/>
        </p:nvPicPr>
        <p:blipFill>
          <a:blip r:embed="rId1"/>
          <a:stretch>
            <a:fillRect/>
          </a:stretch>
        </p:blipFill>
        <p:spPr>
          <a:xfrm>
            <a:off x="5029200" y="3581400"/>
            <a:ext cx="4870450" cy="3060700"/>
          </a:xfrm>
          <a:prstGeom prst="rect">
            <a:avLst/>
          </a:prstGeom>
          <a:noFill/>
          <a:ln w="9525">
            <a:noFill/>
          </a:ln>
        </p:spPr>
      </p:pic>
      <p:pic>
        <p:nvPicPr>
          <p:cNvPr id="173065" name="图片 173064" descr="2715931_555552"/>
          <p:cNvPicPr>
            <a:picLocks noChangeAspect="1"/>
          </p:cNvPicPr>
          <p:nvPr/>
        </p:nvPicPr>
        <p:blipFill>
          <a:blip r:embed="rId2"/>
          <a:stretch>
            <a:fillRect/>
          </a:stretch>
        </p:blipFill>
        <p:spPr>
          <a:xfrm>
            <a:off x="1939925" y="2247900"/>
            <a:ext cx="3228975" cy="4305300"/>
          </a:xfrm>
          <a:prstGeom prst="rect">
            <a:avLst/>
          </a:prstGeom>
          <a:noFill/>
          <a:ln w="9525">
            <a:noFill/>
          </a:ln>
        </p:spPr>
      </p:pic>
      <p:sp>
        <p:nvSpPr>
          <p:cNvPr id="173066" name="五边形 173065"/>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3063"/>
                                        </p:tgtEl>
                                        <p:attrNameLst>
                                          <p:attrName>style.visibility</p:attrName>
                                        </p:attrNameLst>
                                      </p:cBhvr>
                                      <p:to>
                                        <p:strVal val="visible"/>
                                      </p:to>
                                    </p:set>
                                    <p:anim calcmode="lin" valueType="num">
                                      <p:cBhvr additive="base">
                                        <p:cTn id="7" dur="500" fill="hold"/>
                                        <p:tgtEl>
                                          <p:spTgt spid="173063"/>
                                        </p:tgtEl>
                                        <p:attrNameLst>
                                          <p:attrName>ppt_x</p:attrName>
                                        </p:attrNameLst>
                                      </p:cBhvr>
                                      <p:tavLst>
                                        <p:tav tm="0">
                                          <p:val>
                                            <p:strVal val="0-#ppt_w/2"/>
                                          </p:val>
                                        </p:tav>
                                        <p:tav tm="100000">
                                          <p:val>
                                            <p:strVal val="#ppt_x"/>
                                          </p:val>
                                        </p:tav>
                                      </p:tavLst>
                                    </p:anim>
                                    <p:anim calcmode="lin" valueType="num">
                                      <p:cBhvr additive="base">
                                        <p:cTn id="8" dur="500" fill="hold"/>
                                        <p:tgtEl>
                                          <p:spTgt spid="17306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73065"/>
                                        </p:tgtEl>
                                        <p:attrNameLst>
                                          <p:attrName>style.visibility</p:attrName>
                                        </p:attrNameLst>
                                      </p:cBhvr>
                                      <p:to>
                                        <p:strVal val="visible"/>
                                      </p:to>
                                    </p:set>
                                    <p:animEffect transition="in" filter="blinds(vertical)">
                                      <p:cBhvr>
                                        <p:cTn id="13" dur="500"/>
                                        <p:tgtEl>
                                          <p:spTgt spid="173065"/>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73062"/>
                                        </p:tgtEl>
                                        <p:attrNameLst>
                                          <p:attrName>style.visibility</p:attrName>
                                        </p:attrNameLst>
                                      </p:cBhvr>
                                      <p:to>
                                        <p:strVal val="visible"/>
                                      </p:to>
                                    </p:set>
                                    <p:animEffect transition="in" filter="blinds(vertical)">
                                      <p:cBhvr>
                                        <p:cTn id="16" dur="500"/>
                                        <p:tgtEl>
                                          <p:spTgt spid="173062"/>
                                        </p:tgtEl>
                                      </p:cBhvr>
                                    </p:animEffect>
                                  </p:childTnLst>
                                </p:cTn>
                              </p:par>
                              <p:par>
                                <p:cTn id="17" presetID="3" presetClass="entr" presetSubtype="5" fill="hold" nodeType="withEffect">
                                  <p:stCondLst>
                                    <p:cond delay="0"/>
                                  </p:stCondLst>
                                  <p:childTnLst>
                                    <p:set>
                                      <p:cBhvr>
                                        <p:cTn id="18" dur="1" fill="hold">
                                          <p:stCondLst>
                                            <p:cond delay="0"/>
                                          </p:stCondLst>
                                        </p:cTn>
                                        <p:tgtEl>
                                          <p:spTgt spid="173064"/>
                                        </p:tgtEl>
                                        <p:attrNameLst>
                                          <p:attrName>style.visibility</p:attrName>
                                        </p:attrNameLst>
                                      </p:cBhvr>
                                      <p:to>
                                        <p:strVal val="visible"/>
                                      </p:to>
                                    </p:set>
                                    <p:animEffect transition="in" filter="blinds(vertical)">
                                      <p:cBhvr>
                                        <p:cTn id="19" dur="500"/>
                                        <p:tgtEl>
                                          <p:spTgt spid="173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2" grpId="0"/>
      <p:bldP spid="17306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直接连接符 17408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4085" name="矩形 174084"/>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大气污染源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74086" name="矩形 174085"/>
          <p:cNvSpPr/>
          <p:nvPr/>
        </p:nvSpPr>
        <p:spPr>
          <a:xfrm>
            <a:off x="6227445" y="1413510"/>
            <a:ext cx="4407535" cy="1938020"/>
          </a:xfrm>
          <a:prstGeom prst="rect">
            <a:avLst/>
          </a:prstGeom>
          <a:noFill/>
          <a:ln w="9525">
            <a:noFill/>
          </a:ln>
        </p:spPr>
        <p:txBody>
          <a:bodyPr wrap="square" anchor="ctr" anchorCtr="0">
            <a:spAutoFit/>
          </a:bodyPr>
          <a:p>
            <a:pPr algn="l"/>
            <a:r>
              <a:rPr lang="zh-CN" altLang="en-US" sz="2000" dirty="0">
                <a:latin typeface="楷体_GB2312" charset="-122"/>
                <a:ea typeface="楷体_GB2312" charset="-122"/>
              </a:rPr>
              <a:t>    是指居民</a:t>
            </a:r>
            <a:r>
              <a:rPr lang="zh-CN" altLang="en-US" sz="2000" b="1" u="sng" dirty="0">
                <a:solidFill>
                  <a:schemeClr val="accent2"/>
                </a:solidFill>
                <a:latin typeface="Times New Roman" panose="02020603050405020304" charset="0"/>
                <a:ea typeface="楷体_GB2312" charset="-122"/>
              </a:rPr>
              <a:t>日常烧饭、取暖、沐浴</a:t>
            </a:r>
            <a:r>
              <a:rPr lang="zh-CN" altLang="en-US" sz="2000" dirty="0">
                <a:latin typeface="Times New Roman" panose="02020603050405020304" charset="0"/>
                <a:ea typeface="楷体_GB2312" charset="-122"/>
              </a:rPr>
              <a:t>等活动，燃烧化石燃料而向大气排放烟尘、</a:t>
            </a:r>
            <a:r>
              <a:rPr lang="en-US" altLang="zh-CN" sz="2000">
                <a:latin typeface="Times New Roman" panose="02020603050405020304" charset="0"/>
                <a:ea typeface="楷体_GB2312" charset="-122"/>
              </a:rPr>
              <a:t>SO</a:t>
            </a:r>
            <a:r>
              <a:rPr lang="en-US" altLang="zh-CN" sz="2000" baseline="-25000">
                <a:latin typeface="Times New Roman" panose="02020603050405020304" charset="0"/>
                <a:ea typeface="楷体_GB2312" charset="-122"/>
              </a:rPr>
              <a:t>2</a:t>
            </a:r>
            <a:r>
              <a:rPr lang="en-US" altLang="zh-CN" sz="2000">
                <a:latin typeface="Times New Roman" panose="02020603050405020304" charset="0"/>
                <a:ea typeface="楷体_GB2312" charset="-122"/>
              </a:rPr>
              <a:t> </a:t>
            </a:r>
            <a:r>
              <a:rPr lang="zh-CN" altLang="en-US" sz="2000" dirty="0">
                <a:latin typeface="Times New Roman" panose="02020603050405020304" charset="0"/>
                <a:ea typeface="楷体_GB2312" charset="-122"/>
              </a:rPr>
              <a:t>、</a:t>
            </a:r>
            <a:r>
              <a:rPr lang="en-US" altLang="zh-CN" sz="2000">
                <a:latin typeface="Times New Roman" panose="02020603050405020304" charset="0"/>
                <a:ea typeface="楷体_GB2312" charset="-122"/>
              </a:rPr>
              <a:t>NO</a:t>
            </a:r>
            <a:r>
              <a:rPr lang="en-US" altLang="zh-CN" sz="2000" baseline="-25000">
                <a:latin typeface="Times New Roman" panose="02020603050405020304" charset="0"/>
                <a:ea typeface="楷体_GB2312" charset="-122"/>
              </a:rPr>
              <a:t>X</a:t>
            </a:r>
            <a:r>
              <a:rPr lang="zh-CN" altLang="en-US" sz="2000" dirty="0">
                <a:latin typeface="Times New Roman" panose="02020603050405020304" charset="0"/>
                <a:ea typeface="楷体_GB2312" charset="-122"/>
              </a:rPr>
              <a:t>等污染物。</a:t>
            </a:r>
            <a:r>
              <a:rPr lang="zh-CN" altLang="en-US" sz="2000" b="1" dirty="0">
                <a:solidFill>
                  <a:srgbClr val="FF3300"/>
                </a:solidFill>
                <a:latin typeface="Times New Roman" panose="02020603050405020304" charset="0"/>
                <a:ea typeface="楷体_GB2312" charset="-122"/>
              </a:rPr>
              <a:t>这类污染源具有分布广、排量大、污染浓度低等特点，是大气污染不可忽视</a:t>
            </a:r>
            <a:r>
              <a:rPr lang="zh-CN" altLang="en-US" sz="2000" b="1" dirty="0">
                <a:solidFill>
                  <a:srgbClr val="FF3300"/>
                </a:solidFill>
                <a:latin typeface="楷体_GB2312" charset="-122"/>
                <a:ea typeface="楷体_GB2312" charset="-122"/>
              </a:rPr>
              <a:t>的污染源。</a:t>
            </a:r>
            <a:endParaRPr lang="zh-CN" altLang="en-US" sz="2000" b="1" dirty="0">
              <a:solidFill>
                <a:srgbClr val="FF3300"/>
              </a:solidFill>
              <a:latin typeface="楷体_GB2312" charset="-122"/>
              <a:ea typeface="楷体_GB2312" charset="-122"/>
            </a:endParaRPr>
          </a:p>
        </p:txBody>
      </p:sp>
      <p:sp>
        <p:nvSpPr>
          <p:cNvPr id="174087" name="矩形 174086"/>
          <p:cNvSpPr/>
          <p:nvPr/>
        </p:nvSpPr>
        <p:spPr>
          <a:xfrm>
            <a:off x="1939925" y="1722438"/>
            <a:ext cx="232664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4</a:t>
            </a:r>
            <a:r>
              <a:rPr lang="zh-CN" altLang="en-US" sz="2400" b="1" dirty="0">
                <a:solidFill>
                  <a:schemeClr val="accent2"/>
                </a:solidFill>
                <a:latin typeface="楷体_GB2312" charset="-122"/>
                <a:ea typeface="楷体_GB2312" charset="-122"/>
              </a:rPr>
              <a:t>、生活污染源</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74088" name="图片 174087" descr="wykj408"/>
          <p:cNvPicPr>
            <a:picLocks noChangeAspect="1"/>
          </p:cNvPicPr>
          <p:nvPr/>
        </p:nvPicPr>
        <p:blipFill>
          <a:blip r:embed="rId1"/>
          <a:stretch>
            <a:fillRect/>
          </a:stretch>
        </p:blipFill>
        <p:spPr>
          <a:xfrm>
            <a:off x="6650355" y="3568065"/>
            <a:ext cx="4038600" cy="2895600"/>
          </a:xfrm>
          <a:prstGeom prst="rect">
            <a:avLst/>
          </a:prstGeom>
          <a:noFill/>
          <a:ln w="9525">
            <a:noFill/>
          </a:ln>
        </p:spPr>
      </p:pic>
      <p:pic>
        <p:nvPicPr>
          <p:cNvPr id="174089" name="图片 174088" descr="2D752125-46CD-3B14-BB4D-356996C0474E"/>
          <p:cNvPicPr>
            <a:picLocks noChangeAspect="1"/>
          </p:cNvPicPr>
          <p:nvPr/>
        </p:nvPicPr>
        <p:blipFill>
          <a:blip r:embed="rId2"/>
          <a:stretch>
            <a:fillRect/>
          </a:stretch>
        </p:blipFill>
        <p:spPr>
          <a:xfrm>
            <a:off x="1676400" y="2181225"/>
            <a:ext cx="4343400" cy="2647950"/>
          </a:xfrm>
          <a:prstGeom prst="rect">
            <a:avLst/>
          </a:prstGeom>
          <a:noFill/>
          <a:ln w="9525">
            <a:noFill/>
          </a:ln>
        </p:spPr>
      </p:pic>
      <p:sp>
        <p:nvSpPr>
          <p:cNvPr id="174090" name="五边形 174089"/>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087"/>
                                        </p:tgtEl>
                                        <p:attrNameLst>
                                          <p:attrName>style.visibility</p:attrName>
                                        </p:attrNameLst>
                                      </p:cBhvr>
                                      <p:to>
                                        <p:strVal val="visible"/>
                                      </p:to>
                                    </p:set>
                                    <p:anim calcmode="lin" valueType="num">
                                      <p:cBhvr additive="base">
                                        <p:cTn id="7" dur="500" fill="hold"/>
                                        <p:tgtEl>
                                          <p:spTgt spid="174087"/>
                                        </p:tgtEl>
                                        <p:attrNameLst>
                                          <p:attrName>ppt_x</p:attrName>
                                        </p:attrNameLst>
                                      </p:cBhvr>
                                      <p:tavLst>
                                        <p:tav tm="0">
                                          <p:val>
                                            <p:strVal val="0-#ppt_w/2"/>
                                          </p:val>
                                        </p:tav>
                                        <p:tav tm="100000">
                                          <p:val>
                                            <p:strVal val="#ppt_x"/>
                                          </p:val>
                                        </p:tav>
                                      </p:tavLst>
                                    </p:anim>
                                    <p:anim calcmode="lin" valueType="num">
                                      <p:cBhvr additive="base">
                                        <p:cTn id="8" dur="500" fill="hold"/>
                                        <p:tgtEl>
                                          <p:spTgt spid="17408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74089"/>
                                        </p:tgtEl>
                                        <p:attrNameLst>
                                          <p:attrName>style.visibility</p:attrName>
                                        </p:attrNameLst>
                                      </p:cBhvr>
                                      <p:to>
                                        <p:strVal val="visible"/>
                                      </p:to>
                                    </p:set>
                                    <p:animEffect transition="in" filter="blinds(vertical)">
                                      <p:cBhvr>
                                        <p:cTn id="13" dur="500"/>
                                        <p:tgtEl>
                                          <p:spTgt spid="174089"/>
                                        </p:tgtEl>
                                      </p:cBhvr>
                                    </p:animEffect>
                                  </p:childTnLst>
                                </p:cTn>
                              </p:par>
                              <p:par>
                                <p:cTn id="14" presetID="3" presetClass="entr" presetSubtype="5" fill="hold" grpId="0" nodeType="withEffect">
                                  <p:stCondLst>
                                    <p:cond delay="0"/>
                                  </p:stCondLst>
                                  <p:childTnLst>
                                    <p:set>
                                      <p:cBhvr>
                                        <p:cTn id="15" dur="1" fill="hold">
                                          <p:stCondLst>
                                            <p:cond delay="0"/>
                                          </p:stCondLst>
                                        </p:cTn>
                                        <p:tgtEl>
                                          <p:spTgt spid="174086"/>
                                        </p:tgtEl>
                                        <p:attrNameLst>
                                          <p:attrName>style.visibility</p:attrName>
                                        </p:attrNameLst>
                                      </p:cBhvr>
                                      <p:to>
                                        <p:strVal val="visible"/>
                                      </p:to>
                                    </p:set>
                                    <p:animEffect transition="in" filter="blinds(vertical)">
                                      <p:cBhvr>
                                        <p:cTn id="16" dur="500"/>
                                        <p:tgtEl>
                                          <p:spTgt spid="174086"/>
                                        </p:tgtEl>
                                      </p:cBhvr>
                                    </p:animEffect>
                                  </p:childTnLst>
                                </p:cTn>
                              </p:par>
                              <p:par>
                                <p:cTn id="17" presetID="3" presetClass="entr" presetSubtype="5" fill="hold" nodeType="withEffect">
                                  <p:stCondLst>
                                    <p:cond delay="0"/>
                                  </p:stCondLst>
                                  <p:childTnLst>
                                    <p:set>
                                      <p:cBhvr>
                                        <p:cTn id="18" dur="1" fill="hold">
                                          <p:stCondLst>
                                            <p:cond delay="0"/>
                                          </p:stCondLst>
                                        </p:cTn>
                                        <p:tgtEl>
                                          <p:spTgt spid="174088"/>
                                        </p:tgtEl>
                                        <p:attrNameLst>
                                          <p:attrName>style.visibility</p:attrName>
                                        </p:attrNameLst>
                                      </p:cBhvr>
                                      <p:to>
                                        <p:strVal val="visible"/>
                                      </p:to>
                                    </p:set>
                                    <p:animEffect transition="in" filter="blinds(vertical)">
                                      <p:cBhvr>
                                        <p:cTn id="19" dur="500"/>
                                        <p:tgtEl>
                                          <p:spTgt spid="1740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6" grpId="0"/>
      <p:bldP spid="17408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6898" name="标题 336897"/>
          <p:cNvSpPr>
            <a:spLocks noGrp="1"/>
          </p:cNvSpPr>
          <p:nvPr>
            <p:ph type="title"/>
          </p:nvPr>
        </p:nvSpPr>
        <p:spPr>
          <a:xfrm>
            <a:off x="2351088" y="692150"/>
            <a:ext cx="7772400" cy="609600"/>
          </a:xfrm>
        </p:spPr>
        <p:txBody>
          <a:bodyPr lIns="45720" tIns="0" rIns="45720" bIns="0" anchor="b" anchorCtr="0"/>
          <a:p>
            <a:r>
              <a:rPr lang="en-US" altLang="zh-CN" sz="3200">
                <a:latin typeface="+mj-lt"/>
                <a:ea typeface="+mj-ea"/>
                <a:cs typeface="+mj-cs"/>
              </a:rPr>
              <a:t>1</a:t>
            </a:r>
            <a:r>
              <a:rPr lang="zh-CN" altLang="en-US" sz="3200" dirty="0">
                <a:latin typeface="+mj-lt"/>
                <a:ea typeface="+mj-ea"/>
                <a:cs typeface="+mj-cs"/>
              </a:rPr>
              <a:t>、（</a:t>
            </a:r>
            <a:r>
              <a:rPr lang="en-US" altLang="zh-CN" sz="3200">
                <a:latin typeface="+mj-lt"/>
                <a:ea typeface="+mj-ea"/>
                <a:cs typeface="+mj-cs"/>
              </a:rPr>
              <a:t>COx</a:t>
            </a:r>
            <a:r>
              <a:rPr lang="zh-CN" altLang="en-US" sz="3200">
                <a:latin typeface="+mj-lt"/>
                <a:ea typeface="+mj-ea"/>
                <a:cs typeface="+mj-cs"/>
              </a:rPr>
              <a:t>）主要是</a:t>
            </a:r>
            <a:r>
              <a:rPr lang="zh-CN" altLang="en-US" sz="3200" dirty="0">
                <a:sym typeface="+mn-ea"/>
              </a:rPr>
              <a:t>一氧化碳和</a:t>
            </a:r>
            <a:r>
              <a:rPr lang="zh-CN" altLang="en-US" sz="3200" dirty="0">
                <a:sym typeface="+mn-ea"/>
              </a:rPr>
              <a:t>二氧化碳</a:t>
            </a:r>
            <a:endParaRPr lang="zh-CN" altLang="en-US" sz="3200" dirty="0">
              <a:sym typeface="+mn-ea"/>
            </a:endParaRPr>
          </a:p>
        </p:txBody>
      </p:sp>
      <p:sp>
        <p:nvSpPr>
          <p:cNvPr id="336899" name="文本占位符 336898"/>
          <p:cNvSpPr>
            <a:spLocks noGrp="1"/>
          </p:cNvSpPr>
          <p:nvPr>
            <p:ph type="body" idx="1"/>
          </p:nvPr>
        </p:nvSpPr>
        <p:spPr>
          <a:xfrm>
            <a:off x="0" y="1417320"/>
            <a:ext cx="7620000" cy="4876800"/>
          </a:xfrm>
        </p:spPr>
        <p:txBody>
          <a:bodyPr lIns="45720" rIns="45720" anchor="t" anchorCtr="0"/>
          <a:p>
            <a:pPr defTabSz="684530">
              <a:buSzPct val="25000"/>
            </a:pPr>
            <a:r>
              <a:rPr lang="zh-CN" altLang="en-US" sz="3200" dirty="0">
                <a:solidFill>
                  <a:srgbClr val="FF0000"/>
                </a:solidFill>
                <a:latin typeface="+mn-lt"/>
                <a:ea typeface="+mn-ea"/>
                <a:cs typeface="+mn-cs"/>
              </a:rPr>
              <a:t>性质</a:t>
            </a:r>
            <a:r>
              <a:rPr lang="zh-CN" altLang="en-US" sz="3200" dirty="0">
                <a:latin typeface="+mn-lt"/>
                <a:ea typeface="+mn-ea"/>
                <a:cs typeface="+mn-cs"/>
              </a:rPr>
              <a:t>：无色、无味、无臭的气体；</a:t>
            </a:r>
            <a:endParaRPr lang="zh-CN" altLang="en-US" sz="3200" dirty="0">
              <a:latin typeface="+mn-lt"/>
              <a:ea typeface="+mn-ea"/>
              <a:cs typeface="+mn-cs"/>
            </a:endParaRPr>
          </a:p>
          <a:p>
            <a:pPr defTabSz="684530">
              <a:buSzPct val="25000"/>
            </a:pPr>
            <a:r>
              <a:rPr lang="zh-CN" altLang="en-US" sz="3200" dirty="0">
                <a:latin typeface="+mn-lt"/>
                <a:ea typeface="+mn-ea"/>
                <a:cs typeface="+mn-cs"/>
              </a:rPr>
              <a:t>            </a:t>
            </a:r>
            <a:r>
              <a:rPr lang="zh-CN" altLang="en-US" sz="3200" b="1" dirty="0">
                <a:solidFill>
                  <a:srgbClr val="FF0000"/>
                </a:solidFill>
                <a:latin typeface="+mn-lt"/>
                <a:ea typeface="+mn-ea"/>
                <a:cs typeface="+mn-cs"/>
              </a:rPr>
              <a:t>有毒</a:t>
            </a:r>
            <a:r>
              <a:rPr lang="zh-CN" altLang="en-US" sz="3200" dirty="0">
                <a:latin typeface="+mn-lt"/>
                <a:ea typeface="+mn-ea"/>
                <a:cs typeface="+mn-cs"/>
              </a:rPr>
              <a:t>，能与氧气争夺血液中的血色素，使血液携带氧气能力大大降低，使人体缺氧而窒息。</a:t>
            </a:r>
            <a:endParaRPr lang="zh-CN" altLang="en-US" sz="3200" dirty="0">
              <a:latin typeface="+mn-lt"/>
              <a:ea typeface="+mn-ea"/>
              <a:cs typeface="+mn-cs"/>
            </a:endParaRPr>
          </a:p>
          <a:p>
            <a:pPr defTabSz="684530">
              <a:buSzPct val="25000"/>
            </a:pPr>
            <a:r>
              <a:rPr lang="zh-CN" altLang="en-US" sz="3200" dirty="0">
                <a:solidFill>
                  <a:srgbClr val="FF0000"/>
                </a:solidFill>
                <a:latin typeface="+mn-lt"/>
                <a:ea typeface="+mn-ea"/>
                <a:cs typeface="+mn-cs"/>
              </a:rPr>
              <a:t>数量</a:t>
            </a:r>
            <a:r>
              <a:rPr lang="zh-CN" altLang="en-US" sz="3200" dirty="0">
                <a:latin typeface="+mn-lt"/>
                <a:ea typeface="+mn-ea"/>
                <a:cs typeface="+mn-cs"/>
              </a:rPr>
              <a:t>：是城市大气中数量最多的污染物（约占大气污染物总量的</a:t>
            </a:r>
            <a:r>
              <a:rPr lang="en-US" altLang="zh-CN" sz="3200">
                <a:latin typeface="+mn-lt"/>
                <a:ea typeface="+mn-ea"/>
                <a:cs typeface="+mn-cs"/>
              </a:rPr>
              <a:t>1/3</a:t>
            </a:r>
            <a:r>
              <a:rPr lang="zh-CN" altLang="en-US" sz="3200" dirty="0">
                <a:latin typeface="+mn-lt"/>
                <a:ea typeface="+mn-ea"/>
                <a:cs typeface="+mn-cs"/>
              </a:rPr>
              <a:t>）。</a:t>
            </a:r>
            <a:endParaRPr lang="zh-CN" altLang="en-US" sz="3200" dirty="0">
              <a:latin typeface="+mn-lt"/>
              <a:ea typeface="+mn-ea"/>
              <a:cs typeface="+mn-cs"/>
            </a:endParaRPr>
          </a:p>
          <a:p>
            <a:pPr defTabSz="684530">
              <a:buSzPct val="25000"/>
            </a:pPr>
            <a:r>
              <a:rPr lang="zh-CN" altLang="en-US" sz="3200" dirty="0">
                <a:solidFill>
                  <a:srgbClr val="FF0000"/>
                </a:solidFill>
                <a:latin typeface="+mn-lt"/>
                <a:ea typeface="+mn-ea"/>
                <a:cs typeface="+mn-cs"/>
              </a:rPr>
              <a:t>主要来源</a:t>
            </a:r>
            <a:r>
              <a:rPr lang="zh-CN" altLang="en-US" sz="3200" dirty="0">
                <a:latin typeface="+mn-lt"/>
                <a:ea typeface="+mn-ea"/>
                <a:cs typeface="+mn-cs"/>
              </a:rPr>
              <a:t>：燃料燃烧不充分</a:t>
            </a:r>
            <a:r>
              <a:rPr lang="en-US" altLang="zh-CN" sz="3200">
                <a:latin typeface="+mn-lt"/>
                <a:ea typeface="+mn-ea"/>
                <a:cs typeface="+mn-cs"/>
              </a:rPr>
              <a:t>,</a:t>
            </a:r>
            <a:r>
              <a:rPr lang="zh-CN" altLang="en-US" sz="3200" dirty="0">
                <a:latin typeface="+mn-lt"/>
                <a:ea typeface="+mn-ea"/>
                <a:cs typeface="+mn-cs"/>
              </a:rPr>
              <a:t>汽车尾气。</a:t>
            </a:r>
            <a:endParaRPr lang="zh-CN" altLang="en-US" sz="3200" dirty="0">
              <a:latin typeface="+mn-lt"/>
              <a:ea typeface="+mn-ea"/>
              <a:cs typeface="+mn-cs"/>
            </a:endParaRPr>
          </a:p>
          <a:p>
            <a:pPr defTabSz="684530">
              <a:buSzPct val="25000"/>
            </a:pPr>
            <a:r>
              <a:rPr lang="zh-CN" altLang="en-US" sz="3200">
                <a:latin typeface="+mn-lt"/>
                <a:ea typeface="+mn-ea"/>
                <a:cs typeface="+mn-cs"/>
              </a:rPr>
              <a:t>二氧化碳：温室气体</a:t>
            </a:r>
            <a:r>
              <a:rPr lang="zh-CN" altLang="en-US" sz="3200">
                <a:latin typeface="+mn-lt"/>
                <a:ea typeface="+mn-ea"/>
                <a:cs typeface="+mn-cs"/>
              </a:rPr>
              <a:t>的主要原因。</a:t>
            </a:r>
            <a:endParaRPr lang="zh-CN" altLang="en-US" sz="3200">
              <a:latin typeface="+mn-lt"/>
              <a:ea typeface="+mn-ea"/>
              <a:cs typeface="+mn-cs"/>
            </a:endParaRPr>
          </a:p>
        </p:txBody>
      </p:sp>
      <p:sp>
        <p:nvSpPr>
          <p:cNvPr id="336900" name="矩形 336899"/>
          <p:cNvSpPr/>
          <p:nvPr/>
        </p:nvSpPr>
        <p:spPr>
          <a:xfrm>
            <a:off x="2135188" y="115888"/>
            <a:ext cx="3230880" cy="460375"/>
          </a:xfrm>
          <a:prstGeom prst="rect">
            <a:avLst/>
          </a:prstGeom>
          <a:noFill/>
          <a:ln w="12700">
            <a:noFill/>
          </a:ln>
        </p:spPr>
        <p:txBody>
          <a:bodyPr wrap="none" anchor="t" anchorCtr="0">
            <a:spAutoFit/>
          </a:bodyPr>
          <a:p>
            <a:pPr algn="l"/>
            <a:r>
              <a:rPr lang="zh-CN" altLang="en-US" sz="2400" b="1" dirty="0">
                <a:solidFill>
                  <a:srgbClr val="FF3300"/>
                </a:solidFill>
                <a:latin typeface="Times New Roman" panose="02020603050405020304" charset="0"/>
              </a:rPr>
              <a:t>（二）重要大气污染物</a:t>
            </a:r>
            <a:endParaRPr lang="zh-CN" altLang="en-US" sz="2400" b="1" dirty="0">
              <a:solidFill>
                <a:srgbClr val="FF3300"/>
              </a:solidFill>
              <a:latin typeface="Times New Roman" panose="02020603050405020304" charset="0"/>
            </a:endParaRPr>
          </a:p>
        </p:txBody>
      </p:sp>
      <p:pic>
        <p:nvPicPr>
          <p:cNvPr id="2" name="图片 1"/>
          <p:cNvPicPr/>
          <p:nvPr/>
        </p:nvPicPr>
        <p:blipFill>
          <a:blip r:embed="rId1"/>
          <a:stretch>
            <a:fillRect/>
          </a:stretch>
        </p:blipFill>
        <p:spPr>
          <a:xfrm>
            <a:off x="721995" y="576580"/>
            <a:ext cx="10570845" cy="6670040"/>
          </a:xfrm>
          <a:prstGeom prst="rect">
            <a:avLst/>
          </a:prstGeom>
          <a:noFill/>
          <a:ln w="9525">
            <a:noFill/>
          </a:ln>
        </p:spPr>
      </p:pic>
      <p:pic>
        <p:nvPicPr>
          <p:cNvPr id="3" name="图片 2"/>
          <p:cNvPicPr/>
          <p:nvPr>
            <p:custDataLst>
              <p:tags r:id="rId2"/>
            </p:custDataLst>
          </p:nvPr>
        </p:nvPicPr>
        <p:blipFill>
          <a:blip r:embed="rId3"/>
          <a:stretch>
            <a:fillRect/>
          </a:stretch>
        </p:blipFill>
        <p:spPr>
          <a:xfrm>
            <a:off x="3597275" y="576580"/>
            <a:ext cx="8128000" cy="60960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22" name="矩形 337921"/>
          <p:cNvSpPr/>
          <p:nvPr/>
        </p:nvSpPr>
        <p:spPr>
          <a:xfrm>
            <a:off x="2495550" y="549275"/>
            <a:ext cx="3078480" cy="460375"/>
          </a:xfrm>
          <a:prstGeom prst="rect">
            <a:avLst/>
          </a:prstGeom>
          <a:noFill/>
          <a:ln w="12700">
            <a:noFill/>
          </a:ln>
        </p:spPr>
        <p:txBody>
          <a:bodyPr wrap="none" anchor="t" anchorCtr="0">
            <a:spAutoFit/>
          </a:bodyPr>
          <a:p>
            <a:pPr algn="l"/>
            <a:r>
              <a:rPr lang="en-US" altLang="zh-CN" sz="2400" b="1">
                <a:latin typeface="Times New Roman" panose="02020603050405020304" charset="0"/>
              </a:rPr>
              <a:t>2</a:t>
            </a:r>
            <a:r>
              <a:rPr lang="zh-CN" altLang="en-US" sz="2400" b="1" dirty="0">
                <a:latin typeface="Times New Roman" panose="02020603050405020304" charset="0"/>
              </a:rPr>
              <a:t>、氮氧化物（</a:t>
            </a:r>
            <a:r>
              <a:rPr lang="en-US" altLang="zh-CN" sz="2400" b="1" err="1">
                <a:latin typeface="Times New Roman" panose="02020603050405020304" charset="0"/>
              </a:rPr>
              <a:t>NOx</a:t>
            </a:r>
            <a:r>
              <a:rPr lang="zh-CN" altLang="en-US" sz="2400" b="1" dirty="0">
                <a:latin typeface="Times New Roman" panose="02020603050405020304" charset="0"/>
              </a:rPr>
              <a:t>）</a:t>
            </a:r>
            <a:endParaRPr lang="zh-CN" altLang="en-US" sz="2400" b="1" dirty="0">
              <a:latin typeface="Times New Roman" panose="02020603050405020304" charset="0"/>
            </a:endParaRPr>
          </a:p>
        </p:txBody>
      </p:sp>
      <p:sp>
        <p:nvSpPr>
          <p:cNvPr id="337923" name="矩形 337922"/>
          <p:cNvSpPr/>
          <p:nvPr/>
        </p:nvSpPr>
        <p:spPr>
          <a:xfrm>
            <a:off x="2855913" y="1268413"/>
            <a:ext cx="7272337" cy="3377565"/>
          </a:xfrm>
          <a:prstGeom prst="rect">
            <a:avLst/>
          </a:prstGeom>
          <a:noFill/>
          <a:ln w="12700">
            <a:noFill/>
          </a:ln>
        </p:spPr>
        <p:txBody>
          <a:bodyPr>
            <a:spAutoFit/>
          </a:bodyPr>
          <a:p>
            <a:pPr algn="l">
              <a:lnSpc>
                <a:spcPct val="170000"/>
              </a:lnSpc>
              <a:spcBef>
                <a:spcPct val="20000"/>
              </a:spcBef>
              <a:buClr>
                <a:schemeClr val="accent1"/>
              </a:buClr>
              <a:buSzPct val="80000"/>
              <a:buFont typeface="Wingdings" panose="05000000000000000000" pitchFamily="2" charset="2"/>
            </a:pPr>
            <a:r>
              <a:rPr lang="zh-CN" altLang="en-US" sz="2400" dirty="0">
                <a:latin typeface="Times New Roman" panose="02020603050405020304" charset="0"/>
              </a:rPr>
              <a:t>（</a:t>
            </a:r>
            <a:r>
              <a:rPr lang="en-US" altLang="zh-CN" sz="2400">
                <a:latin typeface="Times New Roman" panose="02020603050405020304" charset="0"/>
              </a:rPr>
              <a:t>1</a:t>
            </a:r>
            <a:r>
              <a:rPr lang="zh-CN" altLang="en-US" sz="2400" dirty="0">
                <a:latin typeface="Times New Roman" panose="02020603050405020304" charset="0"/>
              </a:rPr>
              <a:t>）</a:t>
            </a:r>
            <a:r>
              <a:rPr lang="zh-CN" altLang="en-US" sz="2400" b="1" dirty="0">
                <a:solidFill>
                  <a:srgbClr val="FF0000"/>
                </a:solidFill>
                <a:latin typeface="Times New Roman" panose="02020603050405020304" charset="0"/>
              </a:rPr>
              <a:t>主要污染物</a:t>
            </a:r>
            <a:r>
              <a:rPr lang="zh-CN" altLang="en-US" sz="2400" dirty="0">
                <a:latin typeface="Times New Roman" panose="02020603050405020304" charset="0"/>
              </a:rPr>
              <a:t>：</a:t>
            </a:r>
            <a:r>
              <a:rPr lang="en-US" altLang="zh-CN" sz="2400" b="1">
                <a:solidFill>
                  <a:srgbClr val="FF0000"/>
                </a:solidFill>
                <a:latin typeface="Times New Roman" panose="02020603050405020304" charset="0"/>
              </a:rPr>
              <a:t>NO</a:t>
            </a:r>
            <a:r>
              <a:rPr lang="zh-CN" altLang="en-US" sz="2400" b="1" dirty="0">
                <a:solidFill>
                  <a:srgbClr val="FF0000"/>
                </a:solidFill>
                <a:latin typeface="Times New Roman" panose="02020603050405020304" charset="0"/>
              </a:rPr>
              <a:t>、</a:t>
            </a:r>
            <a:r>
              <a:rPr lang="en-US" altLang="zh-CN" sz="2400" b="1">
                <a:solidFill>
                  <a:srgbClr val="FF0000"/>
                </a:solidFill>
                <a:latin typeface="Times New Roman" panose="02020603050405020304" charset="0"/>
              </a:rPr>
              <a:t>NO</a:t>
            </a:r>
            <a:r>
              <a:rPr lang="en-US" altLang="zh-CN" sz="2400" b="1" baseline="-25000">
                <a:solidFill>
                  <a:srgbClr val="FF0000"/>
                </a:solidFill>
                <a:latin typeface="Times New Roman" panose="02020603050405020304" charset="0"/>
              </a:rPr>
              <a:t>2</a:t>
            </a:r>
            <a:r>
              <a:rPr lang="zh-CN" altLang="en-US" sz="2400" b="1" dirty="0">
                <a:latin typeface="Times New Roman" panose="02020603050405020304" charset="0"/>
              </a:rPr>
              <a:t>、</a:t>
            </a:r>
            <a:r>
              <a:rPr lang="en-US" altLang="zh-CN" sz="2400" b="1">
                <a:latin typeface="Times New Roman" panose="02020603050405020304" charset="0"/>
              </a:rPr>
              <a:t>N</a:t>
            </a:r>
            <a:r>
              <a:rPr lang="en-US" altLang="zh-CN" sz="2400" b="1" baseline="-25000">
                <a:latin typeface="Times New Roman" panose="02020603050405020304" charset="0"/>
              </a:rPr>
              <a:t>2</a:t>
            </a:r>
            <a:r>
              <a:rPr lang="en-US" altLang="zh-CN" sz="2400" b="1">
                <a:latin typeface="Times New Roman" panose="02020603050405020304" charset="0"/>
              </a:rPr>
              <a:t>O</a:t>
            </a:r>
            <a:r>
              <a:rPr lang="zh-CN" altLang="en-US" sz="2400" b="1" dirty="0">
                <a:latin typeface="Times New Roman" panose="02020603050405020304" charset="0"/>
              </a:rPr>
              <a:t>、</a:t>
            </a:r>
            <a:r>
              <a:rPr lang="en-US" altLang="zh-CN" sz="2400" b="1">
                <a:latin typeface="Times New Roman" panose="02020603050405020304" charset="0"/>
              </a:rPr>
              <a:t>NO</a:t>
            </a:r>
            <a:r>
              <a:rPr lang="en-US" altLang="zh-CN" sz="2400" b="1" baseline="-25000">
                <a:latin typeface="Times New Roman" panose="02020603050405020304" charset="0"/>
              </a:rPr>
              <a:t>3</a:t>
            </a:r>
            <a:r>
              <a:rPr lang="zh-CN" altLang="en-US" sz="2400" b="1" dirty="0">
                <a:latin typeface="Times New Roman" panose="02020603050405020304" charset="0"/>
              </a:rPr>
              <a:t>、</a:t>
            </a:r>
            <a:r>
              <a:rPr lang="en-US" altLang="zh-CN" sz="2400" b="1">
                <a:latin typeface="Times New Roman" panose="02020603050405020304" charset="0"/>
              </a:rPr>
              <a:t>N</a:t>
            </a:r>
            <a:r>
              <a:rPr lang="en-US" altLang="zh-CN" sz="2400" b="1" baseline="-25000">
                <a:latin typeface="Times New Roman" panose="02020603050405020304" charset="0"/>
              </a:rPr>
              <a:t>2</a:t>
            </a:r>
            <a:r>
              <a:rPr lang="en-US" altLang="zh-CN" sz="2400" b="1">
                <a:latin typeface="Times New Roman" panose="02020603050405020304" charset="0"/>
              </a:rPr>
              <a:t>O</a:t>
            </a:r>
            <a:r>
              <a:rPr lang="en-US" altLang="zh-CN" sz="2400" b="1" baseline="-25000">
                <a:latin typeface="Times New Roman" panose="02020603050405020304" charset="0"/>
              </a:rPr>
              <a:t>3</a:t>
            </a:r>
            <a:r>
              <a:rPr lang="zh-CN" altLang="en-US" sz="2400" b="1" dirty="0">
                <a:latin typeface="Times New Roman" panose="02020603050405020304" charset="0"/>
              </a:rPr>
              <a:t>、</a:t>
            </a:r>
            <a:r>
              <a:rPr lang="en-US" altLang="zh-CN" sz="2400" b="1">
                <a:latin typeface="Times New Roman" panose="02020603050405020304" charset="0"/>
              </a:rPr>
              <a:t>N</a:t>
            </a:r>
            <a:r>
              <a:rPr lang="en-US" altLang="zh-CN" sz="2400" b="1" baseline="-25000">
                <a:latin typeface="Times New Roman" panose="02020603050405020304" charset="0"/>
              </a:rPr>
              <a:t>2</a:t>
            </a:r>
            <a:r>
              <a:rPr lang="en-US" altLang="zh-CN" sz="2400" b="1">
                <a:latin typeface="Times New Roman" panose="02020603050405020304" charset="0"/>
              </a:rPr>
              <a:t>O</a:t>
            </a:r>
            <a:r>
              <a:rPr lang="en-US" altLang="zh-CN" sz="2400" b="1" baseline="-25000">
                <a:latin typeface="Times New Roman" panose="02020603050405020304" charset="0"/>
              </a:rPr>
              <a:t>4</a:t>
            </a:r>
            <a:r>
              <a:rPr lang="zh-CN" altLang="en-US" sz="2400" b="1" dirty="0">
                <a:latin typeface="Times New Roman" panose="02020603050405020304" charset="0"/>
              </a:rPr>
              <a:t>、</a:t>
            </a:r>
            <a:r>
              <a:rPr lang="en-US" altLang="zh-CN" sz="2400" b="1">
                <a:latin typeface="Times New Roman" panose="02020603050405020304" charset="0"/>
              </a:rPr>
              <a:t>N</a:t>
            </a:r>
            <a:r>
              <a:rPr lang="en-US" altLang="zh-CN" sz="2400" b="1" baseline="-25000">
                <a:latin typeface="Times New Roman" panose="02020603050405020304" charset="0"/>
              </a:rPr>
              <a:t>2</a:t>
            </a:r>
            <a:r>
              <a:rPr lang="en-US" altLang="zh-CN" sz="2400" b="1">
                <a:latin typeface="Times New Roman" panose="02020603050405020304" charset="0"/>
              </a:rPr>
              <a:t>O</a:t>
            </a:r>
            <a:r>
              <a:rPr lang="en-US" altLang="zh-CN" sz="2400" b="1" baseline="-25000">
                <a:latin typeface="Times New Roman" panose="02020603050405020304" charset="0"/>
              </a:rPr>
              <a:t>5</a:t>
            </a:r>
            <a:endParaRPr lang="en-US" altLang="zh-CN" sz="2400" b="1" baseline="-25000">
              <a:latin typeface="Times New Roman" panose="02020603050405020304" charset="0"/>
            </a:endParaRPr>
          </a:p>
          <a:p>
            <a:pPr algn="l">
              <a:lnSpc>
                <a:spcPct val="170000"/>
              </a:lnSpc>
              <a:spcBef>
                <a:spcPct val="20000"/>
              </a:spcBef>
              <a:buClr>
                <a:schemeClr val="accent1"/>
              </a:buClr>
              <a:buSzPct val="80000"/>
              <a:buFont typeface="Wingdings" panose="05000000000000000000" pitchFamily="2" charset="2"/>
            </a:pPr>
            <a:r>
              <a:rPr lang="zh-CN" altLang="en-US" sz="2400" dirty="0">
                <a:latin typeface="Times New Roman" panose="02020603050405020304" charset="0"/>
              </a:rPr>
              <a:t>（</a:t>
            </a:r>
            <a:r>
              <a:rPr lang="en-US" altLang="zh-CN" sz="2400">
                <a:latin typeface="Times New Roman" panose="02020603050405020304" charset="0"/>
              </a:rPr>
              <a:t>2</a:t>
            </a:r>
            <a:r>
              <a:rPr lang="zh-CN" altLang="en-US" sz="2400" dirty="0">
                <a:latin typeface="Times New Roman" panose="02020603050405020304" charset="0"/>
              </a:rPr>
              <a:t>）</a:t>
            </a:r>
            <a:r>
              <a:rPr lang="zh-CN" altLang="en-US" sz="2400" b="1" dirty="0">
                <a:solidFill>
                  <a:srgbClr val="FF0000"/>
                </a:solidFill>
                <a:latin typeface="Times New Roman" panose="02020603050405020304" charset="0"/>
              </a:rPr>
              <a:t>性质</a:t>
            </a:r>
            <a:r>
              <a:rPr lang="zh-CN" altLang="en-US" sz="2400" dirty="0">
                <a:latin typeface="Times New Roman" panose="02020603050405020304" charset="0"/>
              </a:rPr>
              <a:t>：</a:t>
            </a:r>
            <a:r>
              <a:rPr lang="zh-CN" altLang="en-US" sz="2400" b="1" dirty="0">
                <a:latin typeface="Times New Roman" panose="02020603050405020304" charset="0"/>
              </a:rPr>
              <a:t>棕黄色、有刺激性气味（黄龙）；</a:t>
            </a:r>
            <a:endParaRPr lang="zh-CN" altLang="en-US" sz="2400" b="1" dirty="0">
              <a:latin typeface="Times New Roman" panose="02020603050405020304" charset="0"/>
            </a:endParaRPr>
          </a:p>
          <a:p>
            <a:pPr algn="l">
              <a:lnSpc>
                <a:spcPct val="170000"/>
              </a:lnSpc>
              <a:spcBef>
                <a:spcPct val="20000"/>
              </a:spcBef>
              <a:buClr>
                <a:schemeClr val="accent1"/>
              </a:buClr>
              <a:buSzPct val="80000"/>
              <a:buFont typeface="Wingdings" panose="05000000000000000000" pitchFamily="2" charset="2"/>
            </a:pPr>
            <a:r>
              <a:rPr lang="zh-CN" altLang="en-US" sz="2400" dirty="0">
                <a:latin typeface="Times New Roman" panose="02020603050405020304" charset="0"/>
              </a:rPr>
              <a:t>（</a:t>
            </a:r>
            <a:r>
              <a:rPr lang="en-US" altLang="zh-CN" sz="2400">
                <a:latin typeface="Times New Roman" panose="02020603050405020304" charset="0"/>
              </a:rPr>
              <a:t>3</a:t>
            </a:r>
            <a:r>
              <a:rPr lang="zh-CN" altLang="en-US" sz="2400" dirty="0">
                <a:latin typeface="Times New Roman" panose="02020603050405020304" charset="0"/>
              </a:rPr>
              <a:t>）</a:t>
            </a:r>
            <a:r>
              <a:rPr lang="zh-CN" altLang="en-US" sz="2400" b="1" dirty="0">
                <a:solidFill>
                  <a:srgbClr val="FF0000"/>
                </a:solidFill>
                <a:latin typeface="Times New Roman" panose="02020603050405020304" charset="0"/>
              </a:rPr>
              <a:t>主要来源</a:t>
            </a:r>
            <a:r>
              <a:rPr lang="zh-CN" altLang="en-US" sz="2400" dirty="0">
                <a:solidFill>
                  <a:srgbClr val="FF0000"/>
                </a:solidFill>
                <a:latin typeface="Times New Roman" panose="02020603050405020304" charset="0"/>
              </a:rPr>
              <a:t>：</a:t>
            </a:r>
            <a:r>
              <a:rPr lang="zh-CN" altLang="en-US" sz="2400" b="1" dirty="0">
                <a:latin typeface="Times New Roman" panose="02020603050405020304" charset="0"/>
              </a:rPr>
              <a:t>燃料燃烧、汽车尾气、部分生产或使用硝酸的工厂排放的尾气；</a:t>
            </a:r>
            <a:endParaRPr lang="zh-CN" altLang="en-US" sz="2400" b="1" dirty="0">
              <a:latin typeface="Times New Roman" panose="02020603050405020304" charset="0"/>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8946" name="文本占位符 338945"/>
          <p:cNvSpPr>
            <a:spLocks noGrp="1"/>
          </p:cNvSpPr>
          <p:nvPr>
            <p:ph type="body" idx="1"/>
          </p:nvPr>
        </p:nvSpPr>
        <p:spPr>
          <a:xfrm>
            <a:off x="2135188" y="4094798"/>
            <a:ext cx="7620000" cy="2663825"/>
          </a:xfrm>
        </p:spPr>
        <p:txBody>
          <a:bodyPr lIns="45720" rIns="45720" anchor="t" anchorCtr="0"/>
          <a:p>
            <a:pPr defTabSz="684530">
              <a:lnSpc>
                <a:spcPct val="130000"/>
              </a:lnSpc>
              <a:buSzPct val="25000"/>
            </a:pPr>
            <a:r>
              <a:rPr lang="zh-CN" altLang="en-US" sz="2400" b="1" dirty="0">
                <a:latin typeface="宋体" panose="02010600030101010101" pitchFamily="2" charset="-122"/>
                <a:ea typeface="+mn-ea"/>
                <a:cs typeface="+mn-cs"/>
              </a:rPr>
              <a:t>（</a:t>
            </a:r>
            <a:r>
              <a:rPr lang="en-US" altLang="zh-CN" sz="2400" b="1">
                <a:latin typeface="宋体" panose="02010600030101010101" pitchFamily="2" charset="-122"/>
                <a:ea typeface="+mn-ea"/>
                <a:cs typeface="+mn-cs"/>
              </a:rPr>
              <a:t>5</a:t>
            </a:r>
            <a:r>
              <a:rPr lang="zh-CN" altLang="en-US" sz="2400" b="1">
                <a:latin typeface="宋体" panose="02010600030101010101" pitchFamily="2" charset="-122"/>
                <a:ea typeface="+mn-ea"/>
                <a:cs typeface="+mn-cs"/>
              </a:rPr>
              <a:t>）</a:t>
            </a:r>
            <a:r>
              <a:rPr lang="zh-CN" altLang="en-US" sz="2400" b="1" dirty="0">
                <a:solidFill>
                  <a:srgbClr val="FF0000"/>
                </a:solidFill>
                <a:latin typeface="宋体" panose="02010600030101010101" pitchFamily="2" charset="-122"/>
                <a:ea typeface="+mn-ea"/>
                <a:cs typeface="+mn-cs"/>
              </a:rPr>
              <a:t>危害： </a:t>
            </a:r>
            <a:r>
              <a:rPr lang="en-US" altLang="zh-CN" sz="1600" b="1">
                <a:solidFill>
                  <a:srgbClr val="FF0000"/>
                </a:solidFill>
                <a:latin typeface="+mn-lt"/>
                <a:ea typeface="+mn-ea"/>
                <a:cs typeface="+mn-cs"/>
              </a:rPr>
              <a:t>NO</a:t>
            </a:r>
            <a:r>
              <a:rPr lang="zh-CN" altLang="en-US" sz="1600" b="1" dirty="0">
                <a:solidFill>
                  <a:srgbClr val="FF0000"/>
                </a:solidFill>
                <a:latin typeface="+mn-lt"/>
                <a:ea typeface="+mn-ea"/>
                <a:cs typeface="+mn-cs"/>
              </a:rPr>
              <a:t>对人体无害，但转化为</a:t>
            </a:r>
            <a:r>
              <a:rPr lang="en-US" altLang="zh-CN" sz="1600" b="1">
                <a:solidFill>
                  <a:srgbClr val="FF0000"/>
                </a:solidFill>
                <a:latin typeface="+mn-lt"/>
                <a:ea typeface="+mn-ea"/>
                <a:cs typeface="+mn-cs"/>
              </a:rPr>
              <a:t>NO2</a:t>
            </a:r>
            <a:r>
              <a:rPr lang="zh-CN" altLang="en-US" sz="1600" b="1" dirty="0">
                <a:solidFill>
                  <a:srgbClr val="FF0000"/>
                </a:solidFill>
                <a:latin typeface="+mn-lt"/>
                <a:ea typeface="+mn-ea"/>
                <a:cs typeface="+mn-cs"/>
              </a:rPr>
              <a:t>，具有腐蚀性和生理性刺激</a:t>
            </a:r>
            <a:endParaRPr lang="zh-CN" altLang="en-US" sz="1600" b="1" dirty="0">
              <a:solidFill>
                <a:srgbClr val="FF0000"/>
              </a:solidFill>
              <a:latin typeface="宋体" panose="02010600030101010101" pitchFamily="2" charset="-122"/>
              <a:ea typeface="+mn-ea"/>
              <a:cs typeface="+mn-cs"/>
            </a:endParaRPr>
          </a:p>
          <a:p>
            <a:pPr defTabSz="684530">
              <a:lnSpc>
                <a:spcPct val="130000"/>
              </a:lnSpc>
              <a:buSzPct val="25000"/>
            </a:pPr>
            <a:r>
              <a:rPr lang="zh-CN" altLang="en-US" sz="2400" b="1" dirty="0">
                <a:latin typeface="宋体" panose="02010600030101010101" pitchFamily="2" charset="-122"/>
                <a:ea typeface="+mn-ea"/>
                <a:cs typeface="+mn-cs"/>
              </a:rPr>
              <a:t>（</a:t>
            </a:r>
            <a:r>
              <a:rPr lang="en-US" altLang="zh-CN" sz="2400" b="1">
                <a:latin typeface="宋体" panose="02010600030101010101" pitchFamily="2" charset="-122"/>
                <a:ea typeface="+mn-ea"/>
                <a:cs typeface="+mn-cs"/>
              </a:rPr>
              <a:t>a</a:t>
            </a:r>
            <a:r>
              <a:rPr lang="zh-CN" altLang="en-US" sz="2400" b="1">
                <a:latin typeface="宋体" panose="02010600030101010101" pitchFamily="2" charset="-122"/>
                <a:ea typeface="+mn-ea"/>
                <a:cs typeface="+mn-cs"/>
              </a:rPr>
              <a:t>）</a:t>
            </a:r>
            <a:r>
              <a:rPr lang="zh-CN" altLang="en-US" sz="2400" b="1" dirty="0">
                <a:latin typeface="宋体" panose="02010600030101010101" pitchFamily="2" charset="-122"/>
                <a:ea typeface="+mn-ea"/>
                <a:cs typeface="+mn-cs"/>
              </a:rPr>
              <a:t>毁坏棉花，尼龙等织物；</a:t>
            </a:r>
            <a:endParaRPr lang="zh-CN" altLang="en-US" sz="2400" b="1" dirty="0">
              <a:latin typeface="宋体" panose="02010600030101010101" pitchFamily="2" charset="-122"/>
              <a:ea typeface="+mn-ea"/>
              <a:cs typeface="+mn-cs"/>
            </a:endParaRPr>
          </a:p>
          <a:p>
            <a:pPr defTabSz="684530">
              <a:lnSpc>
                <a:spcPct val="130000"/>
              </a:lnSpc>
              <a:buSzPct val="25000"/>
            </a:pPr>
            <a:r>
              <a:rPr lang="zh-CN" altLang="en-US" sz="2400" b="1" dirty="0">
                <a:latin typeface="宋体" panose="02010600030101010101" pitchFamily="2" charset="-122"/>
                <a:ea typeface="+mn-ea"/>
                <a:cs typeface="+mn-cs"/>
              </a:rPr>
              <a:t>（</a:t>
            </a:r>
            <a:r>
              <a:rPr lang="en-US" altLang="zh-CN" sz="2400" b="1">
                <a:latin typeface="宋体" panose="02010600030101010101" pitchFamily="2" charset="-122"/>
                <a:ea typeface="+mn-ea"/>
                <a:cs typeface="+mn-cs"/>
              </a:rPr>
              <a:t>b</a:t>
            </a:r>
            <a:r>
              <a:rPr lang="zh-CN" altLang="en-US" sz="2400" b="1">
                <a:latin typeface="宋体" panose="02010600030101010101" pitchFamily="2" charset="-122"/>
                <a:ea typeface="+mn-ea"/>
                <a:cs typeface="+mn-cs"/>
              </a:rPr>
              <a:t>）</a:t>
            </a:r>
            <a:r>
              <a:rPr lang="zh-CN" altLang="en-US" sz="2400" b="1" dirty="0">
                <a:latin typeface="宋体" panose="02010600030101010101" pitchFamily="2" charset="-122"/>
                <a:ea typeface="+mn-ea"/>
                <a:cs typeface="+mn-cs"/>
              </a:rPr>
              <a:t>损害植物</a:t>
            </a:r>
            <a:r>
              <a:rPr lang="en-US" altLang="zh-CN" sz="2400" b="1">
                <a:latin typeface="宋体" panose="02010600030101010101" pitchFamily="2" charset="-122"/>
                <a:ea typeface="+mn-ea"/>
                <a:cs typeface="+mn-cs"/>
              </a:rPr>
              <a:t>——</a:t>
            </a:r>
            <a:r>
              <a:rPr lang="zh-CN" altLang="en-US" sz="2400" b="1" dirty="0">
                <a:latin typeface="宋体" panose="02010600030101010101" pitchFamily="2" charset="-122"/>
                <a:ea typeface="+mn-ea"/>
                <a:cs typeface="+mn-cs"/>
              </a:rPr>
              <a:t>使柑桔落叶、发生萎黄病和减产；</a:t>
            </a:r>
            <a:endParaRPr lang="zh-CN" altLang="en-US" sz="2400" b="1" dirty="0">
              <a:latin typeface="宋体" panose="02010600030101010101" pitchFamily="2" charset="-122"/>
              <a:ea typeface="+mn-ea"/>
              <a:cs typeface="+mn-cs"/>
            </a:endParaRPr>
          </a:p>
          <a:p>
            <a:pPr defTabSz="684530">
              <a:lnSpc>
                <a:spcPct val="130000"/>
              </a:lnSpc>
              <a:buSzPct val="25000"/>
            </a:pPr>
            <a:r>
              <a:rPr lang="zh-CN" altLang="en-US" sz="2400" b="1" dirty="0">
                <a:latin typeface="宋体" panose="02010600030101010101" pitchFamily="2" charset="-122"/>
                <a:ea typeface="+mn-ea"/>
                <a:cs typeface="+mn-cs"/>
              </a:rPr>
              <a:t>（</a:t>
            </a:r>
            <a:r>
              <a:rPr lang="en-US" altLang="zh-CN" sz="2400" b="1">
                <a:latin typeface="宋体" panose="02010600030101010101" pitchFamily="2" charset="-122"/>
                <a:ea typeface="+mn-ea"/>
                <a:cs typeface="+mn-cs"/>
              </a:rPr>
              <a:t>c</a:t>
            </a:r>
            <a:r>
              <a:rPr lang="zh-CN" altLang="en-US" sz="2400" b="1">
                <a:latin typeface="宋体" panose="02010600030101010101" pitchFamily="2" charset="-122"/>
                <a:ea typeface="+mn-ea"/>
                <a:cs typeface="+mn-cs"/>
              </a:rPr>
              <a:t>）</a:t>
            </a:r>
            <a:r>
              <a:rPr lang="zh-CN" altLang="en-US" sz="2400" b="1" dirty="0">
                <a:latin typeface="宋体" panose="02010600030101010101" pitchFamily="2" charset="-122"/>
                <a:ea typeface="+mn-ea"/>
                <a:cs typeface="+mn-cs"/>
              </a:rPr>
              <a:t>引起急性呼吸道病变。</a:t>
            </a:r>
            <a:r>
              <a:rPr lang="zh-CN" altLang="en-US" sz="2400" b="1" dirty="0">
                <a:solidFill>
                  <a:srgbClr val="FF0000"/>
                </a:solidFill>
                <a:latin typeface="宋体" panose="02010600030101010101" pitchFamily="2" charset="-122"/>
                <a:ea typeface="+mn-ea"/>
                <a:cs typeface="+mn-cs"/>
              </a:rPr>
              <a:t>会导致光化学烟雾。</a:t>
            </a:r>
            <a:endParaRPr lang="zh-CN" altLang="en-US" sz="2400" b="1" dirty="0">
              <a:solidFill>
                <a:srgbClr val="FF0000"/>
              </a:solidFill>
              <a:latin typeface="宋体" panose="02010600030101010101" pitchFamily="2" charset="-122"/>
              <a:ea typeface="+mn-ea"/>
              <a:cs typeface="+mn-cs"/>
            </a:endParaRPr>
          </a:p>
        </p:txBody>
      </p:sp>
      <p:sp>
        <p:nvSpPr>
          <p:cNvPr id="338947" name="文本框 338946"/>
          <p:cNvSpPr txBox="1"/>
          <p:nvPr/>
        </p:nvSpPr>
        <p:spPr>
          <a:xfrm>
            <a:off x="2208213" y="260350"/>
            <a:ext cx="8137525" cy="977265"/>
          </a:xfrm>
          <a:prstGeom prst="rect">
            <a:avLst/>
          </a:prstGeom>
          <a:noFill/>
          <a:ln w="12700">
            <a:noFill/>
          </a:ln>
        </p:spPr>
        <p:txBody>
          <a:bodyPr>
            <a:spAutoFit/>
          </a:bodyPr>
          <a:p>
            <a:pPr algn="l">
              <a:lnSpc>
                <a:spcPct val="120000"/>
              </a:lnSpc>
              <a:spcBef>
                <a:spcPct val="50000"/>
              </a:spcBef>
            </a:pPr>
            <a:r>
              <a:rPr lang="zh-CN" altLang="en-US" sz="2400" dirty="0">
                <a:latin typeface="Times New Roman" panose="02020603050405020304" charset="0"/>
              </a:rPr>
              <a:t>（</a:t>
            </a:r>
            <a:r>
              <a:rPr lang="en-US" altLang="zh-CN" sz="2400">
                <a:latin typeface="Times New Roman" panose="02020603050405020304" charset="0"/>
              </a:rPr>
              <a:t>4</a:t>
            </a:r>
            <a:r>
              <a:rPr lang="zh-CN" altLang="en-US" sz="2400" dirty="0">
                <a:latin typeface="Times New Roman" panose="02020603050405020304" charset="0"/>
              </a:rPr>
              <a:t>）</a:t>
            </a:r>
            <a:r>
              <a:rPr lang="zh-CN" altLang="en-US" sz="2400" b="1" dirty="0">
                <a:solidFill>
                  <a:srgbClr val="FF0000"/>
                </a:solidFill>
                <a:latin typeface="Times New Roman" panose="02020603050405020304" charset="0"/>
              </a:rPr>
              <a:t>燃烧过程中</a:t>
            </a:r>
            <a:r>
              <a:rPr lang="en-US" altLang="zh-CN" sz="2400" b="1" err="1">
                <a:solidFill>
                  <a:srgbClr val="FF0000"/>
                </a:solidFill>
                <a:latin typeface="Times New Roman" panose="02020603050405020304" charset="0"/>
              </a:rPr>
              <a:t>NOx</a:t>
            </a:r>
            <a:r>
              <a:rPr lang="zh-CN" altLang="en-US" sz="2400" b="1" dirty="0">
                <a:solidFill>
                  <a:srgbClr val="FF0000"/>
                </a:solidFill>
                <a:latin typeface="Times New Roman" panose="02020603050405020304" charset="0"/>
              </a:rPr>
              <a:t>的产生情况</a:t>
            </a:r>
            <a:r>
              <a:rPr lang="zh-CN" altLang="en-US" sz="2400" dirty="0">
                <a:latin typeface="Times New Roman" panose="02020603050405020304" charset="0"/>
              </a:rPr>
              <a:t>：</a:t>
            </a:r>
            <a:r>
              <a:rPr lang="zh-CN" altLang="en-US" sz="2400" b="1" dirty="0">
                <a:latin typeface="Times New Roman" panose="02020603050405020304" charset="0"/>
              </a:rPr>
              <a:t>热力（热解）</a:t>
            </a:r>
            <a:r>
              <a:rPr lang="en-US" altLang="zh-CN" sz="2400" b="1" err="1">
                <a:latin typeface="Times New Roman" panose="02020603050405020304" charset="0"/>
              </a:rPr>
              <a:t>NOx</a:t>
            </a:r>
            <a:r>
              <a:rPr lang="zh-CN" altLang="en-US" sz="2400" b="1" dirty="0">
                <a:latin typeface="Times New Roman" panose="02020603050405020304" charset="0"/>
              </a:rPr>
              <a:t>、燃料（燃烧）</a:t>
            </a:r>
            <a:r>
              <a:rPr lang="en-US" altLang="zh-CN" sz="2400" b="1" err="1">
                <a:latin typeface="Times New Roman" panose="02020603050405020304" charset="0"/>
              </a:rPr>
              <a:t>NOx</a:t>
            </a:r>
            <a:r>
              <a:rPr lang="zh-CN" altLang="en-US" sz="2400" b="1" dirty="0">
                <a:latin typeface="Times New Roman" panose="02020603050405020304" charset="0"/>
              </a:rPr>
              <a:t>和瞬时</a:t>
            </a:r>
            <a:r>
              <a:rPr lang="en-US" altLang="zh-CN" sz="2400" b="1" err="1">
                <a:latin typeface="Times New Roman" panose="02020603050405020304" charset="0"/>
              </a:rPr>
              <a:t>NOx</a:t>
            </a:r>
            <a:r>
              <a:rPr lang="zh-CN" altLang="en-US" sz="2400" b="1" dirty="0">
                <a:latin typeface="Times New Roman" panose="02020603050405020304" charset="0"/>
              </a:rPr>
              <a:t>。</a:t>
            </a:r>
            <a:endParaRPr lang="zh-CN" altLang="en-US" sz="2400" b="1" dirty="0">
              <a:latin typeface="Times New Roman" panose="02020603050405020304" charset="0"/>
            </a:endParaRPr>
          </a:p>
        </p:txBody>
      </p:sp>
      <p:sp>
        <p:nvSpPr>
          <p:cNvPr id="338948" name="文本框 338947"/>
          <p:cNvSpPr txBox="1"/>
          <p:nvPr/>
        </p:nvSpPr>
        <p:spPr>
          <a:xfrm>
            <a:off x="2567305" y="1268730"/>
            <a:ext cx="8315325" cy="1568450"/>
          </a:xfrm>
          <a:prstGeom prst="rect">
            <a:avLst/>
          </a:prstGeom>
          <a:solidFill>
            <a:srgbClr val="00FF00"/>
          </a:solidFill>
          <a:ln w="12700">
            <a:noFill/>
          </a:ln>
        </p:spPr>
        <p:txBody>
          <a:bodyPr wrap="square">
            <a:spAutoFit/>
          </a:bodyPr>
          <a:p>
            <a:pPr algn="l">
              <a:spcBef>
                <a:spcPct val="50000"/>
              </a:spcBef>
            </a:pPr>
            <a:r>
              <a:rPr lang="zh-CN" altLang="en-US" sz="2400" b="1" err="1">
                <a:latin typeface="Times New Roman" panose="02020603050405020304" charset="0"/>
              </a:rPr>
              <a:t>由于空气中氮气含量大约</a:t>
            </a:r>
            <a:r>
              <a:rPr lang="en-US" altLang="zh-CN" sz="2400" b="1" err="1">
                <a:latin typeface="Times New Roman" panose="02020603050405020304" charset="0"/>
              </a:rPr>
              <a:t>78%</a:t>
            </a:r>
            <a:r>
              <a:rPr lang="zh-CN" altLang="en-US" sz="2400" b="1" err="1">
                <a:latin typeface="Times New Roman" panose="02020603050405020304" charset="0"/>
              </a:rPr>
              <a:t>，在高温燃烧时，氮气和氧气发生反应生成</a:t>
            </a:r>
            <a:r>
              <a:rPr lang="en-US" altLang="zh-CN" sz="2400" b="1" err="1">
                <a:latin typeface="Times New Roman" panose="02020603050405020304" charset="0"/>
              </a:rPr>
              <a:t>NOx</a:t>
            </a:r>
            <a:r>
              <a:rPr lang="zh-CN" altLang="en-US" sz="2400" b="1" err="1">
                <a:latin typeface="Times New Roman" panose="02020603050405020304" charset="0"/>
              </a:rPr>
              <a:t>。</a:t>
            </a:r>
            <a:r>
              <a:rPr lang="zh-CN" altLang="en-US" sz="2400" b="1" dirty="0">
                <a:latin typeface="Times New Roman" panose="02020603050405020304" charset="0"/>
              </a:rPr>
              <a:t>生成速度是随燃烧温度增高而加大的。燃烧温度越高，氧的浓度越大或反应时间越长，则</a:t>
            </a:r>
            <a:r>
              <a:rPr lang="en-US" altLang="zh-CN" sz="2400" b="1" err="1">
                <a:latin typeface="Times New Roman" panose="02020603050405020304" charset="0"/>
              </a:rPr>
              <a:t>NOx</a:t>
            </a:r>
            <a:r>
              <a:rPr lang="zh-CN" altLang="en-US" sz="2400" b="1" dirty="0">
                <a:latin typeface="Times New Roman" panose="02020603050405020304" charset="0"/>
              </a:rPr>
              <a:t>的生成量就越大 →</a:t>
            </a:r>
            <a:r>
              <a:rPr lang="zh-CN" altLang="en-US" sz="2400" b="1" dirty="0">
                <a:solidFill>
                  <a:srgbClr val="FF0000"/>
                </a:solidFill>
                <a:latin typeface="Times New Roman" panose="02020603050405020304" charset="0"/>
              </a:rPr>
              <a:t>热解</a:t>
            </a:r>
            <a:r>
              <a:rPr lang="en-US" altLang="zh-CN" sz="2400" b="1" err="1">
                <a:solidFill>
                  <a:srgbClr val="FF0000"/>
                </a:solidFill>
                <a:latin typeface="Times New Roman" panose="02020603050405020304" charset="0"/>
              </a:rPr>
              <a:t>NOx</a:t>
            </a:r>
            <a:r>
              <a:rPr lang="zh-CN" altLang="en-US" sz="2400" dirty="0">
                <a:solidFill>
                  <a:srgbClr val="FF0000"/>
                </a:solidFill>
                <a:latin typeface="Times New Roman" panose="02020603050405020304" charset="0"/>
              </a:rPr>
              <a:t>。</a:t>
            </a:r>
            <a:endParaRPr lang="zh-CN" altLang="en-US" sz="2400" dirty="0">
              <a:solidFill>
                <a:srgbClr val="FF0000"/>
              </a:solidFill>
              <a:latin typeface="Times New Roman" panose="02020603050405020304" charset="0"/>
            </a:endParaRPr>
          </a:p>
        </p:txBody>
      </p:sp>
      <p:sp>
        <p:nvSpPr>
          <p:cNvPr id="338949" name="文本框 338948"/>
          <p:cNvSpPr txBox="1"/>
          <p:nvPr/>
        </p:nvSpPr>
        <p:spPr>
          <a:xfrm>
            <a:off x="2566988" y="2829243"/>
            <a:ext cx="6769100" cy="1198880"/>
          </a:xfrm>
          <a:prstGeom prst="rect">
            <a:avLst/>
          </a:prstGeom>
          <a:solidFill>
            <a:srgbClr val="FFFF66"/>
          </a:solidFill>
          <a:ln w="12700">
            <a:noFill/>
          </a:ln>
        </p:spPr>
        <p:txBody>
          <a:bodyPr>
            <a:spAutoFit/>
          </a:bodyPr>
          <a:p>
            <a:pPr algn="l"/>
            <a:r>
              <a:rPr lang="zh-CN" altLang="en-US" sz="2400" b="1" dirty="0">
                <a:latin typeface="Times New Roman" panose="02020603050405020304" charset="0"/>
              </a:rPr>
              <a:t>燃料中含有吡啶（</a:t>
            </a:r>
            <a:r>
              <a:rPr lang="en-US" altLang="zh-CN" sz="2400" b="1">
                <a:latin typeface="Times New Roman" panose="02020603050405020304" charset="0"/>
              </a:rPr>
              <a:t>C5H5N</a:t>
            </a:r>
            <a:r>
              <a:rPr lang="zh-CN" altLang="en-US" sz="2400" b="1" dirty="0">
                <a:latin typeface="Times New Roman" panose="02020603050405020304" charset="0"/>
              </a:rPr>
              <a:t>）、咔唑（</a:t>
            </a:r>
            <a:r>
              <a:rPr lang="en-US" altLang="zh-CN" sz="2400" b="1">
                <a:latin typeface="Times New Roman" panose="02020603050405020304" charset="0"/>
              </a:rPr>
              <a:t>C12H8N</a:t>
            </a:r>
            <a:r>
              <a:rPr lang="zh-CN" altLang="en-US" sz="2400" b="1" dirty="0">
                <a:latin typeface="Times New Roman" panose="02020603050405020304" charset="0"/>
              </a:rPr>
              <a:t>）及氨基化合物（</a:t>
            </a:r>
            <a:r>
              <a:rPr lang="en-US" altLang="zh-CN" sz="2400" b="1">
                <a:latin typeface="Times New Roman" panose="02020603050405020304" charset="0"/>
              </a:rPr>
              <a:t>RNH2</a:t>
            </a:r>
            <a:r>
              <a:rPr lang="zh-CN" altLang="en-US" sz="2400" b="1" dirty="0">
                <a:latin typeface="Times New Roman" panose="02020603050405020304" charset="0"/>
              </a:rPr>
              <a:t>）等含氮化合物在燃烧时分解出的氮和氧。生成的</a:t>
            </a:r>
            <a:r>
              <a:rPr lang="en-US" altLang="zh-CN" sz="2400" b="1" err="1">
                <a:latin typeface="Times New Roman" panose="02020603050405020304" charset="0"/>
              </a:rPr>
              <a:t>NOx</a:t>
            </a:r>
            <a:r>
              <a:rPr lang="zh-CN" altLang="en-US" sz="2400" b="1" dirty="0">
                <a:latin typeface="Times New Roman" panose="02020603050405020304" charset="0"/>
              </a:rPr>
              <a:t>叫作</a:t>
            </a:r>
            <a:r>
              <a:rPr lang="zh-CN" altLang="en-US" sz="2400" b="1" dirty="0">
                <a:solidFill>
                  <a:srgbClr val="FF0000"/>
                </a:solidFill>
                <a:latin typeface="Times New Roman" panose="02020603050405020304" charset="0"/>
              </a:rPr>
              <a:t>燃烧</a:t>
            </a:r>
            <a:r>
              <a:rPr lang="en-US" altLang="zh-CN" sz="2400" b="1" err="1">
                <a:solidFill>
                  <a:srgbClr val="FF0000"/>
                </a:solidFill>
                <a:latin typeface="Times New Roman" panose="02020603050405020304" charset="0"/>
              </a:rPr>
              <a:t>NOx</a:t>
            </a:r>
            <a:r>
              <a:rPr lang="zh-CN" altLang="en-US" sz="2400" b="1" dirty="0">
                <a:solidFill>
                  <a:srgbClr val="FF0000"/>
                </a:solidFill>
                <a:latin typeface="Times New Roman" panose="02020603050405020304" charset="0"/>
              </a:rPr>
              <a:t>。</a:t>
            </a:r>
            <a:endParaRPr lang="zh-CN" altLang="en-US" sz="2400" b="1" dirty="0">
              <a:solidFill>
                <a:srgbClr val="FF0000"/>
              </a:solidFill>
              <a:latin typeface="Times New Roman" panose="02020603050405020304"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62" name="标题 348161"/>
          <p:cNvSpPr>
            <a:spLocks noGrp="1"/>
          </p:cNvSpPr>
          <p:nvPr>
            <p:ph type="title"/>
          </p:nvPr>
        </p:nvSpPr>
        <p:spPr>
          <a:xfrm>
            <a:off x="1992313" y="260350"/>
            <a:ext cx="7543800" cy="457200"/>
          </a:xfrm>
        </p:spPr>
        <p:txBody>
          <a:bodyPr lIns="45720" tIns="0" rIns="45720" bIns="0" anchor="b" anchorCtr="0">
            <a:normAutofit fontScale="90000"/>
          </a:bodyPr>
          <a:p>
            <a:r>
              <a:rPr lang="en-US" altLang="zh-CN" sz="3200">
                <a:latin typeface="+mj-lt"/>
                <a:ea typeface="+mj-ea"/>
                <a:cs typeface="+mj-cs"/>
              </a:rPr>
              <a:t>6</a:t>
            </a:r>
            <a:r>
              <a:rPr lang="zh-CN" altLang="en-US" sz="3200" dirty="0">
                <a:latin typeface="+mj-lt"/>
                <a:ea typeface="+mj-ea"/>
                <a:cs typeface="+mj-cs"/>
              </a:rPr>
              <a:t>、光化学烟雾</a:t>
            </a:r>
            <a:r>
              <a:rPr lang="en-US" altLang="zh-CN" sz="3200">
                <a:latin typeface="+mj-lt"/>
                <a:ea typeface="+mj-ea"/>
                <a:cs typeface="+mj-cs"/>
              </a:rPr>
              <a:t>——</a:t>
            </a:r>
            <a:r>
              <a:rPr lang="zh-CN" altLang="en-US" sz="3200" dirty="0">
                <a:latin typeface="+mj-lt"/>
                <a:ea typeface="+mj-ea"/>
                <a:cs typeface="+mj-cs"/>
              </a:rPr>
              <a:t>洛杉矶烟雾</a:t>
            </a:r>
            <a:r>
              <a:rPr lang="en-US" altLang="zh-CN" sz="1600" b="0">
                <a:solidFill>
                  <a:srgbClr val="FF0000"/>
                </a:solidFill>
                <a:latin typeface="+mj-lt"/>
                <a:ea typeface="+mj-ea"/>
                <a:cs typeface="+mj-cs"/>
              </a:rPr>
              <a:t>(</a:t>
            </a:r>
            <a:r>
              <a:rPr lang="zh-CN" altLang="en-US" sz="1600" b="0" dirty="0">
                <a:solidFill>
                  <a:srgbClr val="FF0000"/>
                </a:solidFill>
                <a:latin typeface="+mj-lt"/>
                <a:ea typeface="+mj-ea"/>
                <a:cs typeface="+mj-cs"/>
              </a:rPr>
              <a:t>二次污染物）</a:t>
            </a:r>
            <a:endParaRPr lang="zh-CN" altLang="en-US" sz="1600" b="0" dirty="0">
              <a:solidFill>
                <a:srgbClr val="FF0000"/>
              </a:solidFill>
              <a:latin typeface="+mj-lt"/>
              <a:ea typeface="+mj-ea"/>
              <a:cs typeface="+mj-cs"/>
            </a:endParaRPr>
          </a:p>
        </p:txBody>
      </p:sp>
      <p:sp>
        <p:nvSpPr>
          <p:cNvPr id="348163" name="文本占位符 348162"/>
          <p:cNvSpPr>
            <a:spLocks noGrp="1"/>
          </p:cNvSpPr>
          <p:nvPr>
            <p:ph type="body" idx="1"/>
          </p:nvPr>
        </p:nvSpPr>
        <p:spPr>
          <a:xfrm>
            <a:off x="4071303" y="985838"/>
            <a:ext cx="7620000" cy="5105400"/>
          </a:xfrm>
        </p:spPr>
        <p:txBody>
          <a:bodyPr lIns="45720" rIns="45720" anchor="t" anchorCtr="0">
            <a:normAutofit lnSpcReduction="20000"/>
          </a:bodyPr>
          <a:p>
            <a:pPr defTabSz="914400">
              <a:lnSpc>
                <a:spcPct val="160000"/>
              </a:lnSpc>
              <a:buSzPct val="25000"/>
            </a:pPr>
            <a:r>
              <a:rPr lang="zh-CN" altLang="en-US" sz="1600">
                <a:latin typeface="+mn-lt"/>
                <a:ea typeface="+mn-ea"/>
                <a:cs typeface="+mn-cs"/>
              </a:rPr>
              <a:t>（</a:t>
            </a:r>
            <a:r>
              <a:rPr lang="en-US" altLang="zh-CN" sz="1600">
                <a:latin typeface="+mn-lt"/>
                <a:ea typeface="+mn-ea"/>
                <a:cs typeface="+mn-cs"/>
              </a:rPr>
              <a:t>1</a:t>
            </a:r>
            <a:r>
              <a:rPr lang="zh-CN" altLang="en-US" sz="1600" dirty="0">
                <a:latin typeface="+mn-lt"/>
                <a:ea typeface="+mn-ea"/>
                <a:cs typeface="+mn-cs"/>
              </a:rPr>
              <a:t>）</a:t>
            </a:r>
            <a:r>
              <a:rPr lang="zh-CN" altLang="en-US" sz="1600" b="1" dirty="0">
                <a:solidFill>
                  <a:srgbClr val="FF0000"/>
                </a:solidFill>
                <a:latin typeface="+mn-lt"/>
                <a:ea typeface="+mn-ea"/>
                <a:cs typeface="+mn-cs"/>
              </a:rPr>
              <a:t>产生</a:t>
            </a:r>
            <a:r>
              <a:rPr lang="zh-CN" altLang="en-US" sz="1600" dirty="0">
                <a:latin typeface="+mn-lt"/>
                <a:ea typeface="+mn-ea"/>
                <a:cs typeface="+mn-cs"/>
              </a:rPr>
              <a:t>：</a:t>
            </a:r>
            <a:endParaRPr lang="zh-CN" altLang="en-US" sz="1600" dirty="0">
              <a:latin typeface="+mn-lt"/>
              <a:ea typeface="+mn-ea"/>
              <a:cs typeface="+mn-cs"/>
            </a:endParaRPr>
          </a:p>
          <a:p>
            <a:pPr defTabSz="914400">
              <a:lnSpc>
                <a:spcPct val="160000"/>
              </a:lnSpc>
              <a:buSzPct val="25000"/>
            </a:pPr>
            <a:r>
              <a:rPr lang="zh-CN" altLang="en-US" sz="1600" dirty="0">
                <a:latin typeface="+mn-lt"/>
                <a:ea typeface="+mn-ea"/>
                <a:cs typeface="+mn-cs"/>
              </a:rPr>
              <a:t>       </a:t>
            </a:r>
            <a:r>
              <a:rPr lang="zh-CN" altLang="en-US" sz="1600" b="1" dirty="0">
                <a:latin typeface="+mn-lt"/>
                <a:ea typeface="+mn-ea"/>
                <a:cs typeface="+mn-cs"/>
              </a:rPr>
              <a:t>在阳光照射下，大气中的</a:t>
            </a:r>
            <a:r>
              <a:rPr lang="zh-CN" altLang="en-US" sz="1600" b="1" dirty="0">
                <a:solidFill>
                  <a:srgbClr val="FF0000"/>
                </a:solidFill>
                <a:latin typeface="+mn-lt"/>
                <a:ea typeface="+mn-ea"/>
                <a:cs typeface="+mn-cs"/>
              </a:rPr>
              <a:t>氮氧化物、碳氢化合物和氧化剂</a:t>
            </a:r>
            <a:r>
              <a:rPr lang="zh-CN" altLang="en-US" sz="1600" b="1" dirty="0">
                <a:latin typeface="+mn-lt"/>
                <a:ea typeface="+mn-ea"/>
                <a:cs typeface="+mn-cs"/>
              </a:rPr>
              <a:t>之间发生一系列光化学反应而生成的蓝色烟雾（有时带些紫色或黄褐色）。</a:t>
            </a:r>
            <a:endParaRPr lang="zh-CN" altLang="en-US" sz="1600" b="1" dirty="0">
              <a:latin typeface="+mn-lt"/>
              <a:ea typeface="+mn-ea"/>
              <a:cs typeface="+mn-cs"/>
            </a:endParaRPr>
          </a:p>
          <a:p>
            <a:pPr defTabSz="914400">
              <a:lnSpc>
                <a:spcPct val="160000"/>
              </a:lnSpc>
              <a:buSzPct val="25000"/>
            </a:pPr>
            <a:r>
              <a:rPr lang="zh-CN" altLang="en-US" sz="1600" dirty="0">
                <a:latin typeface="+mn-lt"/>
                <a:ea typeface="+mn-ea"/>
                <a:cs typeface="+mn-cs"/>
              </a:rPr>
              <a:t>（</a:t>
            </a:r>
            <a:r>
              <a:rPr lang="en-US" altLang="zh-CN" sz="1600">
                <a:latin typeface="+mn-lt"/>
                <a:ea typeface="+mn-ea"/>
                <a:cs typeface="+mn-cs"/>
              </a:rPr>
              <a:t>2</a:t>
            </a:r>
            <a:r>
              <a:rPr lang="zh-CN" altLang="en-US" sz="1600" dirty="0">
                <a:latin typeface="+mn-lt"/>
                <a:ea typeface="+mn-ea"/>
                <a:cs typeface="+mn-cs"/>
              </a:rPr>
              <a:t>）</a:t>
            </a:r>
            <a:r>
              <a:rPr lang="zh-CN" altLang="en-US" sz="1600" b="1" dirty="0">
                <a:solidFill>
                  <a:srgbClr val="FF0000"/>
                </a:solidFill>
                <a:latin typeface="+mn-lt"/>
                <a:ea typeface="+mn-ea"/>
                <a:cs typeface="+mn-cs"/>
              </a:rPr>
              <a:t>主要成分</a:t>
            </a:r>
            <a:r>
              <a:rPr lang="zh-CN" altLang="en-US" sz="1600" dirty="0">
                <a:latin typeface="+mn-lt"/>
                <a:ea typeface="+mn-ea"/>
                <a:cs typeface="+mn-cs"/>
              </a:rPr>
              <a:t>：</a:t>
            </a:r>
            <a:r>
              <a:rPr lang="zh-CN" altLang="en-US" sz="1600" b="1" dirty="0">
                <a:latin typeface="+mn-lt"/>
                <a:ea typeface="+mn-ea"/>
                <a:cs typeface="+mn-cs"/>
              </a:rPr>
              <a:t>臭氧（</a:t>
            </a:r>
            <a:r>
              <a:rPr lang="en-US" altLang="zh-CN" sz="1600" b="1">
                <a:latin typeface="+mn-lt"/>
                <a:ea typeface="+mn-ea"/>
                <a:cs typeface="+mn-cs"/>
              </a:rPr>
              <a:t>O</a:t>
            </a:r>
            <a:r>
              <a:rPr lang="en-US" altLang="zh-CN" sz="1600" b="1" baseline="-25000">
                <a:latin typeface="+mn-lt"/>
                <a:ea typeface="+mn-ea"/>
                <a:cs typeface="+mn-cs"/>
              </a:rPr>
              <a:t>3</a:t>
            </a:r>
            <a:r>
              <a:rPr lang="zh-CN" altLang="en-US" sz="1600" b="1">
                <a:latin typeface="+mn-lt"/>
                <a:ea typeface="+mn-ea"/>
                <a:cs typeface="+mn-cs"/>
              </a:rPr>
              <a:t>）、</a:t>
            </a:r>
            <a:r>
              <a:rPr lang="zh-CN" altLang="en-US" sz="1600" b="1" dirty="0">
                <a:latin typeface="+mn-lt"/>
                <a:ea typeface="+mn-ea"/>
                <a:cs typeface="+mn-cs"/>
              </a:rPr>
              <a:t>过氧乙酰硝酸酯（</a:t>
            </a:r>
            <a:r>
              <a:rPr lang="en-US" altLang="zh-CN" sz="1600" b="1">
                <a:latin typeface="+mn-lt"/>
                <a:ea typeface="+mn-ea"/>
                <a:cs typeface="+mn-cs"/>
              </a:rPr>
              <a:t>PAN</a:t>
            </a:r>
            <a:r>
              <a:rPr lang="zh-CN" altLang="en-US" sz="1600" b="1">
                <a:latin typeface="+mn-lt"/>
                <a:ea typeface="+mn-ea"/>
                <a:cs typeface="+mn-cs"/>
              </a:rPr>
              <a:t>）、</a:t>
            </a:r>
            <a:r>
              <a:rPr lang="zh-CN" altLang="en-US" sz="1600" b="1" dirty="0">
                <a:latin typeface="+mn-lt"/>
                <a:ea typeface="+mn-ea"/>
                <a:cs typeface="+mn-cs"/>
              </a:rPr>
              <a:t>酮类、醛类等。</a:t>
            </a:r>
            <a:endParaRPr lang="zh-CN" altLang="en-US" sz="1600" b="1" dirty="0">
              <a:latin typeface="+mn-lt"/>
              <a:ea typeface="+mn-ea"/>
              <a:cs typeface="+mn-cs"/>
            </a:endParaRPr>
          </a:p>
          <a:p>
            <a:pPr defTabSz="914400">
              <a:lnSpc>
                <a:spcPct val="160000"/>
              </a:lnSpc>
              <a:buSzPct val="25000"/>
            </a:pPr>
            <a:r>
              <a:rPr lang="zh-CN" altLang="en-US" sz="1600" dirty="0">
                <a:latin typeface="+mn-lt"/>
                <a:ea typeface="+mn-ea"/>
                <a:cs typeface="+mn-cs"/>
              </a:rPr>
              <a:t>（</a:t>
            </a:r>
            <a:r>
              <a:rPr lang="en-US" altLang="zh-CN" sz="1600">
                <a:latin typeface="+mn-lt"/>
                <a:ea typeface="+mn-ea"/>
                <a:cs typeface="+mn-cs"/>
              </a:rPr>
              <a:t>3</a:t>
            </a:r>
            <a:r>
              <a:rPr lang="zh-CN" altLang="en-US" sz="1600" dirty="0">
                <a:latin typeface="+mn-lt"/>
                <a:ea typeface="+mn-ea"/>
                <a:cs typeface="+mn-cs"/>
              </a:rPr>
              <a:t>）</a:t>
            </a:r>
            <a:r>
              <a:rPr lang="zh-CN" altLang="en-US" sz="1600" b="1" dirty="0">
                <a:solidFill>
                  <a:srgbClr val="FF0000"/>
                </a:solidFill>
                <a:latin typeface="+mn-lt"/>
                <a:ea typeface="+mn-ea"/>
                <a:cs typeface="+mn-cs"/>
              </a:rPr>
              <a:t>危害</a:t>
            </a:r>
            <a:endParaRPr lang="zh-CN" altLang="en-US" sz="1600" b="1" dirty="0">
              <a:solidFill>
                <a:srgbClr val="FF0000"/>
              </a:solidFill>
              <a:latin typeface="+mn-lt"/>
              <a:ea typeface="+mn-ea"/>
              <a:cs typeface="+mn-cs"/>
            </a:endParaRPr>
          </a:p>
          <a:p>
            <a:pPr defTabSz="914400">
              <a:lnSpc>
                <a:spcPct val="160000"/>
              </a:lnSpc>
              <a:buSzPct val="25000"/>
            </a:pPr>
            <a:r>
              <a:rPr lang="zh-CN" altLang="en-US" sz="1600" dirty="0">
                <a:latin typeface="+mn-lt"/>
                <a:ea typeface="+mn-ea"/>
                <a:cs typeface="+mn-cs"/>
              </a:rPr>
              <a:t>（</a:t>
            </a:r>
            <a:r>
              <a:rPr lang="en-US" altLang="zh-CN" sz="1600">
                <a:latin typeface="+mn-lt"/>
                <a:ea typeface="+mn-ea"/>
                <a:cs typeface="+mn-cs"/>
              </a:rPr>
              <a:t>a</a:t>
            </a:r>
            <a:r>
              <a:rPr lang="zh-CN" altLang="en-US" sz="1600">
                <a:latin typeface="+mn-lt"/>
                <a:ea typeface="+mn-ea"/>
                <a:cs typeface="+mn-cs"/>
              </a:rPr>
              <a:t>）</a:t>
            </a:r>
            <a:r>
              <a:rPr lang="zh-CN" altLang="en-US" sz="1600" b="1" dirty="0">
                <a:latin typeface="+mn-lt"/>
                <a:ea typeface="+mn-ea"/>
                <a:cs typeface="+mn-cs"/>
              </a:rPr>
              <a:t>刺激眼睛</a:t>
            </a:r>
            <a:r>
              <a:rPr lang="en-US" altLang="zh-CN" sz="1600" b="1">
                <a:latin typeface="+mn-lt"/>
                <a:ea typeface="+mn-ea"/>
                <a:cs typeface="+mn-cs"/>
              </a:rPr>
              <a:t>,</a:t>
            </a:r>
            <a:r>
              <a:rPr lang="zh-CN" altLang="en-US" sz="1600" b="1" dirty="0">
                <a:latin typeface="+mn-lt"/>
                <a:ea typeface="+mn-ea"/>
                <a:cs typeface="+mn-cs"/>
              </a:rPr>
              <a:t>甲醛，过氧化苯甲酰硝酸酯</a:t>
            </a:r>
            <a:r>
              <a:rPr lang="zh-CN" altLang="en-US" sz="1600" b="1">
                <a:latin typeface="+mn-lt"/>
                <a:ea typeface="+mn-ea"/>
                <a:cs typeface="+mn-cs"/>
              </a:rPr>
              <a:t> </a:t>
            </a:r>
            <a:r>
              <a:rPr lang="zh-CN" altLang="en-US" sz="1600" b="1" dirty="0">
                <a:latin typeface="+mn-lt"/>
                <a:ea typeface="+mn-ea"/>
                <a:cs typeface="+mn-cs"/>
              </a:rPr>
              <a:t>；</a:t>
            </a:r>
            <a:endParaRPr lang="zh-CN" altLang="en-US" sz="1600" b="1" dirty="0">
              <a:latin typeface="+mn-lt"/>
              <a:ea typeface="+mn-ea"/>
              <a:cs typeface="+mn-cs"/>
            </a:endParaRPr>
          </a:p>
          <a:p>
            <a:pPr defTabSz="914400">
              <a:lnSpc>
                <a:spcPct val="160000"/>
              </a:lnSpc>
              <a:buSzPct val="25000"/>
            </a:pPr>
            <a:r>
              <a:rPr lang="zh-CN" altLang="en-US" sz="1600" b="1" dirty="0">
                <a:latin typeface="+mn-lt"/>
                <a:ea typeface="+mn-ea"/>
                <a:cs typeface="+mn-cs"/>
              </a:rPr>
              <a:t>（</a:t>
            </a:r>
            <a:r>
              <a:rPr lang="en-US" altLang="zh-CN" sz="1600" b="1">
                <a:latin typeface="+mn-lt"/>
                <a:ea typeface="+mn-ea"/>
                <a:cs typeface="+mn-cs"/>
              </a:rPr>
              <a:t>b</a:t>
            </a:r>
            <a:r>
              <a:rPr lang="zh-CN" altLang="en-US" sz="1600" b="1">
                <a:latin typeface="+mn-lt"/>
                <a:ea typeface="+mn-ea"/>
                <a:cs typeface="+mn-cs"/>
              </a:rPr>
              <a:t>）</a:t>
            </a:r>
            <a:r>
              <a:rPr lang="zh-CN" altLang="en-US" sz="1600" b="1" dirty="0">
                <a:latin typeface="+mn-lt"/>
                <a:ea typeface="+mn-ea"/>
                <a:cs typeface="+mn-cs"/>
              </a:rPr>
              <a:t>臭氧会引起胸部压缩、刺激粘膜、头痛、咳嗽、疲倦等症状；</a:t>
            </a:r>
            <a:endParaRPr lang="zh-CN" altLang="en-US" sz="1600" b="1" dirty="0">
              <a:latin typeface="+mn-lt"/>
              <a:ea typeface="+mn-ea"/>
              <a:cs typeface="+mn-cs"/>
            </a:endParaRPr>
          </a:p>
          <a:p>
            <a:pPr defTabSz="914400">
              <a:lnSpc>
                <a:spcPct val="160000"/>
              </a:lnSpc>
              <a:buSzPct val="25000"/>
            </a:pPr>
            <a:r>
              <a:rPr lang="zh-CN" altLang="en-US" sz="1600" b="1" dirty="0">
                <a:latin typeface="+mn-lt"/>
                <a:ea typeface="+mn-ea"/>
                <a:cs typeface="+mn-cs"/>
              </a:rPr>
              <a:t>（</a:t>
            </a:r>
            <a:r>
              <a:rPr lang="en-US" altLang="zh-CN" sz="1600" b="1">
                <a:latin typeface="+mn-lt"/>
                <a:ea typeface="+mn-ea"/>
                <a:cs typeface="+mn-cs"/>
              </a:rPr>
              <a:t>c</a:t>
            </a:r>
            <a:r>
              <a:rPr lang="zh-CN" altLang="en-US" sz="1600" b="1">
                <a:latin typeface="+mn-lt"/>
                <a:ea typeface="+mn-ea"/>
                <a:cs typeface="+mn-cs"/>
              </a:rPr>
              <a:t>）</a:t>
            </a:r>
            <a:r>
              <a:rPr lang="zh-CN" altLang="en-US" sz="1600" b="1" dirty="0">
                <a:latin typeface="+mn-lt"/>
                <a:ea typeface="+mn-ea"/>
                <a:cs typeface="+mn-cs"/>
              </a:rPr>
              <a:t>臭氧能损害有机物质；</a:t>
            </a:r>
            <a:endParaRPr lang="zh-CN" altLang="en-US" sz="1600" b="1" dirty="0">
              <a:latin typeface="+mn-lt"/>
              <a:ea typeface="+mn-ea"/>
              <a:cs typeface="+mn-cs"/>
            </a:endParaRPr>
          </a:p>
          <a:p>
            <a:pPr defTabSz="914400">
              <a:lnSpc>
                <a:spcPct val="160000"/>
              </a:lnSpc>
              <a:buSzPct val="25000"/>
            </a:pPr>
            <a:r>
              <a:rPr lang="zh-CN" altLang="en-US" sz="1600" b="1" dirty="0">
                <a:latin typeface="+mn-lt"/>
                <a:ea typeface="+mn-ea"/>
                <a:cs typeface="+mn-cs"/>
              </a:rPr>
              <a:t>（</a:t>
            </a:r>
            <a:r>
              <a:rPr lang="en-US" altLang="zh-CN" sz="1600" b="1">
                <a:latin typeface="+mn-lt"/>
                <a:ea typeface="+mn-ea"/>
                <a:cs typeface="+mn-cs"/>
              </a:rPr>
              <a:t>d</a:t>
            </a:r>
            <a:r>
              <a:rPr lang="zh-CN" altLang="en-US" sz="1600" b="1">
                <a:latin typeface="+mn-lt"/>
                <a:ea typeface="+mn-ea"/>
                <a:cs typeface="+mn-cs"/>
              </a:rPr>
              <a:t>）</a:t>
            </a:r>
            <a:r>
              <a:rPr lang="zh-CN" altLang="en-US" sz="1600" b="1" dirty="0">
                <a:latin typeface="+mn-lt"/>
                <a:ea typeface="+mn-ea"/>
                <a:cs typeface="+mn-cs"/>
              </a:rPr>
              <a:t>可能会引起哮喘病的增多，还会引起植物毁坏。</a:t>
            </a:r>
            <a:endParaRPr lang="zh-CN" altLang="en-US" sz="1600" b="1" dirty="0">
              <a:latin typeface="+mn-lt"/>
              <a:ea typeface="+mn-ea"/>
              <a:cs typeface="+mn-cs"/>
            </a:endParaRPr>
          </a:p>
          <a:p>
            <a:pPr defTabSz="914400">
              <a:lnSpc>
                <a:spcPct val="150000"/>
              </a:lnSpc>
              <a:buSzPct val="25000"/>
            </a:pPr>
            <a:r>
              <a:rPr lang="zh-CN" altLang="en-US" sz="1600" b="1" dirty="0">
                <a:solidFill>
                  <a:srgbClr val="FF0000"/>
                </a:solidFill>
                <a:latin typeface="+mn-lt"/>
                <a:ea typeface="+mn-ea"/>
                <a:cs typeface="+mn-cs"/>
              </a:rPr>
              <a:t>（</a:t>
            </a:r>
            <a:r>
              <a:rPr lang="en-US" altLang="zh-CN" sz="1600" b="1">
                <a:solidFill>
                  <a:srgbClr val="FF0000"/>
                </a:solidFill>
                <a:latin typeface="+mn-lt"/>
                <a:ea typeface="+mn-ea"/>
                <a:cs typeface="+mn-cs"/>
              </a:rPr>
              <a:t>4</a:t>
            </a:r>
            <a:r>
              <a:rPr lang="zh-CN" altLang="en-US" sz="1600" b="1" dirty="0">
                <a:solidFill>
                  <a:srgbClr val="FF0000"/>
                </a:solidFill>
                <a:latin typeface="+mn-lt"/>
                <a:ea typeface="+mn-ea"/>
                <a:cs typeface="+mn-cs"/>
              </a:rPr>
              <a:t>）光化学反应主要有三个过程：</a:t>
            </a:r>
            <a:endParaRPr lang="zh-CN" altLang="en-US" sz="1600" b="1" dirty="0">
              <a:solidFill>
                <a:srgbClr val="FF0000"/>
              </a:solidFill>
              <a:latin typeface="+mn-lt"/>
              <a:ea typeface="+mn-ea"/>
              <a:cs typeface="+mn-cs"/>
            </a:endParaRPr>
          </a:p>
          <a:p>
            <a:pPr defTabSz="914400">
              <a:lnSpc>
                <a:spcPct val="150000"/>
              </a:lnSpc>
              <a:buSzPct val="25000"/>
            </a:pPr>
            <a:r>
              <a:rPr lang="en-US" altLang="zh-CN" sz="1600" b="1">
                <a:solidFill>
                  <a:srgbClr val="FF0000"/>
                </a:solidFill>
                <a:latin typeface="+mn-lt"/>
                <a:ea typeface="+mn-ea"/>
                <a:cs typeface="+mn-cs"/>
              </a:rPr>
              <a:t>1.</a:t>
            </a:r>
            <a:r>
              <a:rPr lang="zh-CN" altLang="en-US" sz="1600" b="1" dirty="0">
                <a:solidFill>
                  <a:srgbClr val="FF0000"/>
                </a:solidFill>
                <a:latin typeface="+mn-lt"/>
                <a:ea typeface="+mn-ea"/>
                <a:cs typeface="+mn-cs"/>
              </a:rPr>
              <a:t>臭氧形成 </a:t>
            </a:r>
            <a:r>
              <a:rPr lang="en-US" altLang="zh-CN" sz="1600" b="1">
                <a:solidFill>
                  <a:srgbClr val="FF0000"/>
                </a:solidFill>
                <a:latin typeface="+mn-lt"/>
                <a:ea typeface="+mn-ea"/>
                <a:cs typeface="+mn-cs"/>
              </a:rPr>
              <a:t>2.</a:t>
            </a:r>
            <a:r>
              <a:rPr lang="zh-CN" altLang="en-US" sz="1600" b="1" dirty="0">
                <a:solidFill>
                  <a:srgbClr val="FF0000"/>
                </a:solidFill>
                <a:latin typeface="+mn-lt"/>
                <a:ea typeface="+mn-ea"/>
                <a:cs typeface="+mn-cs"/>
              </a:rPr>
              <a:t>碳氢化物氧化、自由基形成</a:t>
            </a:r>
            <a:r>
              <a:rPr lang="en-US" altLang="zh-CN" sz="1600" b="1">
                <a:solidFill>
                  <a:srgbClr val="FF0000"/>
                </a:solidFill>
                <a:latin typeface="+mn-lt"/>
                <a:ea typeface="+mn-ea"/>
                <a:cs typeface="+mn-cs"/>
              </a:rPr>
              <a:t>3.</a:t>
            </a:r>
            <a:r>
              <a:rPr lang="zh-CN" altLang="en-US" sz="1600" b="1" dirty="0">
                <a:solidFill>
                  <a:srgbClr val="FF0000"/>
                </a:solidFill>
                <a:latin typeface="+mn-lt"/>
                <a:ea typeface="+mn-ea"/>
                <a:cs typeface="+mn-cs"/>
              </a:rPr>
              <a:t>过氧乙酰基硝酸酯系列（</a:t>
            </a:r>
            <a:r>
              <a:rPr lang="en-US" altLang="zh-CN" sz="1600" b="1">
                <a:solidFill>
                  <a:srgbClr val="FF0000"/>
                </a:solidFill>
                <a:latin typeface="+mn-lt"/>
                <a:ea typeface="+mn-ea"/>
                <a:cs typeface="+mn-cs"/>
              </a:rPr>
              <a:t>PAN</a:t>
            </a:r>
            <a:r>
              <a:rPr lang="zh-CN" altLang="en-US" sz="1600" b="1" dirty="0">
                <a:solidFill>
                  <a:srgbClr val="FF0000"/>
                </a:solidFill>
                <a:latin typeface="+mn-lt"/>
                <a:ea typeface="+mn-ea"/>
                <a:cs typeface="+mn-cs"/>
              </a:rPr>
              <a:t>）的形成</a:t>
            </a:r>
            <a:endParaRPr lang="zh-CN" altLang="en-US" sz="1600" b="1" dirty="0">
              <a:solidFill>
                <a:srgbClr val="FF0000"/>
              </a:solidFill>
              <a:latin typeface="+mn-lt"/>
              <a:ea typeface="+mn-ea"/>
              <a:cs typeface="+mn-cs"/>
            </a:endParaRPr>
          </a:p>
        </p:txBody>
      </p:sp>
      <p:sp>
        <p:nvSpPr>
          <p:cNvPr id="2" name="文本框 1"/>
          <p:cNvSpPr txBox="1"/>
          <p:nvPr/>
        </p:nvSpPr>
        <p:spPr>
          <a:xfrm>
            <a:off x="824230" y="907415"/>
            <a:ext cx="2136140" cy="2030095"/>
          </a:xfrm>
          <a:prstGeom prst="rect">
            <a:avLst/>
          </a:prstGeom>
          <a:noFill/>
        </p:spPr>
        <p:txBody>
          <a:bodyPr wrap="square" rtlCol="0" anchor="t">
            <a:spAutoFit/>
          </a:bodyPr>
          <a:p>
            <a:r>
              <a:rPr lang="zh-CN" altLang="en-US"/>
              <a:t>美国洛杉矶光化学烟雾事件是 1940 年至 1960 年间发生在美国洛杉矶的有毒烟雾污染大气的事件，世界有名的公害事件之一。</a:t>
            </a:r>
            <a:endParaRPr lang="zh-CN" altLang="en-US"/>
          </a:p>
        </p:txBody>
      </p:sp>
      <p:pic>
        <p:nvPicPr>
          <p:cNvPr id="108" name="图片 107"/>
          <p:cNvPicPr/>
          <p:nvPr>
            <p:custDataLst>
              <p:tags r:id="rId1"/>
            </p:custDataLst>
          </p:nvPr>
        </p:nvPicPr>
        <p:blipFill>
          <a:blip r:embed="rId2"/>
          <a:stretch>
            <a:fillRect/>
          </a:stretch>
        </p:blipFill>
        <p:spPr>
          <a:xfrm>
            <a:off x="3969385" y="730885"/>
            <a:ext cx="6661785" cy="557466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cBhvr additive="base">
                                        <p:cTn id="7" dur="500" fill="hold"/>
                                        <p:tgtEl>
                                          <p:spTgt spid="108"/>
                                        </p:tgtEl>
                                        <p:attrNameLst>
                                          <p:attrName>ppt_x</p:attrName>
                                        </p:attrNameLst>
                                      </p:cBhvr>
                                      <p:tavLst>
                                        <p:tav tm="0">
                                          <p:val>
                                            <p:strVal val="#ppt_x"/>
                                          </p:val>
                                        </p:tav>
                                        <p:tav tm="100000">
                                          <p:val>
                                            <p:strVal val="#ppt_x"/>
                                          </p:val>
                                        </p:tav>
                                      </p:tavLst>
                                    </p:anim>
                                    <p:anim calcmode="lin" valueType="num">
                                      <p:cBhvr additive="base">
                                        <p:cTn id="8" dur="500" fill="hold"/>
                                        <p:tgtEl>
                                          <p:spTgt spid="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9970" name="标题 339969"/>
          <p:cNvSpPr>
            <a:spLocks noGrp="1"/>
          </p:cNvSpPr>
          <p:nvPr>
            <p:ph type="title"/>
          </p:nvPr>
        </p:nvSpPr>
        <p:spPr>
          <a:xfrm>
            <a:off x="1905000" y="358775"/>
            <a:ext cx="8153400" cy="314325"/>
          </a:xfrm>
        </p:spPr>
        <p:txBody>
          <a:bodyPr lIns="45720" tIns="0" rIns="45720" bIns="0" anchor="b" anchorCtr="0">
            <a:normAutofit fontScale="90000"/>
          </a:bodyPr>
          <a:p>
            <a:r>
              <a:rPr lang="en-US" altLang="zh-CN" sz="3200">
                <a:latin typeface="+mj-lt"/>
                <a:ea typeface="+mj-ea"/>
                <a:cs typeface="+mj-cs"/>
              </a:rPr>
              <a:t>3</a:t>
            </a:r>
            <a:r>
              <a:rPr lang="zh-CN" altLang="en-US" sz="3200" dirty="0">
                <a:latin typeface="+mj-lt"/>
                <a:ea typeface="+mj-ea"/>
                <a:cs typeface="+mj-cs"/>
              </a:rPr>
              <a:t>、碳氢化合物（</a:t>
            </a:r>
            <a:r>
              <a:rPr lang="en-US" altLang="zh-CN" sz="3200" err="1">
                <a:latin typeface="+mj-lt"/>
                <a:ea typeface="+mj-ea"/>
                <a:cs typeface="+mj-cs"/>
              </a:rPr>
              <a:t>CxHy</a:t>
            </a:r>
            <a:r>
              <a:rPr lang="zh-CN" altLang="en-US" sz="3200">
                <a:latin typeface="+mj-lt"/>
                <a:ea typeface="+mj-ea"/>
                <a:cs typeface="+mj-cs"/>
              </a:rPr>
              <a:t>）</a:t>
            </a:r>
            <a:endParaRPr lang="zh-CN" altLang="en-US" sz="3200">
              <a:latin typeface="+mj-lt"/>
              <a:ea typeface="+mj-ea"/>
              <a:cs typeface="+mj-cs"/>
            </a:endParaRPr>
          </a:p>
        </p:txBody>
      </p:sp>
      <p:sp>
        <p:nvSpPr>
          <p:cNvPr id="339971" name="文本占位符 339970"/>
          <p:cNvSpPr>
            <a:spLocks noGrp="1"/>
          </p:cNvSpPr>
          <p:nvPr>
            <p:ph type="body" idx="1"/>
          </p:nvPr>
        </p:nvSpPr>
        <p:spPr>
          <a:xfrm>
            <a:off x="2895600" y="1219200"/>
            <a:ext cx="7161213" cy="4876800"/>
          </a:xfrm>
        </p:spPr>
        <p:txBody>
          <a:bodyPr lIns="45720" rIns="45720" anchor="t" anchorCtr="0">
            <a:normAutofit lnSpcReduction="10000"/>
          </a:bodyPr>
          <a:p>
            <a:pPr defTabSz="684530">
              <a:lnSpc>
                <a:spcPct val="80000"/>
              </a:lnSpc>
              <a:buSzPct val="25000"/>
            </a:pPr>
            <a:r>
              <a:rPr lang="zh-CN" altLang="en-US" sz="2800" dirty="0">
                <a:latin typeface="+mn-lt"/>
                <a:ea typeface="+mn-ea"/>
                <a:cs typeface="+mn-cs"/>
              </a:rPr>
              <a:t>（</a:t>
            </a:r>
            <a:r>
              <a:rPr lang="en-US" altLang="zh-CN" sz="2800">
                <a:latin typeface="+mn-lt"/>
                <a:ea typeface="+mn-ea"/>
                <a:cs typeface="+mn-cs"/>
              </a:rPr>
              <a:t>1</a:t>
            </a:r>
            <a:r>
              <a:rPr lang="zh-CN" altLang="en-US" sz="2800" dirty="0">
                <a:latin typeface="+mn-lt"/>
                <a:ea typeface="+mn-ea"/>
                <a:cs typeface="+mn-cs"/>
              </a:rPr>
              <a:t>）</a:t>
            </a:r>
            <a:r>
              <a:rPr lang="zh-CN" altLang="en-US" sz="2800" b="1" dirty="0">
                <a:latin typeface="+mn-lt"/>
                <a:ea typeface="+mn-ea"/>
                <a:cs typeface="+mn-cs"/>
              </a:rPr>
              <a:t>主要来源：</a:t>
            </a:r>
            <a:endParaRPr lang="zh-CN" altLang="en-US" sz="2800" b="1" dirty="0">
              <a:latin typeface="+mn-lt"/>
              <a:ea typeface="+mn-ea"/>
              <a:cs typeface="+mn-cs"/>
            </a:endParaRPr>
          </a:p>
          <a:p>
            <a:pPr defTabSz="684530">
              <a:lnSpc>
                <a:spcPct val="80000"/>
              </a:lnSpc>
              <a:buSzPct val="25000"/>
            </a:pPr>
            <a:r>
              <a:rPr lang="zh-CN" altLang="en-US" sz="2800" dirty="0">
                <a:latin typeface="+mn-lt"/>
                <a:ea typeface="+mn-ea"/>
                <a:cs typeface="+mn-cs"/>
              </a:rPr>
              <a:t>自然源</a:t>
            </a:r>
            <a:r>
              <a:rPr lang="en-US" altLang="zh-CN" sz="2800">
                <a:latin typeface="+mn-lt"/>
                <a:ea typeface="+mn-ea"/>
                <a:cs typeface="+mn-cs"/>
              </a:rPr>
              <a:t>——</a:t>
            </a:r>
            <a:r>
              <a:rPr lang="zh-CN" altLang="en-US" sz="2800" dirty="0">
                <a:latin typeface="+mn-lt"/>
                <a:ea typeface="+mn-ea"/>
                <a:cs typeface="+mn-cs"/>
              </a:rPr>
              <a:t>生物分解；（</a:t>
            </a:r>
            <a:r>
              <a:rPr lang="en-US" altLang="zh-CN" sz="2800">
                <a:latin typeface="+mn-lt"/>
                <a:ea typeface="+mn-ea"/>
                <a:cs typeface="+mn-cs"/>
              </a:rPr>
              <a:t>CH</a:t>
            </a:r>
            <a:r>
              <a:rPr lang="en-US" altLang="zh-CN" sz="2800" baseline="-25000">
                <a:latin typeface="+mn-lt"/>
                <a:ea typeface="+mn-ea"/>
                <a:cs typeface="+mn-cs"/>
              </a:rPr>
              <a:t>4</a:t>
            </a:r>
            <a:r>
              <a:rPr lang="zh-CN" altLang="en-US" sz="2800" dirty="0">
                <a:latin typeface="+mn-lt"/>
                <a:ea typeface="+mn-ea"/>
                <a:cs typeface="+mn-cs"/>
              </a:rPr>
              <a:t>）</a:t>
            </a:r>
            <a:endParaRPr lang="zh-CN" altLang="en-US" sz="2800" dirty="0">
              <a:latin typeface="+mn-lt"/>
              <a:ea typeface="+mn-ea"/>
              <a:cs typeface="+mn-cs"/>
            </a:endParaRPr>
          </a:p>
          <a:p>
            <a:pPr algn="just" defTabSz="684530" latinLnBrk="1">
              <a:lnSpc>
                <a:spcPct val="90000"/>
              </a:lnSpc>
              <a:buSzPct val="25000"/>
            </a:pPr>
            <a:r>
              <a:rPr lang="zh-CN" altLang="en-US" sz="2400" dirty="0">
                <a:solidFill>
                  <a:srgbClr val="5B5249"/>
                </a:solidFill>
                <a:latin typeface="楷体_GB2312" charset="-122"/>
                <a:ea typeface="楷体_GB2312" charset="-122"/>
                <a:cs typeface="+mn-cs"/>
              </a:rPr>
              <a:t>   </a:t>
            </a:r>
            <a:r>
              <a:rPr lang="zh-CN" altLang="en-US" sz="2400" dirty="0">
                <a:solidFill>
                  <a:srgbClr val="FF0000"/>
                </a:solidFill>
                <a:latin typeface="楷体_GB2312" charset="-122"/>
                <a:ea typeface="楷体_GB2312" charset="-122"/>
                <a:cs typeface="+mn-cs"/>
              </a:rPr>
              <a:t>甲烷烃</a:t>
            </a:r>
            <a:r>
              <a:rPr lang="zh-CN" altLang="en-US" sz="2400" dirty="0">
                <a:solidFill>
                  <a:srgbClr val="5B5249"/>
                </a:solidFill>
                <a:latin typeface="楷体_GB2312" charset="-122"/>
                <a:ea typeface="楷体_GB2312" charset="-122"/>
                <a:cs typeface="+mn-cs"/>
              </a:rPr>
              <a:t>：</a:t>
            </a:r>
            <a:r>
              <a:rPr lang="zh-CN" altLang="en-US" sz="2400" dirty="0">
                <a:latin typeface="楷体_GB2312" charset="-122"/>
                <a:ea typeface="楷体_GB2312" charset="-122"/>
                <a:cs typeface="+mn-cs"/>
              </a:rPr>
              <a:t>天然本底值高，不会引起光化学烟雾。</a:t>
            </a:r>
            <a:endParaRPr lang="zh-CN" altLang="en-US" sz="2400" dirty="0">
              <a:latin typeface="楷体_GB2312" charset="-122"/>
              <a:ea typeface="楷体_GB2312" charset="-122"/>
              <a:cs typeface="+mn-cs"/>
            </a:endParaRPr>
          </a:p>
          <a:p>
            <a:pPr algn="just" defTabSz="684530" latinLnBrk="1">
              <a:lnSpc>
                <a:spcPct val="90000"/>
              </a:lnSpc>
              <a:buSzPct val="25000"/>
            </a:pPr>
            <a:r>
              <a:rPr lang="zh-CN" altLang="en-US" sz="2400" dirty="0">
                <a:solidFill>
                  <a:srgbClr val="5B5249"/>
                </a:solidFill>
                <a:latin typeface="楷体_GB2312" charset="-122"/>
                <a:ea typeface="楷体_GB2312" charset="-122"/>
                <a:cs typeface="+mn-cs"/>
              </a:rPr>
              <a:t>   </a:t>
            </a:r>
            <a:r>
              <a:rPr lang="zh-CN" altLang="en-US" sz="2400" dirty="0">
                <a:solidFill>
                  <a:srgbClr val="FF0000"/>
                </a:solidFill>
                <a:latin typeface="楷体_GB2312" charset="-122"/>
                <a:ea typeface="楷体_GB2312" charset="-122"/>
                <a:cs typeface="+mn-cs"/>
              </a:rPr>
              <a:t>非甲烷烃</a:t>
            </a:r>
            <a:r>
              <a:rPr lang="zh-CN" altLang="en-US" sz="2400" dirty="0">
                <a:solidFill>
                  <a:srgbClr val="5B5249"/>
                </a:solidFill>
                <a:latin typeface="楷体_GB2312" charset="-122"/>
                <a:ea typeface="楷体_GB2312" charset="-122"/>
                <a:cs typeface="+mn-cs"/>
              </a:rPr>
              <a:t>：</a:t>
            </a:r>
            <a:r>
              <a:rPr lang="en-US" altLang="zh-CN" sz="2400" b="1">
                <a:solidFill>
                  <a:srgbClr val="5B5249"/>
                </a:solidFill>
                <a:latin typeface="楷体_GB2312" charset="-122"/>
                <a:ea typeface="楷体_GB2312" charset="-122"/>
                <a:cs typeface="+mn-cs"/>
              </a:rPr>
              <a:t>—</a:t>
            </a:r>
            <a:r>
              <a:rPr lang="zh-CN" altLang="en-US" sz="2400" dirty="0">
                <a:latin typeface="楷体_GB2312" charset="-122"/>
                <a:ea typeface="楷体_GB2312" charset="-122"/>
                <a:cs typeface="+mn-cs"/>
              </a:rPr>
              <a:t>没有空气质量标准；光化学烟雾的产生物质。</a:t>
            </a:r>
            <a:endParaRPr lang="zh-CN" altLang="en-US" sz="2400" dirty="0">
              <a:latin typeface="楷体_GB2312" charset="-122"/>
              <a:ea typeface="楷体_GB2312" charset="-122"/>
              <a:cs typeface="+mn-cs"/>
            </a:endParaRPr>
          </a:p>
          <a:p>
            <a:pPr algn="just" defTabSz="684530" latinLnBrk="1">
              <a:lnSpc>
                <a:spcPct val="90000"/>
              </a:lnSpc>
              <a:spcBef>
                <a:spcPct val="0"/>
              </a:spcBef>
              <a:buSzTx/>
              <a:buFontTx/>
            </a:pPr>
            <a:r>
              <a:rPr lang="zh-CN" altLang="en-US" sz="2400" dirty="0">
                <a:solidFill>
                  <a:srgbClr val="5B5249"/>
                </a:solidFill>
                <a:latin typeface="楷体_GB2312" charset="-122"/>
                <a:ea typeface="楷体_GB2312" charset="-122"/>
                <a:cs typeface="+mn-cs"/>
              </a:rPr>
              <a:t>  </a:t>
            </a:r>
            <a:r>
              <a:rPr lang="zh-CN" altLang="en-US" sz="2400" dirty="0">
                <a:latin typeface="楷体_GB2312" charset="-122"/>
                <a:ea typeface="楷体_GB2312" charset="-122"/>
                <a:cs typeface="+mn-cs"/>
              </a:rPr>
              <a:t>自然界中含量无直接危害：长期高浓度接触有害</a:t>
            </a:r>
            <a:r>
              <a:rPr lang="zh-CN" altLang="en-US" sz="2400" dirty="0">
                <a:solidFill>
                  <a:srgbClr val="5B5249"/>
                </a:solidFill>
                <a:latin typeface="楷体_GB2312" charset="-122"/>
                <a:ea typeface="楷体_GB2312" charset="-122"/>
                <a:cs typeface="+mn-cs"/>
              </a:rPr>
              <a:t>，</a:t>
            </a:r>
            <a:r>
              <a:rPr lang="en-US" altLang="zh-CN" sz="2400" b="1">
                <a:solidFill>
                  <a:srgbClr val="FF0000"/>
                </a:solidFill>
                <a:latin typeface="楷体_GB2312" charset="-122"/>
                <a:ea typeface="楷体_GB2312" charset="-122"/>
                <a:cs typeface="+mn-cs"/>
              </a:rPr>
              <a:t>—</a:t>
            </a:r>
            <a:r>
              <a:rPr lang="en-US" altLang="zh-CN" sz="2400">
                <a:solidFill>
                  <a:srgbClr val="FF0000"/>
                </a:solidFill>
                <a:latin typeface="楷体_GB2312" charset="-122"/>
                <a:ea typeface="楷体_GB2312" charset="-122"/>
                <a:cs typeface="+mn-cs"/>
              </a:rPr>
              <a:t>9</a:t>
            </a:r>
            <a:r>
              <a:rPr lang="zh-CN" altLang="en-US" sz="2400" dirty="0">
                <a:solidFill>
                  <a:srgbClr val="FF0000"/>
                </a:solidFill>
                <a:latin typeface="楷体_GB2312" charset="-122"/>
                <a:ea typeface="楷体_GB2312" charset="-122"/>
                <a:cs typeface="+mn-cs"/>
              </a:rPr>
              <a:t>个花季少女打工</a:t>
            </a:r>
            <a:r>
              <a:rPr lang="en-US" altLang="zh-CN" sz="2400">
                <a:solidFill>
                  <a:srgbClr val="FF0000"/>
                </a:solidFill>
                <a:latin typeface="楷体_GB2312" charset="-122"/>
                <a:ea typeface="楷体_GB2312" charset="-122"/>
                <a:cs typeface="+mn-cs"/>
              </a:rPr>
              <a:t>2</a:t>
            </a:r>
            <a:r>
              <a:rPr lang="zh-CN" altLang="en-US" sz="2400" dirty="0">
                <a:solidFill>
                  <a:srgbClr val="FF0000"/>
                </a:solidFill>
                <a:latin typeface="楷体_GB2312" charset="-122"/>
                <a:ea typeface="楷体_GB2312" charset="-122"/>
                <a:cs typeface="+mn-cs"/>
              </a:rPr>
              <a:t>个月</a:t>
            </a:r>
            <a:r>
              <a:rPr lang="en-US" altLang="zh-CN" sz="2400">
                <a:solidFill>
                  <a:srgbClr val="FF0000"/>
                </a:solidFill>
                <a:latin typeface="楷体_GB2312" charset="-122"/>
                <a:ea typeface="楷体_GB2312" charset="-122"/>
                <a:cs typeface="+mn-cs"/>
              </a:rPr>
              <a:t>,</a:t>
            </a:r>
            <a:r>
              <a:rPr lang="zh-CN" altLang="en-US" sz="2400" dirty="0">
                <a:solidFill>
                  <a:srgbClr val="FF0000"/>
                </a:solidFill>
                <a:latin typeface="楷体_GB2312" charset="-122"/>
                <a:ea typeface="楷体_GB2312" charset="-122"/>
                <a:cs typeface="+mn-cs"/>
              </a:rPr>
              <a:t>使用汽油溶剂洗刷容器，导致终生瘫痪。</a:t>
            </a:r>
            <a:endParaRPr lang="zh-CN" altLang="en-US" sz="2400" dirty="0">
              <a:solidFill>
                <a:srgbClr val="FF0000"/>
              </a:solidFill>
              <a:latin typeface="楷体_GB2312" charset="-122"/>
              <a:ea typeface="楷体_GB2312" charset="-122"/>
              <a:cs typeface="+mn-cs"/>
            </a:endParaRPr>
          </a:p>
          <a:p>
            <a:pPr defTabSz="684530">
              <a:lnSpc>
                <a:spcPct val="80000"/>
              </a:lnSpc>
              <a:buSzPct val="25000"/>
            </a:pPr>
            <a:r>
              <a:rPr lang="zh-CN" altLang="en-US" sz="2800" dirty="0">
                <a:latin typeface="+mn-lt"/>
                <a:ea typeface="+mn-ea"/>
                <a:cs typeface="+mn-cs"/>
              </a:rPr>
              <a:t>人为源</a:t>
            </a:r>
            <a:r>
              <a:rPr lang="en-US" altLang="zh-CN" sz="2800">
                <a:latin typeface="+mn-lt"/>
                <a:ea typeface="+mn-ea"/>
                <a:cs typeface="+mn-cs"/>
              </a:rPr>
              <a:t>——</a:t>
            </a:r>
            <a:r>
              <a:rPr lang="zh-CN" altLang="en-US" sz="2800" dirty="0">
                <a:latin typeface="+mn-lt"/>
                <a:ea typeface="+mn-ea"/>
                <a:cs typeface="+mn-cs"/>
              </a:rPr>
              <a:t>不完全燃烧和有机物的挥发。</a:t>
            </a:r>
            <a:endParaRPr lang="zh-CN" altLang="en-US" sz="2800" dirty="0">
              <a:latin typeface="+mn-lt"/>
              <a:ea typeface="+mn-ea"/>
              <a:cs typeface="+mn-cs"/>
            </a:endParaRPr>
          </a:p>
          <a:p>
            <a:pPr defTabSz="684530">
              <a:lnSpc>
                <a:spcPct val="80000"/>
              </a:lnSpc>
              <a:buSzPct val="25000"/>
            </a:pPr>
            <a:r>
              <a:rPr lang="zh-CN" altLang="en-US" sz="2800" dirty="0">
                <a:latin typeface="+mn-lt"/>
                <a:ea typeface="+mn-ea"/>
                <a:cs typeface="+mn-cs"/>
              </a:rPr>
              <a:t>（</a:t>
            </a:r>
            <a:r>
              <a:rPr lang="en-US" altLang="zh-CN" sz="2800">
                <a:latin typeface="+mn-lt"/>
                <a:ea typeface="+mn-ea"/>
                <a:cs typeface="+mn-cs"/>
              </a:rPr>
              <a:t>2</a:t>
            </a:r>
            <a:r>
              <a:rPr lang="zh-CN" altLang="en-US" sz="2800" dirty="0">
                <a:latin typeface="+mn-lt"/>
                <a:ea typeface="+mn-ea"/>
                <a:cs typeface="+mn-cs"/>
              </a:rPr>
              <a:t>）</a:t>
            </a:r>
            <a:r>
              <a:rPr lang="zh-CN" altLang="en-US" sz="2800" b="1" dirty="0">
                <a:latin typeface="+mn-lt"/>
                <a:ea typeface="+mn-ea"/>
                <a:cs typeface="+mn-cs"/>
              </a:rPr>
              <a:t>主要危害</a:t>
            </a:r>
            <a:endParaRPr lang="zh-CN" altLang="en-US" sz="2800" b="1" dirty="0">
              <a:latin typeface="+mn-lt"/>
              <a:ea typeface="+mn-ea"/>
              <a:cs typeface="+mn-cs"/>
            </a:endParaRPr>
          </a:p>
          <a:p>
            <a:pPr defTabSz="684530">
              <a:buSzPct val="25000"/>
            </a:pPr>
            <a:r>
              <a:rPr lang="zh-CN" altLang="en-US" sz="2800" dirty="0">
                <a:latin typeface="+mn-lt"/>
                <a:ea typeface="+mn-ea"/>
                <a:cs typeface="+mn-cs"/>
              </a:rPr>
              <a:t>    </a:t>
            </a:r>
            <a:r>
              <a:rPr lang="zh-CN" altLang="en-US" sz="2800" b="1" dirty="0">
                <a:solidFill>
                  <a:srgbClr val="FF0000"/>
                </a:solidFill>
                <a:latin typeface="+mn-lt"/>
                <a:ea typeface="+mn-ea"/>
                <a:cs typeface="+mn-cs"/>
              </a:rPr>
              <a:t>碳氢化合物不仅对健康有危害，</a:t>
            </a:r>
            <a:r>
              <a:rPr lang="zh-CN" altLang="en-US" sz="2800" b="1" dirty="0">
                <a:solidFill>
                  <a:srgbClr val="FF0000"/>
                </a:solidFill>
                <a:latin typeface="+mn-lt"/>
                <a:ea typeface="+mn-ea"/>
                <a:cs typeface="+mn-cs"/>
              </a:rPr>
              <a:t>还能生成有害的光化学烟雾</a:t>
            </a:r>
            <a:r>
              <a:rPr lang="zh-CN" altLang="en-US" sz="2800" dirty="0">
                <a:latin typeface="+mn-lt"/>
                <a:ea typeface="+mn-ea"/>
                <a:cs typeface="+mn-cs"/>
              </a:rPr>
              <a:t>。</a:t>
            </a:r>
            <a:endParaRPr lang="zh-CN" altLang="en-US" sz="2800">
              <a:latin typeface="+mn-lt"/>
              <a:ea typeface="+mn-ea"/>
              <a:cs typeface="+mn-cs"/>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文本占位符 2"/>
          <p:cNvSpPr>
            <a:spLocks noGrp="1"/>
          </p:cNvSpPr>
          <p:nvPr>
            <p:ph type="body" idx="1"/>
          </p:nvPr>
        </p:nvSpPr>
        <p:spPr/>
        <p:txBody>
          <a:bodyPr/>
          <a:p>
            <a:endParaRPr lang="zh-CN" altLang="en-US"/>
          </a:p>
        </p:txBody>
      </p:sp>
      <p:pic>
        <p:nvPicPr>
          <p:cNvPr id="112" name="图片 111"/>
          <p:cNvPicPr/>
          <p:nvPr>
            <p:custDataLst>
              <p:tags r:id="rId1"/>
            </p:custDataLst>
          </p:nvPr>
        </p:nvPicPr>
        <p:blipFill>
          <a:blip r:embed="rId2"/>
          <a:stretch>
            <a:fillRect/>
          </a:stretch>
        </p:blipFill>
        <p:spPr>
          <a:xfrm>
            <a:off x="1797050" y="254000"/>
            <a:ext cx="8597900" cy="6350000"/>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0994" name="标题 340993"/>
          <p:cNvSpPr>
            <a:spLocks noGrp="1"/>
          </p:cNvSpPr>
          <p:nvPr>
            <p:ph type="title"/>
          </p:nvPr>
        </p:nvSpPr>
        <p:spPr>
          <a:xfrm>
            <a:off x="1905000" y="461963"/>
            <a:ext cx="8153400" cy="417512"/>
          </a:xfrm>
        </p:spPr>
        <p:txBody>
          <a:bodyPr lIns="45720" tIns="0" rIns="45720" bIns="0" anchor="b" anchorCtr="0">
            <a:normAutofit fontScale="90000"/>
          </a:bodyPr>
          <a:p>
            <a:r>
              <a:rPr lang="en-US" altLang="zh-CN" sz="3200">
                <a:latin typeface="+mj-lt"/>
                <a:ea typeface="+mj-ea"/>
                <a:cs typeface="+mj-cs"/>
              </a:rPr>
              <a:t>4</a:t>
            </a:r>
            <a:r>
              <a:rPr lang="zh-CN" altLang="en-US" sz="3200" dirty="0">
                <a:latin typeface="+mj-lt"/>
                <a:ea typeface="+mj-ea"/>
                <a:cs typeface="+mj-cs"/>
              </a:rPr>
              <a:t>、硫氧化合物（</a:t>
            </a:r>
            <a:r>
              <a:rPr lang="en-US" altLang="zh-CN" sz="3200" err="1">
                <a:latin typeface="+mj-lt"/>
                <a:ea typeface="+mj-ea"/>
                <a:cs typeface="+mj-cs"/>
              </a:rPr>
              <a:t>SO</a:t>
            </a:r>
            <a:r>
              <a:rPr lang="en-US" altLang="zh-CN" sz="3200" baseline="-25000" err="1">
                <a:latin typeface="+mj-lt"/>
                <a:ea typeface="+mj-ea"/>
                <a:cs typeface="+mj-cs"/>
              </a:rPr>
              <a:t>x</a:t>
            </a:r>
            <a:r>
              <a:rPr lang="zh-CN" altLang="en-US" sz="3200">
                <a:latin typeface="+mj-lt"/>
                <a:ea typeface="+mj-ea"/>
                <a:cs typeface="+mj-cs"/>
              </a:rPr>
              <a:t>）</a:t>
            </a:r>
            <a:endParaRPr lang="zh-CN" altLang="en-US" sz="3200">
              <a:latin typeface="+mj-lt"/>
              <a:ea typeface="+mj-ea"/>
              <a:cs typeface="+mj-cs"/>
            </a:endParaRPr>
          </a:p>
        </p:txBody>
      </p:sp>
      <p:sp>
        <p:nvSpPr>
          <p:cNvPr id="340995" name="文本占位符 340994"/>
          <p:cNvSpPr>
            <a:spLocks noGrp="1"/>
          </p:cNvSpPr>
          <p:nvPr>
            <p:ph type="body" idx="1"/>
          </p:nvPr>
        </p:nvSpPr>
        <p:spPr>
          <a:xfrm>
            <a:off x="2640013" y="1196975"/>
            <a:ext cx="7620000" cy="5029200"/>
          </a:xfrm>
        </p:spPr>
        <p:txBody>
          <a:bodyPr lIns="45720" rIns="45720" anchor="t" anchorCtr="0">
            <a:normAutofit lnSpcReduction="10000"/>
          </a:bodyPr>
          <a:p>
            <a:pPr defTabSz="684530">
              <a:lnSpc>
                <a:spcPct val="90000"/>
              </a:lnSpc>
              <a:buSzPct val="25000"/>
            </a:pPr>
            <a:r>
              <a:rPr lang="zh-CN" altLang="en-US" sz="2800">
                <a:latin typeface="+mn-lt"/>
                <a:ea typeface="+mn-ea"/>
                <a:cs typeface="+mn-cs"/>
              </a:rPr>
              <a:t>（</a:t>
            </a:r>
            <a:r>
              <a:rPr lang="en-US" altLang="zh-CN" sz="2800">
                <a:latin typeface="+mn-lt"/>
                <a:ea typeface="+mn-ea"/>
                <a:cs typeface="+mn-cs"/>
              </a:rPr>
              <a:t>1</a:t>
            </a:r>
            <a:r>
              <a:rPr lang="zh-CN" altLang="en-US" sz="2800" dirty="0">
                <a:latin typeface="+mn-lt"/>
                <a:ea typeface="+mn-ea"/>
                <a:cs typeface="+mn-cs"/>
              </a:rPr>
              <a:t>）</a:t>
            </a:r>
            <a:r>
              <a:rPr lang="zh-CN" altLang="en-US" sz="2800" b="1" dirty="0">
                <a:solidFill>
                  <a:srgbClr val="FF0000"/>
                </a:solidFill>
                <a:latin typeface="+mn-lt"/>
                <a:ea typeface="+mn-ea"/>
                <a:cs typeface="+mn-cs"/>
              </a:rPr>
              <a:t>主要污染物</a:t>
            </a:r>
            <a:r>
              <a:rPr lang="zh-CN" altLang="en-US" sz="2800" dirty="0">
                <a:latin typeface="+mn-lt"/>
                <a:ea typeface="+mn-ea"/>
                <a:cs typeface="+mn-cs"/>
              </a:rPr>
              <a:t>：</a:t>
            </a:r>
            <a:r>
              <a:rPr lang="en-US" altLang="zh-CN" sz="2800">
                <a:latin typeface="+mn-lt"/>
                <a:ea typeface="+mn-ea"/>
                <a:cs typeface="+mn-cs"/>
              </a:rPr>
              <a:t>SO</a:t>
            </a:r>
            <a:r>
              <a:rPr lang="en-US" altLang="zh-CN" sz="2800" baseline="-25000">
                <a:latin typeface="+mn-lt"/>
                <a:ea typeface="+mn-ea"/>
                <a:cs typeface="+mn-cs"/>
              </a:rPr>
              <a:t>2</a:t>
            </a:r>
            <a:r>
              <a:rPr lang="zh-CN" altLang="en-US" sz="2800">
                <a:latin typeface="+mn-lt"/>
                <a:ea typeface="+mn-ea"/>
                <a:cs typeface="+mn-cs"/>
              </a:rPr>
              <a:t>、</a:t>
            </a:r>
            <a:r>
              <a:rPr lang="en-US" altLang="zh-CN" sz="2800">
                <a:latin typeface="+mn-lt"/>
                <a:ea typeface="+mn-ea"/>
                <a:cs typeface="+mn-cs"/>
              </a:rPr>
              <a:t>SO</a:t>
            </a:r>
            <a:r>
              <a:rPr lang="en-US" altLang="zh-CN" sz="2800" baseline="-25000">
                <a:latin typeface="+mn-lt"/>
                <a:ea typeface="+mn-ea"/>
                <a:cs typeface="+mn-cs"/>
              </a:rPr>
              <a:t>3</a:t>
            </a:r>
            <a:endParaRPr lang="en-US" altLang="zh-CN" sz="2800" baseline="-25000">
              <a:latin typeface="+mn-lt"/>
              <a:ea typeface="+mn-ea"/>
              <a:cs typeface="+mn-cs"/>
            </a:endParaRPr>
          </a:p>
          <a:p>
            <a:pPr defTabSz="684530">
              <a:lnSpc>
                <a:spcPct val="90000"/>
              </a:lnSpc>
              <a:buSzPct val="25000"/>
            </a:pPr>
            <a:r>
              <a:rPr lang="zh-CN" altLang="en-US" sz="2800">
                <a:latin typeface="+mn-lt"/>
                <a:ea typeface="+mn-ea"/>
                <a:cs typeface="+mn-cs"/>
              </a:rPr>
              <a:t>（</a:t>
            </a:r>
            <a:r>
              <a:rPr lang="en-US" altLang="zh-CN" sz="2800">
                <a:latin typeface="+mn-lt"/>
                <a:ea typeface="+mn-ea"/>
                <a:cs typeface="+mn-cs"/>
              </a:rPr>
              <a:t>2</a:t>
            </a:r>
            <a:r>
              <a:rPr lang="zh-CN" altLang="en-US" sz="2800">
                <a:latin typeface="+mn-lt"/>
                <a:ea typeface="+mn-ea"/>
                <a:cs typeface="+mn-cs"/>
              </a:rPr>
              <a:t>）</a:t>
            </a:r>
            <a:r>
              <a:rPr lang="zh-CN" altLang="en-US" sz="2800" b="1" dirty="0">
                <a:solidFill>
                  <a:srgbClr val="FF0000"/>
                </a:solidFill>
                <a:latin typeface="+mn-lt"/>
                <a:ea typeface="+mn-ea"/>
                <a:cs typeface="+mn-cs"/>
              </a:rPr>
              <a:t>性质</a:t>
            </a:r>
            <a:r>
              <a:rPr lang="zh-CN" altLang="en-US" sz="2800" dirty="0">
                <a:latin typeface="+mn-lt"/>
                <a:ea typeface="+mn-ea"/>
                <a:cs typeface="+mn-cs"/>
              </a:rPr>
              <a:t>：有刺激性气味；</a:t>
            </a:r>
            <a:r>
              <a:rPr lang="en-US" altLang="zh-CN" sz="2800">
                <a:latin typeface="+mn-lt"/>
                <a:ea typeface="+mn-ea"/>
                <a:cs typeface="+mn-cs"/>
              </a:rPr>
              <a:t>SO</a:t>
            </a:r>
            <a:r>
              <a:rPr lang="en-US" altLang="zh-CN" sz="2800" baseline="-25000">
                <a:latin typeface="+mn-lt"/>
                <a:ea typeface="+mn-ea"/>
                <a:cs typeface="+mn-cs"/>
              </a:rPr>
              <a:t>2</a:t>
            </a:r>
            <a:r>
              <a:rPr lang="zh-CN" altLang="en-US" sz="2800" dirty="0">
                <a:latin typeface="+mn-lt"/>
                <a:ea typeface="+mn-ea"/>
                <a:cs typeface="+mn-cs"/>
              </a:rPr>
              <a:t>能与水反应生产亚硫酸；</a:t>
            </a:r>
            <a:r>
              <a:rPr lang="en-US" altLang="zh-CN" sz="2800">
                <a:latin typeface="+mn-lt"/>
                <a:ea typeface="+mn-ea"/>
                <a:cs typeface="+mn-cs"/>
              </a:rPr>
              <a:t>SO</a:t>
            </a:r>
            <a:r>
              <a:rPr lang="en-US" altLang="zh-CN" sz="2800" baseline="-25000">
                <a:latin typeface="+mn-lt"/>
                <a:ea typeface="+mn-ea"/>
                <a:cs typeface="+mn-cs"/>
              </a:rPr>
              <a:t>3</a:t>
            </a:r>
            <a:r>
              <a:rPr lang="zh-CN" altLang="en-US" sz="2800" dirty="0">
                <a:latin typeface="+mn-lt"/>
                <a:ea typeface="+mn-ea"/>
                <a:cs typeface="+mn-cs"/>
              </a:rPr>
              <a:t>能与水反应生成硫酸。</a:t>
            </a:r>
            <a:endParaRPr lang="zh-CN" altLang="en-US" sz="2800" dirty="0">
              <a:latin typeface="+mn-lt"/>
              <a:ea typeface="+mn-ea"/>
              <a:cs typeface="+mn-cs"/>
            </a:endParaRPr>
          </a:p>
          <a:p>
            <a:pPr defTabSz="684530">
              <a:lnSpc>
                <a:spcPct val="90000"/>
              </a:lnSpc>
              <a:buSzPct val="25000"/>
            </a:pPr>
            <a:r>
              <a:rPr lang="zh-CN" altLang="en-US" sz="2800" dirty="0">
                <a:latin typeface="+mn-lt"/>
                <a:ea typeface="+mn-ea"/>
                <a:cs typeface="+mn-cs"/>
              </a:rPr>
              <a:t>（</a:t>
            </a:r>
            <a:r>
              <a:rPr lang="en-US" altLang="zh-CN" sz="2800">
                <a:latin typeface="+mn-lt"/>
                <a:ea typeface="+mn-ea"/>
                <a:cs typeface="+mn-cs"/>
              </a:rPr>
              <a:t>3</a:t>
            </a:r>
            <a:r>
              <a:rPr lang="zh-CN" altLang="en-US" sz="2800" dirty="0">
                <a:latin typeface="+mn-lt"/>
                <a:ea typeface="+mn-ea"/>
                <a:cs typeface="+mn-cs"/>
              </a:rPr>
              <a:t>）</a:t>
            </a:r>
            <a:r>
              <a:rPr lang="zh-CN" altLang="en-US" sz="2800" b="1" dirty="0">
                <a:solidFill>
                  <a:srgbClr val="FF0000"/>
                </a:solidFill>
                <a:latin typeface="+mn-lt"/>
                <a:ea typeface="+mn-ea"/>
                <a:cs typeface="+mn-cs"/>
              </a:rPr>
              <a:t>主要来源</a:t>
            </a:r>
            <a:r>
              <a:rPr lang="zh-CN" altLang="en-US" sz="2800" dirty="0">
                <a:latin typeface="+mn-lt"/>
                <a:ea typeface="+mn-ea"/>
                <a:cs typeface="+mn-cs"/>
              </a:rPr>
              <a:t>：矿物燃料的燃烧；</a:t>
            </a:r>
            <a:endParaRPr lang="zh-CN" altLang="en-US" sz="2800" dirty="0">
              <a:latin typeface="+mn-lt"/>
              <a:ea typeface="+mn-ea"/>
              <a:cs typeface="+mn-cs"/>
            </a:endParaRPr>
          </a:p>
          <a:p>
            <a:pPr defTabSz="684530">
              <a:lnSpc>
                <a:spcPct val="90000"/>
              </a:lnSpc>
              <a:buSzPct val="25000"/>
            </a:pPr>
            <a:r>
              <a:rPr lang="zh-CN" altLang="en-US" sz="2800" dirty="0">
                <a:latin typeface="+mn-lt"/>
                <a:ea typeface="+mn-ea"/>
                <a:cs typeface="+mn-cs"/>
              </a:rPr>
              <a:t>（</a:t>
            </a:r>
            <a:r>
              <a:rPr lang="en-US" altLang="zh-CN" sz="2800">
                <a:latin typeface="+mn-lt"/>
                <a:ea typeface="+mn-ea"/>
                <a:cs typeface="+mn-cs"/>
              </a:rPr>
              <a:t>4</a:t>
            </a:r>
            <a:r>
              <a:rPr lang="zh-CN" altLang="en-US" sz="2800" dirty="0">
                <a:latin typeface="+mn-lt"/>
                <a:ea typeface="+mn-ea"/>
                <a:cs typeface="+mn-cs"/>
              </a:rPr>
              <a:t>）</a:t>
            </a:r>
            <a:r>
              <a:rPr lang="zh-CN" altLang="en-US" sz="2800" b="1" dirty="0">
                <a:solidFill>
                  <a:srgbClr val="FF0000"/>
                </a:solidFill>
                <a:latin typeface="+mn-lt"/>
                <a:ea typeface="+mn-ea"/>
                <a:cs typeface="+mn-cs"/>
              </a:rPr>
              <a:t>危害</a:t>
            </a:r>
            <a:r>
              <a:rPr lang="zh-CN" altLang="en-US" sz="2800" dirty="0">
                <a:latin typeface="+mn-lt"/>
                <a:ea typeface="+mn-ea"/>
                <a:cs typeface="+mn-cs"/>
              </a:rPr>
              <a:t>：</a:t>
            </a:r>
            <a:endParaRPr lang="zh-CN" altLang="en-US" sz="2800" dirty="0">
              <a:latin typeface="+mn-lt"/>
              <a:ea typeface="+mn-ea"/>
              <a:cs typeface="+mn-cs"/>
            </a:endParaRPr>
          </a:p>
          <a:p>
            <a:pPr defTabSz="684530">
              <a:lnSpc>
                <a:spcPct val="90000"/>
              </a:lnSpc>
              <a:buSzPct val="25000"/>
            </a:pPr>
            <a:r>
              <a:rPr lang="zh-CN" altLang="en-US" sz="2800" dirty="0">
                <a:latin typeface="+mn-lt"/>
                <a:ea typeface="+mn-ea"/>
                <a:cs typeface="+mn-cs"/>
              </a:rPr>
              <a:t>（</a:t>
            </a:r>
            <a:r>
              <a:rPr lang="en-US" altLang="zh-CN" sz="2800">
                <a:latin typeface="+mn-lt"/>
                <a:ea typeface="+mn-ea"/>
                <a:cs typeface="+mn-cs"/>
              </a:rPr>
              <a:t>a</a:t>
            </a:r>
            <a:r>
              <a:rPr lang="zh-CN" altLang="en-US" sz="2800">
                <a:latin typeface="+mn-lt"/>
                <a:ea typeface="+mn-ea"/>
                <a:cs typeface="+mn-cs"/>
              </a:rPr>
              <a:t>）</a:t>
            </a:r>
            <a:r>
              <a:rPr lang="zh-CN" altLang="en-US" sz="2800" dirty="0">
                <a:latin typeface="+mn-lt"/>
                <a:ea typeface="+mn-ea"/>
                <a:cs typeface="+mn-cs"/>
              </a:rPr>
              <a:t>对人体健康造成危害，还有促癌作用；</a:t>
            </a:r>
            <a:endParaRPr lang="zh-CN" altLang="en-US" sz="2800" dirty="0">
              <a:latin typeface="+mn-lt"/>
              <a:ea typeface="+mn-ea"/>
              <a:cs typeface="+mn-cs"/>
            </a:endParaRPr>
          </a:p>
          <a:p>
            <a:pPr defTabSz="684530">
              <a:lnSpc>
                <a:spcPct val="90000"/>
              </a:lnSpc>
              <a:buSzPct val="25000"/>
            </a:pPr>
            <a:r>
              <a:rPr lang="zh-CN" altLang="en-US" sz="2800" dirty="0">
                <a:latin typeface="+mn-lt"/>
                <a:ea typeface="+mn-ea"/>
                <a:cs typeface="+mn-cs"/>
              </a:rPr>
              <a:t>（</a:t>
            </a:r>
            <a:r>
              <a:rPr lang="en-US" altLang="zh-CN" sz="2800">
                <a:latin typeface="+mn-lt"/>
                <a:ea typeface="+mn-ea"/>
                <a:cs typeface="+mn-cs"/>
              </a:rPr>
              <a:t>b</a:t>
            </a:r>
            <a:r>
              <a:rPr lang="zh-CN" altLang="en-US" sz="2800">
                <a:latin typeface="+mn-lt"/>
                <a:ea typeface="+mn-ea"/>
                <a:cs typeface="+mn-cs"/>
              </a:rPr>
              <a:t>）</a:t>
            </a:r>
            <a:r>
              <a:rPr lang="zh-CN" altLang="en-US" sz="2800" dirty="0">
                <a:latin typeface="+mn-lt"/>
                <a:ea typeface="+mn-ea"/>
                <a:cs typeface="+mn-cs"/>
              </a:rPr>
              <a:t>会形成硫酸烟雾，危害更大；（</a:t>
            </a:r>
            <a:r>
              <a:rPr lang="en-US" altLang="zh-CN" sz="2800" err="1">
                <a:latin typeface="+mn-lt"/>
                <a:ea typeface="+mn-ea"/>
                <a:cs typeface="+mn-cs"/>
              </a:rPr>
              <a:t>SO</a:t>
            </a:r>
            <a:r>
              <a:rPr lang="en-US" altLang="zh-CN" sz="2800" baseline="-25000" err="1">
                <a:latin typeface="+mn-lt"/>
                <a:ea typeface="+mn-ea"/>
                <a:cs typeface="+mn-cs"/>
              </a:rPr>
              <a:t>x</a:t>
            </a:r>
            <a:r>
              <a:rPr lang="zh-CN" altLang="en-US" sz="2800">
                <a:latin typeface="+mn-lt"/>
                <a:ea typeface="+mn-ea"/>
                <a:cs typeface="+mn-cs"/>
              </a:rPr>
              <a:t>与</a:t>
            </a:r>
            <a:r>
              <a:rPr lang="zh-CN" altLang="en-US" sz="2800" dirty="0">
                <a:latin typeface="+mn-lt"/>
                <a:ea typeface="+mn-ea"/>
                <a:cs typeface="+mn-cs"/>
              </a:rPr>
              <a:t>颗粒物（主要是</a:t>
            </a:r>
            <a:r>
              <a:rPr lang="en-US" altLang="zh-CN" sz="2800" err="1">
                <a:latin typeface="+mn-lt"/>
                <a:ea typeface="+mn-ea"/>
                <a:cs typeface="+mn-cs"/>
              </a:rPr>
              <a:t>FeO</a:t>
            </a:r>
            <a:r>
              <a:rPr lang="zh-CN" altLang="en-US" sz="2800">
                <a:latin typeface="+mn-lt"/>
                <a:ea typeface="+mn-ea"/>
                <a:cs typeface="+mn-cs"/>
              </a:rPr>
              <a:t>）</a:t>
            </a:r>
            <a:r>
              <a:rPr lang="zh-CN" altLang="en-US" sz="2800" dirty="0">
                <a:latin typeface="+mn-lt"/>
                <a:ea typeface="+mn-ea"/>
                <a:cs typeface="+mn-cs"/>
              </a:rPr>
              <a:t>的混合物，经过化学反应生成硫酸， 如伦敦烟雾事件 。）</a:t>
            </a:r>
            <a:endParaRPr lang="zh-CN" altLang="en-US" sz="2800" dirty="0">
              <a:latin typeface="+mn-lt"/>
              <a:ea typeface="+mn-ea"/>
              <a:cs typeface="+mn-cs"/>
            </a:endParaRPr>
          </a:p>
          <a:p>
            <a:pPr defTabSz="684530">
              <a:lnSpc>
                <a:spcPct val="90000"/>
              </a:lnSpc>
              <a:buSzPct val="25000"/>
            </a:pPr>
            <a:r>
              <a:rPr lang="zh-CN" altLang="en-US" sz="2800">
                <a:latin typeface="+mn-lt"/>
                <a:ea typeface="+mn-ea"/>
                <a:cs typeface="+mn-cs"/>
              </a:rPr>
              <a:t>（</a:t>
            </a:r>
            <a:r>
              <a:rPr lang="en-US" altLang="zh-CN" sz="2800">
                <a:latin typeface="+mn-lt"/>
                <a:ea typeface="+mn-ea"/>
                <a:cs typeface="+mn-cs"/>
              </a:rPr>
              <a:t>c</a:t>
            </a:r>
            <a:r>
              <a:rPr lang="zh-CN" altLang="en-US" sz="2800">
                <a:latin typeface="+mn-lt"/>
                <a:ea typeface="+mn-ea"/>
                <a:cs typeface="+mn-cs"/>
              </a:rPr>
              <a:t>）</a:t>
            </a:r>
            <a:r>
              <a:rPr lang="zh-CN" altLang="en-US" sz="2800" dirty="0">
                <a:latin typeface="+mn-lt"/>
                <a:ea typeface="+mn-ea"/>
                <a:cs typeface="+mn-cs"/>
              </a:rPr>
              <a:t>对植物造成伤害，破坏叶面结构；</a:t>
            </a:r>
            <a:endParaRPr lang="zh-CN" altLang="en-US" sz="2800" dirty="0">
              <a:latin typeface="+mn-lt"/>
              <a:ea typeface="+mn-ea"/>
              <a:cs typeface="+mn-cs"/>
            </a:endParaRPr>
          </a:p>
          <a:p>
            <a:pPr defTabSz="684530">
              <a:lnSpc>
                <a:spcPct val="90000"/>
              </a:lnSpc>
              <a:buSzPct val="25000"/>
            </a:pPr>
            <a:r>
              <a:rPr lang="zh-CN" altLang="en-US" sz="2800" dirty="0">
                <a:latin typeface="+mn-lt"/>
                <a:ea typeface="+mn-ea"/>
                <a:cs typeface="+mn-cs"/>
              </a:rPr>
              <a:t>（</a:t>
            </a:r>
            <a:r>
              <a:rPr lang="en-US" altLang="zh-CN" sz="2800">
                <a:latin typeface="+mn-lt"/>
                <a:ea typeface="+mn-ea"/>
                <a:cs typeface="+mn-cs"/>
              </a:rPr>
              <a:t>d</a:t>
            </a:r>
            <a:r>
              <a:rPr lang="zh-CN" altLang="en-US" sz="2800">
                <a:latin typeface="+mn-lt"/>
                <a:ea typeface="+mn-ea"/>
                <a:cs typeface="+mn-cs"/>
              </a:rPr>
              <a:t>）</a:t>
            </a:r>
            <a:r>
              <a:rPr lang="zh-CN" altLang="en-US" sz="2800" dirty="0">
                <a:latin typeface="+mn-lt"/>
                <a:ea typeface="+mn-ea"/>
                <a:cs typeface="+mn-cs"/>
              </a:rPr>
              <a:t>腐蚀材料。</a:t>
            </a:r>
            <a:endParaRPr lang="zh-CN" altLang="en-US" sz="2800">
              <a:latin typeface="+mn-lt"/>
              <a:ea typeface="+mn-ea"/>
              <a:cs typeface="+mn-cs"/>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伦敦空气污染</a:t>
            </a:r>
            <a:r>
              <a:rPr lang="zh-CN" altLang="en-US"/>
              <a:t>事件</a:t>
            </a:r>
            <a:endParaRPr lang="zh-CN" altLang="en-US"/>
          </a:p>
        </p:txBody>
      </p:sp>
      <p:sp>
        <p:nvSpPr>
          <p:cNvPr id="4" name="文本占位符 3"/>
          <p:cNvSpPr>
            <a:spLocks noGrp="1"/>
          </p:cNvSpPr>
          <p:nvPr>
            <p:ph type="body" sz="half" idx="2"/>
          </p:nvPr>
        </p:nvSpPr>
        <p:spPr>
          <a:xfrm>
            <a:off x="281940" y="2057400"/>
            <a:ext cx="4490085" cy="3811905"/>
          </a:xfrm>
        </p:spPr>
        <p:txBody>
          <a:bodyPr>
            <a:noAutofit/>
          </a:bodyPr>
          <a:p>
            <a:r>
              <a:rPr lang="zh-CN" altLang="en-US" sz="2000"/>
              <a:t>1952 年 12 月 5 日至 9 日，伦敦上空受反气旋影响，大量工厂生产和居民燃煤取暖排出的废气难以扩散，积聚在城市上空。伦敦被有浓厚的烟雾笼罩，交通瘫痪，行人小心翼翼地摸索前进。市民不仅生活被打乱，健康也受到严重侵害。许多市民出现胸闷、窒息等不适感，发病率和死亡率急剧增加。直至 12 月 9 日，一股强劲而寒冷的西风吹散了笼罩在伦敦的烟雾。据统计，当月因这场大烟雾而死的人多达 4,000 人。此次事件被称为“伦敦烟雾事件”，成为 20 世纪十大环境公害事件之一。</a:t>
            </a:r>
            <a:endParaRPr lang="zh-CN" altLang="en-US" sz="2000"/>
          </a:p>
        </p:txBody>
      </p:sp>
      <p:pic>
        <p:nvPicPr>
          <p:cNvPr id="107" name="图片 106"/>
          <p:cNvPicPr/>
          <p:nvPr>
            <p:custDataLst>
              <p:tags r:id="rId1"/>
            </p:custDataLst>
          </p:nvPr>
        </p:nvPicPr>
        <p:blipFill>
          <a:blip r:embed="rId2"/>
          <a:stretch>
            <a:fillRect/>
          </a:stretch>
        </p:blipFill>
        <p:spPr>
          <a:xfrm>
            <a:off x="4829810" y="914401"/>
            <a:ext cx="6985000" cy="3962399"/>
          </a:xfrm>
          <a:prstGeom prst="rect">
            <a:avLst/>
          </a:prstGeom>
          <a:noFill/>
          <a:ln w="9525">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2018" name="文本框 342017"/>
          <p:cNvSpPr txBox="1"/>
          <p:nvPr/>
        </p:nvSpPr>
        <p:spPr>
          <a:xfrm>
            <a:off x="10282238" y="6550025"/>
            <a:ext cx="30480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23</a:t>
            </a:r>
            <a:endParaRPr lang="en-US" altLang="zh-CN" sz="2400">
              <a:solidFill>
                <a:srgbClr val="2A3D7A"/>
              </a:solidFill>
              <a:latin typeface="Times New Roman" panose="02020603050405020304" charset="0"/>
            </a:endParaRPr>
          </a:p>
        </p:txBody>
      </p:sp>
      <p:sp>
        <p:nvSpPr>
          <p:cNvPr id="342019" name="文本框 342018"/>
          <p:cNvSpPr txBox="1"/>
          <p:nvPr/>
        </p:nvSpPr>
        <p:spPr>
          <a:xfrm>
            <a:off x="2366963" y="873125"/>
            <a:ext cx="6350635" cy="412115"/>
          </a:xfrm>
          <a:prstGeom prst="rect">
            <a:avLst/>
          </a:prstGeom>
          <a:noFill/>
          <a:ln w="9525">
            <a:noFill/>
          </a:ln>
        </p:spPr>
        <p:txBody>
          <a:bodyPr wrap="none" lIns="0" tIns="0" rIns="0" bIns="0">
            <a:spAutoFit/>
          </a:bodyPr>
          <a:p>
            <a:pPr algn="l" defTabSz="916305">
              <a:lnSpc>
                <a:spcPts val="3215"/>
              </a:lnSpc>
            </a:pPr>
            <a:r>
              <a:rPr lang="en-US" altLang="zh-CN" sz="3200" b="1">
                <a:latin typeface="楷体_GB2312" charset="-122"/>
                <a:ea typeface="楷体_GB2312" charset="-122"/>
              </a:rPr>
              <a:t>5.</a:t>
            </a:r>
            <a:r>
              <a:rPr lang="zh-CN" altLang="en-US" sz="3200" b="1" dirty="0">
                <a:latin typeface="楷体_GB2312" charset="-122"/>
                <a:ea typeface="楷体_GB2312" charset="-122"/>
              </a:rPr>
              <a:t>微粒（</a:t>
            </a:r>
            <a:r>
              <a:rPr lang="en-US" altLang="zh-CN" sz="3200" b="1" dirty="0">
                <a:latin typeface="楷体_GB2312" charset="-122"/>
                <a:ea typeface="楷体_GB2312" charset="-122"/>
              </a:rPr>
              <a:t>Partical Material</a:t>
            </a:r>
            <a:r>
              <a:rPr lang="zh-CN" altLang="en-US" sz="3200" b="1" dirty="0">
                <a:latin typeface="楷体_GB2312" charset="-122"/>
                <a:ea typeface="楷体_GB2312" charset="-122"/>
              </a:rPr>
              <a:t>，</a:t>
            </a:r>
            <a:r>
              <a:rPr lang="en-US" altLang="zh-CN" sz="3200" b="1" dirty="0">
                <a:latin typeface="楷体_GB2312" charset="-122"/>
                <a:ea typeface="楷体_GB2312" charset="-122"/>
              </a:rPr>
              <a:t> </a:t>
            </a:r>
            <a:r>
              <a:rPr lang="en-US" altLang="zh-CN" sz="3200" b="1" dirty="0">
                <a:latin typeface="楷体_GB2312" charset="-122"/>
                <a:ea typeface="楷体_GB2312" charset="-122"/>
              </a:rPr>
              <a:t>PM)</a:t>
            </a:r>
            <a:endParaRPr lang="en-US" altLang="zh-CN" sz="3200" b="1" dirty="0">
              <a:latin typeface="楷体_GB2312" charset="-122"/>
              <a:ea typeface="楷体_GB2312" charset="-122"/>
            </a:endParaRPr>
          </a:p>
        </p:txBody>
      </p:sp>
      <p:sp>
        <p:nvSpPr>
          <p:cNvPr id="342020" name="文本框 342019"/>
          <p:cNvSpPr txBox="1"/>
          <p:nvPr/>
        </p:nvSpPr>
        <p:spPr>
          <a:xfrm>
            <a:off x="2940050" y="1417638"/>
            <a:ext cx="4897120" cy="307340"/>
          </a:xfrm>
          <a:prstGeom prst="rect">
            <a:avLst/>
          </a:prstGeom>
          <a:noFill/>
          <a:ln w="9525">
            <a:noFill/>
          </a:ln>
        </p:spPr>
        <p:txBody>
          <a:bodyPr wrap="none" lIns="0" tIns="0" rIns="0" bIns="0">
            <a:spAutoFit/>
          </a:bodyPr>
          <a:p>
            <a:pPr algn="l" defTabSz="916305">
              <a:lnSpc>
                <a:spcPts val="2400"/>
              </a:lnSpc>
            </a:pPr>
            <a:r>
              <a:rPr lang="zh-CN" altLang="en-US" sz="2400" b="1" dirty="0">
                <a:latin typeface="Arial" panose="020B0604020202020204" pitchFamily="34" charset="0"/>
                <a:ea typeface="楷体_GB2312" charset="-122"/>
              </a:rPr>
              <a:t>包括气溶胶、烟、尘、雾和炭烟等。</a:t>
            </a:r>
            <a:endParaRPr lang="zh-CN" altLang="en-US" sz="2400" b="1" dirty="0">
              <a:latin typeface="Arial" panose="020B0604020202020204" pitchFamily="34" charset="0"/>
              <a:ea typeface="楷体_GB2312" charset="-122"/>
            </a:endParaRPr>
          </a:p>
        </p:txBody>
      </p:sp>
      <p:sp>
        <p:nvSpPr>
          <p:cNvPr id="342021" name="文本框 342020"/>
          <p:cNvSpPr txBox="1"/>
          <p:nvPr/>
        </p:nvSpPr>
        <p:spPr>
          <a:xfrm>
            <a:off x="3741738" y="1919288"/>
            <a:ext cx="5969000" cy="749935"/>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楷体_GB2312" charset="-122"/>
                <a:ea typeface="楷体_GB2312" charset="-122"/>
              </a:rPr>
              <a:t>气溶胶</a:t>
            </a:r>
            <a:r>
              <a:rPr lang="en-US" altLang="zh-CN" sz="2400" b="1">
                <a:solidFill>
                  <a:srgbClr val="FF0000"/>
                </a:solidFill>
                <a:latin typeface="楷体_GB2312" charset="-122"/>
                <a:ea typeface="楷体_GB2312" charset="-122"/>
              </a:rPr>
              <a:t>:</a:t>
            </a:r>
            <a:r>
              <a:rPr lang="zh-CN" altLang="en-US" sz="2400" b="1" dirty="0">
                <a:latin typeface="楷体_GB2312" charset="-122"/>
                <a:ea typeface="楷体_GB2312" charset="-122"/>
              </a:rPr>
              <a:t>悬浮于空气中的固液微粒，其直径一</a:t>
            </a:r>
            <a:endParaRPr lang="zh-CN" altLang="en-US" sz="2400" b="1" dirty="0">
              <a:latin typeface="楷体_GB2312" charset="-122"/>
              <a:ea typeface="楷体_GB2312" charset="-122"/>
            </a:endParaRPr>
          </a:p>
          <a:p>
            <a:pPr algn="l" defTabSz="916305">
              <a:lnSpc>
                <a:spcPts val="1000"/>
              </a:lnSpc>
            </a:pPr>
            <a:endParaRPr lang="zh-CN" altLang="en-US" sz="2400" b="1" dirty="0">
              <a:latin typeface="楷体_GB2312" charset="-122"/>
              <a:ea typeface="楷体_GB2312" charset="-122"/>
            </a:endParaRPr>
          </a:p>
          <a:p>
            <a:pPr algn="l" defTabSz="916305">
              <a:lnSpc>
                <a:spcPts val="2450"/>
              </a:lnSpc>
            </a:pPr>
            <a:r>
              <a:rPr lang="zh-CN" altLang="en-US" sz="2400" b="1" dirty="0">
                <a:latin typeface="楷体_GB2312" charset="-122"/>
                <a:ea typeface="楷体_GB2312" charset="-122"/>
              </a:rPr>
              <a:t>般小于</a:t>
            </a:r>
            <a:r>
              <a:rPr lang="en-US" altLang="zh-CN" sz="2400" b="1">
                <a:latin typeface="楷体_GB2312" charset="-122"/>
                <a:ea typeface="楷体_GB2312" charset="-122"/>
              </a:rPr>
              <a:t>1</a:t>
            </a:r>
            <a:r>
              <a:rPr lang="zh-CN" altLang="en-US" sz="2400" b="1" dirty="0">
                <a:latin typeface="楷体_GB2312" charset="-122"/>
                <a:ea typeface="楷体_GB2312" charset="-122"/>
              </a:rPr>
              <a:t>微米。</a:t>
            </a:r>
            <a:endParaRPr lang="zh-CN" altLang="en-US" sz="2400" b="1" dirty="0">
              <a:latin typeface="楷体_GB2312" charset="-122"/>
              <a:ea typeface="楷体_GB2312" charset="-122"/>
            </a:endParaRPr>
          </a:p>
        </p:txBody>
      </p:sp>
      <p:sp>
        <p:nvSpPr>
          <p:cNvPr id="342022" name="文本框 342021"/>
          <p:cNvSpPr txBox="1"/>
          <p:nvPr/>
        </p:nvSpPr>
        <p:spPr>
          <a:xfrm>
            <a:off x="3741738" y="2870200"/>
            <a:ext cx="5971540" cy="749935"/>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楷体_GB2312" charset="-122"/>
                <a:ea typeface="楷体_GB2312" charset="-122"/>
              </a:rPr>
              <a:t>尘</a:t>
            </a:r>
            <a:r>
              <a:rPr lang="en-US" altLang="zh-CN" sz="2400" b="1">
                <a:solidFill>
                  <a:srgbClr val="FF0000"/>
                </a:solidFill>
                <a:latin typeface="楷体_GB2312" charset="-122"/>
                <a:ea typeface="楷体_GB2312" charset="-122"/>
              </a:rPr>
              <a:t>:</a:t>
            </a:r>
            <a:r>
              <a:rPr lang="zh-CN" altLang="en-US" sz="2400" b="1" dirty="0">
                <a:latin typeface="楷体_GB2312" charset="-122"/>
                <a:ea typeface="楷体_GB2312" charset="-122"/>
              </a:rPr>
              <a:t>大于</a:t>
            </a:r>
            <a:r>
              <a:rPr lang="en-US" altLang="zh-CN" sz="2400" b="1">
                <a:latin typeface="楷体_GB2312" charset="-122"/>
                <a:ea typeface="楷体_GB2312" charset="-122"/>
              </a:rPr>
              <a:t>10</a:t>
            </a:r>
            <a:r>
              <a:rPr lang="zh-CN" altLang="en-US" sz="2400" b="1" dirty="0">
                <a:latin typeface="楷体_GB2312" charset="-122"/>
                <a:ea typeface="楷体_GB2312" charset="-122"/>
              </a:rPr>
              <a:t>微米的固体微粒称为降尘，小于</a:t>
            </a:r>
            <a:r>
              <a:rPr lang="en-US" altLang="zh-CN" sz="2400" b="1">
                <a:latin typeface="楷体_GB2312" charset="-122"/>
                <a:ea typeface="楷体_GB2312" charset="-122"/>
              </a:rPr>
              <a:t>10</a:t>
            </a:r>
            <a:endParaRPr lang="en-US" altLang="zh-CN" sz="2400" b="1">
              <a:latin typeface="楷体_GB2312" charset="-122"/>
              <a:ea typeface="楷体_GB2312" charset="-122"/>
            </a:endParaRPr>
          </a:p>
          <a:p>
            <a:pPr algn="l" defTabSz="916305">
              <a:lnSpc>
                <a:spcPts val="1000"/>
              </a:lnSpc>
            </a:pPr>
            <a:endParaRPr lang="en-US" altLang="zh-CN" sz="2400" b="1">
              <a:latin typeface="楷体_GB2312" charset="-122"/>
              <a:ea typeface="楷体_GB2312" charset="-122"/>
            </a:endParaRPr>
          </a:p>
          <a:p>
            <a:pPr algn="l" defTabSz="916305">
              <a:lnSpc>
                <a:spcPts val="2450"/>
              </a:lnSpc>
            </a:pPr>
            <a:r>
              <a:rPr lang="zh-CN" altLang="en-US" sz="2400" b="1" dirty="0">
                <a:latin typeface="楷体_GB2312" charset="-122"/>
                <a:ea typeface="楷体_GB2312" charset="-122"/>
              </a:rPr>
              <a:t>微米的称为飘尘。</a:t>
            </a:r>
            <a:endParaRPr lang="zh-CN" altLang="en-US" sz="2400" b="1" dirty="0">
              <a:latin typeface="楷体_GB2312" charset="-122"/>
              <a:ea typeface="楷体_GB2312" charset="-122"/>
            </a:endParaRPr>
          </a:p>
        </p:txBody>
      </p:sp>
      <p:sp>
        <p:nvSpPr>
          <p:cNvPr id="342023" name="文本框 342022"/>
          <p:cNvSpPr txBox="1"/>
          <p:nvPr/>
        </p:nvSpPr>
        <p:spPr>
          <a:xfrm>
            <a:off x="3741738" y="3757613"/>
            <a:ext cx="3826510" cy="30734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Arial" panose="020B0604020202020204" pitchFamily="34" charset="0"/>
                <a:ea typeface="楷体_GB2312" charset="-122"/>
              </a:rPr>
              <a:t>烟</a:t>
            </a:r>
            <a:r>
              <a:rPr lang="zh-CN" altLang="en-US" sz="2400" b="1" dirty="0">
                <a:solidFill>
                  <a:srgbClr val="FF0000"/>
                </a:solidFill>
                <a:latin typeface="楷体_GB2312" charset="-122"/>
                <a:ea typeface="楷体_GB2312" charset="-122"/>
              </a:rPr>
              <a:t>：</a:t>
            </a:r>
            <a:r>
              <a:rPr lang="zh-CN" altLang="en-US" sz="2400" b="1" dirty="0">
                <a:latin typeface="楷体_GB2312" charset="-122"/>
                <a:ea typeface="楷体_GB2312" charset="-122"/>
              </a:rPr>
              <a:t>小于</a:t>
            </a:r>
            <a:r>
              <a:rPr lang="en-US" altLang="zh-CN" sz="2400" b="1">
                <a:latin typeface="楷体_GB2312" charset="-122"/>
                <a:ea typeface="楷体_GB2312" charset="-122"/>
              </a:rPr>
              <a:t>1</a:t>
            </a:r>
            <a:r>
              <a:rPr lang="zh-CN" altLang="en-US" sz="2400" b="1" dirty="0">
                <a:latin typeface="楷体_GB2312" charset="-122"/>
                <a:ea typeface="楷体_GB2312" charset="-122"/>
              </a:rPr>
              <a:t>微米的固体颗粒。</a:t>
            </a:r>
            <a:endParaRPr lang="zh-CN" altLang="en-US" sz="2400" b="1" dirty="0">
              <a:latin typeface="楷体_GB2312" charset="-122"/>
              <a:ea typeface="楷体_GB2312" charset="-122"/>
            </a:endParaRPr>
          </a:p>
        </p:txBody>
      </p:sp>
      <p:sp>
        <p:nvSpPr>
          <p:cNvPr id="342024" name="文本框 342023"/>
          <p:cNvSpPr txBox="1"/>
          <p:nvPr/>
        </p:nvSpPr>
        <p:spPr>
          <a:xfrm>
            <a:off x="3741738" y="4197350"/>
            <a:ext cx="6123940" cy="678180"/>
          </a:xfrm>
          <a:prstGeom prst="rect">
            <a:avLst/>
          </a:prstGeom>
          <a:noFill/>
          <a:ln w="9525">
            <a:noFill/>
          </a:ln>
        </p:spPr>
        <p:txBody>
          <a:bodyPr wrap="none" lIns="0" tIns="0" rIns="0" bIns="0">
            <a:spAutoFit/>
          </a:bodyPr>
          <a:p>
            <a:pPr algn="l" defTabSz="916305">
              <a:lnSpc>
                <a:spcPts val="2400"/>
              </a:lnSpc>
            </a:pPr>
            <a:r>
              <a:rPr lang="zh-CN" altLang="en-US" sz="2400" b="1" dirty="0">
                <a:solidFill>
                  <a:srgbClr val="FF0000"/>
                </a:solidFill>
                <a:latin typeface="楷体_GB2312" charset="-122"/>
                <a:ea typeface="楷体_GB2312" charset="-122"/>
              </a:rPr>
              <a:t>雾</a:t>
            </a:r>
            <a:r>
              <a:rPr lang="en-US" altLang="zh-CN" sz="2400" b="1">
                <a:solidFill>
                  <a:srgbClr val="FF0000"/>
                </a:solidFill>
                <a:latin typeface="楷体_GB2312" charset="-122"/>
                <a:ea typeface="楷体_GB2312" charset="-122"/>
              </a:rPr>
              <a:t>:</a:t>
            </a:r>
            <a:r>
              <a:rPr lang="zh-CN" altLang="en-US" sz="2400" b="1" dirty="0">
                <a:latin typeface="楷体_GB2312" charset="-122"/>
                <a:ea typeface="楷体_GB2312" charset="-122"/>
              </a:rPr>
              <a:t>液体微粒，其直径可达</a:t>
            </a:r>
            <a:r>
              <a:rPr lang="en-US" altLang="zh-CN" sz="2400" b="1">
                <a:latin typeface="楷体_GB2312" charset="-122"/>
                <a:ea typeface="楷体_GB2312" charset="-122"/>
              </a:rPr>
              <a:t>100</a:t>
            </a:r>
            <a:r>
              <a:rPr lang="zh-CN" altLang="en-US" sz="2400" b="1" dirty="0">
                <a:latin typeface="楷体_GB2312" charset="-122"/>
                <a:ea typeface="楷体_GB2312" charset="-122"/>
              </a:rPr>
              <a:t>微米。此外还有</a:t>
            </a:r>
            <a:endParaRPr lang="zh-CN" altLang="en-US" sz="2400" b="1" dirty="0">
              <a:latin typeface="楷体_GB2312" charset="-122"/>
              <a:ea typeface="楷体_GB2312" charset="-122"/>
            </a:endParaRPr>
          </a:p>
          <a:p>
            <a:pPr algn="l" defTabSz="916305">
              <a:lnSpc>
                <a:spcPts val="2890"/>
              </a:lnSpc>
            </a:pPr>
            <a:r>
              <a:rPr lang="zh-CN" altLang="en-US" sz="2400" b="1" dirty="0">
                <a:latin typeface="楷体_GB2312" charset="-122"/>
                <a:ea typeface="楷体_GB2312" charset="-122"/>
              </a:rPr>
              <a:t>极细的，可集成一串的炭烟。</a:t>
            </a:r>
            <a:endParaRPr lang="zh-CN" altLang="en-US" sz="2400" b="1" dirty="0">
              <a:latin typeface="楷体_GB2312" charset="-122"/>
              <a:ea typeface="楷体_GB2312" charset="-122"/>
            </a:endParaRPr>
          </a:p>
        </p:txBody>
      </p:sp>
      <p:sp>
        <p:nvSpPr>
          <p:cNvPr id="342025" name="文本框 342024"/>
          <p:cNvSpPr txBox="1"/>
          <p:nvPr/>
        </p:nvSpPr>
        <p:spPr>
          <a:xfrm>
            <a:off x="3741738" y="4986338"/>
            <a:ext cx="5580380" cy="764540"/>
          </a:xfrm>
          <a:prstGeom prst="rect">
            <a:avLst/>
          </a:prstGeom>
          <a:noFill/>
          <a:ln w="9525">
            <a:noFill/>
          </a:ln>
        </p:spPr>
        <p:txBody>
          <a:bodyPr wrap="none" lIns="0" tIns="0" rIns="0" bIns="0">
            <a:spAutoFit/>
          </a:bodyPr>
          <a:p>
            <a:pPr algn="l" defTabSz="916305">
              <a:lnSpc>
                <a:spcPts val="2540"/>
              </a:lnSpc>
            </a:pPr>
            <a:r>
              <a:rPr lang="zh-CN" altLang="en-US" sz="2500" b="1" dirty="0">
                <a:solidFill>
                  <a:srgbClr val="FF0000"/>
                </a:solidFill>
                <a:latin typeface="楷体_GB2312" charset="-122"/>
                <a:ea typeface="楷体_GB2312" charset="-122"/>
              </a:rPr>
              <a:t>肉眼能分辨出来的微粒直径约为</a:t>
            </a:r>
            <a:r>
              <a:rPr lang="en-US" altLang="zh-CN" sz="2500" b="1">
                <a:solidFill>
                  <a:srgbClr val="FF0000"/>
                </a:solidFill>
                <a:latin typeface="楷体_GB2312" charset="-122"/>
                <a:ea typeface="楷体_GB2312" charset="-122"/>
              </a:rPr>
              <a:t>100</a:t>
            </a:r>
            <a:r>
              <a:rPr lang="zh-CN" altLang="en-US" sz="2500" b="1" dirty="0">
                <a:solidFill>
                  <a:srgbClr val="FF0000"/>
                </a:solidFill>
                <a:latin typeface="楷体_GB2312" charset="-122"/>
                <a:ea typeface="楷体_GB2312" charset="-122"/>
              </a:rPr>
              <a:t>微米</a:t>
            </a:r>
            <a:endParaRPr lang="zh-CN" altLang="en-US" sz="2500" b="1" dirty="0">
              <a:solidFill>
                <a:srgbClr val="FF0000"/>
              </a:solidFill>
              <a:latin typeface="楷体_GB2312" charset="-122"/>
              <a:ea typeface="楷体_GB2312" charset="-122"/>
            </a:endParaRPr>
          </a:p>
          <a:p>
            <a:pPr algn="l" defTabSz="916305">
              <a:lnSpc>
                <a:spcPts val="1000"/>
              </a:lnSpc>
            </a:pPr>
            <a:endParaRPr lang="zh-CN" altLang="en-US" sz="2500" b="1" dirty="0">
              <a:latin typeface="楷体_GB2312" charset="-122"/>
              <a:ea typeface="楷体_GB2312" charset="-122"/>
            </a:endParaRPr>
          </a:p>
          <a:p>
            <a:pPr algn="l" defTabSz="916305">
              <a:lnSpc>
                <a:spcPts val="2425"/>
              </a:lnSpc>
            </a:pPr>
            <a:r>
              <a:rPr lang="zh-CN" altLang="en-US" sz="2400" b="1" dirty="0">
                <a:latin typeface="Arial" panose="020B0604020202020204" pitchFamily="34" charset="0"/>
                <a:ea typeface="楷体_GB2312" charset="-122"/>
              </a:rPr>
              <a:t>霾：</a:t>
            </a:r>
            <a:endParaRPr lang="zh-CN" altLang="en-US" sz="2400" b="1" dirty="0">
              <a:latin typeface="Arial" panose="020B0604020202020204" pitchFamily="34" charset="0"/>
              <a:ea typeface="楷体_GB231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4066" name="文本占位符 344065"/>
          <p:cNvSpPr>
            <a:spLocks noGrp="1"/>
          </p:cNvSpPr>
          <p:nvPr>
            <p:ph type="body" idx="1"/>
          </p:nvPr>
        </p:nvSpPr>
        <p:spPr>
          <a:xfrm>
            <a:off x="2135188" y="333375"/>
            <a:ext cx="7921625" cy="5791200"/>
          </a:xfrm>
        </p:spPr>
        <p:txBody>
          <a:bodyPr lIns="45720" rIns="45720" anchor="t" anchorCtr="0"/>
          <a:p>
            <a:pPr defTabSz="684530">
              <a:buSzPct val="25000"/>
            </a:pPr>
            <a:r>
              <a:rPr lang="zh-CN" altLang="en-US" sz="2800" dirty="0">
                <a:latin typeface="+mn-lt"/>
                <a:ea typeface="+mn-ea"/>
                <a:cs typeface="+mn-cs"/>
              </a:rPr>
              <a:t>（</a:t>
            </a:r>
            <a:r>
              <a:rPr lang="en-US" altLang="zh-CN" sz="2800">
                <a:latin typeface="+mn-lt"/>
                <a:ea typeface="+mn-ea"/>
                <a:cs typeface="+mn-cs"/>
              </a:rPr>
              <a:t>2</a:t>
            </a:r>
            <a:r>
              <a:rPr lang="zh-CN" altLang="en-US" sz="2800" dirty="0">
                <a:latin typeface="+mn-lt"/>
                <a:ea typeface="+mn-ea"/>
                <a:cs typeface="+mn-cs"/>
              </a:rPr>
              <a:t>）颗粒物检测的几个重要指标</a:t>
            </a:r>
            <a:endParaRPr lang="zh-CN" altLang="en-US" sz="2800" dirty="0">
              <a:latin typeface="+mn-lt"/>
              <a:ea typeface="+mn-ea"/>
              <a:cs typeface="+mn-cs"/>
            </a:endParaRPr>
          </a:p>
          <a:p>
            <a:pPr defTabSz="684530">
              <a:buSzPct val="25000"/>
            </a:pPr>
            <a:r>
              <a:rPr lang="zh-CN" altLang="en-US" sz="2800" dirty="0">
                <a:latin typeface="+mn-lt"/>
                <a:ea typeface="+mn-ea"/>
                <a:cs typeface="+mn-cs"/>
              </a:rPr>
              <a:t>（</a:t>
            </a:r>
            <a:r>
              <a:rPr lang="en-US" altLang="zh-CN" sz="2800">
                <a:latin typeface="+mn-lt"/>
                <a:ea typeface="+mn-ea"/>
                <a:cs typeface="+mn-cs"/>
              </a:rPr>
              <a:t>a</a:t>
            </a:r>
            <a:r>
              <a:rPr lang="zh-CN" altLang="en-US" sz="2800">
                <a:latin typeface="+mn-lt"/>
                <a:ea typeface="+mn-ea"/>
                <a:cs typeface="+mn-cs"/>
              </a:rPr>
              <a:t>）</a:t>
            </a:r>
            <a:r>
              <a:rPr lang="zh-CN" altLang="en-US" sz="2800" b="1">
                <a:solidFill>
                  <a:srgbClr val="FF0000"/>
                </a:solidFill>
                <a:latin typeface="+mn-lt"/>
                <a:ea typeface="+mn-ea"/>
                <a:cs typeface="+mn-cs"/>
              </a:rPr>
              <a:t>总</a:t>
            </a:r>
            <a:r>
              <a:rPr lang="zh-CN" altLang="en-US" sz="2800" b="1" dirty="0">
                <a:solidFill>
                  <a:srgbClr val="FF0000"/>
                </a:solidFill>
                <a:latin typeface="+mn-lt"/>
                <a:ea typeface="+mn-ea"/>
                <a:cs typeface="+mn-cs"/>
              </a:rPr>
              <a:t>悬浮颗粒物</a:t>
            </a:r>
            <a:r>
              <a:rPr lang="zh-CN" altLang="en-US" sz="2800" dirty="0">
                <a:latin typeface="+mn-lt"/>
                <a:ea typeface="+mn-ea"/>
                <a:cs typeface="+mn-cs"/>
              </a:rPr>
              <a:t>（</a:t>
            </a:r>
            <a:r>
              <a:rPr lang="en-US" altLang="zh-CN" sz="2800">
                <a:latin typeface="+mn-lt"/>
                <a:ea typeface="+mn-ea"/>
                <a:cs typeface="+mn-cs"/>
              </a:rPr>
              <a:t>TSP</a:t>
            </a:r>
            <a:r>
              <a:rPr lang="zh-CN" altLang="en-US" sz="2800">
                <a:latin typeface="+mn-lt"/>
                <a:ea typeface="+mn-ea"/>
                <a:cs typeface="+mn-cs"/>
              </a:rPr>
              <a:t>，</a:t>
            </a:r>
            <a:r>
              <a:rPr lang="en-US" altLang="zh-CN" sz="2800">
                <a:latin typeface="+mn-lt"/>
                <a:ea typeface="+mn-ea"/>
                <a:cs typeface="+mn-cs"/>
              </a:rPr>
              <a:t>Total Suspended Particulate </a:t>
            </a:r>
            <a:r>
              <a:rPr lang="zh-CN" altLang="en-US" sz="2800">
                <a:latin typeface="+mn-lt"/>
                <a:ea typeface="+mn-ea"/>
                <a:cs typeface="+mn-cs"/>
              </a:rPr>
              <a:t>）：</a:t>
            </a:r>
            <a:r>
              <a:rPr lang="zh-CN" altLang="en-US" sz="2800" dirty="0">
                <a:latin typeface="+mn-lt"/>
                <a:ea typeface="+mn-ea"/>
                <a:cs typeface="+mn-cs"/>
              </a:rPr>
              <a:t>悬浮于空中，空气动力学当量粒径小于等于</a:t>
            </a:r>
            <a:r>
              <a:rPr lang="en-US" altLang="zh-CN" sz="2800">
                <a:latin typeface="+mn-lt"/>
                <a:ea typeface="+mn-ea"/>
                <a:cs typeface="+mn-cs"/>
              </a:rPr>
              <a:t>100</a:t>
            </a:r>
            <a:r>
              <a:rPr lang="zh-CN" altLang="en-US" sz="2800" dirty="0">
                <a:latin typeface="+mn-lt"/>
                <a:ea typeface="+mn-ea"/>
                <a:cs typeface="+mn-cs"/>
              </a:rPr>
              <a:t>微米的颗粒物；</a:t>
            </a:r>
            <a:endParaRPr lang="zh-CN" altLang="en-US" sz="2800" dirty="0">
              <a:latin typeface="+mn-lt"/>
              <a:ea typeface="+mn-ea"/>
              <a:cs typeface="+mn-cs"/>
            </a:endParaRPr>
          </a:p>
          <a:p>
            <a:pPr defTabSz="684530">
              <a:buSzPct val="25000"/>
            </a:pPr>
            <a:r>
              <a:rPr lang="zh-CN" altLang="en-US" sz="2800" dirty="0">
                <a:latin typeface="+mn-lt"/>
                <a:ea typeface="+mn-ea"/>
                <a:cs typeface="+mn-cs"/>
              </a:rPr>
              <a:t>（</a:t>
            </a:r>
            <a:r>
              <a:rPr lang="en-US" altLang="zh-CN" sz="2800">
                <a:latin typeface="+mn-lt"/>
                <a:ea typeface="+mn-ea"/>
                <a:cs typeface="+mn-cs"/>
              </a:rPr>
              <a:t>b</a:t>
            </a:r>
            <a:r>
              <a:rPr lang="zh-CN" altLang="en-US" sz="2800">
                <a:latin typeface="+mn-lt"/>
                <a:ea typeface="+mn-ea"/>
                <a:cs typeface="+mn-cs"/>
              </a:rPr>
              <a:t>）</a:t>
            </a:r>
            <a:r>
              <a:rPr lang="zh-CN" altLang="en-US" sz="2800" b="1" dirty="0">
                <a:solidFill>
                  <a:srgbClr val="FF0000"/>
                </a:solidFill>
                <a:latin typeface="+mn-lt"/>
                <a:ea typeface="+mn-ea"/>
                <a:cs typeface="+mn-cs"/>
              </a:rPr>
              <a:t>可吸入颗粒物</a:t>
            </a:r>
            <a:r>
              <a:rPr lang="zh-CN" altLang="en-US" sz="2800" dirty="0">
                <a:latin typeface="+mn-lt"/>
                <a:ea typeface="+mn-ea"/>
                <a:cs typeface="+mn-cs"/>
              </a:rPr>
              <a:t>（</a:t>
            </a:r>
            <a:r>
              <a:rPr lang="en-US" altLang="zh-CN" sz="2800">
                <a:solidFill>
                  <a:srgbClr val="FF0000"/>
                </a:solidFill>
                <a:latin typeface="+mn-lt"/>
                <a:ea typeface="+mn-ea"/>
                <a:cs typeface="+mn-cs"/>
              </a:rPr>
              <a:t>PM</a:t>
            </a:r>
            <a:r>
              <a:rPr lang="en-US" altLang="zh-CN" sz="2800" baseline="-25000">
                <a:solidFill>
                  <a:srgbClr val="FF0000"/>
                </a:solidFill>
                <a:latin typeface="+mn-lt"/>
                <a:ea typeface="+mn-ea"/>
                <a:cs typeface="+mn-cs"/>
              </a:rPr>
              <a:t>10</a:t>
            </a:r>
            <a:r>
              <a:rPr lang="zh-CN" altLang="en-US" sz="2800">
                <a:latin typeface="+mn-lt"/>
                <a:ea typeface="+mn-ea"/>
                <a:cs typeface="+mn-cs"/>
              </a:rPr>
              <a:t>）：</a:t>
            </a:r>
            <a:r>
              <a:rPr lang="zh-CN" altLang="en-US" sz="2800" dirty="0">
                <a:latin typeface="+mn-lt"/>
                <a:ea typeface="+mn-ea"/>
                <a:cs typeface="+mn-cs"/>
              </a:rPr>
              <a:t>悬浮于空中，空气动力学当量粒径小于等于</a:t>
            </a:r>
            <a:r>
              <a:rPr lang="en-US" altLang="zh-CN" sz="2800">
                <a:latin typeface="+mn-lt"/>
                <a:ea typeface="+mn-ea"/>
                <a:cs typeface="+mn-cs"/>
              </a:rPr>
              <a:t>10</a:t>
            </a:r>
            <a:r>
              <a:rPr lang="zh-CN" altLang="en-US" sz="2800" dirty="0">
                <a:latin typeface="+mn-lt"/>
                <a:ea typeface="+mn-ea"/>
                <a:cs typeface="+mn-cs"/>
              </a:rPr>
              <a:t>微米的颗粒物；</a:t>
            </a:r>
            <a:endParaRPr lang="zh-CN" altLang="en-US" sz="2800" dirty="0">
              <a:latin typeface="+mn-lt"/>
              <a:ea typeface="+mn-ea"/>
              <a:cs typeface="+mn-cs"/>
            </a:endParaRPr>
          </a:p>
          <a:p>
            <a:pPr defTabSz="684530">
              <a:buSzPct val="25000"/>
            </a:pPr>
            <a:r>
              <a:rPr lang="zh-CN" altLang="en-US" sz="2800">
                <a:latin typeface="+mn-lt"/>
                <a:ea typeface="+mn-ea"/>
                <a:cs typeface="+mn-cs"/>
              </a:rPr>
              <a:t>（</a:t>
            </a:r>
            <a:r>
              <a:rPr lang="en-US" altLang="zh-CN" sz="2800">
                <a:latin typeface="+mn-lt"/>
                <a:ea typeface="+mn-ea"/>
                <a:cs typeface="+mn-cs"/>
              </a:rPr>
              <a:t>c</a:t>
            </a:r>
            <a:r>
              <a:rPr lang="zh-CN" altLang="en-US" sz="2800">
                <a:latin typeface="+mn-lt"/>
                <a:ea typeface="+mn-ea"/>
                <a:cs typeface="+mn-cs"/>
              </a:rPr>
              <a:t>）</a:t>
            </a:r>
            <a:r>
              <a:rPr lang="zh-CN" altLang="en-US" sz="2800">
                <a:solidFill>
                  <a:srgbClr val="FF0000"/>
                </a:solidFill>
                <a:latin typeface="+mn-lt"/>
                <a:ea typeface="+mn-ea"/>
                <a:cs typeface="+mn-cs"/>
              </a:rPr>
              <a:t> </a:t>
            </a:r>
            <a:r>
              <a:rPr lang="en-US" altLang="zh-CN" sz="2800">
                <a:solidFill>
                  <a:srgbClr val="FF0000"/>
                </a:solidFill>
                <a:latin typeface="+mn-lt"/>
                <a:ea typeface="+mn-ea"/>
                <a:cs typeface="+mn-cs"/>
              </a:rPr>
              <a:t>PM</a:t>
            </a:r>
            <a:r>
              <a:rPr lang="en-US" altLang="zh-CN" sz="2800" baseline="-25000">
                <a:solidFill>
                  <a:srgbClr val="FF0000"/>
                </a:solidFill>
                <a:latin typeface="+mn-lt"/>
                <a:ea typeface="+mn-ea"/>
                <a:cs typeface="+mn-cs"/>
              </a:rPr>
              <a:t>2.5</a:t>
            </a:r>
            <a:r>
              <a:rPr lang="zh-CN" altLang="en-US" sz="2800">
                <a:latin typeface="+mn-lt"/>
                <a:ea typeface="+mn-ea"/>
                <a:cs typeface="+mn-cs"/>
              </a:rPr>
              <a:t>：</a:t>
            </a:r>
            <a:r>
              <a:rPr lang="zh-CN" altLang="en-US" sz="2800" dirty="0">
                <a:latin typeface="+mn-lt"/>
                <a:ea typeface="+mn-ea"/>
                <a:cs typeface="+mn-cs"/>
              </a:rPr>
              <a:t>悬浮于空中，空气动力学当量粒径小于等于</a:t>
            </a:r>
            <a:r>
              <a:rPr lang="en-US" altLang="zh-CN" sz="2800">
                <a:latin typeface="+mn-lt"/>
                <a:ea typeface="+mn-ea"/>
                <a:cs typeface="+mn-cs"/>
              </a:rPr>
              <a:t>2.5</a:t>
            </a:r>
            <a:r>
              <a:rPr lang="zh-CN" altLang="en-US" sz="2800" dirty="0">
                <a:latin typeface="+mn-lt"/>
                <a:ea typeface="+mn-ea"/>
                <a:cs typeface="+mn-cs"/>
              </a:rPr>
              <a:t>微米的颗粒物；</a:t>
            </a:r>
            <a:endParaRPr lang="zh-CN" altLang="en-US" sz="2800" dirty="0">
              <a:latin typeface="+mn-lt"/>
              <a:ea typeface="+mn-ea"/>
              <a:cs typeface="+mn-cs"/>
            </a:endParaRPr>
          </a:p>
          <a:p>
            <a:pPr defTabSz="684530">
              <a:buSzPct val="25000"/>
            </a:pPr>
            <a:r>
              <a:rPr lang="zh-CN" altLang="en-US" sz="2800">
                <a:latin typeface="+mn-lt"/>
                <a:ea typeface="+mn-ea"/>
                <a:cs typeface="+mn-cs"/>
              </a:rPr>
              <a:t>（</a:t>
            </a:r>
            <a:r>
              <a:rPr lang="en-US" altLang="zh-CN" sz="2800">
                <a:latin typeface="+mn-lt"/>
                <a:ea typeface="+mn-ea"/>
                <a:cs typeface="+mn-cs"/>
              </a:rPr>
              <a:t>d</a:t>
            </a:r>
            <a:r>
              <a:rPr lang="zh-CN" altLang="en-US" sz="2800">
                <a:latin typeface="+mn-lt"/>
                <a:ea typeface="+mn-ea"/>
                <a:cs typeface="+mn-cs"/>
              </a:rPr>
              <a:t>）</a:t>
            </a:r>
            <a:r>
              <a:rPr lang="zh-CN" altLang="en-US" sz="2800" b="1" dirty="0">
                <a:solidFill>
                  <a:srgbClr val="FF0000"/>
                </a:solidFill>
                <a:latin typeface="+mn-lt"/>
                <a:ea typeface="+mn-ea"/>
                <a:cs typeface="+mn-cs"/>
              </a:rPr>
              <a:t>降尘</a:t>
            </a:r>
            <a:r>
              <a:rPr lang="zh-CN" altLang="en-US" sz="2800" dirty="0">
                <a:latin typeface="+mn-lt"/>
                <a:ea typeface="+mn-ea"/>
                <a:cs typeface="+mn-cs"/>
              </a:rPr>
              <a:t>：颗粒粒径大于</a:t>
            </a:r>
            <a:r>
              <a:rPr lang="en-US" altLang="zh-CN" sz="2800">
                <a:latin typeface="+mn-lt"/>
                <a:ea typeface="+mn-ea"/>
                <a:cs typeface="+mn-cs"/>
              </a:rPr>
              <a:t>10</a:t>
            </a:r>
            <a:r>
              <a:rPr lang="zh-CN" altLang="en-US" sz="2800" dirty="0">
                <a:latin typeface="+mn-lt"/>
                <a:ea typeface="+mn-ea"/>
                <a:cs typeface="+mn-cs"/>
              </a:rPr>
              <a:t>微米的颗粒物；</a:t>
            </a:r>
            <a:endParaRPr lang="zh-CN" altLang="en-US" sz="2800" dirty="0">
              <a:latin typeface="+mn-lt"/>
              <a:ea typeface="+mn-ea"/>
              <a:cs typeface="+mn-cs"/>
            </a:endParaRPr>
          </a:p>
          <a:p>
            <a:pPr defTabSz="684530">
              <a:buSzPct val="25000"/>
            </a:pPr>
            <a:r>
              <a:rPr lang="zh-CN" altLang="en-US" sz="2800" dirty="0">
                <a:latin typeface="+mn-lt"/>
                <a:ea typeface="+mn-ea"/>
                <a:cs typeface="+mn-cs"/>
              </a:rPr>
              <a:t>（</a:t>
            </a:r>
            <a:r>
              <a:rPr lang="en-US" altLang="zh-CN" sz="2800">
                <a:latin typeface="+mn-lt"/>
                <a:ea typeface="+mn-ea"/>
                <a:cs typeface="+mn-cs"/>
              </a:rPr>
              <a:t>e</a:t>
            </a:r>
            <a:r>
              <a:rPr lang="zh-CN" altLang="en-US" sz="2800">
                <a:latin typeface="+mn-lt"/>
                <a:ea typeface="+mn-ea"/>
                <a:cs typeface="+mn-cs"/>
              </a:rPr>
              <a:t>）</a:t>
            </a:r>
            <a:r>
              <a:rPr lang="zh-CN" altLang="en-US" sz="2800" b="1" dirty="0">
                <a:solidFill>
                  <a:srgbClr val="FF0000"/>
                </a:solidFill>
                <a:latin typeface="+mn-lt"/>
                <a:ea typeface="+mn-ea"/>
                <a:cs typeface="+mn-cs"/>
              </a:rPr>
              <a:t>飘尘</a:t>
            </a:r>
            <a:r>
              <a:rPr lang="zh-CN" altLang="en-US" sz="2800" dirty="0">
                <a:latin typeface="+mn-lt"/>
                <a:ea typeface="+mn-ea"/>
                <a:cs typeface="+mn-cs"/>
              </a:rPr>
              <a:t>：颗粒粒径小于</a:t>
            </a:r>
            <a:r>
              <a:rPr lang="en-US" altLang="zh-CN" sz="2800">
                <a:latin typeface="+mn-lt"/>
                <a:ea typeface="+mn-ea"/>
                <a:cs typeface="+mn-cs"/>
              </a:rPr>
              <a:t>10</a:t>
            </a:r>
            <a:r>
              <a:rPr lang="zh-CN" altLang="en-US" sz="2800" dirty="0">
                <a:latin typeface="+mn-lt"/>
                <a:ea typeface="+mn-ea"/>
                <a:cs typeface="+mn-cs"/>
              </a:rPr>
              <a:t>微米的颗粒物。</a:t>
            </a:r>
            <a:endParaRPr lang="zh-CN" altLang="en-US" sz="2800" dirty="0">
              <a:latin typeface="+mn-lt"/>
              <a:ea typeface="+mn-ea"/>
              <a:cs typeface="+mn-cs"/>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5090" name="文本占位符 345089"/>
          <p:cNvSpPr>
            <a:spLocks noGrp="1"/>
          </p:cNvSpPr>
          <p:nvPr>
            <p:ph type="body" idx="1"/>
          </p:nvPr>
        </p:nvSpPr>
        <p:spPr>
          <a:xfrm>
            <a:off x="2286000" y="381000"/>
            <a:ext cx="7620000" cy="5715000"/>
          </a:xfrm>
        </p:spPr>
        <p:txBody>
          <a:bodyPr lIns="45720" rIns="45720" anchor="t" anchorCtr="0"/>
          <a:p>
            <a:pPr defTabSz="914400">
              <a:buSzPct val="25000"/>
            </a:pPr>
            <a:r>
              <a:rPr lang="zh-CN" altLang="en-US" sz="3200" dirty="0">
                <a:latin typeface="+mn-lt"/>
                <a:ea typeface="+mn-ea"/>
                <a:cs typeface="+mn-cs"/>
              </a:rPr>
              <a:t>（</a:t>
            </a:r>
            <a:r>
              <a:rPr lang="en-US" altLang="zh-CN" sz="3200">
                <a:latin typeface="+mn-lt"/>
                <a:ea typeface="+mn-ea"/>
                <a:cs typeface="+mn-cs"/>
              </a:rPr>
              <a:t>3</a:t>
            </a:r>
            <a:r>
              <a:rPr lang="zh-CN" altLang="en-US" sz="3200" dirty="0">
                <a:latin typeface="+mn-lt"/>
                <a:ea typeface="+mn-ea"/>
                <a:cs typeface="+mn-cs"/>
              </a:rPr>
              <a:t>）危害</a:t>
            </a:r>
            <a:endParaRPr lang="zh-CN" altLang="en-US" sz="3200" dirty="0">
              <a:latin typeface="+mn-lt"/>
              <a:ea typeface="+mn-ea"/>
              <a:cs typeface="+mn-cs"/>
            </a:endParaRPr>
          </a:p>
          <a:p>
            <a:pPr defTabSz="914400">
              <a:buSzPct val="25000"/>
            </a:pPr>
            <a:r>
              <a:rPr lang="zh-CN" altLang="en-US" sz="2800" dirty="0">
                <a:latin typeface="Arial Unicode MS" panose="020B0604020202020204" charset="-122"/>
                <a:ea typeface="+mn-ea"/>
                <a:cs typeface="+mn-cs"/>
              </a:rPr>
              <a:t>①</a:t>
            </a:r>
            <a:r>
              <a:rPr lang="zh-CN" altLang="en-US" sz="2800" dirty="0">
                <a:solidFill>
                  <a:srgbClr val="FF0000"/>
                </a:solidFill>
                <a:latin typeface="Arial Unicode MS" panose="020B0604020202020204" charset="-122"/>
                <a:ea typeface="+mn-ea"/>
                <a:cs typeface="+mn-cs"/>
              </a:rPr>
              <a:t>遮挡阳光，使气温降低</a:t>
            </a:r>
            <a:r>
              <a:rPr lang="zh-CN" altLang="en-US" sz="2800" dirty="0">
                <a:latin typeface="Arial Unicode MS" panose="020B0604020202020204" charset="-122"/>
                <a:ea typeface="+mn-ea"/>
                <a:cs typeface="+mn-cs"/>
              </a:rPr>
              <a:t>，或形成冷凝核心，使云雾和雨水增多，以致影响气候 ；</a:t>
            </a:r>
            <a:endParaRPr lang="zh-CN" altLang="en-US" sz="2800" dirty="0">
              <a:latin typeface="Arial Unicode MS" panose="020B0604020202020204" charset="-122"/>
              <a:ea typeface="+mn-ea"/>
              <a:cs typeface="+mn-cs"/>
            </a:endParaRPr>
          </a:p>
          <a:p>
            <a:pPr defTabSz="914400">
              <a:buSzPct val="25000"/>
            </a:pPr>
            <a:r>
              <a:rPr lang="zh-CN" altLang="en-US" sz="2800" dirty="0">
                <a:latin typeface="Arial Unicode MS" panose="020B0604020202020204" charset="-122"/>
                <a:ea typeface="+mn-ea"/>
                <a:cs typeface="+mn-cs"/>
              </a:rPr>
              <a:t>②</a:t>
            </a:r>
            <a:r>
              <a:rPr lang="zh-CN" altLang="en-US" sz="2800" dirty="0">
                <a:solidFill>
                  <a:srgbClr val="FF0000"/>
                </a:solidFill>
                <a:latin typeface="Arial Unicode MS" panose="020B0604020202020204" charset="-122"/>
                <a:ea typeface="+mn-ea"/>
                <a:cs typeface="+mn-cs"/>
              </a:rPr>
              <a:t>使可见度降低，交通不便</a:t>
            </a:r>
            <a:r>
              <a:rPr lang="zh-CN" altLang="en-US" sz="2800" dirty="0">
                <a:latin typeface="Arial Unicode MS" panose="020B0604020202020204" charset="-122"/>
                <a:ea typeface="+mn-ea"/>
                <a:cs typeface="+mn-cs"/>
              </a:rPr>
              <a:t>，航空与汽车事故增加；</a:t>
            </a:r>
            <a:r>
              <a:rPr lang="zh-CN" altLang="en-US" sz="2800" dirty="0">
                <a:latin typeface="+mn-lt"/>
                <a:ea typeface="+mn-ea"/>
                <a:cs typeface="+mn-cs"/>
              </a:rPr>
              <a:t> </a:t>
            </a:r>
            <a:endParaRPr lang="zh-CN" altLang="en-US" sz="2800" dirty="0">
              <a:latin typeface="+mn-lt"/>
              <a:ea typeface="+mn-ea"/>
              <a:cs typeface="+mn-cs"/>
            </a:endParaRPr>
          </a:p>
          <a:p>
            <a:pPr defTabSz="914400">
              <a:buSzPct val="25000"/>
            </a:pPr>
            <a:r>
              <a:rPr lang="zh-CN" altLang="en-US" sz="2800" dirty="0">
                <a:latin typeface="Arial Unicode MS" panose="020B0604020202020204" charset="-122"/>
                <a:ea typeface="+mn-ea"/>
                <a:cs typeface="+mn-cs"/>
              </a:rPr>
              <a:t>③</a:t>
            </a:r>
            <a:r>
              <a:rPr lang="zh-CN" altLang="en-US" sz="2800" dirty="0">
                <a:solidFill>
                  <a:srgbClr val="FF0000"/>
                </a:solidFill>
                <a:latin typeface="Arial Unicode MS" panose="020B0604020202020204" charset="-122"/>
                <a:ea typeface="+mn-ea"/>
                <a:cs typeface="+mn-cs"/>
              </a:rPr>
              <a:t>可见度差，照明耗电增加</a:t>
            </a:r>
            <a:r>
              <a:rPr lang="zh-CN" altLang="en-US" sz="2800" dirty="0">
                <a:latin typeface="Arial Unicode MS" panose="020B0604020202020204" charset="-122"/>
                <a:ea typeface="+mn-ea"/>
                <a:cs typeface="+mn-cs"/>
              </a:rPr>
              <a:t>，燃料消耗随之增多，因此空气污染也更严重．形成恶性循环； </a:t>
            </a:r>
            <a:endParaRPr lang="zh-CN" altLang="en-US" sz="2800" dirty="0">
              <a:latin typeface="Arial Unicode MS" panose="020B0604020202020204" charset="-122"/>
              <a:ea typeface="+mn-ea"/>
              <a:cs typeface="+mn-cs"/>
            </a:endParaRPr>
          </a:p>
          <a:p>
            <a:pPr defTabSz="914400">
              <a:buSzPct val="25000"/>
            </a:pPr>
            <a:r>
              <a:rPr lang="zh-CN" altLang="en-US" sz="2800" dirty="0">
                <a:latin typeface="Arial Unicode MS" panose="020B0604020202020204" charset="-122"/>
                <a:ea typeface="+mn-ea"/>
                <a:cs typeface="+mn-cs"/>
              </a:rPr>
              <a:t>④燃煤时生成的</a:t>
            </a:r>
            <a:r>
              <a:rPr lang="en-US" altLang="zh-CN" sz="2800" err="1">
                <a:latin typeface="Arial Unicode MS" panose="020B0604020202020204" charset="-122"/>
                <a:ea typeface="+mn-ea"/>
                <a:cs typeface="+mn-cs"/>
              </a:rPr>
              <a:t>SOx</a:t>
            </a:r>
            <a:r>
              <a:rPr lang="zh-CN" altLang="en-US" sz="2800">
                <a:latin typeface="Arial Unicode MS" panose="020B0604020202020204" charset="-122"/>
                <a:ea typeface="+mn-ea"/>
                <a:cs typeface="+mn-cs"/>
              </a:rPr>
              <a:t>，</a:t>
            </a:r>
            <a:r>
              <a:rPr lang="zh-CN" altLang="en-US" sz="2800" dirty="0">
                <a:latin typeface="Arial Unicode MS" panose="020B0604020202020204" charset="-122"/>
                <a:ea typeface="+mn-ea"/>
                <a:cs typeface="+mn-cs"/>
              </a:rPr>
              <a:t>再加上微粒的作用，</a:t>
            </a:r>
            <a:r>
              <a:rPr lang="zh-CN" altLang="en-US" sz="2800" dirty="0">
                <a:solidFill>
                  <a:srgbClr val="FF0000"/>
                </a:solidFill>
                <a:latin typeface="Arial Unicode MS" panose="020B0604020202020204" charset="-122"/>
                <a:ea typeface="+mn-ea"/>
                <a:cs typeface="+mn-cs"/>
              </a:rPr>
              <a:t>对呼吸系统的危害特别大；</a:t>
            </a:r>
            <a:r>
              <a:rPr lang="zh-CN" altLang="en-US" sz="2800" dirty="0">
                <a:solidFill>
                  <a:srgbClr val="FF0000"/>
                </a:solidFill>
                <a:latin typeface="+mn-lt"/>
                <a:ea typeface="+mn-ea"/>
                <a:cs typeface="+mn-cs"/>
              </a:rPr>
              <a:t> </a:t>
            </a:r>
            <a:endParaRPr lang="zh-CN" altLang="en-US" sz="2800" dirty="0">
              <a:solidFill>
                <a:srgbClr val="FF0000"/>
              </a:solidFill>
              <a:latin typeface="+mn-lt"/>
              <a:ea typeface="+mn-ea"/>
              <a:cs typeface="+mn-cs"/>
            </a:endParaRPr>
          </a:p>
          <a:p>
            <a:pPr defTabSz="914400">
              <a:buSzPct val="25000"/>
            </a:pPr>
            <a:r>
              <a:rPr lang="zh-CN" altLang="en-US" sz="2800" dirty="0">
                <a:latin typeface="Arial Unicode MS" panose="020B0604020202020204" charset="-122"/>
                <a:ea typeface="+mn-ea"/>
                <a:cs typeface="+mn-cs"/>
              </a:rPr>
              <a:t>⑤用</a:t>
            </a:r>
            <a:r>
              <a:rPr lang="zh-CN" altLang="en-US" sz="2800" dirty="0">
                <a:solidFill>
                  <a:srgbClr val="FF0000"/>
                </a:solidFill>
                <a:latin typeface="Arial Unicode MS" panose="020B0604020202020204" charset="-122"/>
                <a:ea typeface="+mn-ea"/>
                <a:cs typeface="+mn-cs"/>
              </a:rPr>
              <a:t>四乙基铅作汽油</a:t>
            </a:r>
            <a:r>
              <a:rPr lang="zh-CN" altLang="en-US" sz="2800" dirty="0">
                <a:latin typeface="Arial Unicode MS" panose="020B0604020202020204" charset="-122"/>
                <a:ea typeface="+mn-ea"/>
                <a:cs typeface="+mn-cs"/>
              </a:rPr>
              <a:t>的防爆剂时，排入空气中的铅有</a:t>
            </a:r>
            <a:r>
              <a:rPr lang="en-US" altLang="zh-CN" sz="2800">
                <a:latin typeface="Arial Unicode MS" panose="020B0604020202020204" charset="-122"/>
                <a:ea typeface="+mn-ea"/>
                <a:cs typeface="+mn-cs"/>
              </a:rPr>
              <a:t>97</a:t>
            </a:r>
            <a:r>
              <a:rPr lang="zh-CN" altLang="en-US" sz="2800" dirty="0">
                <a:latin typeface="Arial Unicode MS" panose="020B0604020202020204" charset="-122"/>
                <a:ea typeface="+mn-ea"/>
                <a:cs typeface="+mn-cs"/>
              </a:rPr>
              <a:t>％为直径小于</a:t>
            </a:r>
            <a:r>
              <a:rPr lang="en-US" altLang="zh-CN" sz="2800">
                <a:latin typeface="Arial Unicode MS" panose="020B0604020202020204" charset="-122"/>
                <a:ea typeface="+mn-ea"/>
                <a:cs typeface="+mn-cs"/>
              </a:rPr>
              <a:t>0.5</a:t>
            </a:r>
            <a:r>
              <a:rPr lang="zh-CN" altLang="en-US" sz="2800" dirty="0">
                <a:latin typeface="Arial Unicode MS" panose="020B0604020202020204" charset="-122"/>
                <a:ea typeface="+mn-ea"/>
                <a:cs typeface="+mn-cs"/>
              </a:rPr>
              <a:t>微米的微 粒，分布很广，</a:t>
            </a:r>
            <a:r>
              <a:rPr lang="zh-CN" altLang="en-US" sz="2800" dirty="0">
                <a:solidFill>
                  <a:srgbClr val="FF0000"/>
                </a:solidFill>
                <a:latin typeface="Arial Unicode MS" panose="020B0604020202020204" charset="-122"/>
                <a:ea typeface="+mn-ea"/>
                <a:cs typeface="+mn-cs"/>
              </a:rPr>
              <a:t>危害很大</a:t>
            </a:r>
            <a:r>
              <a:rPr lang="zh-CN" altLang="en-US" sz="2800" dirty="0">
                <a:latin typeface="Arial Unicode MS" panose="020B0604020202020204" charset="-122"/>
                <a:ea typeface="+mn-ea"/>
                <a:cs typeface="+mn-cs"/>
              </a:rPr>
              <a:t>。</a:t>
            </a:r>
            <a:r>
              <a:rPr lang="zh-CN" altLang="en-US" sz="2800" dirty="0">
                <a:latin typeface="+mn-lt"/>
                <a:ea typeface="+mn-ea"/>
                <a:cs typeface="+mn-cs"/>
              </a:rPr>
              <a:t> </a:t>
            </a:r>
            <a:endParaRPr lang="zh-CN" altLang="en-US" sz="2800">
              <a:latin typeface="+mn-lt"/>
              <a:ea typeface="+mn-ea"/>
              <a:cs typeface="+mn-cs"/>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霾，也称灰霾（烟霞），是指原因不明的因大量烟、尘等微粒悬浮而形成的浑浊现象。霾的核心物质是空气中悬浮的灰尘颗粒，气象学上称为气溶胶颗粒。</a:t>
            </a: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5" name="图片 104"/>
          <p:cNvPicPr/>
          <p:nvPr>
            <p:custDataLst>
              <p:tags r:id="rId1"/>
            </p:custDataLst>
          </p:nvPr>
        </p:nvPicPr>
        <p:blipFill>
          <a:blip r:embed="rId2"/>
          <a:stretch>
            <a:fillRect/>
          </a:stretch>
        </p:blipFill>
        <p:spPr>
          <a:xfrm>
            <a:off x="-142" y="0"/>
            <a:ext cx="4795804" cy="6858000"/>
          </a:xfrm>
          <a:prstGeom prst="rect">
            <a:avLst/>
          </a:prstGeom>
          <a:noFill/>
          <a:ln w="9525">
            <a:noFill/>
          </a:ln>
        </p:spPr>
      </p:pic>
      <p:pic>
        <p:nvPicPr>
          <p:cNvPr id="106" name="图片 105"/>
          <p:cNvPicPr/>
          <p:nvPr>
            <p:custDataLst>
              <p:tags r:id="rId3"/>
            </p:custDataLst>
          </p:nvPr>
        </p:nvPicPr>
        <p:blipFill>
          <a:blip r:embed="rId4"/>
          <a:stretch>
            <a:fillRect/>
          </a:stretch>
        </p:blipFill>
        <p:spPr>
          <a:xfrm>
            <a:off x="4795520" y="142875"/>
            <a:ext cx="7723505" cy="5076190"/>
          </a:xfrm>
          <a:prstGeom prst="rect">
            <a:avLst/>
          </a:prstGeom>
          <a:noFill/>
          <a:ln w="9525">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6114" name="文本框 346113"/>
          <p:cNvSpPr txBox="1"/>
          <p:nvPr/>
        </p:nvSpPr>
        <p:spPr>
          <a:xfrm>
            <a:off x="10282238" y="6550025"/>
            <a:ext cx="30480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27</a:t>
            </a:r>
            <a:endParaRPr lang="en-US" altLang="zh-CN" sz="2400">
              <a:solidFill>
                <a:srgbClr val="2A3D7A"/>
              </a:solidFill>
              <a:latin typeface="Times New Roman" panose="02020603050405020304" charset="0"/>
            </a:endParaRPr>
          </a:p>
        </p:txBody>
      </p:sp>
      <p:sp>
        <p:nvSpPr>
          <p:cNvPr id="346115" name="文本框 346114"/>
          <p:cNvSpPr txBox="1"/>
          <p:nvPr/>
        </p:nvSpPr>
        <p:spPr>
          <a:xfrm>
            <a:off x="527050" y="991235"/>
            <a:ext cx="10238105" cy="412115"/>
          </a:xfrm>
          <a:prstGeom prst="rect">
            <a:avLst/>
          </a:prstGeom>
          <a:noFill/>
          <a:ln w="9525">
            <a:noFill/>
          </a:ln>
        </p:spPr>
        <p:txBody>
          <a:bodyPr wrap="none" lIns="0" tIns="0" rIns="0" bIns="0">
            <a:spAutoFit/>
          </a:bodyPr>
          <a:p>
            <a:pPr algn="l" defTabSz="916305">
              <a:lnSpc>
                <a:spcPts val="3215"/>
              </a:lnSpc>
            </a:pPr>
            <a:r>
              <a:rPr lang="en-US" altLang="zh-CN" sz="3200" b="1">
                <a:latin typeface="楷体_GB2312" charset="-122"/>
                <a:ea typeface="楷体_GB2312" charset="-122"/>
              </a:rPr>
              <a:t>5.</a:t>
            </a:r>
            <a:r>
              <a:rPr lang="zh-CN" altLang="en-US" sz="3200" b="1">
                <a:latin typeface="楷体_GB2312" charset="-122"/>
                <a:ea typeface="楷体_GB2312" charset="-122"/>
              </a:rPr>
              <a:t>挥发性有机物（Volatile Organic Compounds，</a:t>
            </a:r>
            <a:r>
              <a:rPr lang="en-US" altLang="zh-CN" sz="3200" b="1" dirty="0">
                <a:latin typeface="楷体_GB2312" charset="-122"/>
                <a:ea typeface="楷体_GB2312" charset="-122"/>
              </a:rPr>
              <a:t>VOCs</a:t>
            </a:r>
            <a:r>
              <a:rPr lang="zh-CN" altLang="en-US" sz="3200" b="1" dirty="0">
                <a:latin typeface="楷体_GB2312" charset="-122"/>
                <a:ea typeface="楷体_GB2312" charset="-122"/>
              </a:rPr>
              <a:t>）</a:t>
            </a:r>
            <a:endParaRPr lang="zh-CN" altLang="en-US" sz="3200" b="1" dirty="0">
              <a:latin typeface="楷体_GB2312" charset="-122"/>
              <a:ea typeface="楷体_GB2312" charset="-122"/>
            </a:endParaRPr>
          </a:p>
        </p:txBody>
      </p:sp>
      <p:sp>
        <p:nvSpPr>
          <p:cNvPr id="2" name="文本框 1"/>
          <p:cNvSpPr txBox="1"/>
          <p:nvPr/>
        </p:nvSpPr>
        <p:spPr>
          <a:xfrm>
            <a:off x="1207770" y="1482725"/>
            <a:ext cx="6096000" cy="1014730"/>
          </a:xfrm>
          <a:prstGeom prst="rect">
            <a:avLst/>
          </a:prstGeom>
          <a:noFill/>
        </p:spPr>
        <p:txBody>
          <a:bodyPr wrap="square" rtlCol="0" anchor="t">
            <a:spAutoFit/>
          </a:bodyPr>
          <a:p>
            <a:r>
              <a:rPr lang="zh-CN" altLang="en-US" sz="2000"/>
              <a:t>世界卫生组织(WHO，1989）对总挥发性有机化合物（TVOC）的定义为，熔点低于室温而沸点在50～260℃之间的挥发性有机化合物的总称。</a:t>
            </a:r>
            <a:endParaRPr lang="zh-CN" altLang="en-US" sz="2000"/>
          </a:p>
        </p:txBody>
      </p:sp>
      <p:sp>
        <p:nvSpPr>
          <p:cNvPr id="3" name="文本框 2"/>
          <p:cNvSpPr txBox="1"/>
          <p:nvPr/>
        </p:nvSpPr>
        <p:spPr>
          <a:xfrm>
            <a:off x="824865" y="2708275"/>
            <a:ext cx="10638790" cy="1198880"/>
          </a:xfrm>
          <a:prstGeom prst="rect">
            <a:avLst/>
          </a:prstGeom>
          <a:noFill/>
        </p:spPr>
        <p:txBody>
          <a:bodyPr wrap="square" rtlCol="0" anchor="t">
            <a:spAutoFit/>
          </a:bodyPr>
          <a:p>
            <a:r>
              <a:rPr lang="zh-CN" altLang="en-US"/>
              <a:t>危害</a:t>
            </a:r>
            <a:endParaRPr lang="zh-CN" altLang="en-US"/>
          </a:p>
          <a:p>
            <a:r>
              <a:rPr lang="zh-CN" altLang="en-US"/>
              <a:t>VOC即挥发性有机化合物，对人体健康有巨大影响。当居室中的VOC达到一定浓度时，短时间内人们会感到头痛、恶心、呕吐、乏力等，严重时会出现抽搐、昏迷，并会伤害到人的肝脏、肾脏、大脑和神经系统，造成记忆力减退等严重后果。</a:t>
            </a:r>
            <a:endParaRPr lang="zh-CN" altLang="en-US"/>
          </a:p>
        </p:txBody>
      </p:sp>
      <p:sp>
        <p:nvSpPr>
          <p:cNvPr id="4" name="文本框 3"/>
          <p:cNvSpPr txBox="1"/>
          <p:nvPr/>
        </p:nvSpPr>
        <p:spPr>
          <a:xfrm>
            <a:off x="383540" y="3907155"/>
            <a:ext cx="11214100" cy="2861310"/>
          </a:xfrm>
          <a:prstGeom prst="rect">
            <a:avLst/>
          </a:prstGeom>
          <a:noFill/>
        </p:spPr>
        <p:txBody>
          <a:bodyPr wrap="square" rtlCol="0" anchor="t">
            <a:spAutoFit/>
          </a:bodyPr>
          <a:p>
            <a:r>
              <a:rPr lang="zh-CN" altLang="en-US"/>
              <a:t>来源</a:t>
            </a:r>
            <a:endParaRPr lang="zh-CN" altLang="en-US"/>
          </a:p>
          <a:p>
            <a:r>
              <a:rPr lang="zh-CN" altLang="en-US"/>
              <a:t>VOC室外主要来自燃料燃烧和交通运输；室内主要来自燃煤和天然气等燃烧产物、吸烟、采暖和烹调等得烟雾，建筑和装饰材料、家具、家用电器、清洁剂和人体本身的排放等。</a:t>
            </a:r>
            <a:endParaRPr lang="zh-CN" altLang="en-US"/>
          </a:p>
          <a:p>
            <a:r>
              <a:rPr lang="zh-CN" altLang="en-US"/>
              <a:t>烟草行业：油墨、有机溶剂;</a:t>
            </a:r>
            <a:endParaRPr lang="zh-CN" altLang="en-US"/>
          </a:p>
          <a:p>
            <a:r>
              <a:rPr lang="zh-CN" altLang="en-US"/>
              <a:t>纺织品行业：鞋类制品所用的胶水等;</a:t>
            </a:r>
            <a:endParaRPr lang="zh-CN" altLang="en-US"/>
          </a:p>
          <a:p>
            <a:r>
              <a:rPr lang="zh-CN" altLang="en-US"/>
              <a:t>玩具行业：涂改液、香味玩具等;</a:t>
            </a:r>
            <a:endParaRPr lang="zh-CN" altLang="en-US"/>
          </a:p>
          <a:p>
            <a:r>
              <a:rPr lang="zh-CN" altLang="en-US"/>
              <a:t>家具装饰材料：涂料、油漆、胶黏剂等;</a:t>
            </a:r>
            <a:endParaRPr lang="zh-CN" altLang="en-US"/>
          </a:p>
          <a:p>
            <a:r>
              <a:rPr lang="zh-CN" altLang="en-US"/>
              <a:t>汽车配件材料：胶水、油漆等;</a:t>
            </a:r>
            <a:endParaRPr lang="zh-CN" altLang="en-US"/>
          </a:p>
          <a:p>
            <a:r>
              <a:rPr lang="zh-CN" altLang="en-US"/>
              <a:t>电子电气行业：在较高温度下使用时会挥发出VOC、电子五金的清洁溶剂等;</a:t>
            </a:r>
            <a:endParaRPr lang="zh-CN" altLang="en-US"/>
          </a:p>
          <a:p>
            <a:r>
              <a:rPr lang="zh-CN" altLang="en-US"/>
              <a:t>其他：洗涤剂、清洁剂、衣物柔顺剂、化妆品、办公用品、壁纸及其他装饰品。</a:t>
            </a:r>
            <a:endParaRPr lang="zh-CN" altLang="en-US"/>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7138" name="文本框 347137"/>
          <p:cNvSpPr txBox="1"/>
          <p:nvPr/>
        </p:nvSpPr>
        <p:spPr>
          <a:xfrm>
            <a:off x="10282238" y="6550025"/>
            <a:ext cx="304800" cy="277495"/>
          </a:xfrm>
          <a:prstGeom prst="rect">
            <a:avLst/>
          </a:prstGeom>
          <a:noFill/>
          <a:ln w="9525">
            <a:noFill/>
          </a:ln>
        </p:spPr>
        <p:txBody>
          <a:bodyPr wrap="none" lIns="0" tIns="0" rIns="0" bIns="0">
            <a:spAutoFit/>
          </a:bodyPr>
          <a:p>
            <a:pPr algn="l" defTabSz="916305">
              <a:lnSpc>
                <a:spcPts val="2165"/>
              </a:lnSpc>
            </a:pPr>
            <a:r>
              <a:rPr lang="en-US" altLang="zh-CN" sz="2400">
                <a:solidFill>
                  <a:srgbClr val="2A3D7A"/>
                </a:solidFill>
                <a:latin typeface="Times New Roman" panose="02020603050405020304" charset="0"/>
              </a:rPr>
              <a:t>28</a:t>
            </a:r>
            <a:endParaRPr lang="en-US" altLang="zh-CN" sz="2400">
              <a:solidFill>
                <a:srgbClr val="2A3D7A"/>
              </a:solidFill>
              <a:latin typeface="Times New Roman" panose="02020603050405020304" charset="0"/>
            </a:endParaRPr>
          </a:p>
        </p:txBody>
      </p:sp>
      <p:sp>
        <p:nvSpPr>
          <p:cNvPr id="347139" name="文本框 347138"/>
          <p:cNvSpPr txBox="1"/>
          <p:nvPr/>
        </p:nvSpPr>
        <p:spPr>
          <a:xfrm>
            <a:off x="2506663" y="1917700"/>
            <a:ext cx="7148195" cy="360680"/>
          </a:xfrm>
          <a:prstGeom prst="rect">
            <a:avLst/>
          </a:prstGeom>
          <a:noFill/>
          <a:ln w="9525">
            <a:noFill/>
          </a:ln>
        </p:spPr>
        <p:txBody>
          <a:bodyPr wrap="none" lIns="0" tIns="0" rIns="0" bIns="0">
            <a:spAutoFit/>
          </a:bodyPr>
          <a:p>
            <a:pPr algn="l" defTabSz="916305">
              <a:lnSpc>
                <a:spcPts val="2815"/>
              </a:lnSpc>
            </a:pPr>
            <a:r>
              <a:rPr lang="zh-CN" altLang="en-US" sz="2800" b="1" dirty="0">
                <a:solidFill>
                  <a:srgbClr val="FF0000"/>
                </a:solidFill>
                <a:latin typeface="Arial" panose="020B0604020202020204" pitchFamily="34" charset="0"/>
                <a:ea typeface="楷体_GB2312" charset="-122"/>
              </a:rPr>
              <a:t>汞</a:t>
            </a:r>
            <a:r>
              <a:rPr lang="zh-CN" altLang="en-US" sz="2800" dirty="0">
                <a:solidFill>
                  <a:srgbClr val="5B5249"/>
                </a:solidFill>
                <a:latin typeface="Arial" panose="020B0604020202020204" pitchFamily="34" charset="0"/>
                <a:ea typeface="楷体_GB2312" charset="-122"/>
              </a:rPr>
              <a:t>：</a:t>
            </a:r>
            <a:r>
              <a:rPr lang="zh-CN" altLang="en-US" sz="2800" b="1" dirty="0">
                <a:latin typeface="Arial" panose="020B0604020202020204" pitchFamily="34" charset="0"/>
                <a:ea typeface="楷体_GB2312" charset="-122"/>
              </a:rPr>
              <a:t>无机汞能自然（通过微生物）转变为剧毒</a:t>
            </a:r>
            <a:endParaRPr lang="zh-CN" altLang="en-US" sz="2800" b="1" dirty="0">
              <a:latin typeface="Arial" panose="020B0604020202020204" pitchFamily="34" charset="0"/>
              <a:ea typeface="楷体_GB2312" charset="-122"/>
            </a:endParaRPr>
          </a:p>
        </p:txBody>
      </p:sp>
      <p:sp>
        <p:nvSpPr>
          <p:cNvPr id="347140" name="文本框 347139"/>
          <p:cNvSpPr txBox="1"/>
          <p:nvPr/>
        </p:nvSpPr>
        <p:spPr>
          <a:xfrm>
            <a:off x="2965450" y="2644775"/>
            <a:ext cx="6792595" cy="360680"/>
          </a:xfrm>
          <a:prstGeom prst="rect">
            <a:avLst/>
          </a:prstGeom>
          <a:noFill/>
          <a:ln w="9525">
            <a:noFill/>
          </a:ln>
        </p:spPr>
        <p:txBody>
          <a:bodyPr wrap="none" lIns="0" tIns="0" rIns="0" bIns="0">
            <a:spAutoFit/>
          </a:bodyPr>
          <a:p>
            <a:pPr algn="l" defTabSz="916305">
              <a:lnSpc>
                <a:spcPts val="2815"/>
              </a:lnSpc>
            </a:pPr>
            <a:r>
              <a:rPr lang="zh-CN" altLang="en-US" sz="2800" b="1" dirty="0">
                <a:latin typeface="Arial" panose="020B0604020202020204" pitchFamily="34" charset="0"/>
                <a:ea typeface="楷体_GB2312" charset="-122"/>
              </a:rPr>
              <a:t>的有机汞（甲基汞）而依集于生物中。</a:t>
            </a:r>
            <a:r>
              <a:rPr lang="zh-CN" altLang="en-US" sz="2800" b="1" dirty="0">
                <a:solidFill>
                  <a:srgbClr val="FF0000"/>
                </a:solidFill>
                <a:latin typeface="Arial" panose="020B0604020202020204" pitchFamily="34" charset="0"/>
                <a:ea typeface="楷体_GB2312" charset="-122"/>
              </a:rPr>
              <a:t>汞蒸</a:t>
            </a:r>
            <a:endParaRPr lang="zh-CN" altLang="en-US" sz="2800" b="1" dirty="0">
              <a:solidFill>
                <a:srgbClr val="FF0000"/>
              </a:solidFill>
              <a:latin typeface="Arial" panose="020B0604020202020204" pitchFamily="34" charset="0"/>
              <a:ea typeface="楷体_GB2312" charset="-122"/>
            </a:endParaRPr>
          </a:p>
        </p:txBody>
      </p:sp>
      <p:sp>
        <p:nvSpPr>
          <p:cNvPr id="347141" name="文本框 347140"/>
          <p:cNvSpPr txBox="1"/>
          <p:nvPr/>
        </p:nvSpPr>
        <p:spPr>
          <a:xfrm>
            <a:off x="2965450" y="3371850"/>
            <a:ext cx="6792595" cy="360680"/>
          </a:xfrm>
          <a:prstGeom prst="rect">
            <a:avLst/>
          </a:prstGeom>
          <a:noFill/>
          <a:ln w="9525">
            <a:noFill/>
          </a:ln>
        </p:spPr>
        <p:txBody>
          <a:bodyPr wrap="none" lIns="0" tIns="0" rIns="0" bIns="0">
            <a:spAutoFit/>
          </a:bodyPr>
          <a:p>
            <a:pPr algn="l" defTabSz="916305">
              <a:lnSpc>
                <a:spcPts val="2815"/>
              </a:lnSpc>
            </a:pPr>
            <a:r>
              <a:rPr lang="zh-CN" altLang="en-US" sz="2800" b="1" dirty="0">
                <a:solidFill>
                  <a:srgbClr val="FF0000"/>
                </a:solidFill>
                <a:latin typeface="Arial" panose="020B0604020202020204" pitchFamily="34" charset="0"/>
                <a:ea typeface="楷体_GB2312" charset="-122"/>
              </a:rPr>
              <a:t>汽对中枢神经系统的毒性极大</a:t>
            </a:r>
            <a:r>
              <a:rPr lang="zh-CN" altLang="en-US" sz="2800" b="1" dirty="0">
                <a:latin typeface="Arial" panose="020B0604020202020204" pitchFamily="34" charset="0"/>
                <a:ea typeface="楷体_GB2312" charset="-122"/>
              </a:rPr>
              <a:t>。汞的空气污</a:t>
            </a:r>
            <a:endParaRPr lang="zh-CN" altLang="en-US" sz="2800" b="1" dirty="0">
              <a:latin typeface="Arial" panose="020B0604020202020204" pitchFamily="34" charset="0"/>
              <a:ea typeface="楷体_GB2312" charset="-122"/>
            </a:endParaRPr>
          </a:p>
        </p:txBody>
      </p:sp>
      <p:sp>
        <p:nvSpPr>
          <p:cNvPr id="347142" name="文本框 347141"/>
          <p:cNvSpPr txBox="1"/>
          <p:nvPr/>
        </p:nvSpPr>
        <p:spPr>
          <a:xfrm>
            <a:off x="2965450" y="4100513"/>
            <a:ext cx="6792595" cy="360680"/>
          </a:xfrm>
          <a:prstGeom prst="rect">
            <a:avLst/>
          </a:prstGeom>
          <a:noFill/>
          <a:ln w="9525">
            <a:noFill/>
          </a:ln>
        </p:spPr>
        <p:txBody>
          <a:bodyPr wrap="none" lIns="0" tIns="0" rIns="0" bIns="0">
            <a:spAutoFit/>
          </a:bodyPr>
          <a:p>
            <a:pPr algn="l" defTabSz="916305">
              <a:lnSpc>
                <a:spcPts val="2815"/>
              </a:lnSpc>
            </a:pPr>
            <a:r>
              <a:rPr lang="zh-CN" altLang="en-US" sz="2800" b="1" dirty="0">
                <a:latin typeface="Arial" panose="020B0604020202020204" pitchFamily="34" charset="0"/>
                <a:ea typeface="楷体_GB2312" charset="-122"/>
              </a:rPr>
              <a:t>染主要来源于油漆、水力发电站、汞加工厂</a:t>
            </a:r>
            <a:endParaRPr lang="zh-CN" altLang="en-US" sz="2800" b="1" dirty="0">
              <a:latin typeface="Arial" panose="020B0604020202020204" pitchFamily="34" charset="0"/>
              <a:ea typeface="楷体_GB2312" charset="-122"/>
            </a:endParaRPr>
          </a:p>
        </p:txBody>
      </p:sp>
      <p:sp>
        <p:nvSpPr>
          <p:cNvPr id="347143" name="文本框 347142"/>
          <p:cNvSpPr txBox="1"/>
          <p:nvPr/>
        </p:nvSpPr>
        <p:spPr>
          <a:xfrm>
            <a:off x="2965450" y="4827588"/>
            <a:ext cx="3217545" cy="360680"/>
          </a:xfrm>
          <a:prstGeom prst="rect">
            <a:avLst/>
          </a:prstGeom>
          <a:noFill/>
          <a:ln w="9525">
            <a:noFill/>
          </a:ln>
        </p:spPr>
        <p:txBody>
          <a:bodyPr wrap="none" lIns="0" tIns="0" rIns="0" bIns="0">
            <a:spAutoFit/>
          </a:bodyPr>
          <a:p>
            <a:pPr algn="l" defTabSz="916305">
              <a:lnSpc>
                <a:spcPts val="2815"/>
              </a:lnSpc>
            </a:pPr>
            <a:r>
              <a:rPr lang="zh-CN" altLang="en-US" sz="2800" b="1" dirty="0">
                <a:latin typeface="Arial" panose="020B0604020202020204" pitchFamily="34" charset="0"/>
                <a:ea typeface="楷体_GB2312" charset="-122"/>
              </a:rPr>
              <a:t>和有色金属冶炼厂。</a:t>
            </a:r>
            <a:endParaRPr lang="zh-CN" altLang="en-US" sz="2800" b="1" dirty="0">
              <a:latin typeface="Arial" panose="020B0604020202020204" pitchFamily="34" charset="0"/>
              <a:ea typeface="楷体_GB2312"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直接连接符 17510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24581" name="Rectangle 3"/>
          <p:cNvSpPr txBox="1">
            <a:spLocks noRot="1"/>
          </p:cNvSpPr>
          <p:nvPr/>
        </p:nvSpPr>
        <p:spPr>
          <a:xfrm>
            <a:off x="1905000" y="2371725"/>
            <a:ext cx="75977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2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200">
                <a:latin typeface="Times New Roman" panose="02020603050405020304" charset="0"/>
                <a:ea typeface="楷体_GB2312" charset="-122"/>
              </a:rPr>
              <a:t>2</a:t>
            </a:r>
            <a:r>
              <a:rPr lang="zh-CN" altLang="en-US" sz="2200" dirty="0">
                <a:latin typeface="Times New Roman" panose="02020603050405020304" charset="0"/>
                <a:ea typeface="楷体_GB2312" charset="-122"/>
              </a:rPr>
              <a:t>、汽车尾气污染明显增加，并逐渐上升为城市大气主要污染源 ；</a:t>
            </a:r>
            <a:endParaRPr lang="en-US" altLang="zh-CN" sz="22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200" dirty="0">
                <a:solidFill>
                  <a:schemeClr val="tx2"/>
                </a:solidFill>
                <a:latin typeface="Times New Roman" panose="02020603050405020304" charset="0"/>
                <a:ea typeface="楷体_GB2312" charset="-122"/>
              </a:rPr>
              <a:t>            </a:t>
            </a:r>
            <a:endParaRPr lang="zh-CN" altLang="en-US" sz="2200" dirty="0">
              <a:solidFill>
                <a:schemeClr val="tx2"/>
              </a:solidFill>
              <a:latin typeface="Times New Roman" panose="02020603050405020304" charset="0"/>
              <a:ea typeface="楷体_GB2312" charset="-122"/>
            </a:endParaRPr>
          </a:p>
        </p:txBody>
      </p:sp>
      <p:sp>
        <p:nvSpPr>
          <p:cNvPr id="3" name="Rectangle 3"/>
          <p:cNvSpPr txBox="1">
            <a:spLocks noRot="1"/>
          </p:cNvSpPr>
          <p:nvPr/>
        </p:nvSpPr>
        <p:spPr>
          <a:xfrm>
            <a:off x="1927225" y="3348038"/>
            <a:ext cx="7853363"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2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200">
                <a:latin typeface="Times New Roman" panose="02020603050405020304" charset="0"/>
                <a:ea typeface="楷体_GB2312" charset="-122"/>
              </a:rPr>
              <a:t>3</a:t>
            </a:r>
            <a:r>
              <a:rPr lang="zh-CN" altLang="en-US" sz="2200" dirty="0">
                <a:latin typeface="Times New Roman" panose="02020603050405020304" charset="0"/>
                <a:ea typeface="楷体_GB2312" charset="-122"/>
              </a:rPr>
              <a:t>、酸雨分布区域性、季节性明显，污染物成分特点突出，多以硫酸酸雨为主</a:t>
            </a:r>
            <a:r>
              <a:rPr lang="zh-CN" altLang="en-US" sz="2200" b="1" dirty="0">
                <a:latin typeface="Arial" panose="020B0604020202020204" pitchFamily="34" charset="0"/>
              </a:rPr>
              <a:t> </a:t>
            </a:r>
            <a:r>
              <a:rPr lang="zh-CN" altLang="en-US" sz="2200" dirty="0">
                <a:latin typeface="Times New Roman" panose="02020603050405020304" charset="0"/>
                <a:ea typeface="楷体_GB2312" charset="-122"/>
              </a:rPr>
              <a:t>；</a:t>
            </a:r>
            <a:endParaRPr lang="en-US" altLang="zh-CN" sz="22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200" dirty="0">
                <a:solidFill>
                  <a:schemeClr val="tx2"/>
                </a:solidFill>
                <a:latin typeface="Times New Roman" panose="02020603050405020304" charset="0"/>
                <a:ea typeface="楷体_GB2312" charset="-122"/>
              </a:rPr>
              <a:t>            </a:t>
            </a:r>
            <a:endParaRPr lang="zh-CN" altLang="en-US" sz="2200" dirty="0">
              <a:solidFill>
                <a:schemeClr val="tx2"/>
              </a:solidFill>
              <a:latin typeface="Times New Roman" panose="02020603050405020304" charset="0"/>
              <a:ea typeface="楷体_GB2312" charset="-122"/>
            </a:endParaRPr>
          </a:p>
        </p:txBody>
      </p:sp>
      <p:sp>
        <p:nvSpPr>
          <p:cNvPr id="4" name="Rectangle 3"/>
          <p:cNvSpPr txBox="1">
            <a:spLocks noRot="1"/>
          </p:cNvSpPr>
          <p:nvPr/>
        </p:nvSpPr>
        <p:spPr>
          <a:xfrm>
            <a:off x="1905000" y="4352925"/>
            <a:ext cx="7848600"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2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200">
                <a:latin typeface="Times New Roman" panose="02020603050405020304" charset="0"/>
                <a:ea typeface="楷体_GB2312" charset="-122"/>
              </a:rPr>
              <a:t>4</a:t>
            </a:r>
            <a:r>
              <a:rPr lang="zh-CN" altLang="en-US" sz="2200" dirty="0">
                <a:latin typeface="Times New Roman" panose="02020603050405020304" charset="0"/>
                <a:ea typeface="楷体_GB2312" charset="-122"/>
              </a:rPr>
              <a:t>、工业“三废”任意排放是目前大气污染的罪魁祸首，但农业引发的大气污染仍不容忽视 。</a:t>
            </a:r>
            <a:endParaRPr lang="en-US" altLang="zh-CN" sz="22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200" dirty="0">
                <a:latin typeface="Times New Roman" panose="02020603050405020304" charset="0"/>
                <a:ea typeface="楷体_GB2312" charset="-122"/>
              </a:rPr>
              <a:t>            </a:t>
            </a:r>
            <a:endParaRPr lang="zh-CN" altLang="en-US" sz="2200" dirty="0">
              <a:latin typeface="Times New Roman" panose="02020603050405020304" charset="0"/>
              <a:ea typeface="楷体_GB2312" charset="-122"/>
            </a:endParaRPr>
          </a:p>
        </p:txBody>
      </p:sp>
      <p:sp>
        <p:nvSpPr>
          <p:cNvPr id="175112" name="矩形 175111"/>
          <p:cNvSpPr/>
          <p:nvPr/>
        </p:nvSpPr>
        <p:spPr>
          <a:xfrm>
            <a:off x="1600200" y="10553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中国大气污染的特征</a:t>
            </a:r>
            <a:endParaRPr lang="zh-CN" altLang="en-GB" sz="2800" b="1" dirty="0">
              <a:solidFill>
                <a:srgbClr val="FC4A26"/>
              </a:solidFill>
              <a:latin typeface="楷体_GB2312" charset="-122"/>
              <a:ea typeface="楷体_GB2312" charset="-122"/>
            </a:endParaRPr>
          </a:p>
        </p:txBody>
      </p:sp>
      <p:sp>
        <p:nvSpPr>
          <p:cNvPr id="5" name="Rectangle 3"/>
          <p:cNvSpPr txBox="1">
            <a:spLocks noRot="1"/>
          </p:cNvSpPr>
          <p:nvPr/>
        </p:nvSpPr>
        <p:spPr>
          <a:xfrm>
            <a:off x="1927225" y="1219200"/>
            <a:ext cx="7848600"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200">
                <a:latin typeface="Times New Roman" panose="02020603050405020304" charset="0"/>
                <a:ea typeface="楷体_GB2312" charset="-122"/>
              </a:rPr>
              <a:t>1</a:t>
            </a:r>
            <a:r>
              <a:rPr lang="zh-CN" altLang="en-US" sz="2200" dirty="0">
                <a:latin typeface="Times New Roman" panose="02020603050405020304" charset="0"/>
                <a:ea typeface="楷体_GB2312" charset="-122"/>
              </a:rPr>
              <a:t>、煤烟型污染是污染的普遍问题，主要污染物是烟尘和二氧化硫</a:t>
            </a:r>
            <a:r>
              <a:rPr lang="zh-CN" altLang="en-US" sz="2200" b="1" dirty="0">
                <a:latin typeface="Arial" panose="020B0604020202020204" pitchFamily="34" charset="0"/>
              </a:rPr>
              <a:t> </a:t>
            </a:r>
            <a:r>
              <a:rPr lang="zh-CN" altLang="en-US" sz="2200" dirty="0">
                <a:latin typeface="Times New Roman" panose="02020603050405020304" charset="0"/>
                <a:ea typeface="楷体_GB2312" charset="-122"/>
              </a:rPr>
              <a:t>；</a:t>
            </a:r>
            <a:endParaRPr lang="en-US" altLang="zh-CN" sz="22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000" dirty="0">
                <a:solidFill>
                  <a:schemeClr val="tx2"/>
                </a:solidFill>
                <a:latin typeface="Times New Roman" panose="02020603050405020304" charset="0"/>
                <a:ea typeface="楷体_GB2312" charset="-122"/>
              </a:rPr>
              <a:t>            </a:t>
            </a:r>
            <a:endParaRPr lang="zh-CN" altLang="en-US" sz="2000" dirty="0">
              <a:solidFill>
                <a:schemeClr val="tx2"/>
              </a:solidFill>
              <a:latin typeface="Times New Roman" panose="02020603050405020304" charset="0"/>
              <a:ea typeface="楷体_GB2312" charset="-122"/>
            </a:endParaRPr>
          </a:p>
        </p:txBody>
      </p:sp>
      <p:sp>
        <p:nvSpPr>
          <p:cNvPr id="175114" name="五边形 175113"/>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checkerboard(across)">
                                      <p:cBhvr>
                                        <p:cTn id="12" dur="500"/>
                                        <p:tgtEl>
                                          <p:spTgt spid="2458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3" grpId="0"/>
      <p:bldP spid="4" grpId="0"/>
      <p:bldP spid="5"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直接连接符 176129"/>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029134" name="AutoShape 14"/>
          <p:cNvSpPr>
            <a:spLocks noChangeArrowheads="1"/>
          </p:cNvSpPr>
          <p:nvPr/>
        </p:nvSpPr>
        <p:spPr bwMode="auto">
          <a:xfrm>
            <a:off x="2933700" y="3525838"/>
            <a:ext cx="1943100" cy="904875"/>
          </a:xfrm>
          <a:prstGeom prst="homePlate">
            <a:avLst>
              <a:gd name="adj" fmla="val 42002"/>
            </a:avLst>
          </a:prstGeom>
          <a:solidFill>
            <a:srgbClr val="FFCC00"/>
          </a:solidFill>
          <a:ln w="12700">
            <a:solidFill>
              <a:srgbClr val="000000"/>
            </a:solidFill>
            <a:miter lim="800000"/>
          </a:ln>
          <a:effectLst>
            <a:outerShdw dist="35921" dir="2700000" algn="ctr" rotWithShape="0">
              <a:schemeClr val="tx1"/>
            </a:outerShdw>
          </a:effectLst>
        </p:spPr>
        <p:txBody>
          <a:bodyPr lIns="0" tIns="44450" rIns="0" bIns="44450" anchor="ctr"/>
          <a:p>
            <a:r>
              <a:rPr lang="zh-CN" altLang="en-US" sz="2600" b="1" dirty="0">
                <a:solidFill>
                  <a:schemeClr val="accent1"/>
                </a:solidFill>
                <a:latin typeface="Arial" panose="020B0604020202020204" pitchFamily="34" charset="0"/>
                <a:ea typeface="楷体_GB2312" charset="-122"/>
              </a:rPr>
              <a:t>大气污染的危害</a:t>
            </a:r>
            <a:endParaRPr lang="en-US" altLang="zh-CN" sz="2600" b="1">
              <a:solidFill>
                <a:schemeClr val="accent1"/>
              </a:solidFill>
              <a:latin typeface="Arial" panose="020B0604020202020204" pitchFamily="34" charset="0"/>
              <a:ea typeface="楷体_GB2312" charset="-122"/>
            </a:endParaRPr>
          </a:p>
        </p:txBody>
      </p:sp>
      <p:sp>
        <p:nvSpPr>
          <p:cNvPr id="176134" name="左大括号 176133"/>
          <p:cNvSpPr/>
          <p:nvPr/>
        </p:nvSpPr>
        <p:spPr>
          <a:xfrm>
            <a:off x="4876800" y="2916238"/>
            <a:ext cx="342900" cy="2047875"/>
          </a:xfrm>
          <a:prstGeom prst="leftBrace">
            <a:avLst>
              <a:gd name="adj1" fmla="val 49768"/>
              <a:gd name="adj2" fmla="val 50000"/>
            </a:avLst>
          </a:prstGeom>
          <a:noFill/>
          <a:ln w="38100" cap="flat" cmpd="sng">
            <a:solidFill>
              <a:schemeClr val="hlink"/>
            </a:solidFill>
            <a:prstDash val="solid"/>
            <a:headEnd type="none" w="med" len="med"/>
            <a:tailEnd type="none" w="med" len="med"/>
          </a:ln>
          <a:effectLst>
            <a:outerShdw dist="107763" dir="18900000" algn="ctr" rotWithShape="0">
              <a:schemeClr val="bg2">
                <a:alpha val="50000"/>
              </a:schemeClr>
            </a:outerShdw>
          </a:effectLst>
        </p:spPr>
        <p:txBody>
          <a:bodyPr/>
          <a:p>
            <a:endParaRPr lang="zh-CN" altLang="en-US"/>
          </a:p>
        </p:txBody>
      </p:sp>
      <p:sp>
        <p:nvSpPr>
          <p:cNvPr id="176135" name="AutoShape 8"/>
          <p:cNvSpPr/>
          <p:nvPr/>
        </p:nvSpPr>
        <p:spPr>
          <a:xfrm>
            <a:off x="5257800" y="2774950"/>
            <a:ext cx="3124200" cy="436563"/>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对人体健康的危害</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176136" name="AutoShape 8"/>
          <p:cNvSpPr/>
          <p:nvPr/>
        </p:nvSpPr>
        <p:spPr>
          <a:xfrm>
            <a:off x="5257800" y="3725863"/>
            <a:ext cx="3124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对工农业生产的危害</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176137" name="AutoShape 8"/>
          <p:cNvSpPr/>
          <p:nvPr/>
        </p:nvSpPr>
        <p:spPr>
          <a:xfrm>
            <a:off x="5257800" y="4745038"/>
            <a:ext cx="3124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对大气和气候的影响 </a:t>
            </a:r>
            <a:endParaRPr lang="zh-CN" altLang="en-US" sz="2400" b="1" dirty="0">
              <a:solidFill>
                <a:srgbClr val="FFFF66"/>
              </a:solidFill>
              <a:latin typeface="宋体" panose="02010600030101010101" pitchFamily="2" charset="-122"/>
              <a:ea typeface="楷体_GB2312" charset="-122"/>
            </a:endParaRPr>
          </a:p>
        </p:txBody>
      </p:sp>
      <p:sp>
        <p:nvSpPr>
          <p:cNvPr id="176138" name="矩形 176137"/>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大气污染的危害</a:t>
            </a:r>
            <a:endParaRPr lang="en-GB" altLang="zh-CN" sz="2800" b="1">
              <a:solidFill>
                <a:srgbClr val="FC4A26"/>
              </a:solidFill>
              <a:latin typeface="楷体_GB2312" charset="-122"/>
              <a:ea typeface="楷体_GB2312" charset="-122"/>
            </a:endParaRPr>
          </a:p>
        </p:txBody>
      </p:sp>
      <p:sp>
        <p:nvSpPr>
          <p:cNvPr id="176139" name="五边形 176138"/>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9134"/>
                                        </p:tgtEl>
                                        <p:attrNameLst>
                                          <p:attrName>style.visibility</p:attrName>
                                        </p:attrNameLst>
                                      </p:cBhvr>
                                      <p:to>
                                        <p:strVal val="visible"/>
                                      </p:to>
                                    </p:set>
                                    <p:animEffect transition="in" filter="box(in)">
                                      <p:cBhvr>
                                        <p:cTn id="7" dur="500"/>
                                        <p:tgtEl>
                                          <p:spTgt spid="1029134"/>
                                        </p:tgtEl>
                                      </p:cBhvr>
                                    </p:animEffect>
                                  </p:childTnLst>
                                </p:cTn>
                              </p:par>
                              <p:par>
                                <p:cTn id="8" presetID="4" presetClass="entr" presetSubtype="16" fill="hold" nodeType="withEffect">
                                  <p:stCondLst>
                                    <p:cond delay="0"/>
                                  </p:stCondLst>
                                  <p:childTnLst>
                                    <p:set>
                                      <p:cBhvr>
                                        <p:cTn id="9" dur="1" fill="hold">
                                          <p:stCondLst>
                                            <p:cond delay="0"/>
                                          </p:stCondLst>
                                        </p:cTn>
                                        <p:tgtEl>
                                          <p:spTgt spid="176134"/>
                                        </p:tgtEl>
                                        <p:attrNameLst>
                                          <p:attrName>style.visibility</p:attrName>
                                        </p:attrNameLst>
                                      </p:cBhvr>
                                      <p:to>
                                        <p:strVal val="visible"/>
                                      </p:to>
                                    </p:set>
                                    <p:animEffect transition="in" filter="box(in)">
                                      <p:cBhvr>
                                        <p:cTn id="10" dur="500"/>
                                        <p:tgtEl>
                                          <p:spTgt spid="176134"/>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76135"/>
                                        </p:tgtEl>
                                        <p:attrNameLst>
                                          <p:attrName>style.visibility</p:attrName>
                                        </p:attrNameLst>
                                      </p:cBhvr>
                                      <p:to>
                                        <p:strVal val="visible"/>
                                      </p:to>
                                    </p:set>
                                    <p:animEffect transition="in" filter="checkerboard(across)">
                                      <p:cBhvr>
                                        <p:cTn id="15" dur="500"/>
                                        <p:tgtEl>
                                          <p:spTgt spid="176135"/>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176136"/>
                                        </p:tgtEl>
                                        <p:attrNameLst>
                                          <p:attrName>style.visibility</p:attrName>
                                        </p:attrNameLst>
                                      </p:cBhvr>
                                      <p:to>
                                        <p:strVal val="visible"/>
                                      </p:to>
                                    </p:set>
                                    <p:animEffect transition="in" filter="checkerboard(across)">
                                      <p:cBhvr>
                                        <p:cTn id="20" dur="500"/>
                                        <p:tgtEl>
                                          <p:spTgt spid="176136"/>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76137"/>
                                        </p:tgtEl>
                                        <p:attrNameLst>
                                          <p:attrName>style.visibility</p:attrName>
                                        </p:attrNameLst>
                                      </p:cBhvr>
                                      <p:to>
                                        <p:strVal val="visible"/>
                                      </p:to>
                                    </p:set>
                                    <p:animEffect transition="in" filter="checkerboard(across)">
                                      <p:cBhvr>
                                        <p:cTn id="25" dur="500"/>
                                        <p:tgtEl>
                                          <p:spTgt spid="176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9134" grpId="0" bldLvl="0" animBg="1"/>
      <p:bldP spid="176135" grpId="0" bldLvl="0" animBg="1"/>
      <p:bldP spid="176136" grpId="0" bldLvl="0" animBg="1"/>
      <p:bldP spid="176137"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直接连接符 17715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7157" name="矩形 177156"/>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对人体健康的危害</a:t>
            </a:r>
            <a:endParaRPr lang="zh-CN" altLang="en-GB" sz="2800" b="1" dirty="0">
              <a:solidFill>
                <a:srgbClr val="FC4A26"/>
              </a:solidFill>
              <a:latin typeface="楷体_GB2312" charset="-122"/>
              <a:ea typeface="楷体_GB2312" charset="-122"/>
            </a:endParaRPr>
          </a:p>
        </p:txBody>
      </p:sp>
      <p:sp>
        <p:nvSpPr>
          <p:cNvPr id="177158" name="矩形 177157"/>
          <p:cNvSpPr/>
          <p:nvPr/>
        </p:nvSpPr>
        <p:spPr>
          <a:xfrm>
            <a:off x="1909763" y="2046447"/>
            <a:ext cx="7945437" cy="2630170"/>
          </a:xfrm>
          <a:prstGeom prst="rect">
            <a:avLst/>
          </a:prstGeom>
          <a:noFill/>
          <a:ln w="9525">
            <a:noFill/>
          </a:ln>
        </p:spPr>
        <p:txBody>
          <a:bodyPr anchor="ctr" anchorCtr="0">
            <a:spAutoFit/>
          </a:bodyPr>
          <a:p>
            <a:pPr algn="l">
              <a:lnSpc>
                <a:spcPct val="150000"/>
              </a:lnSpc>
            </a:pPr>
            <a:r>
              <a:rPr lang="zh-CN" altLang="en-GB" sz="2200" dirty="0">
                <a:latin typeface="Arial" panose="020B0604020202020204" pitchFamily="34" charset="0"/>
                <a:ea typeface="楷体_GB2312" charset="-122"/>
              </a:rPr>
              <a:t>        大气污染后，由于污染物质的来源、性质、浓度和持续时间的不同，污染地区的气象条件、地理环境等因素的差别，甚至人的年龄、健康状况的不同，对人均会产生不同的危害。</a:t>
            </a:r>
            <a:endParaRPr lang="zh-CN" altLang="en-GB" sz="2200" dirty="0">
              <a:latin typeface="Arial" panose="020B0604020202020204" pitchFamily="34" charset="0"/>
              <a:ea typeface="楷体_GB2312" charset="-122"/>
            </a:endParaRPr>
          </a:p>
          <a:p>
            <a:pPr algn="l">
              <a:lnSpc>
                <a:spcPct val="150000"/>
              </a:lnSpc>
            </a:pPr>
            <a:r>
              <a:rPr lang="zh-CN" altLang="en-GB" sz="2200" dirty="0">
                <a:latin typeface="Arial" panose="020B0604020202020204" pitchFamily="34" charset="0"/>
                <a:ea typeface="楷体_GB2312" charset="-122"/>
              </a:rPr>
              <a:t>        大气污染对人的危害大致可分为</a:t>
            </a:r>
            <a:r>
              <a:rPr lang="zh-CN" altLang="en-GB" sz="2200" b="1" u="sng" dirty="0">
                <a:solidFill>
                  <a:srgbClr val="FC4A26"/>
                </a:solidFill>
                <a:latin typeface="Arial" panose="020B0604020202020204" pitchFamily="34" charset="0"/>
                <a:ea typeface="楷体_GB2312" charset="-122"/>
              </a:rPr>
              <a:t>急性中毒、慢性中毒、致癌</a:t>
            </a:r>
            <a:r>
              <a:rPr lang="zh-CN" altLang="en-GB" sz="2200" dirty="0">
                <a:latin typeface="Arial" panose="020B0604020202020204" pitchFamily="34" charset="0"/>
                <a:ea typeface="楷体_GB2312" charset="-122"/>
              </a:rPr>
              <a:t>三种。</a:t>
            </a:r>
            <a:endParaRPr lang="zh-CN" altLang="en-GB" sz="2200" dirty="0">
              <a:latin typeface="Arial" panose="020B0604020202020204" pitchFamily="34" charset="0"/>
              <a:ea typeface="楷体_GB2312" charset="-122"/>
            </a:endParaRPr>
          </a:p>
        </p:txBody>
      </p:sp>
      <p:sp>
        <p:nvSpPr>
          <p:cNvPr id="177159" name="五边形 177158"/>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直接连接符 17817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8181" name="矩形 178180"/>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急性中毒</a:t>
            </a:r>
            <a:endParaRPr lang="en-GB" altLang="zh-CN" sz="2800" b="1">
              <a:solidFill>
                <a:srgbClr val="FC4A26"/>
              </a:solidFill>
              <a:latin typeface="楷体_GB2312" charset="-122"/>
              <a:ea typeface="楷体_GB2312" charset="-122"/>
            </a:endParaRPr>
          </a:p>
        </p:txBody>
      </p:sp>
      <p:pic>
        <p:nvPicPr>
          <p:cNvPr id="199682" name="Picture 2"/>
          <p:cNvPicPr>
            <a:picLocks noChangeAspect="1"/>
          </p:cNvPicPr>
          <p:nvPr/>
        </p:nvPicPr>
        <p:blipFill>
          <a:blip r:embed="rId1"/>
          <a:stretch>
            <a:fillRect/>
          </a:stretch>
        </p:blipFill>
        <p:spPr>
          <a:xfrm>
            <a:off x="1909763" y="2195513"/>
            <a:ext cx="3108325" cy="3733800"/>
          </a:xfrm>
          <a:prstGeom prst="rect">
            <a:avLst/>
          </a:prstGeom>
          <a:noFill/>
          <a:ln w="9525">
            <a:noFill/>
          </a:ln>
        </p:spPr>
      </p:pic>
      <p:pic>
        <p:nvPicPr>
          <p:cNvPr id="199683" name="Picture 3"/>
          <p:cNvPicPr>
            <a:picLocks noChangeAspect="1"/>
          </p:cNvPicPr>
          <p:nvPr/>
        </p:nvPicPr>
        <p:blipFill>
          <a:blip r:embed="rId2"/>
          <a:stretch>
            <a:fillRect/>
          </a:stretch>
        </p:blipFill>
        <p:spPr>
          <a:xfrm>
            <a:off x="5372100" y="3143250"/>
            <a:ext cx="4733925" cy="2857500"/>
          </a:xfrm>
          <a:prstGeom prst="rect">
            <a:avLst/>
          </a:prstGeom>
          <a:noFill/>
          <a:ln w="9525">
            <a:noFill/>
          </a:ln>
        </p:spPr>
      </p:pic>
      <p:sp>
        <p:nvSpPr>
          <p:cNvPr id="10" name="爆炸形 2 9"/>
          <p:cNvSpPr/>
          <p:nvPr/>
        </p:nvSpPr>
        <p:spPr bwMode="auto">
          <a:xfrm>
            <a:off x="5395913" y="571500"/>
            <a:ext cx="4357688" cy="2571750"/>
          </a:xfrm>
          <a:prstGeom prst="irregularSeal2">
            <a:avLst/>
          </a:prstGeom>
          <a:solidFill>
            <a:schemeClr val="tx2">
              <a:lumMod val="75000"/>
            </a:schemeClr>
          </a:solidFill>
          <a:ln w="9525">
            <a:noFill/>
            <a:round/>
          </a:ln>
        </p:spPr>
        <p:txBody>
          <a:bodyPr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1" name="TextBox 10"/>
          <p:cNvSpPr txBox="1"/>
          <p:nvPr/>
        </p:nvSpPr>
        <p:spPr>
          <a:xfrm>
            <a:off x="5740400" y="1447800"/>
            <a:ext cx="3230880" cy="1014730"/>
          </a:xfrm>
          <a:prstGeom prst="rect">
            <a:avLst/>
          </a:prstGeom>
          <a:noFill/>
          <a:ln w="9525">
            <a:noFill/>
          </a:ln>
        </p:spPr>
        <p:txBody>
          <a:bodyPr wrap="none">
            <a:spAutoFit/>
          </a:bodyPr>
          <a:p>
            <a:pPr algn="l"/>
            <a:r>
              <a:rPr lang="zh-CN" altLang="en-US" sz="2000" b="1" dirty="0">
                <a:solidFill>
                  <a:srgbClr val="000000"/>
                </a:solidFill>
                <a:latin typeface="Arial" panose="020B0604020202020204" pitchFamily="34" charset="0"/>
              </a:rPr>
              <a:t>世界最严重的毒气泄漏悲剧</a:t>
            </a:r>
            <a:endParaRPr lang="en-US" altLang="zh-CN" sz="2000" b="1">
              <a:solidFill>
                <a:srgbClr val="000000"/>
              </a:solidFill>
              <a:latin typeface="Arial" panose="020B0604020202020204" pitchFamily="34" charset="0"/>
            </a:endParaRPr>
          </a:p>
          <a:p>
            <a:pPr algn="l"/>
            <a:endParaRPr lang="en-US" altLang="zh-CN" sz="2000" b="1">
              <a:solidFill>
                <a:srgbClr val="000000"/>
              </a:solidFill>
              <a:latin typeface="Arial" panose="020B0604020202020204" pitchFamily="34" charset="0"/>
            </a:endParaRPr>
          </a:p>
          <a:p>
            <a:pPr algn="l"/>
            <a:r>
              <a:rPr lang="en-US" altLang="zh-CN" sz="2000" b="1">
                <a:solidFill>
                  <a:srgbClr val="000000"/>
                </a:solidFill>
                <a:latin typeface="Arial" panose="020B0604020202020204" pitchFamily="34" charset="0"/>
              </a:rPr>
              <a:t>——“</a:t>
            </a:r>
            <a:r>
              <a:rPr lang="zh-CN" altLang="en-US" sz="2000" b="1" dirty="0">
                <a:solidFill>
                  <a:srgbClr val="000000"/>
                </a:solidFill>
                <a:latin typeface="Arial" panose="020B0604020202020204" pitchFamily="34" charset="0"/>
              </a:rPr>
              <a:t>博帕尔事件”</a:t>
            </a:r>
            <a:endParaRPr lang="zh-CN" altLang="en-US" sz="2000" b="1" dirty="0">
              <a:solidFill>
                <a:srgbClr val="000000"/>
              </a:solidFill>
              <a:latin typeface="Arial" panose="020B0604020202020204" pitchFamily="34" charset="0"/>
            </a:endParaRPr>
          </a:p>
        </p:txBody>
      </p:sp>
      <p:sp>
        <p:nvSpPr>
          <p:cNvPr id="178186" name="五边形 178185"/>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4)">
                                      <p:cBhvr>
                                        <p:cTn id="7" dur="1000"/>
                                        <p:tgtEl>
                                          <p:spTgt spid="10"/>
                                        </p:tgtEl>
                                      </p:cBhvr>
                                    </p:animEffect>
                                  </p:childTnLst>
                                </p:cTn>
                              </p:par>
                              <p:par>
                                <p:cTn id="8" presetID="21" presetClass="entr" presetSubtype="4"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heel(4)">
                                      <p:cBhvr>
                                        <p:cTn id="10" dur="10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99682"/>
                                        </p:tgtEl>
                                        <p:attrNameLst>
                                          <p:attrName>style.visibility</p:attrName>
                                        </p:attrNameLst>
                                      </p:cBhvr>
                                      <p:to>
                                        <p:strVal val="visible"/>
                                      </p:to>
                                    </p:set>
                                    <p:animEffect transition="in" filter="checkerboard(across)">
                                      <p:cBhvr>
                                        <p:cTn id="15" dur="1000"/>
                                        <p:tgtEl>
                                          <p:spTgt spid="199682"/>
                                        </p:tgtEl>
                                      </p:cBhvr>
                                    </p:animEffect>
                                  </p:childTnLst>
                                </p:cTn>
                              </p:par>
                              <p:par>
                                <p:cTn id="16" presetID="5" presetClass="entr" presetSubtype="10" fill="hold" nodeType="withEffect">
                                  <p:stCondLst>
                                    <p:cond delay="0"/>
                                  </p:stCondLst>
                                  <p:childTnLst>
                                    <p:set>
                                      <p:cBhvr>
                                        <p:cTn id="17" dur="1" fill="hold">
                                          <p:stCondLst>
                                            <p:cond delay="0"/>
                                          </p:stCondLst>
                                        </p:cTn>
                                        <p:tgtEl>
                                          <p:spTgt spid="199683"/>
                                        </p:tgtEl>
                                        <p:attrNameLst>
                                          <p:attrName>style.visibility</p:attrName>
                                        </p:attrNameLst>
                                      </p:cBhvr>
                                      <p:to>
                                        <p:strVal val="visible"/>
                                      </p:to>
                                    </p:set>
                                    <p:animEffect transition="in" filter="checkerboard(across)">
                                      <p:cBhvr>
                                        <p:cTn id="18" dur="1000"/>
                                        <p:tgtEl>
                                          <p:spTgt spid="199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直接连接符 17920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79205" name="矩形 179204"/>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慢性中毒和癌症</a:t>
            </a:r>
            <a:endParaRPr lang="en-GB" altLang="zh-CN" sz="2800" b="1">
              <a:solidFill>
                <a:srgbClr val="FC4A26"/>
              </a:solidFill>
              <a:latin typeface="楷体_GB2312" charset="-122"/>
              <a:ea typeface="楷体_GB2312" charset="-122"/>
            </a:endParaRPr>
          </a:p>
        </p:txBody>
      </p:sp>
      <p:pic>
        <p:nvPicPr>
          <p:cNvPr id="179206" name="图片 179205" descr="2009121508193946"/>
          <p:cNvPicPr>
            <a:picLocks noChangeAspect="1"/>
          </p:cNvPicPr>
          <p:nvPr/>
        </p:nvPicPr>
        <p:blipFill>
          <a:blip r:embed="rId1"/>
          <a:stretch>
            <a:fillRect/>
          </a:stretch>
        </p:blipFill>
        <p:spPr>
          <a:xfrm>
            <a:off x="5764213" y="2819400"/>
            <a:ext cx="4516437" cy="3600450"/>
          </a:xfrm>
          <a:prstGeom prst="rect">
            <a:avLst/>
          </a:prstGeom>
          <a:noFill/>
          <a:ln w="9525">
            <a:noFill/>
          </a:ln>
        </p:spPr>
      </p:pic>
      <p:pic>
        <p:nvPicPr>
          <p:cNvPr id="179207" name="图片 179206" descr="00059842"/>
          <p:cNvPicPr>
            <a:picLocks noChangeAspect="1"/>
          </p:cNvPicPr>
          <p:nvPr/>
        </p:nvPicPr>
        <p:blipFill>
          <a:blip r:embed="rId2"/>
          <a:stretch>
            <a:fillRect/>
          </a:stretch>
        </p:blipFill>
        <p:spPr>
          <a:xfrm>
            <a:off x="2057400" y="2133600"/>
            <a:ext cx="3332163" cy="3748088"/>
          </a:xfrm>
          <a:prstGeom prst="rect">
            <a:avLst/>
          </a:prstGeom>
          <a:noFill/>
          <a:ln w="9525">
            <a:noFill/>
          </a:ln>
        </p:spPr>
      </p:pic>
      <p:sp>
        <p:nvSpPr>
          <p:cNvPr id="179208" name="五边形 179207"/>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79207"/>
                                        </p:tgtEl>
                                        <p:attrNameLst>
                                          <p:attrName>style.visibility</p:attrName>
                                        </p:attrNameLst>
                                      </p:cBhvr>
                                      <p:to>
                                        <p:strVal val="visible"/>
                                      </p:to>
                                    </p:set>
                                    <p:animEffect transition="in" filter="blinds(vertical)">
                                      <p:cBhvr>
                                        <p:cTn id="7" dur="500"/>
                                        <p:tgtEl>
                                          <p:spTgt spid="179207"/>
                                        </p:tgtEl>
                                      </p:cBhvr>
                                    </p:animEffect>
                                  </p:childTnLst>
                                </p:cTn>
                              </p:par>
                              <p:par>
                                <p:cTn id="8" presetID="3" presetClass="entr" presetSubtype="5" fill="hold" nodeType="withEffect">
                                  <p:stCondLst>
                                    <p:cond delay="0"/>
                                  </p:stCondLst>
                                  <p:childTnLst>
                                    <p:set>
                                      <p:cBhvr>
                                        <p:cTn id="9" dur="1" fill="hold">
                                          <p:stCondLst>
                                            <p:cond delay="0"/>
                                          </p:stCondLst>
                                        </p:cTn>
                                        <p:tgtEl>
                                          <p:spTgt spid="179206"/>
                                        </p:tgtEl>
                                        <p:attrNameLst>
                                          <p:attrName>style.visibility</p:attrName>
                                        </p:attrNameLst>
                                      </p:cBhvr>
                                      <p:to>
                                        <p:strVal val="visible"/>
                                      </p:to>
                                    </p:set>
                                    <p:animEffect transition="in" filter="blinds(vertical)">
                                      <p:cBhvr>
                                        <p:cTn id="10" dur="500"/>
                                        <p:tgtEl>
                                          <p:spTgt spid="179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直接连接符 18022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0229" name="矩形 180228"/>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对工农业生产的危害</a:t>
            </a:r>
            <a:endParaRPr lang="zh-CN" altLang="en-GB" sz="2800" b="1" dirty="0">
              <a:solidFill>
                <a:srgbClr val="FC4A26"/>
              </a:solidFill>
              <a:latin typeface="楷体_GB2312" charset="-122"/>
              <a:ea typeface="楷体_GB2312" charset="-122"/>
            </a:endParaRPr>
          </a:p>
        </p:txBody>
      </p:sp>
      <p:sp>
        <p:nvSpPr>
          <p:cNvPr id="180230" name="矩形 180229"/>
          <p:cNvSpPr/>
          <p:nvPr/>
        </p:nvSpPr>
        <p:spPr>
          <a:xfrm>
            <a:off x="2209800" y="1968818"/>
            <a:ext cx="7843838" cy="3291840"/>
          </a:xfrm>
          <a:prstGeom prst="rect">
            <a:avLst/>
          </a:prstGeom>
          <a:noFill/>
          <a:ln w="9525">
            <a:noFill/>
          </a:ln>
        </p:spPr>
        <p:txBody>
          <a:bodyPr anchor="ctr" anchorCtr="0">
            <a:spAutoFit/>
          </a:bodyPr>
          <a:p>
            <a:pPr algn="l">
              <a:lnSpc>
                <a:spcPct val="130000"/>
              </a:lnSpc>
            </a:pPr>
            <a:r>
              <a:rPr lang="zh-CN" altLang="en-GB" sz="2000" dirty="0">
                <a:latin typeface="楷体_GB2312" charset="-122"/>
                <a:ea typeface="楷体_GB2312" charset="-122"/>
              </a:rPr>
              <a:t>    大气污染物对</a:t>
            </a:r>
            <a:r>
              <a:rPr lang="zh-CN" altLang="en-GB" sz="2000" b="1" u="sng" dirty="0">
                <a:solidFill>
                  <a:schemeClr val="accent2"/>
                </a:solidFill>
                <a:latin typeface="楷体_GB2312" charset="-122"/>
                <a:ea typeface="楷体_GB2312" charset="-122"/>
              </a:rPr>
              <a:t>工业的危害</a:t>
            </a:r>
            <a:r>
              <a:rPr lang="zh-CN" altLang="en-GB" sz="2000" dirty="0">
                <a:latin typeface="楷体_GB2312" charset="-122"/>
                <a:ea typeface="楷体_GB2312" charset="-122"/>
              </a:rPr>
              <a:t>主要有两种：一是大气中的酸性污染物和二氧化硫、二氧化氮等，对工业材料、设备和建筑设施的腐蚀；二是飘尘增多给精密仪器、设备的生产、安装调试和使用带来的不利影响。</a:t>
            </a:r>
            <a:endParaRPr lang="zh-CN" altLang="en-US" sz="2000" dirty="0">
              <a:latin typeface="楷体_GB2312" charset="-122"/>
              <a:ea typeface="楷体_GB2312" charset="-122"/>
            </a:endParaRPr>
          </a:p>
          <a:p>
            <a:pPr algn="l">
              <a:lnSpc>
                <a:spcPct val="130000"/>
              </a:lnSpc>
            </a:pPr>
            <a:r>
              <a:rPr lang="zh-CN" altLang="en-US" sz="2000" dirty="0">
                <a:latin typeface="楷体_GB2312" charset="-122"/>
                <a:ea typeface="楷体_GB2312" charset="-122"/>
              </a:rPr>
              <a:t>    大气污染对</a:t>
            </a:r>
            <a:r>
              <a:rPr lang="zh-CN" altLang="en-US" sz="2000" b="1" u="sng" dirty="0">
                <a:solidFill>
                  <a:schemeClr val="accent2"/>
                </a:solidFill>
                <a:latin typeface="楷体_GB2312" charset="-122"/>
                <a:ea typeface="楷体_GB2312" charset="-122"/>
              </a:rPr>
              <a:t>农业生产</a:t>
            </a:r>
            <a:r>
              <a:rPr lang="zh-CN" altLang="en-US" sz="2000" dirty="0">
                <a:latin typeface="楷体_GB2312" charset="-122"/>
                <a:ea typeface="楷体_GB2312" charset="-122"/>
              </a:rPr>
              <a:t>也造成很大危害主要是酸雨。酸雨可以直接影响植物的正常生长，又可以通过渗入土壤及进入水体，引起土壤和水体酸化、有毒成分溶出，从而对动植物和水生生物产生毒害。严重的酸雨会使森林衰亡和鱼类绝迹。</a:t>
            </a:r>
            <a:r>
              <a:rPr lang="zh-CN" altLang="en-GB" sz="2000" b="1" dirty="0">
                <a:latin typeface="楷体_GB2312" charset="-122"/>
                <a:ea typeface="楷体_GB2312" charset="-122"/>
              </a:rPr>
              <a:t> </a:t>
            </a:r>
            <a:endParaRPr lang="zh-CN" altLang="en-GB" sz="2000" b="1" dirty="0">
              <a:latin typeface="楷体_GB2312" charset="-122"/>
              <a:ea typeface="楷体_GB2312" charset="-122"/>
            </a:endParaRPr>
          </a:p>
        </p:txBody>
      </p:sp>
      <p:sp>
        <p:nvSpPr>
          <p:cNvPr id="180231" name="五边形 180230"/>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1250" name="图片 181249" descr="W020060206339303279262"/>
          <p:cNvPicPr>
            <a:picLocks noChangeAspect="1"/>
          </p:cNvPicPr>
          <p:nvPr/>
        </p:nvPicPr>
        <p:blipFill>
          <a:blip r:embed="rId1"/>
          <a:stretch>
            <a:fillRect/>
          </a:stretch>
        </p:blipFill>
        <p:spPr>
          <a:xfrm>
            <a:off x="5105400" y="3048000"/>
            <a:ext cx="4933950" cy="3333750"/>
          </a:xfrm>
          <a:prstGeom prst="rect">
            <a:avLst/>
          </a:prstGeom>
          <a:noFill/>
          <a:ln w="9525">
            <a:noFill/>
          </a:ln>
        </p:spPr>
      </p:pic>
      <p:sp>
        <p:nvSpPr>
          <p:cNvPr id="181251" name="直接连接符 181250"/>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1254" name="矩形 181253"/>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对工农业生产的危害</a:t>
            </a:r>
            <a:endParaRPr lang="zh-CN" altLang="en-GB" sz="2800" b="1" dirty="0">
              <a:solidFill>
                <a:srgbClr val="FC4A26"/>
              </a:solidFill>
              <a:latin typeface="楷体_GB2312" charset="-122"/>
              <a:ea typeface="楷体_GB2312" charset="-122"/>
            </a:endParaRPr>
          </a:p>
        </p:txBody>
      </p:sp>
      <p:pic>
        <p:nvPicPr>
          <p:cNvPr id="181255" name="图片 181254" descr="63275"/>
          <p:cNvPicPr>
            <a:picLocks noChangeAspect="1"/>
          </p:cNvPicPr>
          <p:nvPr/>
        </p:nvPicPr>
        <p:blipFill>
          <a:blip r:embed="rId2"/>
          <a:stretch>
            <a:fillRect/>
          </a:stretch>
        </p:blipFill>
        <p:spPr>
          <a:xfrm>
            <a:off x="1909763" y="2033588"/>
            <a:ext cx="4572000" cy="3044825"/>
          </a:xfrm>
          <a:prstGeom prst="rect">
            <a:avLst/>
          </a:prstGeom>
          <a:noFill/>
          <a:ln w="9525">
            <a:noFill/>
          </a:ln>
        </p:spPr>
      </p:pic>
      <p:sp>
        <p:nvSpPr>
          <p:cNvPr id="181256" name="五边形 181255"/>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81255"/>
                                        </p:tgtEl>
                                        <p:attrNameLst>
                                          <p:attrName>style.visibility</p:attrName>
                                        </p:attrNameLst>
                                      </p:cBhvr>
                                      <p:to>
                                        <p:strVal val="visible"/>
                                      </p:to>
                                    </p:set>
                                    <p:animEffect transition="in" filter="blinds(vertical)">
                                      <p:cBhvr>
                                        <p:cTn id="7" dur="500"/>
                                        <p:tgtEl>
                                          <p:spTgt spid="181255"/>
                                        </p:tgtEl>
                                      </p:cBhvr>
                                    </p:animEffect>
                                  </p:childTnLst>
                                </p:cTn>
                              </p:par>
                              <p:par>
                                <p:cTn id="8" presetID="3" presetClass="entr" presetSubtype="5" fill="hold" nodeType="withEffect">
                                  <p:stCondLst>
                                    <p:cond delay="0"/>
                                  </p:stCondLst>
                                  <p:childTnLst>
                                    <p:set>
                                      <p:cBhvr>
                                        <p:cTn id="9" dur="1" fill="hold">
                                          <p:stCondLst>
                                            <p:cond delay="0"/>
                                          </p:stCondLst>
                                        </p:cTn>
                                        <p:tgtEl>
                                          <p:spTgt spid="181250"/>
                                        </p:tgtEl>
                                        <p:attrNameLst>
                                          <p:attrName>style.visibility</p:attrName>
                                        </p:attrNameLst>
                                      </p:cBhvr>
                                      <p:to>
                                        <p:strVal val="visible"/>
                                      </p:to>
                                    </p:set>
                                    <p:animEffect transition="in" filter="blinds(vertical)">
                                      <p:cBhvr>
                                        <p:cTn id="10" dur="500"/>
                                        <p:tgtEl>
                                          <p:spTgt spid="181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直接连接符 18227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2277" name="矩形 182276"/>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对大气和气候的影响</a:t>
            </a:r>
            <a:endParaRPr lang="zh-CN" altLang="en-GB" sz="2800" b="1" dirty="0">
              <a:solidFill>
                <a:srgbClr val="FC4A26"/>
              </a:solidFill>
              <a:latin typeface="楷体_GB2312" charset="-122"/>
              <a:ea typeface="楷体_GB2312" charset="-122"/>
            </a:endParaRPr>
          </a:p>
        </p:txBody>
      </p:sp>
      <p:pic>
        <p:nvPicPr>
          <p:cNvPr id="182278" name="图片 182277" descr="2639204_163137068_2"/>
          <p:cNvPicPr>
            <a:picLocks noChangeAspect="1"/>
          </p:cNvPicPr>
          <p:nvPr/>
        </p:nvPicPr>
        <p:blipFill>
          <a:blip r:embed="rId1"/>
          <a:stretch>
            <a:fillRect/>
          </a:stretch>
        </p:blipFill>
        <p:spPr>
          <a:xfrm>
            <a:off x="2227263" y="2133600"/>
            <a:ext cx="3009900" cy="3810000"/>
          </a:xfrm>
          <a:prstGeom prst="rect">
            <a:avLst/>
          </a:prstGeom>
          <a:noFill/>
          <a:ln w="9525">
            <a:noFill/>
          </a:ln>
        </p:spPr>
      </p:pic>
      <p:pic>
        <p:nvPicPr>
          <p:cNvPr id="182279" name="图片 182278" descr="W020060112826987705557"/>
          <p:cNvPicPr>
            <a:picLocks noChangeAspect="1"/>
          </p:cNvPicPr>
          <p:nvPr/>
        </p:nvPicPr>
        <p:blipFill>
          <a:blip r:embed="rId2"/>
          <a:stretch>
            <a:fillRect/>
          </a:stretch>
        </p:blipFill>
        <p:spPr>
          <a:xfrm>
            <a:off x="5705475" y="2971800"/>
            <a:ext cx="4048125" cy="3581400"/>
          </a:xfrm>
          <a:prstGeom prst="rect">
            <a:avLst/>
          </a:prstGeom>
          <a:noFill/>
          <a:ln w="9525">
            <a:noFill/>
          </a:ln>
        </p:spPr>
      </p:pic>
      <p:sp>
        <p:nvSpPr>
          <p:cNvPr id="182280" name="五边形 182279"/>
          <p:cNvSpPr/>
          <p:nvPr/>
        </p:nvSpPr>
        <p:spPr>
          <a:xfrm>
            <a:off x="1550988" y="527050"/>
            <a:ext cx="2913062" cy="539750"/>
          </a:xfrm>
          <a:prstGeom prst="homePlate">
            <a:avLst>
              <a:gd name="adj" fmla="val 134926"/>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第三节 大气污染</a:t>
            </a:r>
            <a:r>
              <a:rPr lang="en-US" altLang="zh-CN" sz="2400" b="1">
                <a:solidFill>
                  <a:schemeClr val="bg1"/>
                </a:solidFill>
                <a:latin typeface="楷体_GB2312" charset="-122"/>
                <a:ea typeface="楷体_GB2312" charset="-122"/>
              </a:rPr>
              <a:t> </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82279"/>
                                        </p:tgtEl>
                                        <p:attrNameLst>
                                          <p:attrName>style.visibility</p:attrName>
                                        </p:attrNameLst>
                                      </p:cBhvr>
                                      <p:to>
                                        <p:strVal val="visible"/>
                                      </p:to>
                                    </p:set>
                                    <p:animEffect transition="in" filter="blinds(vertical)">
                                      <p:cBhvr>
                                        <p:cTn id="7" dur="500"/>
                                        <p:tgtEl>
                                          <p:spTgt spid="182279"/>
                                        </p:tgtEl>
                                      </p:cBhvr>
                                    </p:animEffect>
                                  </p:childTnLst>
                                </p:cTn>
                              </p:par>
                              <p:par>
                                <p:cTn id="8" presetID="3" presetClass="entr" presetSubtype="5" fill="hold" nodeType="withEffect">
                                  <p:stCondLst>
                                    <p:cond delay="0"/>
                                  </p:stCondLst>
                                  <p:childTnLst>
                                    <p:set>
                                      <p:cBhvr>
                                        <p:cTn id="9" dur="1" fill="hold">
                                          <p:stCondLst>
                                            <p:cond delay="0"/>
                                          </p:stCondLst>
                                        </p:cTn>
                                        <p:tgtEl>
                                          <p:spTgt spid="182278"/>
                                        </p:tgtEl>
                                        <p:attrNameLst>
                                          <p:attrName>style.visibility</p:attrName>
                                        </p:attrNameLst>
                                      </p:cBhvr>
                                      <p:to>
                                        <p:strVal val="visible"/>
                                      </p:to>
                                    </p:set>
                                    <p:animEffect transition="in" filter="blinds(vertical)">
                                      <p:cBhvr>
                                        <p:cTn id="10" dur="500"/>
                                        <p:tgtEl>
                                          <p:spTgt spid="182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直接连接符 18329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3301" name="五边形 183300"/>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sp>
        <p:nvSpPr>
          <p:cNvPr id="183302" name="圆角矩形 183301"/>
          <p:cNvSpPr/>
          <p:nvPr/>
        </p:nvSpPr>
        <p:spPr>
          <a:xfrm>
            <a:off x="3352800" y="27638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83303" name="圆角矩形 183302"/>
          <p:cNvSpPr/>
          <p:nvPr/>
        </p:nvSpPr>
        <p:spPr>
          <a:xfrm>
            <a:off x="3352800" y="3695700"/>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83304" name="圆角矩形 183303"/>
          <p:cNvSpPr/>
          <p:nvPr/>
        </p:nvSpPr>
        <p:spPr>
          <a:xfrm>
            <a:off x="3352800" y="4676775"/>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83305" name="矩形 183304"/>
          <p:cNvSpPr/>
          <p:nvPr/>
        </p:nvSpPr>
        <p:spPr>
          <a:xfrm>
            <a:off x="3962400" y="4578033"/>
            <a:ext cx="4038600"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土壤污染的影响和危害</a:t>
            </a:r>
            <a:endParaRPr lang="en-GB" altLang="zh-CN" sz="2800" b="1">
              <a:latin typeface="楷体_GB2312" charset="-122"/>
              <a:ea typeface="楷体_GB2312" charset="-122"/>
            </a:endParaRPr>
          </a:p>
        </p:txBody>
      </p:sp>
      <p:sp>
        <p:nvSpPr>
          <p:cNvPr id="183306" name="矩形 183305"/>
          <p:cNvSpPr/>
          <p:nvPr/>
        </p:nvSpPr>
        <p:spPr>
          <a:xfrm>
            <a:off x="4267200" y="2665095"/>
            <a:ext cx="3560763"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土壤污染源</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
        <p:nvSpPr>
          <p:cNvPr id="183307" name="矩形 183306"/>
          <p:cNvSpPr/>
          <p:nvPr/>
        </p:nvSpPr>
        <p:spPr>
          <a:xfrm>
            <a:off x="4267200" y="3596958"/>
            <a:ext cx="3449638"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土壤污染物</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83308" name="圆角矩形 183307"/>
          <p:cNvSpPr/>
          <p:nvPr/>
        </p:nvSpPr>
        <p:spPr>
          <a:xfrm>
            <a:off x="3352800" y="18367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83309" name="矩形 183308"/>
          <p:cNvSpPr/>
          <p:nvPr/>
        </p:nvSpPr>
        <p:spPr>
          <a:xfrm>
            <a:off x="3733800" y="1690370"/>
            <a:ext cx="4419600"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土壤及土壤污染的定义</a:t>
            </a:r>
            <a:r>
              <a:rPr lang="zh-CN" altLang="en-GB" sz="2800" b="1" dirty="0">
                <a:solidFill>
                  <a:srgbClr val="FC4A26"/>
                </a:solidFill>
                <a:latin typeface="楷体_GB2312" charset="-122"/>
                <a:ea typeface="楷体_GB2312" charset="-122"/>
              </a:rPr>
              <a:t> </a:t>
            </a:r>
            <a:endParaRPr lang="zh-CN" altLang="en-GB" sz="2800" b="1" dirty="0">
              <a:solidFill>
                <a:srgbClr val="FC4A26"/>
              </a:solidFill>
              <a:latin typeface="楷体_GB2312" charset="-122"/>
              <a:ea typeface="楷体_GB2312" charset="-122"/>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直接连接符 18432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4325" name="矩形 184324"/>
          <p:cNvSpPr/>
          <p:nvPr/>
        </p:nvSpPr>
        <p:spPr>
          <a:xfrm>
            <a:off x="1981200" y="1920875"/>
            <a:ext cx="8126413" cy="3692525"/>
          </a:xfrm>
          <a:prstGeom prst="rect">
            <a:avLst/>
          </a:prstGeom>
          <a:noFill/>
          <a:ln w="9525">
            <a:noFill/>
          </a:ln>
        </p:spPr>
        <p:txBody>
          <a:bodyPr anchor="ctr" anchorCtr="0">
            <a:spAutoFit/>
          </a:bodyPr>
          <a:p>
            <a:pPr algn="l">
              <a:lnSpc>
                <a:spcPct val="130000"/>
              </a:lnSpc>
            </a:pPr>
            <a:r>
              <a:rPr lang="zh-CN" altLang="en-US" sz="2000" dirty="0">
                <a:latin typeface="楷体_GB2312" charset="-122"/>
                <a:ea typeface="楷体_GB2312" charset="-122"/>
              </a:rPr>
              <a:t>    </a:t>
            </a:r>
            <a:r>
              <a:rPr lang="zh-CN" altLang="en-US" sz="2000" b="1" u="sng" dirty="0">
                <a:solidFill>
                  <a:srgbClr val="FC4A26"/>
                </a:solidFill>
                <a:latin typeface="楷体_GB2312" charset="-122"/>
                <a:ea typeface="楷体_GB2312" charset="-122"/>
              </a:rPr>
              <a:t>土壤</a:t>
            </a:r>
            <a:r>
              <a:rPr lang="zh-CN" altLang="en-US" sz="2000" dirty="0">
                <a:latin typeface="楷体_GB2312" charset="-122"/>
                <a:ea typeface="楷体_GB2312" charset="-122"/>
              </a:rPr>
              <a:t>是地球陆地表面能获得植物收获的疏松表层，是地球上大多数生物生长、发育和繁衍栖息的场所，更是人类生存和发展的基础，是人类工作的对象。</a:t>
            </a:r>
            <a:r>
              <a:rPr lang="zh-CN" altLang="en-US" sz="2000" b="1" dirty="0">
                <a:latin typeface="Arial" panose="020B0604020202020204" pitchFamily="34" charset="0"/>
              </a:rPr>
              <a:t> </a:t>
            </a:r>
            <a:r>
              <a:rPr lang="zh-CN" altLang="en-US" sz="2000" b="1" dirty="0">
                <a:solidFill>
                  <a:srgbClr val="FC4A26"/>
                </a:solidFill>
                <a:latin typeface="楷体_GB2312" charset="-122"/>
                <a:ea typeface="楷体_GB2312" charset="-122"/>
              </a:rPr>
              <a:t> </a:t>
            </a:r>
            <a:endParaRPr lang="zh-CN" altLang="en-US" sz="2000" b="1" dirty="0">
              <a:solidFill>
                <a:srgbClr val="FC4A26"/>
              </a:solidFill>
              <a:latin typeface="楷体_GB2312" charset="-122"/>
              <a:ea typeface="楷体_GB2312" charset="-122"/>
            </a:endParaRPr>
          </a:p>
          <a:p>
            <a:pPr algn="l">
              <a:lnSpc>
                <a:spcPct val="130000"/>
              </a:lnSpc>
            </a:pPr>
            <a:r>
              <a:rPr lang="zh-CN" altLang="en-US" sz="2000" dirty="0">
                <a:latin typeface="楷体_GB2312" charset="-122"/>
                <a:ea typeface="楷体_GB2312" charset="-122"/>
              </a:rPr>
              <a:t>    </a:t>
            </a:r>
            <a:r>
              <a:rPr lang="zh-CN" altLang="en-US" sz="2000" b="1" u="sng" dirty="0">
                <a:solidFill>
                  <a:srgbClr val="FC4A26"/>
                </a:solidFill>
                <a:latin typeface="楷体_GB2312" charset="-122"/>
                <a:ea typeface="楷体_GB2312" charset="-122"/>
              </a:rPr>
              <a:t>土壤污染</a:t>
            </a:r>
            <a:r>
              <a:rPr lang="zh-CN" altLang="en-US" sz="2000" dirty="0">
                <a:latin typeface="楷体_GB2312" charset="-122"/>
                <a:ea typeface="楷体_GB2312" charset="-122"/>
              </a:rPr>
              <a:t>是指人类活动所产生的污染物质通过各种途径进入土壤，其数量超过了土壤的容纳和同化能力，而使土壤的性质、组成及性状等发生变化，并导致土壤的自然功能失调，土壤质量恶化的现象。</a:t>
            </a:r>
            <a:r>
              <a:rPr lang="zh-CN" altLang="en-US" sz="2000" b="1" u="sng" dirty="0">
                <a:solidFill>
                  <a:schemeClr val="accent2"/>
                </a:solidFill>
                <a:latin typeface="楷体_GB2312" charset="-122"/>
                <a:ea typeface="楷体_GB2312" charset="-122"/>
              </a:rPr>
              <a:t>土壤污染的明显标志</a:t>
            </a:r>
            <a:r>
              <a:rPr lang="zh-CN" altLang="en-US" sz="2000" dirty="0">
                <a:latin typeface="楷体_GB2312" charset="-122"/>
                <a:ea typeface="楷体_GB2312" charset="-122"/>
              </a:rPr>
              <a:t>是</a:t>
            </a:r>
            <a:r>
              <a:rPr lang="zh-CN" altLang="en-US" sz="2000" b="1" u="sng" dirty="0">
                <a:solidFill>
                  <a:schemeClr val="accent2"/>
                </a:solidFill>
                <a:latin typeface="楷体_GB2312" charset="-122"/>
                <a:ea typeface="楷体_GB2312" charset="-122"/>
              </a:rPr>
              <a:t>土壤生产力的下降</a:t>
            </a:r>
            <a:r>
              <a:rPr lang="zh-CN" altLang="en-US" sz="2000" dirty="0">
                <a:latin typeface="楷体_GB2312" charset="-122"/>
                <a:ea typeface="楷体_GB2312" charset="-122"/>
              </a:rPr>
              <a:t>。</a:t>
            </a:r>
            <a:r>
              <a:rPr lang="zh-CN" altLang="en-US" sz="2000" b="1" u="sng" dirty="0">
                <a:solidFill>
                  <a:schemeClr val="accent2"/>
                </a:solidFill>
                <a:latin typeface="楷体_GB2312" charset="-122"/>
                <a:ea typeface="楷体_GB2312" charset="-122"/>
              </a:rPr>
              <a:t>土壤污染的最大特点</a:t>
            </a:r>
            <a:r>
              <a:rPr lang="zh-CN" altLang="en-US" sz="2000" dirty="0">
                <a:latin typeface="楷体_GB2312" charset="-122"/>
                <a:ea typeface="楷体_GB2312" charset="-122"/>
              </a:rPr>
              <a:t>是，一旦土壤受到污染，特别是受到重金属或有机农药的污染后，其</a:t>
            </a:r>
            <a:r>
              <a:rPr lang="zh-CN" altLang="en-US" sz="2000" b="1" u="sng" dirty="0">
                <a:solidFill>
                  <a:schemeClr val="accent2"/>
                </a:solidFill>
                <a:latin typeface="楷体_GB2312" charset="-122"/>
                <a:ea typeface="楷体_GB2312" charset="-122"/>
              </a:rPr>
              <a:t>污染物是很难消除的</a:t>
            </a:r>
            <a:r>
              <a:rPr lang="zh-CN" altLang="en-US" sz="2000" dirty="0">
                <a:latin typeface="楷体_GB2312" charset="-122"/>
                <a:ea typeface="楷体_GB2312" charset="-122"/>
              </a:rPr>
              <a:t>。 </a:t>
            </a:r>
            <a:endParaRPr lang="zh-CN" altLang="en-GB" sz="2000" dirty="0">
              <a:latin typeface="楷体_GB2312" charset="-122"/>
              <a:ea typeface="楷体_GB2312" charset="-122"/>
            </a:endParaRPr>
          </a:p>
        </p:txBody>
      </p:sp>
      <p:sp>
        <p:nvSpPr>
          <p:cNvPr id="184326" name="矩形 184325"/>
          <p:cNvSpPr/>
          <p:nvPr/>
        </p:nvSpPr>
        <p:spPr>
          <a:xfrm>
            <a:off x="1906588" y="1169670"/>
            <a:ext cx="4113212"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土壤及土壤污染的定义 </a:t>
            </a:r>
            <a:endParaRPr lang="zh-CN" altLang="en-GB" sz="2800" b="1" dirty="0">
              <a:solidFill>
                <a:srgbClr val="FC4A26"/>
              </a:solidFill>
              <a:latin typeface="楷体_GB2312" charset="-122"/>
              <a:ea typeface="楷体_GB2312" charset="-122"/>
            </a:endParaRPr>
          </a:p>
        </p:txBody>
      </p:sp>
      <p:sp>
        <p:nvSpPr>
          <p:cNvPr id="184327" name="五边形 184326"/>
          <p:cNvSpPr/>
          <p:nvPr/>
        </p:nvSpPr>
        <p:spPr>
          <a:xfrm>
            <a:off x="1550988" y="527050"/>
            <a:ext cx="2868612" cy="539750"/>
          </a:xfrm>
          <a:prstGeom prst="homePlate">
            <a:avLst>
              <a:gd name="adj" fmla="val 13286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a:t>
            </a:r>
            <a:r>
              <a:rPr lang="zh-CN" altLang="en-US" sz="2400" b="1" dirty="0">
                <a:solidFill>
                  <a:schemeClr val="bg1"/>
                </a:solidFill>
                <a:latin typeface="楷体_GB2312" charset="-122"/>
                <a:ea typeface="楷体_GB2312" charset="-122"/>
              </a:rPr>
              <a:t>土壤</a:t>
            </a:r>
            <a:r>
              <a:rPr lang="zh-CN" altLang="zh-CN" sz="2400" b="1" dirty="0">
                <a:solidFill>
                  <a:schemeClr val="bg1"/>
                </a:solidFill>
                <a:latin typeface="楷体_GB2312" charset="-122"/>
                <a:ea typeface="楷体_GB2312" charset="-122"/>
              </a:rPr>
              <a:t>污染</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84325"/>
                                        </p:tgtEl>
                                        <p:attrNameLst>
                                          <p:attrName>style.visibility</p:attrName>
                                        </p:attrNameLst>
                                      </p:cBhvr>
                                      <p:to>
                                        <p:strVal val="visible"/>
                                      </p:to>
                                    </p:set>
                                    <p:animEffect transition="in" filter="checkerboard(across)">
                                      <p:cBhvr>
                                        <p:cTn id="7" dur="500"/>
                                        <p:tgtEl>
                                          <p:spTgt spid="1843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5"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直接连接符 18534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5349" name="矩形 185348"/>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85350" name="矩形 185349"/>
          <p:cNvSpPr/>
          <p:nvPr/>
        </p:nvSpPr>
        <p:spPr>
          <a:xfrm>
            <a:off x="1939925" y="1722438"/>
            <a:ext cx="492887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1</a:t>
            </a:r>
            <a:r>
              <a:rPr lang="zh-CN" altLang="en-US" sz="2400" b="1" dirty="0">
                <a:solidFill>
                  <a:schemeClr val="accent2"/>
                </a:solidFill>
                <a:latin typeface="楷体_GB2312" charset="-122"/>
                <a:ea typeface="楷体_GB2312" charset="-122"/>
              </a:rPr>
              <a:t>、工业（城市）废水和固体废物 </a:t>
            </a:r>
            <a:r>
              <a:rPr lang="zh-CN" altLang="en-GB" sz="2400" b="1" dirty="0">
                <a:solidFill>
                  <a:schemeClr val="accent2"/>
                </a:solidFill>
                <a:latin typeface="楷体_GB2312" charset="-122"/>
                <a:ea typeface="楷体_GB2312" charset="-122"/>
              </a:rPr>
              <a:t> </a:t>
            </a:r>
            <a:endParaRPr lang="zh-CN" altLang="en-GB" sz="2400" b="1" dirty="0">
              <a:solidFill>
                <a:schemeClr val="accent2"/>
              </a:solidFill>
              <a:latin typeface="楷体_GB2312" charset="-122"/>
              <a:ea typeface="楷体_GB2312" charset="-122"/>
            </a:endParaRPr>
          </a:p>
        </p:txBody>
      </p:sp>
      <p:pic>
        <p:nvPicPr>
          <p:cNvPr id="185351" name="图片 185350" descr="101851_feishui"/>
          <p:cNvPicPr>
            <a:picLocks noChangeAspect="1"/>
          </p:cNvPicPr>
          <p:nvPr/>
        </p:nvPicPr>
        <p:blipFill>
          <a:blip r:embed="rId1"/>
          <a:stretch>
            <a:fillRect/>
          </a:stretch>
        </p:blipFill>
        <p:spPr>
          <a:xfrm>
            <a:off x="2265363" y="2257425"/>
            <a:ext cx="2971800" cy="3810000"/>
          </a:xfrm>
          <a:prstGeom prst="rect">
            <a:avLst/>
          </a:prstGeom>
          <a:noFill/>
          <a:ln w="9525">
            <a:noFill/>
          </a:ln>
        </p:spPr>
      </p:pic>
      <p:sp>
        <p:nvSpPr>
          <p:cNvPr id="185352" name="五边形 185351"/>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pic>
        <p:nvPicPr>
          <p:cNvPr id="185353" name="图片 185352" descr="W020081027395096689543"/>
          <p:cNvPicPr>
            <a:picLocks noChangeAspect="1"/>
          </p:cNvPicPr>
          <p:nvPr/>
        </p:nvPicPr>
        <p:blipFill>
          <a:blip r:embed="rId2"/>
          <a:stretch>
            <a:fillRect/>
          </a:stretch>
        </p:blipFill>
        <p:spPr>
          <a:xfrm>
            <a:off x="4719638" y="3733800"/>
            <a:ext cx="3810000" cy="2641600"/>
          </a:xfrm>
          <a:prstGeom prst="rect">
            <a:avLst/>
          </a:prstGeom>
          <a:noFill/>
          <a:ln w="9525">
            <a:noFill/>
          </a:ln>
        </p:spPr>
      </p:pic>
      <p:pic>
        <p:nvPicPr>
          <p:cNvPr id="185354" name="图片 185353" descr="1258356933328"/>
          <p:cNvPicPr>
            <a:picLocks noChangeAspect="1"/>
          </p:cNvPicPr>
          <p:nvPr/>
        </p:nvPicPr>
        <p:blipFill>
          <a:blip r:embed="rId3"/>
          <a:stretch>
            <a:fillRect/>
          </a:stretch>
        </p:blipFill>
        <p:spPr>
          <a:xfrm>
            <a:off x="7423150" y="1447800"/>
            <a:ext cx="2857500" cy="31242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5350"/>
                                        </p:tgtEl>
                                        <p:attrNameLst>
                                          <p:attrName>style.visibility</p:attrName>
                                        </p:attrNameLst>
                                      </p:cBhvr>
                                      <p:to>
                                        <p:strVal val="visible"/>
                                      </p:to>
                                    </p:set>
                                    <p:anim calcmode="lin" valueType="num">
                                      <p:cBhvr additive="base">
                                        <p:cTn id="7" dur="500" fill="hold"/>
                                        <p:tgtEl>
                                          <p:spTgt spid="185350"/>
                                        </p:tgtEl>
                                        <p:attrNameLst>
                                          <p:attrName>ppt_x</p:attrName>
                                        </p:attrNameLst>
                                      </p:cBhvr>
                                      <p:tavLst>
                                        <p:tav tm="0">
                                          <p:val>
                                            <p:strVal val="0-#ppt_w/2"/>
                                          </p:val>
                                        </p:tav>
                                        <p:tav tm="100000">
                                          <p:val>
                                            <p:strVal val="#ppt_x"/>
                                          </p:val>
                                        </p:tav>
                                      </p:tavLst>
                                    </p:anim>
                                    <p:anim calcmode="lin" valueType="num">
                                      <p:cBhvr additive="base">
                                        <p:cTn id="8" dur="500" fill="hold"/>
                                        <p:tgtEl>
                                          <p:spTgt spid="18535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85351"/>
                                        </p:tgtEl>
                                        <p:attrNameLst>
                                          <p:attrName>style.visibility</p:attrName>
                                        </p:attrNameLst>
                                      </p:cBhvr>
                                      <p:to>
                                        <p:strVal val="visible"/>
                                      </p:to>
                                    </p:set>
                                    <p:animEffect transition="in" filter="blinds(vertical)">
                                      <p:cBhvr>
                                        <p:cTn id="13" dur="500"/>
                                        <p:tgtEl>
                                          <p:spTgt spid="185351"/>
                                        </p:tgtEl>
                                      </p:cBhvr>
                                    </p:animEffect>
                                  </p:childTnLst>
                                </p:cTn>
                              </p:par>
                              <p:par>
                                <p:cTn id="14" presetID="3" presetClass="entr" presetSubtype="5" fill="hold" nodeType="withEffect">
                                  <p:stCondLst>
                                    <p:cond delay="0"/>
                                  </p:stCondLst>
                                  <p:childTnLst>
                                    <p:set>
                                      <p:cBhvr>
                                        <p:cTn id="15" dur="1" fill="hold">
                                          <p:stCondLst>
                                            <p:cond delay="0"/>
                                          </p:stCondLst>
                                        </p:cTn>
                                        <p:tgtEl>
                                          <p:spTgt spid="185353"/>
                                        </p:tgtEl>
                                        <p:attrNameLst>
                                          <p:attrName>style.visibility</p:attrName>
                                        </p:attrNameLst>
                                      </p:cBhvr>
                                      <p:to>
                                        <p:strVal val="visible"/>
                                      </p:to>
                                    </p:set>
                                    <p:animEffect transition="in" filter="blinds(vertical)">
                                      <p:cBhvr>
                                        <p:cTn id="16" dur="500"/>
                                        <p:tgtEl>
                                          <p:spTgt spid="185353"/>
                                        </p:tgtEl>
                                      </p:cBhvr>
                                    </p:animEffect>
                                  </p:childTnLst>
                                </p:cTn>
                              </p:par>
                              <p:par>
                                <p:cTn id="17" presetID="3" presetClass="entr" presetSubtype="5" fill="hold" nodeType="withEffect">
                                  <p:stCondLst>
                                    <p:cond delay="0"/>
                                  </p:stCondLst>
                                  <p:childTnLst>
                                    <p:set>
                                      <p:cBhvr>
                                        <p:cTn id="18" dur="1" fill="hold">
                                          <p:stCondLst>
                                            <p:cond delay="0"/>
                                          </p:stCondLst>
                                        </p:cTn>
                                        <p:tgtEl>
                                          <p:spTgt spid="185354"/>
                                        </p:tgtEl>
                                        <p:attrNameLst>
                                          <p:attrName>style.visibility</p:attrName>
                                        </p:attrNameLst>
                                      </p:cBhvr>
                                      <p:to>
                                        <p:strVal val="visible"/>
                                      </p:to>
                                    </p:set>
                                    <p:animEffect transition="in" filter="blinds(vertical)">
                                      <p:cBhvr>
                                        <p:cTn id="19" dur="500"/>
                                        <p:tgtEl>
                                          <p:spTgt spid="1853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350"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0" name="直接连接符 186369"/>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6373" name="矩形 186372"/>
          <p:cNvSpPr/>
          <p:nvPr/>
        </p:nvSpPr>
        <p:spPr>
          <a:xfrm>
            <a:off x="1939925" y="1722438"/>
            <a:ext cx="232664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2</a:t>
            </a:r>
            <a:r>
              <a:rPr lang="zh-CN" altLang="en-US" sz="2400" b="1" dirty="0">
                <a:solidFill>
                  <a:schemeClr val="accent2"/>
                </a:solidFill>
                <a:latin typeface="楷体_GB2312" charset="-122"/>
                <a:ea typeface="楷体_GB2312" charset="-122"/>
              </a:rPr>
              <a:t>、农药和化肥</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86374" name="图片 186373" descr="164045e9"/>
          <p:cNvPicPr>
            <a:picLocks noChangeAspect="1"/>
          </p:cNvPicPr>
          <p:nvPr/>
        </p:nvPicPr>
        <p:blipFill>
          <a:blip r:embed="rId1"/>
          <a:stretch>
            <a:fillRect/>
          </a:stretch>
        </p:blipFill>
        <p:spPr>
          <a:xfrm>
            <a:off x="2690813" y="2181225"/>
            <a:ext cx="2206625" cy="2924175"/>
          </a:xfrm>
          <a:prstGeom prst="rect">
            <a:avLst/>
          </a:prstGeom>
          <a:noFill/>
          <a:ln w="9525">
            <a:noFill/>
          </a:ln>
        </p:spPr>
      </p:pic>
      <p:pic>
        <p:nvPicPr>
          <p:cNvPr id="186375" name="图片 186374" descr="20090408150302758"/>
          <p:cNvPicPr>
            <a:picLocks noChangeAspect="1"/>
          </p:cNvPicPr>
          <p:nvPr/>
        </p:nvPicPr>
        <p:blipFill>
          <a:blip r:embed="rId2"/>
          <a:stretch>
            <a:fillRect/>
          </a:stretch>
        </p:blipFill>
        <p:spPr>
          <a:xfrm>
            <a:off x="5105400" y="2895600"/>
            <a:ext cx="4991100" cy="3403600"/>
          </a:xfrm>
          <a:prstGeom prst="rect">
            <a:avLst/>
          </a:prstGeom>
          <a:noFill/>
          <a:ln w="9525">
            <a:noFill/>
          </a:ln>
        </p:spPr>
      </p:pic>
      <p:sp>
        <p:nvSpPr>
          <p:cNvPr id="186376" name="矩形 186375"/>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86377" name="五边形 186376"/>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6373"/>
                                        </p:tgtEl>
                                        <p:attrNameLst>
                                          <p:attrName>style.visibility</p:attrName>
                                        </p:attrNameLst>
                                      </p:cBhvr>
                                      <p:to>
                                        <p:strVal val="visible"/>
                                      </p:to>
                                    </p:set>
                                    <p:anim calcmode="lin" valueType="num">
                                      <p:cBhvr additive="base">
                                        <p:cTn id="7" dur="500" fill="hold"/>
                                        <p:tgtEl>
                                          <p:spTgt spid="186373"/>
                                        </p:tgtEl>
                                        <p:attrNameLst>
                                          <p:attrName>ppt_x</p:attrName>
                                        </p:attrNameLst>
                                      </p:cBhvr>
                                      <p:tavLst>
                                        <p:tav tm="0">
                                          <p:val>
                                            <p:strVal val="0-#ppt_w/2"/>
                                          </p:val>
                                        </p:tav>
                                        <p:tav tm="100000">
                                          <p:val>
                                            <p:strVal val="#ppt_x"/>
                                          </p:val>
                                        </p:tav>
                                      </p:tavLst>
                                    </p:anim>
                                    <p:anim calcmode="lin" valueType="num">
                                      <p:cBhvr additive="base">
                                        <p:cTn id="8" dur="500" fill="hold"/>
                                        <p:tgtEl>
                                          <p:spTgt spid="18637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86374"/>
                                        </p:tgtEl>
                                        <p:attrNameLst>
                                          <p:attrName>style.visibility</p:attrName>
                                        </p:attrNameLst>
                                      </p:cBhvr>
                                      <p:to>
                                        <p:strVal val="visible"/>
                                      </p:to>
                                    </p:set>
                                    <p:animEffect transition="in" filter="blinds(vertical)">
                                      <p:cBhvr>
                                        <p:cTn id="13" dur="500"/>
                                        <p:tgtEl>
                                          <p:spTgt spid="186374"/>
                                        </p:tgtEl>
                                      </p:cBhvr>
                                    </p:animEffect>
                                  </p:childTnLst>
                                </p:cTn>
                              </p:par>
                              <p:par>
                                <p:cTn id="14" presetID="3" presetClass="entr" presetSubtype="5" fill="hold" nodeType="withEffect">
                                  <p:stCondLst>
                                    <p:cond delay="0"/>
                                  </p:stCondLst>
                                  <p:childTnLst>
                                    <p:set>
                                      <p:cBhvr>
                                        <p:cTn id="15" dur="1" fill="hold">
                                          <p:stCondLst>
                                            <p:cond delay="0"/>
                                          </p:stCondLst>
                                        </p:cTn>
                                        <p:tgtEl>
                                          <p:spTgt spid="186375"/>
                                        </p:tgtEl>
                                        <p:attrNameLst>
                                          <p:attrName>style.visibility</p:attrName>
                                        </p:attrNameLst>
                                      </p:cBhvr>
                                      <p:to>
                                        <p:strVal val="visible"/>
                                      </p:to>
                                    </p:set>
                                    <p:animEffect transition="in" filter="blinds(vertical)">
                                      <p:cBhvr>
                                        <p:cTn id="16" dur="500"/>
                                        <p:tgtEl>
                                          <p:spTgt spid="186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394" name="直接连接符 18739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7397" name="矩形 187396"/>
          <p:cNvSpPr/>
          <p:nvPr/>
        </p:nvSpPr>
        <p:spPr>
          <a:xfrm>
            <a:off x="1939925" y="1722438"/>
            <a:ext cx="385699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3</a:t>
            </a:r>
            <a:r>
              <a:rPr lang="zh-CN" altLang="en-US" sz="2400" b="1" dirty="0">
                <a:solidFill>
                  <a:schemeClr val="accent2"/>
                </a:solidFill>
                <a:latin typeface="楷体_GB2312" charset="-122"/>
                <a:ea typeface="楷体_GB2312" charset="-122"/>
              </a:rPr>
              <a:t>、牲畜排泄物和生物残留 </a:t>
            </a:r>
            <a:endParaRPr lang="en-GB" altLang="zh-CN" sz="2400" b="1">
              <a:solidFill>
                <a:schemeClr val="accent2"/>
              </a:solidFill>
              <a:latin typeface="楷体_GB2312" charset="-122"/>
              <a:ea typeface="楷体_GB2312" charset="-122"/>
            </a:endParaRPr>
          </a:p>
        </p:txBody>
      </p:sp>
      <p:pic>
        <p:nvPicPr>
          <p:cNvPr id="187398" name="图片 187397" descr="%E5%85%BB%E9%B8%A1%E5%9C%BA"/>
          <p:cNvPicPr>
            <a:picLocks noChangeAspect="1"/>
          </p:cNvPicPr>
          <p:nvPr/>
        </p:nvPicPr>
        <p:blipFill>
          <a:blip r:embed="rId1"/>
          <a:stretch>
            <a:fillRect/>
          </a:stretch>
        </p:blipFill>
        <p:spPr>
          <a:xfrm>
            <a:off x="1909763" y="2181225"/>
            <a:ext cx="4933950" cy="3333750"/>
          </a:xfrm>
          <a:prstGeom prst="rect">
            <a:avLst/>
          </a:prstGeom>
          <a:noFill/>
          <a:ln w="9525">
            <a:noFill/>
          </a:ln>
        </p:spPr>
      </p:pic>
      <p:pic>
        <p:nvPicPr>
          <p:cNvPr id="187399" name="图片 187398" descr="01300000222260123008186779551"/>
          <p:cNvPicPr>
            <a:picLocks noChangeAspect="1"/>
          </p:cNvPicPr>
          <p:nvPr/>
        </p:nvPicPr>
        <p:blipFill>
          <a:blip r:embed="rId2"/>
          <a:stretch>
            <a:fillRect/>
          </a:stretch>
        </p:blipFill>
        <p:spPr>
          <a:xfrm>
            <a:off x="5956300" y="3314700"/>
            <a:ext cx="4324350" cy="3238500"/>
          </a:xfrm>
          <a:prstGeom prst="rect">
            <a:avLst/>
          </a:prstGeom>
          <a:noFill/>
          <a:ln w="9525">
            <a:noFill/>
          </a:ln>
        </p:spPr>
      </p:pic>
      <p:sp>
        <p:nvSpPr>
          <p:cNvPr id="187400" name="矩形 187399"/>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87401" name="五边形 187400"/>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7397"/>
                                        </p:tgtEl>
                                        <p:attrNameLst>
                                          <p:attrName>style.visibility</p:attrName>
                                        </p:attrNameLst>
                                      </p:cBhvr>
                                      <p:to>
                                        <p:strVal val="visible"/>
                                      </p:to>
                                    </p:set>
                                    <p:anim calcmode="lin" valueType="num">
                                      <p:cBhvr additive="base">
                                        <p:cTn id="7" dur="500" fill="hold"/>
                                        <p:tgtEl>
                                          <p:spTgt spid="187397"/>
                                        </p:tgtEl>
                                        <p:attrNameLst>
                                          <p:attrName>ppt_x</p:attrName>
                                        </p:attrNameLst>
                                      </p:cBhvr>
                                      <p:tavLst>
                                        <p:tav tm="0">
                                          <p:val>
                                            <p:strVal val="0-#ppt_w/2"/>
                                          </p:val>
                                        </p:tav>
                                        <p:tav tm="100000">
                                          <p:val>
                                            <p:strVal val="#ppt_x"/>
                                          </p:val>
                                        </p:tav>
                                      </p:tavLst>
                                    </p:anim>
                                    <p:anim calcmode="lin" valueType="num">
                                      <p:cBhvr additive="base">
                                        <p:cTn id="8" dur="500" fill="hold"/>
                                        <p:tgtEl>
                                          <p:spTgt spid="18739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87398"/>
                                        </p:tgtEl>
                                        <p:attrNameLst>
                                          <p:attrName>style.visibility</p:attrName>
                                        </p:attrNameLst>
                                      </p:cBhvr>
                                      <p:to>
                                        <p:strVal val="visible"/>
                                      </p:to>
                                    </p:set>
                                    <p:animEffect transition="in" filter="blinds(vertical)">
                                      <p:cBhvr>
                                        <p:cTn id="13" dur="500"/>
                                        <p:tgtEl>
                                          <p:spTgt spid="187398"/>
                                        </p:tgtEl>
                                      </p:cBhvr>
                                    </p:animEffect>
                                  </p:childTnLst>
                                </p:cTn>
                              </p:par>
                              <p:par>
                                <p:cTn id="14" presetID="3" presetClass="entr" presetSubtype="5" fill="hold" nodeType="withEffect">
                                  <p:stCondLst>
                                    <p:cond delay="0"/>
                                  </p:stCondLst>
                                  <p:childTnLst>
                                    <p:set>
                                      <p:cBhvr>
                                        <p:cTn id="15" dur="1" fill="hold">
                                          <p:stCondLst>
                                            <p:cond delay="0"/>
                                          </p:stCondLst>
                                        </p:cTn>
                                        <p:tgtEl>
                                          <p:spTgt spid="187399"/>
                                        </p:tgtEl>
                                        <p:attrNameLst>
                                          <p:attrName>style.visibility</p:attrName>
                                        </p:attrNameLst>
                                      </p:cBhvr>
                                      <p:to>
                                        <p:strVal val="visible"/>
                                      </p:to>
                                    </p:set>
                                    <p:animEffect transition="in" filter="blinds(vertical)">
                                      <p:cBhvr>
                                        <p:cTn id="16" dur="500"/>
                                        <p:tgtEl>
                                          <p:spTgt spid="1873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39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直接连接符 18841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8421" name="矩形 188420"/>
          <p:cNvSpPr/>
          <p:nvPr/>
        </p:nvSpPr>
        <p:spPr>
          <a:xfrm>
            <a:off x="1939925" y="1722438"/>
            <a:ext cx="2326640" cy="460375"/>
          </a:xfrm>
          <a:prstGeom prst="rect">
            <a:avLst/>
          </a:prstGeom>
          <a:noFill/>
          <a:ln w="9525">
            <a:noFill/>
          </a:ln>
        </p:spPr>
        <p:txBody>
          <a:bodyPr wrap="none" anchor="ctr" anchorCtr="0">
            <a:spAutoFit/>
          </a:bodyPr>
          <a:p>
            <a:pPr algn="l"/>
            <a:r>
              <a:rPr lang="en-US" altLang="zh-CN" sz="2400" b="1">
                <a:solidFill>
                  <a:schemeClr val="accent2"/>
                </a:solidFill>
                <a:latin typeface="楷体_GB2312" charset="-122"/>
                <a:ea typeface="楷体_GB2312" charset="-122"/>
              </a:rPr>
              <a:t>4</a:t>
            </a:r>
            <a:r>
              <a:rPr lang="zh-CN" altLang="en-US" sz="2400" b="1" dirty="0">
                <a:solidFill>
                  <a:schemeClr val="accent2"/>
                </a:solidFill>
                <a:latin typeface="楷体_GB2312" charset="-122"/>
                <a:ea typeface="楷体_GB2312" charset="-122"/>
              </a:rPr>
              <a:t>、大气沉降物</a:t>
            </a:r>
            <a:r>
              <a:rPr lang="en-GB" altLang="zh-CN" sz="2400" b="1">
                <a:solidFill>
                  <a:schemeClr val="accent2"/>
                </a:solidFill>
                <a:latin typeface="楷体_GB2312" charset="-122"/>
                <a:ea typeface="楷体_GB2312" charset="-122"/>
              </a:rPr>
              <a:t> </a:t>
            </a:r>
            <a:endParaRPr lang="en-GB" altLang="zh-CN" sz="2400" b="1">
              <a:solidFill>
                <a:schemeClr val="accent2"/>
              </a:solidFill>
              <a:latin typeface="楷体_GB2312" charset="-122"/>
              <a:ea typeface="楷体_GB2312" charset="-122"/>
            </a:endParaRPr>
          </a:p>
        </p:txBody>
      </p:sp>
      <p:pic>
        <p:nvPicPr>
          <p:cNvPr id="188422" name="图片 188421" descr="14"/>
          <p:cNvPicPr>
            <a:picLocks noChangeAspect="1"/>
          </p:cNvPicPr>
          <p:nvPr/>
        </p:nvPicPr>
        <p:blipFill>
          <a:blip r:embed="rId1"/>
          <a:stretch>
            <a:fillRect/>
          </a:stretch>
        </p:blipFill>
        <p:spPr>
          <a:xfrm>
            <a:off x="3352800" y="2438400"/>
            <a:ext cx="4933950" cy="3695700"/>
          </a:xfrm>
          <a:prstGeom prst="rect">
            <a:avLst/>
          </a:prstGeom>
          <a:noFill/>
          <a:ln w="9525">
            <a:noFill/>
          </a:ln>
        </p:spPr>
      </p:pic>
      <p:sp>
        <p:nvSpPr>
          <p:cNvPr id="188423" name="矩形 188422"/>
          <p:cNvSpPr/>
          <p:nvPr/>
        </p:nvSpPr>
        <p:spPr>
          <a:xfrm>
            <a:off x="1676400" y="988695"/>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土壤污染源</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88424" name="五边形 188423"/>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8421"/>
                                        </p:tgtEl>
                                        <p:attrNameLst>
                                          <p:attrName>style.visibility</p:attrName>
                                        </p:attrNameLst>
                                      </p:cBhvr>
                                      <p:to>
                                        <p:strVal val="visible"/>
                                      </p:to>
                                    </p:set>
                                    <p:anim calcmode="lin" valueType="num">
                                      <p:cBhvr additive="base">
                                        <p:cTn id="7" dur="500" fill="hold"/>
                                        <p:tgtEl>
                                          <p:spTgt spid="188421"/>
                                        </p:tgtEl>
                                        <p:attrNameLst>
                                          <p:attrName>ppt_x</p:attrName>
                                        </p:attrNameLst>
                                      </p:cBhvr>
                                      <p:tavLst>
                                        <p:tav tm="0">
                                          <p:val>
                                            <p:strVal val="0-#ppt_w/2"/>
                                          </p:val>
                                        </p:tav>
                                        <p:tav tm="100000">
                                          <p:val>
                                            <p:strVal val="#ppt_x"/>
                                          </p:val>
                                        </p:tav>
                                      </p:tavLst>
                                    </p:anim>
                                    <p:anim calcmode="lin" valueType="num">
                                      <p:cBhvr additive="base">
                                        <p:cTn id="8" dur="500" fill="hold"/>
                                        <p:tgtEl>
                                          <p:spTgt spid="18842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5" fill="hold" nodeType="clickEffect">
                                  <p:stCondLst>
                                    <p:cond delay="0"/>
                                  </p:stCondLst>
                                  <p:childTnLst>
                                    <p:set>
                                      <p:cBhvr>
                                        <p:cTn id="12" dur="1" fill="hold">
                                          <p:stCondLst>
                                            <p:cond delay="0"/>
                                          </p:stCondLst>
                                        </p:cTn>
                                        <p:tgtEl>
                                          <p:spTgt spid="188422"/>
                                        </p:tgtEl>
                                        <p:attrNameLst>
                                          <p:attrName>style.visibility</p:attrName>
                                        </p:attrNameLst>
                                      </p:cBhvr>
                                      <p:to>
                                        <p:strVal val="visible"/>
                                      </p:to>
                                    </p:set>
                                    <p:animEffect transition="in" filter="blinds(vertical)">
                                      <p:cBhvr>
                                        <p:cTn id="13" dur="500"/>
                                        <p:tgtEl>
                                          <p:spTgt spid="188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直接连接符 18944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89445" name="五边形 189444"/>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sp>
        <p:nvSpPr>
          <p:cNvPr id="189446" name="矩形 189445"/>
          <p:cNvSpPr/>
          <p:nvPr/>
        </p:nvSpPr>
        <p:spPr>
          <a:xfrm>
            <a:off x="1676400" y="10934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土壤污染物 </a:t>
            </a:r>
            <a:endParaRPr lang="zh-CN" altLang="en-GB" sz="2800" b="1" dirty="0">
              <a:solidFill>
                <a:srgbClr val="FC4A26"/>
              </a:solidFill>
              <a:latin typeface="楷体_GB2312" charset="-122"/>
              <a:ea typeface="楷体_GB2312" charset="-122"/>
            </a:endParaRPr>
          </a:p>
        </p:txBody>
      </p:sp>
      <p:sp>
        <p:nvSpPr>
          <p:cNvPr id="189447" name="左大括号 189446"/>
          <p:cNvSpPr/>
          <p:nvPr/>
        </p:nvSpPr>
        <p:spPr>
          <a:xfrm>
            <a:off x="4495800" y="2238375"/>
            <a:ext cx="342900" cy="3171825"/>
          </a:xfrm>
          <a:prstGeom prst="leftBrace">
            <a:avLst>
              <a:gd name="adj1" fmla="val 77083"/>
              <a:gd name="adj2" fmla="val 50000"/>
            </a:avLst>
          </a:prstGeom>
          <a:noFill/>
          <a:ln w="38100" cap="flat" cmpd="sng">
            <a:solidFill>
              <a:schemeClr val="hlink"/>
            </a:solidFill>
            <a:prstDash val="solid"/>
            <a:headEnd type="none" w="med" len="med"/>
            <a:tailEnd type="none" w="med" len="med"/>
          </a:ln>
          <a:effectLst>
            <a:outerShdw dist="107763" dir="18900000" algn="ctr" rotWithShape="0">
              <a:schemeClr val="bg2">
                <a:alpha val="50000"/>
              </a:schemeClr>
            </a:outerShdw>
          </a:effectLst>
        </p:spPr>
        <p:txBody>
          <a:bodyPr/>
          <a:p>
            <a:endParaRPr lang="zh-CN" altLang="en-US"/>
          </a:p>
        </p:txBody>
      </p:sp>
      <p:sp>
        <p:nvSpPr>
          <p:cNvPr id="189448" name="AutoShape 8"/>
          <p:cNvSpPr/>
          <p:nvPr/>
        </p:nvSpPr>
        <p:spPr>
          <a:xfrm>
            <a:off x="4876800" y="2097088"/>
            <a:ext cx="3124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有机污染物</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
        <p:nvSpPr>
          <p:cNvPr id="189449" name="AutoShape 8"/>
          <p:cNvSpPr/>
          <p:nvPr/>
        </p:nvSpPr>
        <p:spPr>
          <a:xfrm>
            <a:off x="4876800" y="3048000"/>
            <a:ext cx="3124200" cy="436563"/>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重金属 </a:t>
            </a:r>
            <a:endParaRPr lang="zh-CN" altLang="en-US" sz="2400" b="1" dirty="0">
              <a:solidFill>
                <a:srgbClr val="FFFF66"/>
              </a:solidFill>
              <a:latin typeface="宋体" panose="02010600030101010101" pitchFamily="2" charset="-122"/>
              <a:ea typeface="楷体_GB2312" charset="-122"/>
            </a:endParaRPr>
          </a:p>
        </p:txBody>
      </p:sp>
      <p:sp>
        <p:nvSpPr>
          <p:cNvPr id="189450" name="AutoShape 8"/>
          <p:cNvSpPr/>
          <p:nvPr/>
        </p:nvSpPr>
        <p:spPr>
          <a:xfrm>
            <a:off x="4876800" y="4067175"/>
            <a:ext cx="3124200" cy="436563"/>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放射性元素 </a:t>
            </a:r>
            <a:endParaRPr lang="zh-CN" altLang="en-US" sz="2400" b="1" dirty="0">
              <a:solidFill>
                <a:srgbClr val="FFFF66"/>
              </a:solidFill>
              <a:latin typeface="宋体" panose="02010600030101010101" pitchFamily="2" charset="-122"/>
              <a:ea typeface="楷体_GB2312" charset="-122"/>
            </a:endParaRPr>
          </a:p>
        </p:txBody>
      </p:sp>
      <p:sp>
        <p:nvSpPr>
          <p:cNvPr id="189451" name="AutoShape 8"/>
          <p:cNvSpPr/>
          <p:nvPr/>
        </p:nvSpPr>
        <p:spPr>
          <a:xfrm>
            <a:off x="4876800" y="4973638"/>
            <a:ext cx="3124200" cy="436562"/>
          </a:xfrm>
          <a:prstGeom prst="roundRect">
            <a:avLst>
              <a:gd name="adj" fmla="val 10560"/>
            </a:avLst>
          </a:prstGeom>
          <a:solidFill>
            <a:srgbClr val="009999"/>
          </a:solidFill>
          <a:ln w="25400" cap="flat" cmpd="sng">
            <a:solidFill>
              <a:schemeClr val="tx1"/>
            </a:solidFill>
            <a:prstDash val="solid"/>
            <a:headEnd type="none" w="med" len="med"/>
            <a:tailEnd type="none" w="med" len="med"/>
          </a:ln>
        </p:spPr>
        <p:txBody>
          <a:bodyPr lIns="45720" rIns="45720" anchor="ctr" anchorCtr="0"/>
          <a:p>
            <a:pPr eaLnBrk="0" hangingPunct="0">
              <a:spcBef>
                <a:spcPct val="100000"/>
              </a:spcBef>
              <a:buSzPct val="65000"/>
              <a:buFont typeface="Wingdings" panose="05000000000000000000" pitchFamily="2" charset="2"/>
              <a:buNone/>
            </a:pPr>
            <a:r>
              <a:rPr lang="zh-CN" altLang="en-GB" sz="2400" b="1" dirty="0">
                <a:solidFill>
                  <a:srgbClr val="FFFF66"/>
                </a:solidFill>
                <a:latin typeface="宋体" panose="02010600030101010101" pitchFamily="2" charset="-122"/>
                <a:ea typeface="楷体_GB2312" charset="-122"/>
              </a:rPr>
              <a:t>病源微生物</a:t>
            </a:r>
            <a:r>
              <a:rPr lang="en-GB" altLang="zh-CN" sz="2400" b="1">
                <a:solidFill>
                  <a:srgbClr val="FFFF66"/>
                </a:solidFill>
                <a:latin typeface="宋体" panose="02010600030101010101" pitchFamily="2" charset="-122"/>
                <a:ea typeface="楷体_GB2312" charset="-122"/>
              </a:rPr>
              <a:t> </a:t>
            </a:r>
            <a:endParaRPr lang="en-US" altLang="zh-CN" sz="2400" b="1">
              <a:solidFill>
                <a:srgbClr val="FFFF66"/>
              </a:solidFill>
              <a:latin typeface="宋体" panose="02010600030101010101" pitchFamily="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9447"/>
                                        </p:tgtEl>
                                        <p:attrNameLst>
                                          <p:attrName>style.visibility</p:attrName>
                                        </p:attrNameLst>
                                      </p:cBhvr>
                                      <p:to>
                                        <p:strVal val="visible"/>
                                      </p:to>
                                    </p:set>
                                    <p:animEffect transition="in" filter="box(in)">
                                      <p:cBhvr>
                                        <p:cTn id="7" dur="500"/>
                                        <p:tgtEl>
                                          <p:spTgt spid="18944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89448"/>
                                        </p:tgtEl>
                                        <p:attrNameLst>
                                          <p:attrName>style.visibility</p:attrName>
                                        </p:attrNameLst>
                                      </p:cBhvr>
                                      <p:to>
                                        <p:strVal val="visible"/>
                                      </p:to>
                                    </p:set>
                                    <p:animEffect transition="in" filter="checkerboard(across)">
                                      <p:cBhvr>
                                        <p:cTn id="12" dur="500"/>
                                        <p:tgtEl>
                                          <p:spTgt spid="189448"/>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89449"/>
                                        </p:tgtEl>
                                        <p:attrNameLst>
                                          <p:attrName>style.visibility</p:attrName>
                                        </p:attrNameLst>
                                      </p:cBhvr>
                                      <p:to>
                                        <p:strVal val="visible"/>
                                      </p:to>
                                    </p:set>
                                    <p:animEffect transition="in" filter="checkerboard(across)">
                                      <p:cBhvr>
                                        <p:cTn id="17" dur="500"/>
                                        <p:tgtEl>
                                          <p:spTgt spid="189449"/>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89450"/>
                                        </p:tgtEl>
                                        <p:attrNameLst>
                                          <p:attrName>style.visibility</p:attrName>
                                        </p:attrNameLst>
                                      </p:cBhvr>
                                      <p:to>
                                        <p:strVal val="visible"/>
                                      </p:to>
                                    </p:set>
                                    <p:animEffect transition="in" filter="checkerboard(across)">
                                      <p:cBhvr>
                                        <p:cTn id="22" dur="500"/>
                                        <p:tgtEl>
                                          <p:spTgt spid="18945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89451"/>
                                        </p:tgtEl>
                                        <p:attrNameLst>
                                          <p:attrName>style.visibility</p:attrName>
                                        </p:attrNameLst>
                                      </p:cBhvr>
                                      <p:to>
                                        <p:strVal val="visible"/>
                                      </p:to>
                                    </p:set>
                                    <p:animEffect transition="in" filter="checkerboard(across)">
                                      <p:cBhvr>
                                        <p:cTn id="27" dur="500"/>
                                        <p:tgtEl>
                                          <p:spTgt spid="1894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8" grpId="0" bldLvl="0" animBg="1"/>
      <p:bldP spid="189449" grpId="0" bldLvl="0" animBg="1"/>
      <p:bldP spid="189450" grpId="0" bldLvl="0" animBg="1"/>
      <p:bldP spid="189451"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直接连接符 19046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90469" name="矩形 190468"/>
          <p:cNvSpPr/>
          <p:nvPr/>
        </p:nvSpPr>
        <p:spPr>
          <a:xfrm>
            <a:off x="1676400" y="988695"/>
            <a:ext cx="4572000"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土壤污染的影响和危害</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90470" name="五边形 190469"/>
          <p:cNvSpPr/>
          <p:nvPr/>
        </p:nvSpPr>
        <p:spPr>
          <a:xfrm>
            <a:off x="1550988" y="527050"/>
            <a:ext cx="3168650" cy="539750"/>
          </a:xfrm>
          <a:prstGeom prst="homePlate">
            <a:avLst>
              <a:gd name="adj" fmla="val 146764"/>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第四节 土壤污染</a:t>
            </a:r>
            <a:endParaRPr lang="en-US" altLang="zh-CN" sz="2400" b="1">
              <a:solidFill>
                <a:schemeClr val="bg1"/>
              </a:solidFill>
              <a:latin typeface="楷体_GB2312" charset="-122"/>
              <a:ea typeface="楷体_GB2312" charset="-122"/>
            </a:endParaRPr>
          </a:p>
        </p:txBody>
      </p:sp>
      <p:sp>
        <p:nvSpPr>
          <p:cNvPr id="190471" name="矩形 190470"/>
          <p:cNvSpPr/>
          <p:nvPr/>
        </p:nvSpPr>
        <p:spPr>
          <a:xfrm>
            <a:off x="2057400" y="1587500"/>
            <a:ext cx="7924800" cy="4730750"/>
          </a:xfrm>
          <a:prstGeom prst="rect">
            <a:avLst/>
          </a:prstGeom>
          <a:noFill/>
          <a:ln w="9525">
            <a:noFill/>
          </a:ln>
        </p:spPr>
        <p:txBody>
          <a:bodyPr anchor="ctr" anchorCtr="0">
            <a:spAutoFit/>
          </a:bodyPr>
          <a:p>
            <a:pPr algn="l">
              <a:lnSpc>
                <a:spcPct val="130000"/>
              </a:lnSpc>
            </a:pPr>
            <a:r>
              <a:rPr lang="zh-CN" altLang="en-GB" sz="2000" dirty="0">
                <a:latin typeface="楷体_GB2312" charset="-122"/>
                <a:ea typeface="楷体_GB2312" charset="-122"/>
              </a:rPr>
              <a:t>    土壤污染直接会使土壤的组成和理化性质发生变化，破坏土壤的正常功能，并可通过植物的吸收和食物链的积累等过程，进而</a:t>
            </a:r>
            <a:r>
              <a:rPr lang="zh-CN" altLang="en-GB" sz="2000" u="sng" dirty="0">
                <a:solidFill>
                  <a:srgbClr val="FC4A26"/>
                </a:solidFill>
                <a:latin typeface="楷体_GB2312" charset="-122"/>
                <a:ea typeface="楷体_GB2312" charset="-122"/>
              </a:rPr>
              <a:t>对人体健康构成危害</a:t>
            </a:r>
            <a:r>
              <a:rPr lang="zh-CN" altLang="en-GB" sz="2000" dirty="0">
                <a:latin typeface="楷体_GB2312" charset="-122"/>
                <a:ea typeface="楷体_GB2312" charset="-122"/>
              </a:rPr>
              <a:t>。</a:t>
            </a:r>
            <a:endParaRPr lang="en-US" altLang="zh-CN" sz="2000">
              <a:latin typeface="楷体_GB2312" charset="-122"/>
              <a:ea typeface="楷体_GB2312" charset="-122"/>
            </a:endParaRPr>
          </a:p>
          <a:p>
            <a:pPr algn="l">
              <a:lnSpc>
                <a:spcPct val="130000"/>
              </a:lnSpc>
            </a:pPr>
            <a:r>
              <a:rPr lang="zh-CN" altLang="en-US" sz="2000" dirty="0">
                <a:latin typeface="楷体_GB2312" charset="-122"/>
                <a:ea typeface="楷体_GB2312" charset="-122"/>
              </a:rPr>
              <a:t>    土壤中污染物的浓度超过植物的忍耐限度，会破坏植物根系正常的吸收和代谢功能，使</a:t>
            </a:r>
            <a:r>
              <a:rPr lang="zh-CN" altLang="en-US" sz="2000" u="sng" dirty="0">
                <a:solidFill>
                  <a:srgbClr val="FC4A26"/>
                </a:solidFill>
                <a:latin typeface="楷体_GB2312" charset="-122"/>
                <a:ea typeface="楷体_GB2312" charset="-122"/>
              </a:rPr>
              <a:t>植物光合作用显著衰退</a:t>
            </a:r>
            <a:r>
              <a:rPr lang="zh-CN" altLang="en-US" sz="2000" dirty="0">
                <a:latin typeface="楷体_GB2312" charset="-122"/>
                <a:ea typeface="楷体_GB2312" charset="-122"/>
              </a:rPr>
              <a:t>，农作物和牧草产量大幅度下降。</a:t>
            </a:r>
            <a:r>
              <a:rPr lang="zh-CN" altLang="en-US" sz="2400" dirty="0">
                <a:solidFill>
                  <a:srgbClr val="FF0000"/>
                </a:solidFill>
                <a:latin typeface="楷体_GB2312" charset="-122"/>
                <a:ea typeface="楷体_GB2312" charset="-122"/>
              </a:rPr>
              <a:t>一些污染物在植物体内积累残留，既影响植物的生长发育，又可能导致遗传变异，还可能将通过</a:t>
            </a:r>
            <a:r>
              <a:rPr lang="zh-CN" altLang="en-US" sz="2400" u="sng" dirty="0">
                <a:solidFill>
                  <a:srgbClr val="FF0000"/>
                </a:solidFill>
                <a:latin typeface="楷体_GB2312" charset="-122"/>
                <a:ea typeface="楷体_GB2312" charset="-122"/>
              </a:rPr>
              <a:t>食物链</a:t>
            </a:r>
            <a:r>
              <a:rPr lang="zh-CN" altLang="en-US" sz="2400" dirty="0">
                <a:solidFill>
                  <a:srgbClr val="FF0000"/>
                </a:solidFill>
                <a:latin typeface="楷体_GB2312" charset="-122"/>
                <a:ea typeface="楷体_GB2312" charset="-122"/>
              </a:rPr>
              <a:t>进入人体，危害人类健康。</a:t>
            </a:r>
            <a:r>
              <a:rPr lang="zh-CN" altLang="en-US" sz="2000" dirty="0">
                <a:solidFill>
                  <a:srgbClr val="FF3300"/>
                </a:solidFill>
                <a:latin typeface="楷体_GB2312" charset="-122"/>
                <a:ea typeface="楷体_GB2312" charset="-122"/>
              </a:rPr>
              <a:t>土壤污染后</a:t>
            </a:r>
            <a:r>
              <a:rPr lang="zh-CN" altLang="en-US" sz="2000" dirty="0">
                <a:latin typeface="楷体_GB2312" charset="-122"/>
                <a:ea typeface="楷体_GB2312" charset="-122"/>
              </a:rPr>
              <a:t>，其污染物质还会因雨水冲刷淋溶渗漏而进入地下和地表水体，从而污染水源。土壤中的污染物还可能破坏土壤生态系统平衡，影响土壤微生物种群结构，使有害微生物大量繁殖和传播，造成疾病蔓延。</a:t>
            </a:r>
            <a:r>
              <a:rPr lang="zh-CN" altLang="en-GB" sz="2000" dirty="0">
                <a:latin typeface="楷体_GB2312" charset="-122"/>
                <a:ea typeface="楷体_GB2312" charset="-122"/>
              </a:rPr>
              <a:t> </a:t>
            </a:r>
            <a:endParaRPr lang="zh-CN" altLang="en-GB" sz="2000" dirty="0">
              <a:latin typeface="楷体_GB2312" charset="-122"/>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90471"/>
                                        </p:tgtEl>
                                        <p:attrNameLst>
                                          <p:attrName>style.visibility</p:attrName>
                                        </p:attrNameLst>
                                      </p:cBhvr>
                                      <p:to>
                                        <p:strVal val="visible"/>
                                      </p:to>
                                    </p:set>
                                    <p:animEffect transition="in" filter="blinds(vertical)">
                                      <p:cBhvr>
                                        <p:cTn id="7" dur="500"/>
                                        <p:tgtEl>
                                          <p:spTgt spid="1904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7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1490" name="直接连接符 191489"/>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91493" name="圆角矩形 191492"/>
          <p:cNvSpPr/>
          <p:nvPr/>
        </p:nvSpPr>
        <p:spPr>
          <a:xfrm>
            <a:off x="3352800" y="27638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91494" name="圆角矩形 191493"/>
          <p:cNvSpPr/>
          <p:nvPr/>
        </p:nvSpPr>
        <p:spPr>
          <a:xfrm>
            <a:off x="3352800" y="3695700"/>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91495" name="圆角矩形 191494"/>
          <p:cNvSpPr/>
          <p:nvPr/>
        </p:nvSpPr>
        <p:spPr>
          <a:xfrm>
            <a:off x="3352800" y="4676775"/>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91496" name="矩形 191495"/>
          <p:cNvSpPr/>
          <p:nvPr/>
        </p:nvSpPr>
        <p:spPr>
          <a:xfrm>
            <a:off x="3962400" y="4578033"/>
            <a:ext cx="4038600"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固体废物的危害</a:t>
            </a:r>
            <a:endParaRPr lang="en-GB" altLang="zh-CN" sz="2800" b="1">
              <a:latin typeface="楷体_GB2312" charset="-122"/>
              <a:ea typeface="楷体_GB2312" charset="-122"/>
            </a:endParaRPr>
          </a:p>
        </p:txBody>
      </p:sp>
      <p:sp>
        <p:nvSpPr>
          <p:cNvPr id="191497" name="矩形 191496"/>
          <p:cNvSpPr/>
          <p:nvPr/>
        </p:nvSpPr>
        <p:spPr>
          <a:xfrm>
            <a:off x="3505200" y="2665095"/>
            <a:ext cx="4724400"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固体废物来源、分类及特点</a:t>
            </a:r>
            <a:endParaRPr lang="zh-CN" altLang="en-GB" sz="2800" b="1" dirty="0">
              <a:solidFill>
                <a:srgbClr val="FC4A26"/>
              </a:solidFill>
              <a:latin typeface="楷体_GB2312" charset="-122"/>
              <a:ea typeface="楷体_GB2312" charset="-122"/>
            </a:endParaRPr>
          </a:p>
        </p:txBody>
      </p:sp>
      <p:sp>
        <p:nvSpPr>
          <p:cNvPr id="191498" name="矩形 191497"/>
          <p:cNvSpPr/>
          <p:nvPr/>
        </p:nvSpPr>
        <p:spPr>
          <a:xfrm>
            <a:off x="4267200" y="3596958"/>
            <a:ext cx="3449638"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固体废物的特点</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91499" name="圆角矩形 191498"/>
          <p:cNvSpPr/>
          <p:nvPr/>
        </p:nvSpPr>
        <p:spPr>
          <a:xfrm>
            <a:off x="3352800" y="1836738"/>
            <a:ext cx="5105400" cy="647700"/>
          </a:xfrm>
          <a:prstGeom prst="roundRect">
            <a:avLst>
              <a:gd name="adj" fmla="val 16667"/>
            </a:avLst>
          </a:prstGeom>
          <a:gradFill rotWithShape="1">
            <a:gsLst>
              <a:gs pos="0">
                <a:srgbClr val="00FFFF">
                  <a:gamma/>
                  <a:shade val="69804"/>
                  <a:invGamma/>
                </a:srgbClr>
              </a:gs>
              <a:gs pos="50000">
                <a:srgbClr val="00FFFF">
                  <a:alpha val="89999"/>
                </a:srgbClr>
              </a:gs>
              <a:gs pos="100000">
                <a:srgbClr val="00FFFF">
                  <a:gamma/>
                  <a:shade val="69804"/>
                  <a:invGamma/>
                </a:srgbClr>
              </a:gs>
            </a:gsLst>
            <a:lin ang="5400000" scaled="1"/>
            <a:tileRect/>
          </a:gradFill>
          <a:ln w="9525">
            <a:noFill/>
          </a:ln>
        </p:spPr>
        <p:txBody>
          <a:bodyPr/>
          <a:p>
            <a:endParaRPr lang="zh-CN" altLang="en-US"/>
          </a:p>
        </p:txBody>
      </p:sp>
      <p:sp>
        <p:nvSpPr>
          <p:cNvPr id="191500" name="矩形 191499"/>
          <p:cNvSpPr/>
          <p:nvPr/>
        </p:nvSpPr>
        <p:spPr>
          <a:xfrm>
            <a:off x="3733800" y="1690370"/>
            <a:ext cx="4419600" cy="737235"/>
          </a:xfrm>
          <a:prstGeom prst="rect">
            <a:avLst/>
          </a:prstGeom>
          <a:noFill/>
          <a:ln w="9525">
            <a:noFill/>
          </a:ln>
        </p:spPr>
        <p:txBody>
          <a:bodyPr anchor="ctr" anchorCtr="0">
            <a:spAutoFit/>
          </a:bodyPr>
          <a:p>
            <a:pPr>
              <a:lnSpc>
                <a:spcPct val="150000"/>
              </a:lnSpc>
            </a:pPr>
            <a:r>
              <a:rPr lang="zh-CN" altLang="en-GB" sz="2800" b="1" dirty="0">
                <a:latin typeface="楷体_GB2312" charset="-122"/>
                <a:ea typeface="楷体_GB2312" charset="-122"/>
              </a:rPr>
              <a:t>固体废物的定义</a:t>
            </a:r>
            <a:r>
              <a:rPr lang="en-GB" altLang="zh-CN" sz="2800" b="1">
                <a:solidFill>
                  <a:srgbClr val="FC4A26"/>
                </a:solidFill>
                <a:latin typeface="楷体_GB2312" charset="-122"/>
                <a:ea typeface="楷体_GB2312" charset="-122"/>
              </a:rPr>
              <a:t> </a:t>
            </a:r>
            <a:endParaRPr lang="en-GB" altLang="zh-CN" sz="2800" b="1">
              <a:solidFill>
                <a:srgbClr val="FC4A26"/>
              </a:solidFill>
              <a:latin typeface="楷体_GB2312" charset="-122"/>
              <a:ea typeface="楷体_GB2312" charset="-122"/>
            </a:endParaRPr>
          </a:p>
        </p:txBody>
      </p:sp>
      <p:sp>
        <p:nvSpPr>
          <p:cNvPr id="191501" name="五边形 191500"/>
          <p:cNvSpPr/>
          <p:nvPr/>
        </p:nvSpPr>
        <p:spPr>
          <a:xfrm>
            <a:off x="1550988" y="527050"/>
            <a:ext cx="4995862" cy="539750"/>
          </a:xfrm>
          <a:prstGeom prst="homePlate">
            <a:avLst>
              <a:gd name="adj" fmla="val 23139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第五节 固体废物及化学品危害</a:t>
            </a:r>
            <a:endParaRPr lang="en-US" altLang="zh-CN" sz="2400" b="1">
              <a:solidFill>
                <a:schemeClr val="bg1"/>
              </a:solidFill>
              <a:latin typeface="楷体_GB2312" charset="-122"/>
              <a:ea typeface="楷体_GB2312" charset="-122"/>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02" name="标题 358401"/>
          <p:cNvSpPr>
            <a:spLocks noGrp="1"/>
          </p:cNvSpPr>
          <p:nvPr>
            <p:ph type="title"/>
          </p:nvPr>
        </p:nvSpPr>
        <p:spPr>
          <a:xfrm>
            <a:off x="3048000" y="152400"/>
            <a:ext cx="6781800" cy="838200"/>
          </a:xfrm>
        </p:spPr>
        <p:txBody>
          <a:bodyPr lIns="45720" tIns="0" rIns="45720" bIns="0" anchor="b" anchorCtr="0"/>
          <a:p>
            <a:r>
              <a:rPr lang="zh-CN" altLang="en-US" sz="3600" dirty="0">
                <a:latin typeface="楷体_GB2312" charset="-122"/>
                <a:ea typeface="+mj-ea"/>
                <a:cs typeface="+mj-cs"/>
              </a:rPr>
              <a:t> </a:t>
            </a:r>
            <a:endParaRPr lang="zh-CN" altLang="en-US" sz="4400" b="0" u="sng" dirty="0">
              <a:latin typeface="楷体_GB2312" charset="-122"/>
              <a:ea typeface="+mj-ea"/>
              <a:cs typeface="+mj-cs"/>
            </a:endParaRPr>
          </a:p>
        </p:txBody>
      </p:sp>
      <p:sp>
        <p:nvSpPr>
          <p:cNvPr id="358403" name="文本占位符 358402"/>
          <p:cNvSpPr>
            <a:spLocks noGrp="1"/>
          </p:cNvSpPr>
          <p:nvPr>
            <p:ph type="body" idx="1"/>
          </p:nvPr>
        </p:nvSpPr>
        <p:spPr>
          <a:xfrm>
            <a:off x="2895600" y="762000"/>
            <a:ext cx="7315200" cy="5410200"/>
          </a:xfrm>
        </p:spPr>
        <p:txBody>
          <a:bodyPr lIns="45720" rIns="45720" anchor="t" anchorCtr="0"/>
          <a:p>
            <a:pPr algn="just" defTabSz="684530">
              <a:buSzPct val="25000"/>
              <a:buFont typeface="Wingdings" panose="05000000000000000000" pitchFamily="2" charset="2"/>
              <a:buChar char=" "/>
            </a:pPr>
            <a:endParaRPr lang="zh-CN" altLang="en-US" sz="2800" dirty="0">
              <a:latin typeface="楷体_GB2312" charset="-122"/>
              <a:ea typeface="+mn-ea"/>
              <a:cs typeface="+mn-cs"/>
            </a:endParaRPr>
          </a:p>
          <a:p>
            <a:pPr defTabSz="684530">
              <a:lnSpc>
                <a:spcPct val="120000"/>
              </a:lnSpc>
              <a:buSzPct val="25000"/>
            </a:pPr>
            <a:endParaRPr lang="zh-CN" altLang="en-US" sz="2800" dirty="0">
              <a:latin typeface="楷体_GB2312" charset="-122"/>
              <a:ea typeface="+mn-ea"/>
              <a:cs typeface="+mn-cs"/>
            </a:endParaRPr>
          </a:p>
          <a:p>
            <a:pPr defTabSz="684530">
              <a:lnSpc>
                <a:spcPct val="120000"/>
              </a:lnSpc>
              <a:buSzPct val="25000"/>
              <a:buFont typeface="Wingdings" panose="05000000000000000000" pitchFamily="2" charset="2"/>
              <a:buChar char=" "/>
            </a:pPr>
            <a:endParaRPr lang="zh-CN" altLang="en-US" sz="1600" dirty="0">
              <a:latin typeface="+mn-lt"/>
              <a:ea typeface="+mn-ea"/>
              <a:cs typeface="+mn-cs"/>
            </a:endParaRPr>
          </a:p>
        </p:txBody>
      </p:sp>
      <p:sp>
        <p:nvSpPr>
          <p:cNvPr id="358404" name="文本框 358403"/>
          <p:cNvSpPr txBox="1"/>
          <p:nvPr/>
        </p:nvSpPr>
        <p:spPr>
          <a:xfrm>
            <a:off x="2514600" y="1676400"/>
            <a:ext cx="7620000" cy="4410075"/>
          </a:xfrm>
          <a:prstGeom prst="rect">
            <a:avLst/>
          </a:prstGeom>
          <a:noFill/>
          <a:ln w="12699">
            <a:noFill/>
          </a:ln>
        </p:spPr>
        <p:txBody>
          <a:bodyPr>
            <a:spAutoFit/>
          </a:bodyPr>
          <a:p>
            <a:pPr marL="457200" indent="-457200" algn="just">
              <a:lnSpc>
                <a:spcPct val="160000"/>
              </a:lnSpc>
              <a:buAutoNum type="arabicPeriod"/>
            </a:pPr>
            <a:r>
              <a:rPr lang="zh-CN" altLang="en-US" sz="2400" b="1" dirty="0">
                <a:latin typeface="Times New Roman" panose="02020603050405020304" charset="0"/>
                <a:ea typeface="楷体_GB2312" charset="-122"/>
              </a:rPr>
              <a:t>定义：一般指人类在生产、加工、流通、消费以及生活等过程提取目的组分之后，废弃的固态或泥浆状物质。</a:t>
            </a:r>
            <a:endParaRPr lang="zh-CN" altLang="en-US" sz="2400" b="1" dirty="0">
              <a:latin typeface="Times New Roman" panose="02020603050405020304" charset="0"/>
              <a:ea typeface="楷体_GB2312" charset="-122"/>
            </a:endParaRPr>
          </a:p>
          <a:p>
            <a:pPr marL="457200" indent="-457200" algn="just">
              <a:lnSpc>
                <a:spcPct val="160000"/>
              </a:lnSpc>
              <a:buAutoNum type="arabicPeriod"/>
            </a:pPr>
            <a:r>
              <a:rPr lang="zh-CN" altLang="en-US" sz="2400" b="1" dirty="0">
                <a:latin typeface="Times New Roman" panose="02020603050405020304" charset="0"/>
                <a:ea typeface="楷体_GB2312" charset="-122"/>
              </a:rPr>
              <a:t>危险废物</a:t>
            </a:r>
            <a:endParaRPr lang="zh-CN" altLang="en-US" sz="2400" b="1" dirty="0">
              <a:latin typeface="Times New Roman" panose="02020603050405020304" charset="0"/>
              <a:ea typeface="楷体_GB2312" charset="-122"/>
            </a:endParaRPr>
          </a:p>
          <a:p>
            <a:pPr marL="457200" indent="-457200" algn="l">
              <a:lnSpc>
                <a:spcPct val="160000"/>
              </a:lnSpc>
              <a:spcBef>
                <a:spcPct val="50000"/>
              </a:spcBef>
              <a:buNone/>
            </a:pPr>
            <a:r>
              <a:rPr lang="zh-CN" altLang="en-US" sz="2400" b="1" dirty="0">
                <a:latin typeface="Times New Roman" panose="02020603050405020304" charset="0"/>
                <a:ea typeface="楷体_GB2312" charset="-122"/>
              </a:rPr>
              <a:t>      危险废物：根据其物理或化学性质、要求必须对其进行特殊处理和处置的废物，以免对人体健康或环境造成影响的废物称危险废物。</a:t>
            </a:r>
            <a:endParaRPr lang="zh-CN" altLang="en-US" sz="2400">
              <a:latin typeface="Times New Roman" panose="02020603050405020304" charset="0"/>
              <a:ea typeface="楷体_GB2312" charset="-122"/>
            </a:endParaRPr>
          </a:p>
        </p:txBody>
      </p:sp>
      <p:sp>
        <p:nvSpPr>
          <p:cNvPr id="358405" name="文本框 358404"/>
          <p:cNvSpPr txBox="1"/>
          <p:nvPr/>
        </p:nvSpPr>
        <p:spPr>
          <a:xfrm>
            <a:off x="2438400" y="841375"/>
            <a:ext cx="6715760" cy="583565"/>
          </a:xfrm>
          <a:prstGeom prst="rect">
            <a:avLst/>
          </a:prstGeom>
          <a:noFill/>
          <a:ln w="12699">
            <a:noFill/>
          </a:ln>
        </p:spPr>
        <p:txBody>
          <a:bodyPr wrap="none" anchor="t" anchorCtr="0">
            <a:spAutoFit/>
          </a:bodyPr>
          <a:p>
            <a:pPr algn="l"/>
            <a:r>
              <a:rPr lang="zh-CN" altLang="en-US" sz="3200" b="1" dirty="0">
                <a:solidFill>
                  <a:srgbClr val="FF0000"/>
                </a:solidFill>
                <a:effectLst>
                  <a:outerShdw blurRad="38100" dist="38100" dir="2700000">
                    <a:srgbClr val="C0C0C0"/>
                  </a:outerShdw>
                </a:effectLst>
                <a:latin typeface="Times New Roman" panose="02020603050405020304" charset="0"/>
                <a:ea typeface="楷体_GB2312" charset="-122"/>
              </a:rPr>
              <a:t>一、固体废物、危险废物来源及分类</a:t>
            </a:r>
            <a:endParaRPr lang="zh-CN" altLang="en-US" sz="3200" b="1">
              <a:solidFill>
                <a:srgbClr val="FF0000"/>
              </a:solidFill>
              <a:effectLst>
                <a:outerShdw blurRad="38100" dist="38100" dir="2700000">
                  <a:srgbClr val="C0C0C0"/>
                </a:outerShdw>
              </a:effectLst>
              <a:latin typeface="Times New Roman" panose="0202060305040502030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8404">
                                            <p:txEl>
                                              <p:charRg st="0" end="49"/>
                                            </p:txEl>
                                          </p:spTgt>
                                        </p:tgtEl>
                                        <p:attrNameLst>
                                          <p:attrName>style.visibility</p:attrName>
                                        </p:attrNameLst>
                                      </p:cBhvr>
                                      <p:to>
                                        <p:strVal val="visible"/>
                                      </p:to>
                                    </p:set>
                                    <p:anim calcmode="lin" valueType="num">
                                      <p:cBhvr additive="base">
                                        <p:cTn id="7" dur="500" fill="hold"/>
                                        <p:tgtEl>
                                          <p:spTgt spid="358404">
                                            <p:txEl>
                                              <p:charRg st="0" end="49"/>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8404">
                                            <p:txEl>
                                              <p:charRg st="0" end="49"/>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8404">
                                            <p:txEl>
                                              <p:charRg st="49" end="54"/>
                                            </p:txEl>
                                          </p:spTgt>
                                        </p:tgtEl>
                                        <p:attrNameLst>
                                          <p:attrName>style.visibility</p:attrName>
                                        </p:attrNameLst>
                                      </p:cBhvr>
                                      <p:to>
                                        <p:strVal val="visible"/>
                                      </p:to>
                                    </p:set>
                                    <p:anim calcmode="lin" valueType="num">
                                      <p:cBhvr additive="base">
                                        <p:cTn id="13" dur="500" fill="hold"/>
                                        <p:tgtEl>
                                          <p:spTgt spid="358404">
                                            <p:txEl>
                                              <p:charRg st="49" end="54"/>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8404">
                                            <p:txEl>
                                              <p:charRg st="49" end="54"/>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8404">
                                            <p:txEl>
                                              <p:charRg st="54" end="119"/>
                                            </p:txEl>
                                          </p:spTgt>
                                        </p:tgtEl>
                                        <p:attrNameLst>
                                          <p:attrName>style.visibility</p:attrName>
                                        </p:attrNameLst>
                                      </p:cBhvr>
                                      <p:to>
                                        <p:strVal val="visible"/>
                                      </p:to>
                                    </p:set>
                                    <p:anim calcmode="lin" valueType="num">
                                      <p:cBhvr additive="base">
                                        <p:cTn id="19" dur="500" fill="hold"/>
                                        <p:tgtEl>
                                          <p:spTgt spid="358404">
                                            <p:txEl>
                                              <p:charRg st="54" end="119"/>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8404">
                                            <p:txEl>
                                              <p:charRg st="54" end="11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4"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2514" name="直接连接符 192513"/>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92517" name="矩形 192516"/>
          <p:cNvSpPr/>
          <p:nvPr/>
        </p:nvSpPr>
        <p:spPr>
          <a:xfrm>
            <a:off x="1676400" y="1017270"/>
            <a:ext cx="4648200"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固体废物来源及分类</a:t>
            </a:r>
            <a:endParaRPr lang="en-GB" altLang="zh-CN" sz="2800" b="1">
              <a:solidFill>
                <a:srgbClr val="FC4A26"/>
              </a:solidFill>
              <a:latin typeface="楷体_GB2312" charset="-122"/>
              <a:ea typeface="楷体_GB2312" charset="-122"/>
            </a:endParaRPr>
          </a:p>
        </p:txBody>
      </p:sp>
      <p:sp>
        <p:nvSpPr>
          <p:cNvPr id="192518" name="五边形 192517"/>
          <p:cNvSpPr/>
          <p:nvPr/>
        </p:nvSpPr>
        <p:spPr>
          <a:xfrm>
            <a:off x="1550988" y="527050"/>
            <a:ext cx="4995862" cy="539750"/>
          </a:xfrm>
          <a:prstGeom prst="homePlate">
            <a:avLst>
              <a:gd name="adj" fmla="val 23139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第五节 固体废物及化学品危害</a:t>
            </a:r>
            <a:endParaRPr lang="en-US" altLang="zh-CN" sz="2400" b="1">
              <a:solidFill>
                <a:schemeClr val="bg1"/>
              </a:solidFill>
              <a:latin typeface="楷体_GB2312" charset="-122"/>
              <a:ea typeface="楷体_GB2312" charset="-122"/>
            </a:endParaRPr>
          </a:p>
        </p:txBody>
      </p:sp>
      <p:graphicFrame>
        <p:nvGraphicFramePr>
          <p:cNvPr id="192554" name="内容占位符 192553"/>
          <p:cNvGraphicFramePr/>
          <p:nvPr>
            <p:ph/>
          </p:nvPr>
        </p:nvGraphicFramePr>
        <p:xfrm>
          <a:off x="2063750" y="1992313"/>
          <a:ext cx="8216900" cy="4208780"/>
        </p:xfrm>
        <a:graphic>
          <a:graphicData uri="http://schemas.openxmlformats.org/drawingml/2006/table">
            <a:tbl>
              <a:tblPr/>
              <a:tblGrid>
                <a:gridCol w="814705"/>
                <a:gridCol w="4959350"/>
                <a:gridCol w="2442845"/>
              </a:tblGrid>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2000" b="1" dirty="0">
                          <a:solidFill>
                            <a:schemeClr val="accent2"/>
                          </a:solidFill>
                          <a:latin typeface="楷体_GB2312" charset="-122"/>
                          <a:ea typeface="楷体_GB2312" charset="-122"/>
                        </a:rPr>
                        <a:t>类型</a:t>
                      </a:r>
                      <a:endParaRPr lang="zh-CN" altLang="en-GB" sz="2000" b="1" dirty="0">
                        <a:solidFill>
                          <a:schemeClr val="accent2"/>
                        </a:solidFill>
                        <a:latin typeface="楷体_GB2312" charset="-122"/>
                        <a:ea typeface="楷体_GB2312" charset="-122"/>
                      </a:endParaRPr>
                    </a:p>
                  </a:txBody>
                  <a:tcPr anchor="ctr" anchorCtr="0">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2000" b="1" dirty="0">
                          <a:solidFill>
                            <a:schemeClr val="accent2"/>
                          </a:solidFill>
                          <a:latin typeface="楷体_GB2312" charset="-122"/>
                          <a:ea typeface="楷体_GB2312" charset="-122"/>
                        </a:rPr>
                        <a:t>主要组成物</a:t>
                      </a:r>
                      <a:endParaRPr lang="zh-CN" altLang="en-GB" sz="2000" b="1" dirty="0">
                        <a:solidFill>
                          <a:schemeClr val="accent2"/>
                        </a:solidFill>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2000" b="1" dirty="0">
                          <a:solidFill>
                            <a:schemeClr val="accent2"/>
                          </a:solidFill>
                          <a:latin typeface="楷体_GB2312" charset="-122"/>
                          <a:ea typeface="楷体_GB2312" charset="-122"/>
                        </a:rPr>
                        <a:t>来源</a:t>
                      </a:r>
                      <a:endParaRPr lang="zh-CN" altLang="en-GB" sz="2000" b="1" dirty="0">
                        <a:solidFill>
                          <a:schemeClr val="accent2"/>
                        </a:solidFill>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r>
              <a:tr h="701040">
                <a:tc rowSpan="5">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2000" b="1" dirty="0">
                          <a:solidFill>
                            <a:schemeClr val="accent2"/>
                          </a:solidFill>
                          <a:latin typeface="楷体_GB2312" charset="-122"/>
                          <a:ea typeface="楷体_GB2312" charset="-122"/>
                        </a:rPr>
                        <a:t>工</a:t>
                      </a:r>
                      <a:br>
                        <a:rPr lang="zh-CN" altLang="en-US" sz="2000" b="1" dirty="0">
                          <a:solidFill>
                            <a:schemeClr val="accent2"/>
                          </a:solidFill>
                          <a:latin typeface="楷体_GB2312" charset="-122"/>
                          <a:ea typeface="楷体_GB2312" charset="-122"/>
                        </a:rPr>
                      </a:br>
                      <a:r>
                        <a:rPr lang="zh-CN" altLang="en-GB" sz="2000" b="1" dirty="0">
                          <a:solidFill>
                            <a:schemeClr val="accent2"/>
                          </a:solidFill>
                          <a:latin typeface="楷体_GB2312" charset="-122"/>
                          <a:ea typeface="楷体_GB2312" charset="-122"/>
                        </a:rPr>
                        <a:t>业</a:t>
                      </a:r>
                      <a:br>
                        <a:rPr lang="zh-CN" altLang="en-US" sz="2000" b="1" dirty="0">
                          <a:solidFill>
                            <a:schemeClr val="accent2"/>
                          </a:solidFill>
                          <a:latin typeface="楷体_GB2312" charset="-122"/>
                          <a:ea typeface="楷体_GB2312" charset="-122"/>
                        </a:rPr>
                      </a:br>
                      <a:r>
                        <a:rPr lang="zh-CN" altLang="en-GB" sz="2000" b="1" dirty="0">
                          <a:solidFill>
                            <a:schemeClr val="accent2"/>
                          </a:solidFill>
                          <a:latin typeface="楷体_GB2312" charset="-122"/>
                          <a:ea typeface="楷体_GB2312" charset="-122"/>
                        </a:rPr>
                        <a:t>废</a:t>
                      </a:r>
                      <a:br>
                        <a:rPr lang="zh-CN" altLang="en-US" sz="2000" b="1" dirty="0">
                          <a:solidFill>
                            <a:schemeClr val="accent2"/>
                          </a:solidFill>
                          <a:latin typeface="楷体_GB2312" charset="-122"/>
                          <a:ea typeface="楷体_GB2312" charset="-122"/>
                        </a:rPr>
                      </a:br>
                      <a:r>
                        <a:rPr lang="zh-CN" altLang="en-GB" sz="2000" b="1" dirty="0">
                          <a:solidFill>
                            <a:schemeClr val="accent2"/>
                          </a:solidFill>
                          <a:latin typeface="楷体_GB2312" charset="-122"/>
                          <a:ea typeface="楷体_GB2312" charset="-122"/>
                        </a:rPr>
                        <a:t>物</a:t>
                      </a:r>
                      <a:endParaRPr lang="zh-CN" altLang="en-GB" sz="2000" b="1" dirty="0">
                        <a:solidFill>
                          <a:schemeClr val="accent2"/>
                        </a:solidFill>
                        <a:latin typeface="楷体_GB2312" charset="-122"/>
                        <a:ea typeface="楷体_GB2312" charset="-122"/>
                      </a:endParaRPr>
                    </a:p>
                  </a:txBody>
                  <a:tcPr anchor="ctr" anchorCtr="0">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废矿石、尾矿、砖瓦、炉渣、粉煤灰、烟尘</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矿山、 冶金、煤炭、电力</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70104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金属、沙石、陶瓷、边角料、涂料、废木、塑料、橡胶、烟尘</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交通、机械、金属结构</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100584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橡胶、皮革、塑料、布、纤维、染料、金属、化学药剂、木质素</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橡胶、塑料、皮革、造纸、印刷、纺织服装</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70358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化学药剂、金属、塑料、陶瓷、玻璃、沥青、油毡、石棉、涂料、绝缘材料</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石油、化工、仪器、仪表、电器</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70104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B w="28575" cap="flat" cmpd="sng">
                      <a:solidFill>
                        <a:schemeClr val="tx1"/>
                      </a:solidFill>
                      <a:prstDash val="solid"/>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金属、水泥、粘土、陶瓷、石膏、石棉、沙石、纸、纤维、玻璃</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2000" dirty="0">
                          <a:solidFill>
                            <a:srgbClr val="000000"/>
                          </a:solidFill>
                          <a:latin typeface="楷体_GB2312" charset="-122"/>
                          <a:ea typeface="楷体_GB2312" charset="-122"/>
                        </a:rPr>
                        <a:t>建筑</a:t>
                      </a:r>
                      <a:endParaRPr lang="zh-CN" altLang="en-GB" sz="20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pic>
        <p:nvPicPr>
          <p:cNvPr id="192545" name="图片 192544" descr="2008320145814951"/>
          <p:cNvPicPr>
            <a:picLocks noChangeAspect="1"/>
          </p:cNvPicPr>
          <p:nvPr/>
        </p:nvPicPr>
        <p:blipFill>
          <a:blip r:embed="rId1"/>
          <a:stretch>
            <a:fillRect/>
          </a:stretch>
        </p:blipFill>
        <p:spPr>
          <a:xfrm>
            <a:off x="6546850" y="636588"/>
            <a:ext cx="3686175" cy="2711450"/>
          </a:xfrm>
          <a:prstGeom prst="rect">
            <a:avLst/>
          </a:prstGeom>
          <a:noFill/>
          <a:ln w="9525">
            <a:noFill/>
          </a:ln>
        </p:spPr>
      </p:pic>
      <p:pic>
        <p:nvPicPr>
          <p:cNvPr id="192546" name="图片 192545" descr="bb1a3ade8952dbeb5ce5cc18e500d1b8"/>
          <p:cNvPicPr preferRelativeResize="0"/>
          <p:nvPr/>
        </p:nvPicPr>
        <p:blipFill>
          <a:blip r:embed="rId2"/>
          <a:stretch>
            <a:fillRect/>
          </a:stretch>
        </p:blipFill>
        <p:spPr>
          <a:xfrm>
            <a:off x="2438400" y="777875"/>
            <a:ext cx="3684588" cy="2709863"/>
          </a:xfrm>
          <a:prstGeom prst="rect">
            <a:avLst/>
          </a:prstGeom>
          <a:noFill/>
          <a:ln w="9525">
            <a:noFill/>
          </a:ln>
        </p:spPr>
      </p:pic>
      <p:pic>
        <p:nvPicPr>
          <p:cNvPr id="192547" name="图片 192546" descr="00119954"/>
          <p:cNvPicPr preferRelativeResize="0"/>
          <p:nvPr/>
        </p:nvPicPr>
        <p:blipFill>
          <a:blip r:embed="rId3"/>
          <a:stretch>
            <a:fillRect/>
          </a:stretch>
        </p:blipFill>
        <p:spPr>
          <a:xfrm>
            <a:off x="6546850" y="3487738"/>
            <a:ext cx="3684588" cy="2709862"/>
          </a:xfrm>
          <a:prstGeom prst="rect">
            <a:avLst/>
          </a:prstGeom>
          <a:noFill/>
          <a:ln w="9525">
            <a:noFill/>
          </a:ln>
        </p:spPr>
      </p:pic>
      <p:pic>
        <p:nvPicPr>
          <p:cNvPr id="192548" name="imgb" descr="184381959"/>
          <p:cNvPicPr preferRelativeResize="0"/>
          <p:nvPr/>
        </p:nvPicPr>
        <p:blipFill>
          <a:blip r:embed="rId4"/>
          <a:stretch>
            <a:fillRect/>
          </a:stretch>
        </p:blipFill>
        <p:spPr>
          <a:xfrm>
            <a:off x="2438400" y="3538538"/>
            <a:ext cx="3684588" cy="270986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92554"/>
                                        </p:tgtEl>
                                        <p:attrNameLst>
                                          <p:attrName>style.visibility</p:attrName>
                                        </p:attrNameLst>
                                      </p:cBhvr>
                                      <p:to>
                                        <p:strVal val="visible"/>
                                      </p:to>
                                    </p:set>
                                    <p:animEffect transition="in" filter="blinds(vertical)">
                                      <p:cBhvr>
                                        <p:cTn id="7" dur="500"/>
                                        <p:tgtEl>
                                          <p:spTgt spid="19255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192546"/>
                                        </p:tgtEl>
                                        <p:attrNameLst>
                                          <p:attrName>style.visibility</p:attrName>
                                        </p:attrNameLst>
                                      </p:cBhvr>
                                      <p:to>
                                        <p:strVal val="visible"/>
                                      </p:to>
                                    </p:set>
                                    <p:anim calcmode="lin" valueType="num">
                                      <p:cBhvr>
                                        <p:cTn id="12" dur="1000" fill="hold"/>
                                        <p:tgtEl>
                                          <p:spTgt spid="192546"/>
                                        </p:tgtEl>
                                        <p:attrNameLst>
                                          <p:attrName>ppt_w</p:attrName>
                                        </p:attrNameLst>
                                      </p:cBhvr>
                                      <p:tavLst>
                                        <p:tav tm="0">
                                          <p:val>
                                            <p:fltVal val="0.000000"/>
                                          </p:val>
                                        </p:tav>
                                        <p:tav tm="100000">
                                          <p:val>
                                            <p:strVal val="#ppt_w"/>
                                          </p:val>
                                        </p:tav>
                                      </p:tavLst>
                                    </p:anim>
                                    <p:anim calcmode="lin" valueType="num">
                                      <p:cBhvr>
                                        <p:cTn id="13" dur="1000" fill="hold"/>
                                        <p:tgtEl>
                                          <p:spTgt spid="192546"/>
                                        </p:tgtEl>
                                        <p:attrNameLst>
                                          <p:attrName>ppt_h</p:attrName>
                                        </p:attrNameLst>
                                      </p:cBhvr>
                                      <p:tavLst>
                                        <p:tav tm="0">
                                          <p:val>
                                            <p:fltVal val="0.000000"/>
                                          </p:val>
                                        </p:tav>
                                        <p:tav tm="100000">
                                          <p:val>
                                            <p:strVal val="#ppt_h"/>
                                          </p:val>
                                        </p:tav>
                                      </p:tavLst>
                                    </p:anim>
                                    <p:anim calcmode="lin" valueType="num">
                                      <p:cBhvr>
                                        <p:cTn id="14" dur="1000" fill="hold"/>
                                        <p:tgtEl>
                                          <p:spTgt spid="192546"/>
                                        </p:tgtEl>
                                        <p:attrNameLst>
                                          <p:attrName>style.rotation</p:attrName>
                                        </p:attrNameLst>
                                      </p:cBhvr>
                                      <p:tavLst>
                                        <p:tav tm="0">
                                          <p:val>
                                            <p:fltVal val="90.000000"/>
                                          </p:val>
                                        </p:tav>
                                        <p:tav tm="100000">
                                          <p:val>
                                            <p:fltVal val="0.000000"/>
                                          </p:val>
                                        </p:tav>
                                      </p:tavLst>
                                    </p:anim>
                                    <p:animEffect transition="in" filter="fade">
                                      <p:cBhvr>
                                        <p:cTn id="15" dur="1000"/>
                                        <p:tgtEl>
                                          <p:spTgt spid="192546"/>
                                        </p:tgtEl>
                                      </p:cBhvr>
                                    </p:animEffect>
                                  </p:childTnLst>
                                </p:cTn>
                              </p:par>
                              <p:par>
                                <p:cTn id="16" presetID="31" presetClass="entr" presetSubtype="0" fill="hold" nodeType="withEffect">
                                  <p:stCondLst>
                                    <p:cond delay="0"/>
                                  </p:stCondLst>
                                  <p:iterate type="lt">
                                    <p:tmPct val="5000"/>
                                  </p:iterate>
                                  <p:childTnLst>
                                    <p:set>
                                      <p:cBhvr>
                                        <p:cTn id="17" dur="1" fill="hold">
                                          <p:stCondLst>
                                            <p:cond delay="0"/>
                                          </p:stCondLst>
                                        </p:cTn>
                                        <p:tgtEl>
                                          <p:spTgt spid="192548"/>
                                        </p:tgtEl>
                                        <p:attrNameLst>
                                          <p:attrName>style.visibility</p:attrName>
                                        </p:attrNameLst>
                                      </p:cBhvr>
                                      <p:to>
                                        <p:strVal val="visible"/>
                                      </p:to>
                                    </p:set>
                                    <p:anim calcmode="lin" valueType="num">
                                      <p:cBhvr>
                                        <p:cTn id="18" dur="1000" fill="hold"/>
                                        <p:tgtEl>
                                          <p:spTgt spid="192548"/>
                                        </p:tgtEl>
                                        <p:attrNameLst>
                                          <p:attrName>ppt_w</p:attrName>
                                        </p:attrNameLst>
                                      </p:cBhvr>
                                      <p:tavLst>
                                        <p:tav tm="0">
                                          <p:val>
                                            <p:fltVal val="0.000000"/>
                                          </p:val>
                                        </p:tav>
                                        <p:tav tm="100000">
                                          <p:val>
                                            <p:strVal val="#ppt_w"/>
                                          </p:val>
                                        </p:tav>
                                      </p:tavLst>
                                    </p:anim>
                                    <p:anim calcmode="lin" valueType="num">
                                      <p:cBhvr>
                                        <p:cTn id="19" dur="1000" fill="hold"/>
                                        <p:tgtEl>
                                          <p:spTgt spid="192548"/>
                                        </p:tgtEl>
                                        <p:attrNameLst>
                                          <p:attrName>ppt_h</p:attrName>
                                        </p:attrNameLst>
                                      </p:cBhvr>
                                      <p:tavLst>
                                        <p:tav tm="0">
                                          <p:val>
                                            <p:fltVal val="0.000000"/>
                                          </p:val>
                                        </p:tav>
                                        <p:tav tm="100000">
                                          <p:val>
                                            <p:strVal val="#ppt_h"/>
                                          </p:val>
                                        </p:tav>
                                      </p:tavLst>
                                    </p:anim>
                                    <p:anim calcmode="lin" valueType="num">
                                      <p:cBhvr>
                                        <p:cTn id="20" dur="1000" fill="hold"/>
                                        <p:tgtEl>
                                          <p:spTgt spid="192548"/>
                                        </p:tgtEl>
                                        <p:attrNameLst>
                                          <p:attrName>style.rotation</p:attrName>
                                        </p:attrNameLst>
                                      </p:cBhvr>
                                      <p:tavLst>
                                        <p:tav tm="0">
                                          <p:val>
                                            <p:fltVal val="90.000000"/>
                                          </p:val>
                                        </p:tav>
                                        <p:tav tm="100000">
                                          <p:val>
                                            <p:fltVal val="0.000000"/>
                                          </p:val>
                                        </p:tav>
                                      </p:tavLst>
                                    </p:anim>
                                    <p:animEffect transition="in" filter="fade">
                                      <p:cBhvr>
                                        <p:cTn id="21" dur="1000"/>
                                        <p:tgtEl>
                                          <p:spTgt spid="192548"/>
                                        </p:tgtEl>
                                      </p:cBhvr>
                                    </p:animEffect>
                                  </p:childTnLst>
                                </p:cTn>
                              </p:par>
                              <p:par>
                                <p:cTn id="22" presetID="31" presetClass="entr" presetSubtype="0" fill="hold" nodeType="withEffect">
                                  <p:stCondLst>
                                    <p:cond delay="0"/>
                                  </p:stCondLst>
                                  <p:iterate type="lt">
                                    <p:tmPct val="5000"/>
                                  </p:iterate>
                                  <p:childTnLst>
                                    <p:set>
                                      <p:cBhvr>
                                        <p:cTn id="23" dur="1" fill="hold">
                                          <p:stCondLst>
                                            <p:cond delay="0"/>
                                          </p:stCondLst>
                                        </p:cTn>
                                        <p:tgtEl>
                                          <p:spTgt spid="192545"/>
                                        </p:tgtEl>
                                        <p:attrNameLst>
                                          <p:attrName>style.visibility</p:attrName>
                                        </p:attrNameLst>
                                      </p:cBhvr>
                                      <p:to>
                                        <p:strVal val="visible"/>
                                      </p:to>
                                    </p:set>
                                    <p:anim calcmode="lin" valueType="num">
                                      <p:cBhvr>
                                        <p:cTn id="24" dur="1000" fill="hold"/>
                                        <p:tgtEl>
                                          <p:spTgt spid="192545"/>
                                        </p:tgtEl>
                                        <p:attrNameLst>
                                          <p:attrName>ppt_w</p:attrName>
                                        </p:attrNameLst>
                                      </p:cBhvr>
                                      <p:tavLst>
                                        <p:tav tm="0">
                                          <p:val>
                                            <p:fltVal val="0.000000"/>
                                          </p:val>
                                        </p:tav>
                                        <p:tav tm="100000">
                                          <p:val>
                                            <p:strVal val="#ppt_w"/>
                                          </p:val>
                                        </p:tav>
                                      </p:tavLst>
                                    </p:anim>
                                    <p:anim calcmode="lin" valueType="num">
                                      <p:cBhvr>
                                        <p:cTn id="25" dur="1000" fill="hold"/>
                                        <p:tgtEl>
                                          <p:spTgt spid="192545"/>
                                        </p:tgtEl>
                                        <p:attrNameLst>
                                          <p:attrName>ppt_h</p:attrName>
                                        </p:attrNameLst>
                                      </p:cBhvr>
                                      <p:tavLst>
                                        <p:tav tm="0">
                                          <p:val>
                                            <p:fltVal val="0.000000"/>
                                          </p:val>
                                        </p:tav>
                                        <p:tav tm="100000">
                                          <p:val>
                                            <p:strVal val="#ppt_h"/>
                                          </p:val>
                                        </p:tav>
                                      </p:tavLst>
                                    </p:anim>
                                    <p:anim calcmode="lin" valueType="num">
                                      <p:cBhvr>
                                        <p:cTn id="26" dur="1000" fill="hold"/>
                                        <p:tgtEl>
                                          <p:spTgt spid="192545"/>
                                        </p:tgtEl>
                                        <p:attrNameLst>
                                          <p:attrName>style.rotation</p:attrName>
                                        </p:attrNameLst>
                                      </p:cBhvr>
                                      <p:tavLst>
                                        <p:tav tm="0">
                                          <p:val>
                                            <p:fltVal val="90.000000"/>
                                          </p:val>
                                        </p:tav>
                                        <p:tav tm="100000">
                                          <p:val>
                                            <p:fltVal val="0.000000"/>
                                          </p:val>
                                        </p:tav>
                                      </p:tavLst>
                                    </p:anim>
                                    <p:animEffect transition="in" filter="fade">
                                      <p:cBhvr>
                                        <p:cTn id="27" dur="1000"/>
                                        <p:tgtEl>
                                          <p:spTgt spid="192545"/>
                                        </p:tgtEl>
                                      </p:cBhvr>
                                    </p:animEffect>
                                  </p:childTnLst>
                                </p:cTn>
                              </p:par>
                              <p:par>
                                <p:cTn id="28" presetID="31" presetClass="entr" presetSubtype="0" fill="hold" nodeType="withEffect">
                                  <p:stCondLst>
                                    <p:cond delay="0"/>
                                  </p:stCondLst>
                                  <p:iterate type="lt">
                                    <p:tmPct val="5000"/>
                                  </p:iterate>
                                  <p:childTnLst>
                                    <p:set>
                                      <p:cBhvr>
                                        <p:cTn id="29" dur="1" fill="hold">
                                          <p:stCondLst>
                                            <p:cond delay="0"/>
                                          </p:stCondLst>
                                        </p:cTn>
                                        <p:tgtEl>
                                          <p:spTgt spid="192547"/>
                                        </p:tgtEl>
                                        <p:attrNameLst>
                                          <p:attrName>style.visibility</p:attrName>
                                        </p:attrNameLst>
                                      </p:cBhvr>
                                      <p:to>
                                        <p:strVal val="visible"/>
                                      </p:to>
                                    </p:set>
                                    <p:anim calcmode="lin" valueType="num">
                                      <p:cBhvr>
                                        <p:cTn id="30" dur="1000" fill="hold"/>
                                        <p:tgtEl>
                                          <p:spTgt spid="192547"/>
                                        </p:tgtEl>
                                        <p:attrNameLst>
                                          <p:attrName>ppt_w</p:attrName>
                                        </p:attrNameLst>
                                      </p:cBhvr>
                                      <p:tavLst>
                                        <p:tav tm="0">
                                          <p:val>
                                            <p:fltVal val="0.000000"/>
                                          </p:val>
                                        </p:tav>
                                        <p:tav tm="100000">
                                          <p:val>
                                            <p:strVal val="#ppt_w"/>
                                          </p:val>
                                        </p:tav>
                                      </p:tavLst>
                                    </p:anim>
                                    <p:anim calcmode="lin" valueType="num">
                                      <p:cBhvr>
                                        <p:cTn id="31" dur="1000" fill="hold"/>
                                        <p:tgtEl>
                                          <p:spTgt spid="192547"/>
                                        </p:tgtEl>
                                        <p:attrNameLst>
                                          <p:attrName>ppt_h</p:attrName>
                                        </p:attrNameLst>
                                      </p:cBhvr>
                                      <p:tavLst>
                                        <p:tav tm="0">
                                          <p:val>
                                            <p:fltVal val="0.000000"/>
                                          </p:val>
                                        </p:tav>
                                        <p:tav tm="100000">
                                          <p:val>
                                            <p:strVal val="#ppt_h"/>
                                          </p:val>
                                        </p:tav>
                                      </p:tavLst>
                                    </p:anim>
                                    <p:anim calcmode="lin" valueType="num">
                                      <p:cBhvr>
                                        <p:cTn id="32" dur="1000" fill="hold"/>
                                        <p:tgtEl>
                                          <p:spTgt spid="192547"/>
                                        </p:tgtEl>
                                        <p:attrNameLst>
                                          <p:attrName>style.rotation</p:attrName>
                                        </p:attrNameLst>
                                      </p:cBhvr>
                                      <p:tavLst>
                                        <p:tav tm="0">
                                          <p:val>
                                            <p:fltVal val="90.000000"/>
                                          </p:val>
                                        </p:tav>
                                        <p:tav tm="100000">
                                          <p:val>
                                            <p:fltVal val="0.000000"/>
                                          </p:val>
                                        </p:tav>
                                      </p:tavLst>
                                    </p:anim>
                                    <p:animEffect transition="in" filter="fade">
                                      <p:cBhvr>
                                        <p:cTn id="33" dur="1000"/>
                                        <p:tgtEl>
                                          <p:spTgt spid="192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3538" name="直接连接符 193537"/>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93541" name="矩形 193540"/>
          <p:cNvSpPr/>
          <p:nvPr/>
        </p:nvSpPr>
        <p:spPr>
          <a:xfrm>
            <a:off x="1676400" y="1093470"/>
            <a:ext cx="4648200"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固体废物来源及分类</a:t>
            </a:r>
            <a:endParaRPr lang="en-GB" altLang="zh-CN" sz="2800" b="1">
              <a:solidFill>
                <a:srgbClr val="FC4A26"/>
              </a:solidFill>
              <a:latin typeface="楷体_GB2312" charset="-122"/>
              <a:ea typeface="楷体_GB2312" charset="-122"/>
            </a:endParaRPr>
          </a:p>
        </p:txBody>
      </p:sp>
      <p:sp>
        <p:nvSpPr>
          <p:cNvPr id="193542" name="五边形 193541"/>
          <p:cNvSpPr/>
          <p:nvPr/>
        </p:nvSpPr>
        <p:spPr>
          <a:xfrm>
            <a:off x="1550988" y="527050"/>
            <a:ext cx="4995862" cy="539750"/>
          </a:xfrm>
          <a:prstGeom prst="homePlate">
            <a:avLst>
              <a:gd name="adj" fmla="val 23139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第五节 固体废物及化学品危害</a:t>
            </a:r>
            <a:endParaRPr lang="en-US" altLang="zh-CN" sz="2400" b="1">
              <a:solidFill>
                <a:schemeClr val="bg1"/>
              </a:solidFill>
              <a:latin typeface="楷体_GB2312" charset="-122"/>
              <a:ea typeface="楷体_GB2312" charset="-122"/>
            </a:endParaRPr>
          </a:p>
        </p:txBody>
      </p:sp>
      <p:graphicFrame>
        <p:nvGraphicFramePr>
          <p:cNvPr id="193581" name="内容占位符 193580"/>
          <p:cNvGraphicFramePr/>
          <p:nvPr>
            <p:ph/>
          </p:nvPr>
        </p:nvGraphicFramePr>
        <p:xfrm>
          <a:off x="1828800" y="1905000"/>
          <a:ext cx="8458200" cy="4479925"/>
        </p:xfrm>
        <a:graphic>
          <a:graphicData uri="http://schemas.openxmlformats.org/drawingml/2006/table">
            <a:tbl>
              <a:tblPr/>
              <a:tblGrid>
                <a:gridCol w="1143000"/>
                <a:gridCol w="4800600"/>
                <a:gridCol w="2514600"/>
              </a:tblGrid>
              <a:tr h="36576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1800" b="1" dirty="0">
                          <a:solidFill>
                            <a:schemeClr val="accent2"/>
                          </a:solidFill>
                          <a:latin typeface="楷体_GB2312" charset="-122"/>
                          <a:ea typeface="楷体_GB2312" charset="-122"/>
                        </a:rPr>
                        <a:t>类型</a:t>
                      </a:r>
                      <a:endParaRPr lang="zh-CN" altLang="en-GB" sz="1800" b="1" dirty="0">
                        <a:solidFill>
                          <a:schemeClr val="accent2"/>
                        </a:solidFill>
                        <a:latin typeface="楷体_GB2312" charset="-122"/>
                        <a:ea typeface="楷体_GB2312" charset="-122"/>
                      </a:endParaRPr>
                    </a:p>
                  </a:txBody>
                  <a:tcPr anchor="ctr" anchorCtr="0">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1800" b="1" dirty="0">
                          <a:solidFill>
                            <a:schemeClr val="accent2"/>
                          </a:solidFill>
                          <a:latin typeface="楷体_GB2312" charset="-122"/>
                          <a:ea typeface="楷体_GB2312" charset="-122"/>
                        </a:rPr>
                        <a:t>主要组成物</a:t>
                      </a:r>
                      <a:endParaRPr lang="zh-CN" altLang="en-GB" sz="1800" b="1" dirty="0">
                        <a:solidFill>
                          <a:schemeClr val="accent2"/>
                        </a:solidFill>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1800" b="1" dirty="0">
                          <a:solidFill>
                            <a:schemeClr val="accent2"/>
                          </a:solidFill>
                          <a:latin typeface="楷体_GB2312" charset="-122"/>
                          <a:ea typeface="楷体_GB2312" charset="-122"/>
                        </a:rPr>
                        <a:t>来源</a:t>
                      </a:r>
                      <a:endParaRPr lang="zh-CN" altLang="en-GB" sz="1800" b="1" dirty="0">
                        <a:solidFill>
                          <a:schemeClr val="accent2"/>
                        </a:solidFill>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r>
              <a:tr h="913765">
                <a:tc rowSpan="3">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1800" b="1" dirty="0">
                          <a:solidFill>
                            <a:schemeClr val="accent2"/>
                          </a:solidFill>
                          <a:latin typeface="楷体_GB2312" charset="-122"/>
                          <a:ea typeface="楷体_GB2312" charset="-122"/>
                        </a:rPr>
                        <a:t>城</a:t>
                      </a:r>
                      <a:br>
                        <a:rPr lang="zh-CN" altLang="en-US" sz="1800" b="1" dirty="0">
                          <a:solidFill>
                            <a:schemeClr val="accent2"/>
                          </a:solidFill>
                          <a:latin typeface="楷体_GB2312" charset="-122"/>
                          <a:ea typeface="楷体_GB2312" charset="-122"/>
                        </a:rPr>
                      </a:br>
                      <a:r>
                        <a:rPr lang="zh-CN" altLang="en-GB" sz="1800" b="1" dirty="0">
                          <a:solidFill>
                            <a:schemeClr val="accent2"/>
                          </a:solidFill>
                          <a:latin typeface="楷体_GB2312" charset="-122"/>
                          <a:ea typeface="楷体_GB2312" charset="-122"/>
                        </a:rPr>
                        <a:t>市</a:t>
                      </a:r>
                      <a:br>
                        <a:rPr lang="zh-CN" altLang="en-US" sz="1800" b="1" dirty="0">
                          <a:solidFill>
                            <a:schemeClr val="accent2"/>
                          </a:solidFill>
                          <a:latin typeface="楷体_GB2312" charset="-122"/>
                          <a:ea typeface="楷体_GB2312" charset="-122"/>
                        </a:rPr>
                      </a:br>
                      <a:r>
                        <a:rPr lang="zh-CN" altLang="en-GB" sz="1800" b="1" dirty="0">
                          <a:solidFill>
                            <a:schemeClr val="accent2"/>
                          </a:solidFill>
                          <a:latin typeface="楷体_GB2312" charset="-122"/>
                          <a:ea typeface="楷体_GB2312" charset="-122"/>
                        </a:rPr>
                        <a:t>垃</a:t>
                      </a:r>
                      <a:br>
                        <a:rPr lang="zh-CN" altLang="en-US" sz="1800" b="1" dirty="0">
                          <a:solidFill>
                            <a:schemeClr val="accent2"/>
                          </a:solidFill>
                          <a:latin typeface="楷体_GB2312" charset="-122"/>
                          <a:ea typeface="楷体_GB2312" charset="-122"/>
                        </a:rPr>
                      </a:br>
                      <a:r>
                        <a:rPr lang="zh-CN" altLang="en-GB" sz="1800" b="1" dirty="0">
                          <a:solidFill>
                            <a:schemeClr val="accent2"/>
                          </a:solidFill>
                          <a:latin typeface="楷体_GB2312" charset="-122"/>
                          <a:ea typeface="楷体_GB2312" charset="-122"/>
                        </a:rPr>
                        <a:t>圾</a:t>
                      </a:r>
                      <a:endParaRPr lang="zh-CN" altLang="en-GB" sz="1800" b="1" dirty="0">
                        <a:solidFill>
                          <a:schemeClr val="accent2"/>
                        </a:solidFill>
                        <a:latin typeface="楷体_GB2312" charset="-122"/>
                        <a:ea typeface="楷体_GB2312" charset="-122"/>
                      </a:endParaRPr>
                    </a:p>
                  </a:txBody>
                  <a:tcPr anchor="ctr" anchorCtr="0">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食物、纸屑、旧布料、破家具、金属、玻璃、塑料、陶瓷、灰渣、碎砖瓦、粪便、包装袋</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居民生活</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91440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废管道、碎瓷砖、废弃交通工具、废电器、易燃、易爆、腐蚀性、放射性废物、类似居民生活栏内的各种废物</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市政维护</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64008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B w="19050" cap="flat" cmpd="sng">
                      <a:solidFill>
                        <a:schemeClr val="tx1"/>
                      </a:solidFill>
                      <a:prstDash val="solid"/>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砖瓦片、树叶、金属、灰渣、污泥、脏土、淤积物</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农林、农产品加工</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r>
              <a:tr h="640080">
                <a:tc row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1800" b="1" dirty="0">
                          <a:solidFill>
                            <a:schemeClr val="accent2"/>
                          </a:solidFill>
                          <a:latin typeface="楷体_GB2312" charset="-122"/>
                          <a:ea typeface="楷体_GB2312" charset="-122"/>
                        </a:rPr>
                        <a:t>农业</a:t>
                      </a:r>
                      <a:br>
                        <a:rPr lang="zh-CN" altLang="en-US" sz="1800" b="1" dirty="0">
                          <a:solidFill>
                            <a:schemeClr val="accent2"/>
                          </a:solidFill>
                          <a:latin typeface="楷体_GB2312" charset="-122"/>
                          <a:ea typeface="楷体_GB2312" charset="-122"/>
                        </a:rPr>
                      </a:br>
                      <a:r>
                        <a:rPr lang="zh-CN" altLang="en-GB" sz="1800" b="1" dirty="0">
                          <a:solidFill>
                            <a:schemeClr val="accent2"/>
                          </a:solidFill>
                          <a:latin typeface="楷体_GB2312" charset="-122"/>
                          <a:ea typeface="楷体_GB2312" charset="-122"/>
                        </a:rPr>
                        <a:t>废物</a:t>
                      </a:r>
                      <a:endParaRPr lang="zh-CN" altLang="en-GB" sz="1800" b="1" dirty="0">
                        <a:solidFill>
                          <a:schemeClr val="accent2"/>
                        </a:solidFill>
                        <a:latin typeface="楷体_GB2312" charset="-122"/>
                        <a:ea typeface="楷体_GB2312" charset="-122"/>
                      </a:endParaRPr>
                    </a:p>
                  </a:txBody>
                  <a:tcPr anchor="ctr" anchorCtr="0">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稻草、秸秆、果皮菜叶、糠秕、树枝落叶、废塑料、人畜粪便、死畜禽</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农林、农产品加工</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12700" cap="flat" cmpd="sng">
                      <a:solidFill>
                        <a:srgbClr val="808000"/>
                      </a:solidFill>
                      <a:prstDash val="solid"/>
                      <a:headEnd type="none" w="med" len="med"/>
                      <a:tailEnd type="none" w="med" len="med"/>
                    </a:lnB>
                    <a:lnTlToBr>
                      <a:noFill/>
                    </a:lnTlToBr>
                    <a:lnBlToTr>
                      <a:noFill/>
                    </a:lnBlToTr>
                    <a:noFill/>
                  </a:tcPr>
                </a:tc>
              </a:tr>
              <a:tr h="365760">
                <a:tc vMerge="1">
                  <a:tcPr>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B w="19050" cap="flat" cmpd="sng">
                      <a:solidFill>
                        <a:schemeClr val="tx1"/>
                      </a:solidFill>
                      <a:prstDash val="solid"/>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死鱼虾、贝壳、水产品加工废水、塘泥</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水产</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rgbClr val="808000"/>
                      </a:solidFill>
                      <a:prstDash val="solid"/>
                      <a:headEnd type="none" w="med" len="med"/>
                      <a:tailEnd type="none" w="med" len="med"/>
                    </a:lnT>
                    <a:lnB w="19050" cap="flat" cmpd="sng">
                      <a:solidFill>
                        <a:schemeClr val="tx1"/>
                      </a:solidFill>
                      <a:prstDash val="solid"/>
                      <a:headEnd type="none" w="med" len="med"/>
                      <a:tailEnd type="none" w="med" len="med"/>
                    </a:lnB>
                    <a:lnTlToBr>
                      <a:noFill/>
                    </a:lnTlToBr>
                    <a:lnBlToTr>
                      <a:noFill/>
                    </a:lnBlToTr>
                    <a:noFill/>
                  </a:tcPr>
                </a:tc>
              </a:tr>
              <a:tr h="64008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eaLnBrk="1" hangingPunct="1">
                        <a:spcBef>
                          <a:spcPct val="0"/>
                        </a:spcBef>
                        <a:buSzTx/>
                        <a:buFontTx/>
                        <a:buNone/>
                      </a:pPr>
                      <a:r>
                        <a:rPr lang="zh-CN" altLang="en-GB" sz="1800" b="1" dirty="0">
                          <a:solidFill>
                            <a:schemeClr val="accent2"/>
                          </a:solidFill>
                          <a:latin typeface="楷体_GB2312" charset="-122"/>
                          <a:ea typeface="楷体_GB2312" charset="-122"/>
                        </a:rPr>
                        <a:t>放射性废物</a:t>
                      </a:r>
                      <a:endParaRPr lang="zh-CN" altLang="en-GB" sz="1800" b="1" dirty="0">
                        <a:solidFill>
                          <a:schemeClr val="accent2"/>
                        </a:solidFill>
                        <a:latin typeface="楷体_GB2312" charset="-122"/>
                        <a:ea typeface="楷体_GB2312" charset="-122"/>
                      </a:endParaRPr>
                    </a:p>
                  </a:txBody>
                  <a:tcPr anchor="ctr" anchorCtr="0">
                    <a:lnL w="28575"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具有放射性的金属、废渣、粉尘、污泥、器具和建筑材料等</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19050"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eaLnBrk="1" hangingPunct="1">
                        <a:spcBef>
                          <a:spcPct val="0"/>
                        </a:spcBef>
                        <a:buSzTx/>
                        <a:buFontTx/>
                        <a:buNone/>
                      </a:pPr>
                      <a:r>
                        <a:rPr lang="zh-CN" altLang="en-GB" sz="1800" dirty="0">
                          <a:solidFill>
                            <a:srgbClr val="000000"/>
                          </a:solidFill>
                          <a:latin typeface="楷体_GB2312" charset="-122"/>
                          <a:ea typeface="楷体_GB2312" charset="-122"/>
                        </a:rPr>
                        <a:t>核工业、核电站、医院、高校、科研所</a:t>
                      </a:r>
                      <a:endParaRPr lang="zh-CN" altLang="en-GB" sz="1800" dirty="0">
                        <a:latin typeface="楷体_GB2312" charset="-122"/>
                        <a:ea typeface="楷体_GB2312" charset="-122"/>
                      </a:endParaRPr>
                    </a:p>
                  </a:txBody>
                  <a:tcPr anchor="ctr" anchorCtr="0">
                    <a:lnL w="1905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905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pic>
        <p:nvPicPr>
          <p:cNvPr id="193574" name="imgb" descr="26222024"/>
          <p:cNvPicPr preferRelativeResize="0"/>
          <p:nvPr/>
        </p:nvPicPr>
        <p:blipFill>
          <a:blip r:embed="rId1"/>
          <a:stretch>
            <a:fillRect/>
          </a:stretch>
        </p:blipFill>
        <p:spPr>
          <a:xfrm>
            <a:off x="2079625" y="3843338"/>
            <a:ext cx="2514600" cy="2536825"/>
          </a:xfrm>
          <a:prstGeom prst="rect">
            <a:avLst/>
          </a:prstGeom>
          <a:noFill/>
          <a:ln w="9525">
            <a:noFill/>
          </a:ln>
        </p:spPr>
      </p:pic>
      <p:pic>
        <p:nvPicPr>
          <p:cNvPr id="193575" name="imgb" descr="%E7%99%BD%E8%89%B2%E6%B1%A1%E6%9F%93"/>
          <p:cNvPicPr preferRelativeResize="0"/>
          <p:nvPr/>
        </p:nvPicPr>
        <p:blipFill>
          <a:blip r:embed="rId2"/>
          <a:stretch>
            <a:fillRect/>
          </a:stretch>
        </p:blipFill>
        <p:spPr>
          <a:xfrm>
            <a:off x="7581900" y="1306513"/>
            <a:ext cx="2514600" cy="2536825"/>
          </a:xfrm>
          <a:prstGeom prst="rect">
            <a:avLst/>
          </a:prstGeom>
          <a:noFill/>
          <a:ln w="9525">
            <a:noFill/>
          </a:ln>
        </p:spPr>
      </p:pic>
      <p:pic>
        <p:nvPicPr>
          <p:cNvPr id="193576" name="imgb" descr="images%5C20041123151640rubbishpig"/>
          <p:cNvPicPr preferRelativeResize="0"/>
          <p:nvPr/>
        </p:nvPicPr>
        <p:blipFill>
          <a:blip r:embed="rId3"/>
          <a:stretch>
            <a:fillRect/>
          </a:stretch>
        </p:blipFill>
        <p:spPr>
          <a:xfrm>
            <a:off x="4800600" y="1306513"/>
            <a:ext cx="2514600" cy="2536825"/>
          </a:xfrm>
          <a:prstGeom prst="rect">
            <a:avLst/>
          </a:prstGeom>
          <a:noFill/>
          <a:ln w="9525">
            <a:noFill/>
          </a:ln>
        </p:spPr>
      </p:pic>
      <p:pic>
        <p:nvPicPr>
          <p:cNvPr id="193577" name="imgb" descr="920038"/>
          <p:cNvPicPr preferRelativeResize="0"/>
          <p:nvPr/>
        </p:nvPicPr>
        <p:blipFill>
          <a:blip r:embed="rId4"/>
          <a:stretch>
            <a:fillRect/>
          </a:stretch>
        </p:blipFill>
        <p:spPr>
          <a:xfrm>
            <a:off x="4800600" y="3843338"/>
            <a:ext cx="2514600" cy="2536825"/>
          </a:xfrm>
          <a:prstGeom prst="rect">
            <a:avLst/>
          </a:prstGeom>
          <a:noFill/>
          <a:ln w="9525">
            <a:noFill/>
          </a:ln>
        </p:spPr>
      </p:pic>
      <p:pic>
        <p:nvPicPr>
          <p:cNvPr id="193578" name="imgb" descr="wangli3907200610258315689961"/>
          <p:cNvPicPr preferRelativeResize="0"/>
          <p:nvPr/>
        </p:nvPicPr>
        <p:blipFill>
          <a:blip r:embed="rId5"/>
          <a:stretch>
            <a:fillRect/>
          </a:stretch>
        </p:blipFill>
        <p:spPr>
          <a:xfrm>
            <a:off x="1909763" y="1327150"/>
            <a:ext cx="2514600" cy="2536825"/>
          </a:xfrm>
          <a:prstGeom prst="rect">
            <a:avLst/>
          </a:prstGeom>
          <a:noFill/>
          <a:ln w="9525">
            <a:noFill/>
          </a:ln>
        </p:spPr>
      </p:pic>
      <p:pic>
        <p:nvPicPr>
          <p:cNvPr id="193579" name="imgb" descr="2009821142440"/>
          <p:cNvPicPr preferRelativeResize="0"/>
          <p:nvPr/>
        </p:nvPicPr>
        <p:blipFill>
          <a:blip r:embed="rId6"/>
          <a:stretch>
            <a:fillRect/>
          </a:stretch>
        </p:blipFill>
        <p:spPr>
          <a:xfrm>
            <a:off x="7542213" y="3863975"/>
            <a:ext cx="2516187" cy="253682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93581"/>
                                        </p:tgtEl>
                                        <p:attrNameLst>
                                          <p:attrName>style.visibility</p:attrName>
                                        </p:attrNameLst>
                                      </p:cBhvr>
                                      <p:to>
                                        <p:strVal val="visible"/>
                                      </p:to>
                                    </p:set>
                                    <p:animEffect transition="in" filter="blinds(vertical)">
                                      <p:cBhvr>
                                        <p:cTn id="7" dur="500"/>
                                        <p:tgtEl>
                                          <p:spTgt spid="193581"/>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193575"/>
                                        </p:tgtEl>
                                        <p:attrNameLst>
                                          <p:attrName>style.visibility</p:attrName>
                                        </p:attrNameLst>
                                      </p:cBhvr>
                                      <p:to>
                                        <p:strVal val="visible"/>
                                      </p:to>
                                    </p:set>
                                    <p:anim calcmode="lin" valueType="num">
                                      <p:cBhvr>
                                        <p:cTn id="12" dur="1000" fill="hold"/>
                                        <p:tgtEl>
                                          <p:spTgt spid="193575"/>
                                        </p:tgtEl>
                                        <p:attrNameLst>
                                          <p:attrName>ppt_w</p:attrName>
                                        </p:attrNameLst>
                                      </p:cBhvr>
                                      <p:tavLst>
                                        <p:tav tm="0">
                                          <p:val>
                                            <p:fltVal val="0.000000"/>
                                          </p:val>
                                        </p:tav>
                                        <p:tav tm="100000">
                                          <p:val>
                                            <p:strVal val="#ppt_w"/>
                                          </p:val>
                                        </p:tav>
                                      </p:tavLst>
                                    </p:anim>
                                    <p:anim calcmode="lin" valueType="num">
                                      <p:cBhvr>
                                        <p:cTn id="13" dur="1000" fill="hold"/>
                                        <p:tgtEl>
                                          <p:spTgt spid="193575"/>
                                        </p:tgtEl>
                                        <p:attrNameLst>
                                          <p:attrName>ppt_h</p:attrName>
                                        </p:attrNameLst>
                                      </p:cBhvr>
                                      <p:tavLst>
                                        <p:tav tm="0">
                                          <p:val>
                                            <p:fltVal val="0.000000"/>
                                          </p:val>
                                        </p:tav>
                                        <p:tav tm="100000">
                                          <p:val>
                                            <p:strVal val="#ppt_h"/>
                                          </p:val>
                                        </p:tav>
                                      </p:tavLst>
                                    </p:anim>
                                    <p:anim calcmode="lin" valueType="num">
                                      <p:cBhvr>
                                        <p:cTn id="14" dur="1000" fill="hold"/>
                                        <p:tgtEl>
                                          <p:spTgt spid="193575"/>
                                        </p:tgtEl>
                                        <p:attrNameLst>
                                          <p:attrName>style.rotation</p:attrName>
                                        </p:attrNameLst>
                                      </p:cBhvr>
                                      <p:tavLst>
                                        <p:tav tm="0">
                                          <p:val>
                                            <p:fltVal val="90.000000"/>
                                          </p:val>
                                        </p:tav>
                                        <p:tav tm="100000">
                                          <p:val>
                                            <p:fltVal val="0.000000"/>
                                          </p:val>
                                        </p:tav>
                                      </p:tavLst>
                                    </p:anim>
                                    <p:animEffect transition="in" filter="fade">
                                      <p:cBhvr>
                                        <p:cTn id="15" dur="1000"/>
                                        <p:tgtEl>
                                          <p:spTgt spid="193575"/>
                                        </p:tgtEl>
                                      </p:cBhvr>
                                    </p:animEffect>
                                  </p:childTnLst>
                                </p:cTn>
                              </p:par>
                              <p:par>
                                <p:cTn id="16" presetID="31" presetClass="entr" presetSubtype="0" fill="hold" nodeType="withEffect">
                                  <p:stCondLst>
                                    <p:cond delay="0"/>
                                  </p:stCondLst>
                                  <p:iterate type="lt">
                                    <p:tmPct val="5000"/>
                                  </p:iterate>
                                  <p:childTnLst>
                                    <p:set>
                                      <p:cBhvr>
                                        <p:cTn id="17" dur="1" fill="hold">
                                          <p:stCondLst>
                                            <p:cond delay="0"/>
                                          </p:stCondLst>
                                        </p:cTn>
                                        <p:tgtEl>
                                          <p:spTgt spid="193576"/>
                                        </p:tgtEl>
                                        <p:attrNameLst>
                                          <p:attrName>style.visibility</p:attrName>
                                        </p:attrNameLst>
                                      </p:cBhvr>
                                      <p:to>
                                        <p:strVal val="visible"/>
                                      </p:to>
                                    </p:set>
                                    <p:anim calcmode="lin" valueType="num">
                                      <p:cBhvr>
                                        <p:cTn id="18" dur="1000" fill="hold"/>
                                        <p:tgtEl>
                                          <p:spTgt spid="193576"/>
                                        </p:tgtEl>
                                        <p:attrNameLst>
                                          <p:attrName>ppt_w</p:attrName>
                                        </p:attrNameLst>
                                      </p:cBhvr>
                                      <p:tavLst>
                                        <p:tav tm="0">
                                          <p:val>
                                            <p:fltVal val="0.000000"/>
                                          </p:val>
                                        </p:tav>
                                        <p:tav tm="100000">
                                          <p:val>
                                            <p:strVal val="#ppt_w"/>
                                          </p:val>
                                        </p:tav>
                                      </p:tavLst>
                                    </p:anim>
                                    <p:anim calcmode="lin" valueType="num">
                                      <p:cBhvr>
                                        <p:cTn id="19" dur="1000" fill="hold"/>
                                        <p:tgtEl>
                                          <p:spTgt spid="193576"/>
                                        </p:tgtEl>
                                        <p:attrNameLst>
                                          <p:attrName>ppt_h</p:attrName>
                                        </p:attrNameLst>
                                      </p:cBhvr>
                                      <p:tavLst>
                                        <p:tav tm="0">
                                          <p:val>
                                            <p:fltVal val="0.000000"/>
                                          </p:val>
                                        </p:tav>
                                        <p:tav tm="100000">
                                          <p:val>
                                            <p:strVal val="#ppt_h"/>
                                          </p:val>
                                        </p:tav>
                                      </p:tavLst>
                                    </p:anim>
                                    <p:anim calcmode="lin" valueType="num">
                                      <p:cBhvr>
                                        <p:cTn id="20" dur="1000" fill="hold"/>
                                        <p:tgtEl>
                                          <p:spTgt spid="193576"/>
                                        </p:tgtEl>
                                        <p:attrNameLst>
                                          <p:attrName>style.rotation</p:attrName>
                                        </p:attrNameLst>
                                      </p:cBhvr>
                                      <p:tavLst>
                                        <p:tav tm="0">
                                          <p:val>
                                            <p:fltVal val="90.000000"/>
                                          </p:val>
                                        </p:tav>
                                        <p:tav tm="100000">
                                          <p:val>
                                            <p:fltVal val="0.000000"/>
                                          </p:val>
                                        </p:tav>
                                      </p:tavLst>
                                    </p:anim>
                                    <p:animEffect transition="in" filter="fade">
                                      <p:cBhvr>
                                        <p:cTn id="21" dur="1000"/>
                                        <p:tgtEl>
                                          <p:spTgt spid="193576"/>
                                        </p:tgtEl>
                                      </p:cBhvr>
                                    </p:animEffect>
                                  </p:childTnLst>
                                </p:cTn>
                              </p:par>
                              <p:par>
                                <p:cTn id="22" presetID="31" presetClass="entr" presetSubtype="0" fill="hold" nodeType="withEffect">
                                  <p:stCondLst>
                                    <p:cond delay="0"/>
                                  </p:stCondLst>
                                  <p:iterate type="lt">
                                    <p:tmPct val="5000"/>
                                  </p:iterate>
                                  <p:childTnLst>
                                    <p:set>
                                      <p:cBhvr>
                                        <p:cTn id="23" dur="1" fill="hold">
                                          <p:stCondLst>
                                            <p:cond delay="0"/>
                                          </p:stCondLst>
                                        </p:cTn>
                                        <p:tgtEl>
                                          <p:spTgt spid="193578"/>
                                        </p:tgtEl>
                                        <p:attrNameLst>
                                          <p:attrName>style.visibility</p:attrName>
                                        </p:attrNameLst>
                                      </p:cBhvr>
                                      <p:to>
                                        <p:strVal val="visible"/>
                                      </p:to>
                                    </p:set>
                                    <p:anim calcmode="lin" valueType="num">
                                      <p:cBhvr>
                                        <p:cTn id="24" dur="1000" fill="hold"/>
                                        <p:tgtEl>
                                          <p:spTgt spid="193578"/>
                                        </p:tgtEl>
                                        <p:attrNameLst>
                                          <p:attrName>ppt_w</p:attrName>
                                        </p:attrNameLst>
                                      </p:cBhvr>
                                      <p:tavLst>
                                        <p:tav tm="0">
                                          <p:val>
                                            <p:fltVal val="0.000000"/>
                                          </p:val>
                                        </p:tav>
                                        <p:tav tm="100000">
                                          <p:val>
                                            <p:strVal val="#ppt_w"/>
                                          </p:val>
                                        </p:tav>
                                      </p:tavLst>
                                    </p:anim>
                                    <p:anim calcmode="lin" valueType="num">
                                      <p:cBhvr>
                                        <p:cTn id="25" dur="1000" fill="hold"/>
                                        <p:tgtEl>
                                          <p:spTgt spid="193578"/>
                                        </p:tgtEl>
                                        <p:attrNameLst>
                                          <p:attrName>ppt_h</p:attrName>
                                        </p:attrNameLst>
                                      </p:cBhvr>
                                      <p:tavLst>
                                        <p:tav tm="0">
                                          <p:val>
                                            <p:fltVal val="0.000000"/>
                                          </p:val>
                                        </p:tav>
                                        <p:tav tm="100000">
                                          <p:val>
                                            <p:strVal val="#ppt_h"/>
                                          </p:val>
                                        </p:tav>
                                      </p:tavLst>
                                    </p:anim>
                                    <p:anim calcmode="lin" valueType="num">
                                      <p:cBhvr>
                                        <p:cTn id="26" dur="1000" fill="hold"/>
                                        <p:tgtEl>
                                          <p:spTgt spid="193578"/>
                                        </p:tgtEl>
                                        <p:attrNameLst>
                                          <p:attrName>style.rotation</p:attrName>
                                        </p:attrNameLst>
                                      </p:cBhvr>
                                      <p:tavLst>
                                        <p:tav tm="0">
                                          <p:val>
                                            <p:fltVal val="90.000000"/>
                                          </p:val>
                                        </p:tav>
                                        <p:tav tm="100000">
                                          <p:val>
                                            <p:fltVal val="0.000000"/>
                                          </p:val>
                                        </p:tav>
                                      </p:tavLst>
                                    </p:anim>
                                    <p:animEffect transition="in" filter="fade">
                                      <p:cBhvr>
                                        <p:cTn id="27" dur="1000"/>
                                        <p:tgtEl>
                                          <p:spTgt spid="193578"/>
                                        </p:tgtEl>
                                      </p:cBhvr>
                                    </p:animEffect>
                                  </p:childTnLst>
                                </p:cTn>
                              </p:par>
                              <p:par>
                                <p:cTn id="28" presetID="31" presetClass="entr" presetSubtype="0" fill="hold" nodeType="withEffect">
                                  <p:stCondLst>
                                    <p:cond delay="0"/>
                                  </p:stCondLst>
                                  <p:iterate type="lt">
                                    <p:tmPct val="5000"/>
                                  </p:iterate>
                                  <p:childTnLst>
                                    <p:set>
                                      <p:cBhvr>
                                        <p:cTn id="29" dur="1" fill="hold">
                                          <p:stCondLst>
                                            <p:cond delay="0"/>
                                          </p:stCondLst>
                                        </p:cTn>
                                        <p:tgtEl>
                                          <p:spTgt spid="193579"/>
                                        </p:tgtEl>
                                        <p:attrNameLst>
                                          <p:attrName>style.visibility</p:attrName>
                                        </p:attrNameLst>
                                      </p:cBhvr>
                                      <p:to>
                                        <p:strVal val="visible"/>
                                      </p:to>
                                    </p:set>
                                    <p:anim calcmode="lin" valueType="num">
                                      <p:cBhvr>
                                        <p:cTn id="30" dur="1000" fill="hold"/>
                                        <p:tgtEl>
                                          <p:spTgt spid="193579"/>
                                        </p:tgtEl>
                                        <p:attrNameLst>
                                          <p:attrName>ppt_w</p:attrName>
                                        </p:attrNameLst>
                                      </p:cBhvr>
                                      <p:tavLst>
                                        <p:tav tm="0">
                                          <p:val>
                                            <p:fltVal val="0.000000"/>
                                          </p:val>
                                        </p:tav>
                                        <p:tav tm="100000">
                                          <p:val>
                                            <p:strVal val="#ppt_w"/>
                                          </p:val>
                                        </p:tav>
                                      </p:tavLst>
                                    </p:anim>
                                    <p:anim calcmode="lin" valueType="num">
                                      <p:cBhvr>
                                        <p:cTn id="31" dur="1000" fill="hold"/>
                                        <p:tgtEl>
                                          <p:spTgt spid="193579"/>
                                        </p:tgtEl>
                                        <p:attrNameLst>
                                          <p:attrName>ppt_h</p:attrName>
                                        </p:attrNameLst>
                                      </p:cBhvr>
                                      <p:tavLst>
                                        <p:tav tm="0">
                                          <p:val>
                                            <p:fltVal val="0.000000"/>
                                          </p:val>
                                        </p:tav>
                                        <p:tav tm="100000">
                                          <p:val>
                                            <p:strVal val="#ppt_h"/>
                                          </p:val>
                                        </p:tav>
                                      </p:tavLst>
                                    </p:anim>
                                    <p:anim calcmode="lin" valueType="num">
                                      <p:cBhvr>
                                        <p:cTn id="32" dur="1000" fill="hold"/>
                                        <p:tgtEl>
                                          <p:spTgt spid="193579"/>
                                        </p:tgtEl>
                                        <p:attrNameLst>
                                          <p:attrName>style.rotation</p:attrName>
                                        </p:attrNameLst>
                                      </p:cBhvr>
                                      <p:tavLst>
                                        <p:tav tm="0">
                                          <p:val>
                                            <p:fltVal val="90.000000"/>
                                          </p:val>
                                        </p:tav>
                                        <p:tav tm="100000">
                                          <p:val>
                                            <p:fltVal val="0.000000"/>
                                          </p:val>
                                        </p:tav>
                                      </p:tavLst>
                                    </p:anim>
                                    <p:animEffect transition="in" filter="fade">
                                      <p:cBhvr>
                                        <p:cTn id="33" dur="1000"/>
                                        <p:tgtEl>
                                          <p:spTgt spid="193579"/>
                                        </p:tgtEl>
                                      </p:cBhvr>
                                    </p:animEffect>
                                  </p:childTnLst>
                                </p:cTn>
                              </p:par>
                              <p:par>
                                <p:cTn id="34" presetID="31" presetClass="entr" presetSubtype="0" fill="hold" nodeType="withEffect">
                                  <p:stCondLst>
                                    <p:cond delay="0"/>
                                  </p:stCondLst>
                                  <p:iterate type="lt">
                                    <p:tmPct val="5000"/>
                                  </p:iterate>
                                  <p:childTnLst>
                                    <p:set>
                                      <p:cBhvr>
                                        <p:cTn id="35" dur="1" fill="hold">
                                          <p:stCondLst>
                                            <p:cond delay="0"/>
                                          </p:stCondLst>
                                        </p:cTn>
                                        <p:tgtEl>
                                          <p:spTgt spid="193577"/>
                                        </p:tgtEl>
                                        <p:attrNameLst>
                                          <p:attrName>style.visibility</p:attrName>
                                        </p:attrNameLst>
                                      </p:cBhvr>
                                      <p:to>
                                        <p:strVal val="visible"/>
                                      </p:to>
                                    </p:set>
                                    <p:anim calcmode="lin" valueType="num">
                                      <p:cBhvr>
                                        <p:cTn id="36" dur="1000" fill="hold"/>
                                        <p:tgtEl>
                                          <p:spTgt spid="193577"/>
                                        </p:tgtEl>
                                        <p:attrNameLst>
                                          <p:attrName>ppt_w</p:attrName>
                                        </p:attrNameLst>
                                      </p:cBhvr>
                                      <p:tavLst>
                                        <p:tav tm="0">
                                          <p:val>
                                            <p:fltVal val="0.000000"/>
                                          </p:val>
                                        </p:tav>
                                        <p:tav tm="100000">
                                          <p:val>
                                            <p:strVal val="#ppt_w"/>
                                          </p:val>
                                        </p:tav>
                                      </p:tavLst>
                                    </p:anim>
                                    <p:anim calcmode="lin" valueType="num">
                                      <p:cBhvr>
                                        <p:cTn id="37" dur="1000" fill="hold"/>
                                        <p:tgtEl>
                                          <p:spTgt spid="193577"/>
                                        </p:tgtEl>
                                        <p:attrNameLst>
                                          <p:attrName>ppt_h</p:attrName>
                                        </p:attrNameLst>
                                      </p:cBhvr>
                                      <p:tavLst>
                                        <p:tav tm="0">
                                          <p:val>
                                            <p:fltVal val="0.000000"/>
                                          </p:val>
                                        </p:tav>
                                        <p:tav tm="100000">
                                          <p:val>
                                            <p:strVal val="#ppt_h"/>
                                          </p:val>
                                        </p:tav>
                                      </p:tavLst>
                                    </p:anim>
                                    <p:anim calcmode="lin" valueType="num">
                                      <p:cBhvr>
                                        <p:cTn id="38" dur="1000" fill="hold"/>
                                        <p:tgtEl>
                                          <p:spTgt spid="193577"/>
                                        </p:tgtEl>
                                        <p:attrNameLst>
                                          <p:attrName>style.rotation</p:attrName>
                                        </p:attrNameLst>
                                      </p:cBhvr>
                                      <p:tavLst>
                                        <p:tav tm="0">
                                          <p:val>
                                            <p:fltVal val="90.000000"/>
                                          </p:val>
                                        </p:tav>
                                        <p:tav tm="100000">
                                          <p:val>
                                            <p:fltVal val="0.000000"/>
                                          </p:val>
                                        </p:tav>
                                      </p:tavLst>
                                    </p:anim>
                                    <p:animEffect transition="in" filter="fade">
                                      <p:cBhvr>
                                        <p:cTn id="39" dur="1000"/>
                                        <p:tgtEl>
                                          <p:spTgt spid="193577"/>
                                        </p:tgtEl>
                                      </p:cBhvr>
                                    </p:animEffect>
                                  </p:childTnLst>
                                </p:cTn>
                              </p:par>
                              <p:par>
                                <p:cTn id="40" presetID="31" presetClass="entr" presetSubtype="0" fill="hold" nodeType="withEffect">
                                  <p:stCondLst>
                                    <p:cond delay="0"/>
                                  </p:stCondLst>
                                  <p:iterate type="lt">
                                    <p:tmPct val="5000"/>
                                  </p:iterate>
                                  <p:childTnLst>
                                    <p:set>
                                      <p:cBhvr>
                                        <p:cTn id="41" dur="1" fill="hold">
                                          <p:stCondLst>
                                            <p:cond delay="0"/>
                                          </p:stCondLst>
                                        </p:cTn>
                                        <p:tgtEl>
                                          <p:spTgt spid="193574"/>
                                        </p:tgtEl>
                                        <p:attrNameLst>
                                          <p:attrName>style.visibility</p:attrName>
                                        </p:attrNameLst>
                                      </p:cBhvr>
                                      <p:to>
                                        <p:strVal val="visible"/>
                                      </p:to>
                                    </p:set>
                                    <p:anim calcmode="lin" valueType="num">
                                      <p:cBhvr>
                                        <p:cTn id="42" dur="1000" fill="hold"/>
                                        <p:tgtEl>
                                          <p:spTgt spid="193574"/>
                                        </p:tgtEl>
                                        <p:attrNameLst>
                                          <p:attrName>ppt_w</p:attrName>
                                        </p:attrNameLst>
                                      </p:cBhvr>
                                      <p:tavLst>
                                        <p:tav tm="0">
                                          <p:val>
                                            <p:fltVal val="0.000000"/>
                                          </p:val>
                                        </p:tav>
                                        <p:tav tm="100000">
                                          <p:val>
                                            <p:strVal val="#ppt_w"/>
                                          </p:val>
                                        </p:tav>
                                      </p:tavLst>
                                    </p:anim>
                                    <p:anim calcmode="lin" valueType="num">
                                      <p:cBhvr>
                                        <p:cTn id="43" dur="1000" fill="hold"/>
                                        <p:tgtEl>
                                          <p:spTgt spid="193574"/>
                                        </p:tgtEl>
                                        <p:attrNameLst>
                                          <p:attrName>ppt_h</p:attrName>
                                        </p:attrNameLst>
                                      </p:cBhvr>
                                      <p:tavLst>
                                        <p:tav tm="0">
                                          <p:val>
                                            <p:fltVal val="0.000000"/>
                                          </p:val>
                                        </p:tav>
                                        <p:tav tm="100000">
                                          <p:val>
                                            <p:strVal val="#ppt_h"/>
                                          </p:val>
                                        </p:tav>
                                      </p:tavLst>
                                    </p:anim>
                                    <p:anim calcmode="lin" valueType="num">
                                      <p:cBhvr>
                                        <p:cTn id="44" dur="1000" fill="hold"/>
                                        <p:tgtEl>
                                          <p:spTgt spid="193574"/>
                                        </p:tgtEl>
                                        <p:attrNameLst>
                                          <p:attrName>style.rotation</p:attrName>
                                        </p:attrNameLst>
                                      </p:cBhvr>
                                      <p:tavLst>
                                        <p:tav tm="0">
                                          <p:val>
                                            <p:fltVal val="90.000000"/>
                                          </p:val>
                                        </p:tav>
                                        <p:tav tm="100000">
                                          <p:val>
                                            <p:fltVal val="0.000000"/>
                                          </p:val>
                                        </p:tav>
                                      </p:tavLst>
                                    </p:anim>
                                    <p:animEffect transition="in" filter="fade">
                                      <p:cBhvr>
                                        <p:cTn id="45" dur="1000"/>
                                        <p:tgtEl>
                                          <p:spTgt spid="193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62" name="直接连接符 194561"/>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94565" name="矩形 194564"/>
          <p:cNvSpPr/>
          <p:nvPr/>
        </p:nvSpPr>
        <p:spPr>
          <a:xfrm>
            <a:off x="1676400" y="11696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固体废物的特点 </a:t>
            </a:r>
            <a:endParaRPr lang="zh-CN" altLang="en-GB" sz="2800" b="1" dirty="0">
              <a:solidFill>
                <a:srgbClr val="FC4A26"/>
              </a:solidFill>
              <a:latin typeface="楷体_GB2312" charset="-122"/>
              <a:ea typeface="楷体_GB2312" charset="-122"/>
            </a:endParaRPr>
          </a:p>
        </p:txBody>
      </p:sp>
      <p:sp>
        <p:nvSpPr>
          <p:cNvPr id="194566" name="五边形 194565"/>
          <p:cNvSpPr/>
          <p:nvPr/>
        </p:nvSpPr>
        <p:spPr>
          <a:xfrm>
            <a:off x="1550988" y="527050"/>
            <a:ext cx="4995862" cy="539750"/>
          </a:xfrm>
          <a:prstGeom prst="homePlate">
            <a:avLst>
              <a:gd name="adj" fmla="val 23139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第五节 固体废物及化学品危害</a:t>
            </a:r>
            <a:endParaRPr lang="en-US" altLang="zh-CN" sz="2400" b="1">
              <a:solidFill>
                <a:schemeClr val="bg1"/>
              </a:solidFill>
              <a:latin typeface="楷体_GB2312" charset="-122"/>
              <a:ea typeface="楷体_GB2312" charset="-122"/>
            </a:endParaRPr>
          </a:p>
        </p:txBody>
      </p:sp>
      <p:sp>
        <p:nvSpPr>
          <p:cNvPr id="24581" name="Rectangle 3"/>
          <p:cNvSpPr txBox="1">
            <a:spLocks noRot="1"/>
          </p:cNvSpPr>
          <p:nvPr/>
        </p:nvSpPr>
        <p:spPr>
          <a:xfrm>
            <a:off x="2003425" y="160020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1</a:t>
            </a:r>
            <a:r>
              <a:rPr lang="zh-CN" altLang="en-US" sz="2400" dirty="0">
                <a:latin typeface="Times New Roman" panose="02020603050405020304" charset="0"/>
                <a:ea typeface="楷体_GB2312" charset="-122"/>
              </a:rPr>
              <a:t>、资源和废物的相对性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3" name="Rectangle 3"/>
          <p:cNvSpPr txBox="1">
            <a:spLocks noRot="1"/>
          </p:cNvSpPr>
          <p:nvPr/>
        </p:nvSpPr>
        <p:spPr>
          <a:xfrm>
            <a:off x="1916113" y="243840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2</a:t>
            </a:r>
            <a:r>
              <a:rPr lang="zh-CN" altLang="en-US" sz="2400" dirty="0">
                <a:latin typeface="Times New Roman" panose="02020603050405020304" charset="0"/>
                <a:ea typeface="楷体_GB2312" charset="-122"/>
              </a:rPr>
              <a:t>、富集终态和污染源头的双重作用</a:t>
            </a:r>
            <a:r>
              <a:rPr lang="zh-CN" altLang="en-US"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4" name="Rectangle 3"/>
          <p:cNvSpPr txBox="1">
            <a:spLocks noRot="1"/>
          </p:cNvSpPr>
          <p:nvPr/>
        </p:nvSpPr>
        <p:spPr>
          <a:xfrm>
            <a:off x="1898650" y="334327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3</a:t>
            </a:r>
            <a:r>
              <a:rPr lang="zh-CN" altLang="en-US" sz="2400" dirty="0">
                <a:latin typeface="Times New Roman" panose="02020603050405020304" charset="0"/>
                <a:ea typeface="楷体_GB2312" charset="-122"/>
              </a:rPr>
              <a:t>、危害具有潜在性、长期性和灾难性。</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animEffect transition="in" filter="checkerboard(across)">
                                      <p:cBhvr>
                                        <p:cTn id="7" dur="500"/>
                                        <p:tgtEl>
                                          <p:spTgt spid="2458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3" grpId="0"/>
      <p:bldP spid="4"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5586" name="直接连接符 195585"/>
          <p:cNvSpPr/>
          <p:nvPr/>
        </p:nvSpPr>
        <p:spPr>
          <a:xfrm>
            <a:off x="1909763" y="828675"/>
            <a:ext cx="8370887" cy="0"/>
          </a:xfrm>
          <a:prstGeom prst="line">
            <a:avLst/>
          </a:prstGeom>
          <a:ln w="28575" cap="flat" cmpd="sng">
            <a:solidFill>
              <a:schemeClr val="tx1"/>
            </a:solidFill>
            <a:prstDash val="solid"/>
            <a:headEnd type="none" w="med" len="med"/>
            <a:tailEnd type="none" w="med" len="med"/>
          </a:ln>
        </p:spPr>
      </p:sp>
      <p:sp>
        <p:nvSpPr>
          <p:cNvPr id="2" name="页脚占位符 1"/>
          <p:cNvSpPr txBox="1">
            <a:spLocks noGrp="1"/>
          </p:cNvSpPr>
          <p:nvPr/>
        </p:nvSpPr>
        <p:spPr bwMode="auto">
          <a:xfrm>
            <a:off x="7739063" y="6553200"/>
            <a:ext cx="2895600" cy="304800"/>
          </a:xfrm>
          <a:prstGeom prst="rect">
            <a:avLst/>
          </a:prstGeom>
          <a:noFill/>
          <a:ln>
            <a:miter lim="800000"/>
          </a:ln>
        </p:spPr>
        <p:txBody>
          <a:bodyPr vert="horz" wrap="square" lIns="91440" tIns="45720" rIns="91440" bIns="45720" numCol="1" anchor="t" anchorCtr="0" compatLnSpc="1"/>
          <a:p>
            <a:pPr algn="r"/>
            <a:r>
              <a:rPr lang="zh-CN" altLang="en-US" sz="1600" b="1" dirty="0">
                <a:latin typeface="Verdana" panose="020B0604030504040204" charset="0"/>
                <a:ea typeface="楷体_GB2312" charset="-122"/>
              </a:rPr>
              <a:t>环境保护与可持续发展</a:t>
            </a:r>
            <a:endParaRPr lang="en-US" altLang="zh-CN" sz="1600" b="1">
              <a:latin typeface="Verdana" panose="020B0604030504040204" charset="0"/>
              <a:ea typeface="楷体_GB2312" charset="-122"/>
            </a:endParaRPr>
          </a:p>
        </p:txBody>
      </p:sp>
      <p:sp>
        <p:nvSpPr>
          <p:cNvPr id="195589" name="五边形 195588"/>
          <p:cNvSpPr/>
          <p:nvPr/>
        </p:nvSpPr>
        <p:spPr>
          <a:xfrm>
            <a:off x="1550988" y="527050"/>
            <a:ext cx="4995862" cy="539750"/>
          </a:xfrm>
          <a:prstGeom prst="homePlate">
            <a:avLst>
              <a:gd name="adj" fmla="val 23139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第五节 固体废物及化学品危害</a:t>
            </a:r>
            <a:endParaRPr lang="en-US" altLang="zh-CN" sz="2400" b="1">
              <a:solidFill>
                <a:schemeClr val="bg1"/>
              </a:solidFill>
              <a:latin typeface="楷体_GB2312" charset="-122"/>
              <a:ea typeface="楷体_GB2312" charset="-122"/>
            </a:endParaRPr>
          </a:p>
        </p:txBody>
      </p:sp>
      <p:sp>
        <p:nvSpPr>
          <p:cNvPr id="195590" name="矩形 195589"/>
          <p:cNvSpPr/>
          <p:nvPr/>
        </p:nvSpPr>
        <p:spPr>
          <a:xfrm>
            <a:off x="1676400" y="1169670"/>
            <a:ext cx="3560763" cy="737235"/>
          </a:xfrm>
          <a:prstGeom prst="rect">
            <a:avLst/>
          </a:prstGeom>
          <a:noFill/>
          <a:ln w="9525">
            <a:noFill/>
          </a:ln>
        </p:spPr>
        <p:txBody>
          <a:bodyPr anchor="ctr" anchorCtr="0">
            <a:spAutoFit/>
          </a:bodyPr>
          <a:p>
            <a:pPr>
              <a:lnSpc>
                <a:spcPct val="150000"/>
              </a:lnSpc>
            </a:pPr>
            <a:r>
              <a:rPr lang="zh-CN" altLang="en-GB" sz="2800" b="1" dirty="0">
                <a:solidFill>
                  <a:srgbClr val="FC4A26"/>
                </a:solidFill>
                <a:latin typeface="楷体_GB2312" charset="-122"/>
                <a:ea typeface="楷体_GB2312" charset="-122"/>
              </a:rPr>
              <a:t>固体废物的危害  </a:t>
            </a:r>
            <a:endParaRPr lang="zh-CN" altLang="en-GB" sz="2800" b="1" dirty="0">
              <a:solidFill>
                <a:srgbClr val="FC4A26"/>
              </a:solidFill>
              <a:latin typeface="楷体_GB2312" charset="-122"/>
              <a:ea typeface="楷体_GB2312" charset="-122"/>
            </a:endParaRPr>
          </a:p>
        </p:txBody>
      </p:sp>
      <p:sp>
        <p:nvSpPr>
          <p:cNvPr id="24581" name="Rectangle 3"/>
          <p:cNvSpPr txBox="1">
            <a:spLocks noRot="1"/>
          </p:cNvSpPr>
          <p:nvPr/>
        </p:nvSpPr>
        <p:spPr>
          <a:xfrm>
            <a:off x="1927225" y="191452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2</a:t>
            </a:r>
            <a:r>
              <a:rPr lang="zh-CN" altLang="en-US" sz="2400" dirty="0">
                <a:latin typeface="Times New Roman" panose="02020603050405020304" charset="0"/>
                <a:ea typeface="楷体_GB2312" charset="-122"/>
              </a:rPr>
              <a:t>、侵占土地，破坏地貌和植被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3" name="Rectangle 3"/>
          <p:cNvSpPr txBox="1">
            <a:spLocks noRot="1"/>
          </p:cNvSpPr>
          <p:nvPr/>
        </p:nvSpPr>
        <p:spPr>
          <a:xfrm>
            <a:off x="1909763" y="252412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3</a:t>
            </a:r>
            <a:r>
              <a:rPr lang="zh-CN" altLang="en-US" sz="2400" dirty="0">
                <a:latin typeface="Times New Roman" panose="02020603050405020304" charset="0"/>
                <a:ea typeface="楷体_GB2312" charset="-122"/>
              </a:rPr>
              <a:t>、污染土壤和地下水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4" name="Rectangle 3"/>
          <p:cNvSpPr txBox="1">
            <a:spLocks noRot="1"/>
          </p:cNvSpPr>
          <p:nvPr/>
        </p:nvSpPr>
        <p:spPr>
          <a:xfrm>
            <a:off x="1900238" y="321945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4</a:t>
            </a:r>
            <a:r>
              <a:rPr lang="zh-CN" altLang="en-US" sz="2400" dirty="0">
                <a:latin typeface="Times New Roman" panose="02020603050405020304" charset="0"/>
                <a:ea typeface="楷体_GB2312" charset="-122"/>
              </a:rPr>
              <a:t>、污染水体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latin typeface="Times New Roman" panose="02020603050405020304" charset="0"/>
                <a:ea typeface="楷体_GB2312" charset="-122"/>
              </a:rPr>
              <a:t>            </a:t>
            </a:r>
            <a:endParaRPr lang="zh-CN" altLang="en-US" sz="2400" dirty="0">
              <a:latin typeface="Times New Roman" panose="02020603050405020304" charset="0"/>
              <a:ea typeface="楷体_GB2312" charset="-122"/>
            </a:endParaRPr>
          </a:p>
        </p:txBody>
      </p:sp>
      <p:sp>
        <p:nvSpPr>
          <p:cNvPr id="5" name="Rectangle 3"/>
          <p:cNvSpPr txBox="1">
            <a:spLocks noRot="1"/>
          </p:cNvSpPr>
          <p:nvPr/>
        </p:nvSpPr>
        <p:spPr>
          <a:xfrm>
            <a:off x="1846263" y="389572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5</a:t>
            </a:r>
            <a:r>
              <a:rPr lang="zh-CN" altLang="en-US" sz="2400" dirty="0">
                <a:latin typeface="Times New Roman" panose="02020603050405020304" charset="0"/>
                <a:ea typeface="楷体_GB2312" charset="-122"/>
              </a:rPr>
              <a:t>、污染大气 ；</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6" name="Rectangle 3"/>
          <p:cNvSpPr txBox="1">
            <a:spLocks noRot="1"/>
          </p:cNvSpPr>
          <p:nvPr/>
        </p:nvSpPr>
        <p:spPr>
          <a:xfrm>
            <a:off x="1828800" y="4524375"/>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6</a:t>
            </a:r>
            <a:r>
              <a:rPr lang="zh-CN" altLang="en-US" sz="2400" dirty="0">
                <a:latin typeface="Times New Roman" panose="02020603050405020304" charset="0"/>
                <a:ea typeface="楷体_GB2312" charset="-122"/>
              </a:rPr>
              <a:t>、造成巨大的直接经济损失和资源能源的浪费</a:t>
            </a:r>
            <a:r>
              <a:rPr lang="zh-CN" altLang="en-US"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
        <p:nvSpPr>
          <p:cNvPr id="7" name="Rectangle 3"/>
          <p:cNvSpPr txBox="1">
            <a:spLocks noRot="1"/>
          </p:cNvSpPr>
          <p:nvPr/>
        </p:nvSpPr>
        <p:spPr>
          <a:xfrm>
            <a:off x="1981200" y="1219200"/>
            <a:ext cx="8664575" cy="1152525"/>
          </a:xfrm>
          <a:prstGeom prst="rect">
            <a:avLst/>
          </a:prstGeom>
          <a:noFill/>
          <a:ln w="9525">
            <a:noFill/>
          </a:ln>
        </p:spPr>
        <p:txBody>
          <a:bodyPr/>
          <a:p>
            <a:pPr marL="342900" indent="-342900" algn="l" eaLnBrk="0" hangingPunct="0">
              <a:lnSpc>
                <a:spcPct val="150000"/>
              </a:lnSpc>
              <a:spcBef>
                <a:spcPct val="20000"/>
              </a:spcBef>
              <a:buClr>
                <a:schemeClr val="tx1"/>
              </a:buClr>
              <a:buFont typeface="Wingdings" panose="05000000000000000000" pitchFamily="2" charset="2"/>
            </a:pPr>
            <a:endParaRPr lang="en-US" altLang="zh-CN" sz="2400">
              <a:latin typeface="楷体_GB2312" charset="-122"/>
              <a:ea typeface="楷体_GB2312" charset="-122"/>
            </a:endParaRPr>
          </a:p>
          <a:p>
            <a:pPr marL="342900" indent="-342900" algn="l" eaLnBrk="0" hangingPunct="0">
              <a:lnSpc>
                <a:spcPct val="120000"/>
              </a:lnSpc>
              <a:spcBef>
                <a:spcPct val="20000"/>
              </a:spcBef>
              <a:buClr>
                <a:schemeClr val="tx1"/>
              </a:buClr>
              <a:buFont typeface="Wingdings" panose="05000000000000000000" pitchFamily="2" charset="2"/>
              <a:buChar char="v"/>
            </a:pPr>
            <a:r>
              <a:rPr lang="en-US" altLang="zh-CN" sz="2400">
                <a:latin typeface="Times New Roman" panose="02020603050405020304" charset="0"/>
                <a:ea typeface="楷体_GB2312" charset="-122"/>
              </a:rPr>
              <a:t>1</a:t>
            </a:r>
            <a:r>
              <a:rPr lang="zh-CN" altLang="en-US" sz="2400" dirty="0">
                <a:latin typeface="Times New Roman" panose="02020603050405020304" charset="0"/>
                <a:ea typeface="楷体_GB2312" charset="-122"/>
              </a:rPr>
              <a:t>、危害人体健康</a:t>
            </a:r>
            <a:r>
              <a:rPr lang="zh-CN" altLang="en-US" b="1" dirty="0">
                <a:latin typeface="Arial" panose="020B0604020202020204" pitchFamily="34" charset="0"/>
              </a:rPr>
              <a:t> </a:t>
            </a:r>
            <a:r>
              <a:rPr lang="zh-CN" altLang="en-US" sz="2400" dirty="0">
                <a:latin typeface="Times New Roman" panose="02020603050405020304" charset="0"/>
                <a:ea typeface="楷体_GB2312" charset="-122"/>
              </a:rPr>
              <a:t>；</a:t>
            </a:r>
            <a:endParaRPr lang="en-US" altLang="zh-CN" sz="2400">
              <a:latin typeface="Times New Roman" panose="02020603050405020304" charset="0"/>
              <a:ea typeface="楷体_GB2312" charset="-122"/>
            </a:endParaRPr>
          </a:p>
          <a:p>
            <a:pPr marL="342900" indent="-342900" algn="l" eaLnBrk="0" hangingPunct="0">
              <a:spcBef>
                <a:spcPct val="20000"/>
              </a:spcBef>
              <a:buClr>
                <a:schemeClr val="tx1"/>
              </a:buClr>
            </a:pPr>
            <a:r>
              <a:rPr lang="zh-CN" altLang="en-US" sz="2400" dirty="0">
                <a:solidFill>
                  <a:schemeClr val="tx2"/>
                </a:solidFill>
                <a:latin typeface="Times New Roman" panose="02020603050405020304" charset="0"/>
                <a:ea typeface="楷体_GB2312" charset="-122"/>
              </a:rPr>
              <a:t>            </a:t>
            </a:r>
            <a:endParaRPr lang="zh-CN" altLang="en-US" sz="2400" dirty="0">
              <a:solidFill>
                <a:schemeClr val="tx2"/>
              </a:solidFill>
              <a:latin typeface="Times New Roman" panose="0202060305040502030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checkerboard(across)">
                                      <p:cBhvr>
                                        <p:cTn id="12" dur="500"/>
                                        <p:tgtEl>
                                          <p:spTgt spid="2458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checkerboard(across)">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checkerboard(across)">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3" grpId="0"/>
      <p:bldP spid="4" grpId="0"/>
      <p:bldP spid="5" grpId="0"/>
      <p:bldP spid="6" grpId="0"/>
      <p:bldP spid="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5330" name="文本占位符 355329"/>
          <p:cNvSpPr>
            <a:spLocks noGrp="1"/>
          </p:cNvSpPr>
          <p:nvPr>
            <p:ph type="body" idx="1"/>
          </p:nvPr>
        </p:nvSpPr>
        <p:spPr>
          <a:xfrm>
            <a:off x="2819400" y="609600"/>
            <a:ext cx="7772400" cy="3818890"/>
          </a:xfrm>
        </p:spPr>
        <p:txBody>
          <a:bodyPr lIns="45720" rIns="45720" anchor="t" anchorCtr="0"/>
          <a:p>
            <a:pPr defTabSz="684530">
              <a:lnSpc>
                <a:spcPct val="130000"/>
              </a:lnSpc>
              <a:buSzPct val="25000"/>
            </a:pPr>
            <a:r>
              <a:rPr lang="zh-CN" altLang="en-US" sz="3200">
                <a:latin typeface="楷体_GB2312" charset="-122"/>
                <a:ea typeface="+mn-ea"/>
                <a:cs typeface="+mn-cs"/>
              </a:rPr>
              <a:t> </a:t>
            </a:r>
            <a:endParaRPr lang="zh-CN" altLang="en-US" sz="2800">
              <a:latin typeface="楷体_GB2312" charset="-122"/>
              <a:ea typeface="+mn-ea"/>
              <a:cs typeface="+mn-cs"/>
            </a:endParaRPr>
          </a:p>
        </p:txBody>
      </p:sp>
      <p:sp>
        <p:nvSpPr>
          <p:cNvPr id="355331" name="文本框 355330"/>
          <p:cNvSpPr txBox="1"/>
          <p:nvPr/>
        </p:nvSpPr>
        <p:spPr>
          <a:xfrm>
            <a:off x="2279650" y="1295400"/>
            <a:ext cx="8208963" cy="3376295"/>
          </a:xfrm>
          <a:prstGeom prst="rect">
            <a:avLst/>
          </a:prstGeom>
          <a:noFill/>
          <a:ln w="12699">
            <a:noFill/>
          </a:ln>
        </p:spPr>
        <p:txBody>
          <a:bodyPr>
            <a:spAutoFit/>
          </a:bodyPr>
          <a:p>
            <a:pPr marL="457200" indent="-457200" algn="just">
              <a:lnSpc>
                <a:spcPct val="120000"/>
              </a:lnSpc>
              <a:buAutoNum type="arabicPeriod"/>
            </a:pPr>
            <a:r>
              <a:rPr lang="zh-CN" altLang="en-US" sz="3200" b="1" dirty="0">
                <a:latin typeface="楷体_GB2312" charset="-122"/>
                <a:ea typeface="楷体_GB2312" charset="-122"/>
              </a:rPr>
              <a:t>综合防治的原则（</a:t>
            </a:r>
            <a:r>
              <a:rPr lang="en-US" altLang="zh-CN" sz="3200" b="1" dirty="0">
                <a:latin typeface="楷体_GB2312" charset="-122"/>
                <a:ea typeface="楷体_GB2312" charset="-122"/>
              </a:rPr>
              <a:t>3R</a:t>
            </a:r>
            <a:r>
              <a:rPr lang="zh-CN" altLang="en-US" sz="3200" b="1" dirty="0">
                <a:latin typeface="楷体_GB2312" charset="-122"/>
                <a:ea typeface="楷体_GB2312" charset="-122"/>
              </a:rPr>
              <a:t>原则）</a:t>
            </a:r>
            <a:r>
              <a:rPr lang="en-US" altLang="zh-CN" sz="3200" b="1">
                <a:latin typeface="楷体_GB2312" charset="-122"/>
                <a:ea typeface="楷体_GB2312" charset="-122"/>
              </a:rPr>
              <a:t>:</a:t>
            </a:r>
            <a:endParaRPr lang="en-US" altLang="zh-CN" sz="3200" b="1">
              <a:latin typeface="楷体_GB2312" charset="-122"/>
              <a:ea typeface="楷体_GB2312" charset="-122"/>
            </a:endParaRPr>
          </a:p>
          <a:p>
            <a:pPr marL="457200" indent="-457200" algn="just">
              <a:lnSpc>
                <a:spcPct val="120000"/>
              </a:lnSpc>
              <a:buNone/>
            </a:pPr>
            <a:r>
              <a:rPr lang="en-US" altLang="zh-CN" sz="3200" b="1">
                <a:latin typeface="楷体_GB2312" charset="-122"/>
                <a:ea typeface="楷体_GB2312" charset="-122"/>
              </a:rPr>
              <a:t>  1</a:t>
            </a:r>
            <a:r>
              <a:rPr lang="zh-CN" altLang="en-US" sz="3200" b="1">
                <a:latin typeface="楷体_GB2312" charset="-122"/>
                <a:ea typeface="楷体_GB2312" charset="-122"/>
              </a:rPr>
              <a:t>）</a:t>
            </a:r>
            <a:r>
              <a:rPr lang="zh-CN" altLang="en-US" sz="3200" b="1" dirty="0">
                <a:solidFill>
                  <a:srgbClr val="FF0000"/>
                </a:solidFill>
                <a:latin typeface="楷体_GB2312" charset="-122"/>
                <a:ea typeface="楷体_GB2312" charset="-122"/>
              </a:rPr>
              <a:t>减量化（</a:t>
            </a:r>
            <a:r>
              <a:rPr lang="en-US" altLang="zh-CN" sz="3200" b="1" dirty="0">
                <a:solidFill>
                  <a:srgbClr val="FF0000"/>
                </a:solidFill>
                <a:latin typeface="楷体_GB2312" charset="-122"/>
                <a:ea typeface="楷体_GB2312" charset="-122"/>
              </a:rPr>
              <a:t>reducing</a:t>
            </a:r>
            <a:r>
              <a:rPr lang="zh-CN" altLang="en-US" sz="3200" b="1" dirty="0">
                <a:solidFill>
                  <a:srgbClr val="FF0000"/>
                </a:solidFill>
                <a:latin typeface="楷体_GB2312" charset="-122"/>
                <a:ea typeface="楷体_GB2312" charset="-122"/>
              </a:rPr>
              <a:t>）</a:t>
            </a:r>
            <a:r>
              <a:rPr lang="zh-CN" altLang="en-US" sz="3200" b="1" dirty="0">
                <a:latin typeface="楷体_GB2312" charset="-122"/>
                <a:ea typeface="楷体_GB2312" charset="-122"/>
              </a:rPr>
              <a:t>：减少固体废弃物的产生量，是解决固体废物问题的最好方法。</a:t>
            </a:r>
            <a:endParaRPr lang="zh-CN" altLang="en-US" sz="3200" b="1" dirty="0">
              <a:latin typeface="楷体_GB2312" charset="-122"/>
              <a:ea typeface="楷体_GB2312" charset="-122"/>
            </a:endParaRPr>
          </a:p>
          <a:p>
            <a:pPr marL="457200" indent="-457200" algn="just">
              <a:lnSpc>
                <a:spcPct val="120000"/>
              </a:lnSpc>
              <a:buNone/>
            </a:pPr>
            <a:r>
              <a:rPr lang="zh-CN" altLang="en-US" sz="3200" b="1" dirty="0">
                <a:latin typeface="楷体_GB2312" charset="-122"/>
                <a:ea typeface="楷体_GB2312" charset="-122"/>
              </a:rPr>
              <a:t>    </a:t>
            </a:r>
            <a:r>
              <a:rPr lang="zh-CN" altLang="en-US" sz="1800" b="1" dirty="0">
                <a:solidFill>
                  <a:srgbClr val="FF0000"/>
                </a:solidFill>
                <a:latin typeface="楷体_GB2312" charset="-122"/>
                <a:ea typeface="楷体_GB2312" charset="-122"/>
              </a:rPr>
              <a:t>由于城市垃圾的产生量难以控制，因此，减量化主要是针对工业生产中产生的废物。他是解决工业固体废物问题的最佳方案。</a:t>
            </a:r>
            <a:endParaRPr lang="zh-CN" altLang="en-US" sz="2400" b="1">
              <a:latin typeface="Times New Roman" panose="02020603050405020304" charset="0"/>
              <a:ea typeface="楷体_GB2312" charset="-122"/>
            </a:endParaRPr>
          </a:p>
        </p:txBody>
      </p:sp>
      <p:sp>
        <p:nvSpPr>
          <p:cNvPr id="355332" name="文本框 355331"/>
          <p:cNvSpPr txBox="1"/>
          <p:nvPr/>
        </p:nvSpPr>
        <p:spPr>
          <a:xfrm>
            <a:off x="1905000" y="304800"/>
            <a:ext cx="7330440" cy="706755"/>
          </a:xfrm>
          <a:prstGeom prst="rect">
            <a:avLst/>
          </a:prstGeom>
          <a:noFill/>
          <a:ln w="12699">
            <a:noFill/>
          </a:ln>
        </p:spPr>
        <p:txBody>
          <a:bodyPr wrap="none" anchor="t" anchorCtr="0">
            <a:spAutoFit/>
          </a:bodyPr>
          <a:p>
            <a:pPr algn="l"/>
            <a:r>
              <a:rPr lang="zh-CN" altLang="en-US" sz="4000" b="1" dirty="0">
                <a:solidFill>
                  <a:srgbClr val="FF0000"/>
                </a:solidFill>
                <a:effectLst>
                  <a:outerShdw blurRad="38100" dist="38100" dir="2700000">
                    <a:srgbClr val="C0C0C0"/>
                  </a:outerShdw>
                </a:effectLst>
                <a:latin typeface="Times New Roman" panose="02020603050405020304" charset="0"/>
                <a:ea typeface="楷体_GB2312" charset="-122"/>
              </a:rPr>
              <a:t>四、固体废物的综合防治和管理</a:t>
            </a:r>
            <a:endParaRPr lang="zh-CN" altLang="en-US" sz="4000" b="1">
              <a:solidFill>
                <a:srgbClr val="FF0000"/>
              </a:solidFill>
              <a:effectLst>
                <a:outerShdw blurRad="38100" dist="38100" dir="2700000">
                  <a:srgbClr val="C0C0C0"/>
                </a:outerShdw>
              </a:effectLst>
              <a:latin typeface="Times New Roman" panose="0202060305040502030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5330">
                                            <p:txEl>
                                              <p:charRg st="0" end="2"/>
                                            </p:txEl>
                                          </p:spTgt>
                                        </p:tgtEl>
                                        <p:attrNameLst>
                                          <p:attrName>style.visibility</p:attrName>
                                        </p:attrNameLst>
                                      </p:cBhvr>
                                      <p:to>
                                        <p:strVal val="visible"/>
                                      </p:to>
                                    </p:set>
                                    <p:anim calcmode="lin" valueType="num">
                                      <p:cBhvr additive="base">
                                        <p:cTn id="7" dur="500" fill="hold"/>
                                        <p:tgtEl>
                                          <p:spTgt spid="355330">
                                            <p:txEl>
                                              <p:charRg st="0"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55330">
                                            <p:txEl>
                                              <p:charRg st="0" end="2"/>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55331">
                                            <p:txEl>
                                              <p:charRg st="0" end="9"/>
                                            </p:txEl>
                                          </p:spTgt>
                                        </p:tgtEl>
                                        <p:attrNameLst>
                                          <p:attrName>style.visibility</p:attrName>
                                        </p:attrNameLst>
                                      </p:cBhvr>
                                      <p:to>
                                        <p:strVal val="visible"/>
                                      </p:to>
                                    </p:set>
                                    <p:anim calcmode="lin" valueType="num">
                                      <p:cBhvr additive="base">
                                        <p:cTn id="13" dur="500" fill="hold"/>
                                        <p:tgtEl>
                                          <p:spTgt spid="355331">
                                            <p:txEl>
                                              <p:charRg st="0" end="9"/>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55331">
                                            <p:txEl>
                                              <p:charRg st="0" end="9"/>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55331">
                                            <p:txEl>
                                              <p:charRg st="9" end="45"/>
                                            </p:txEl>
                                          </p:spTgt>
                                        </p:tgtEl>
                                        <p:attrNameLst>
                                          <p:attrName>style.visibility</p:attrName>
                                        </p:attrNameLst>
                                      </p:cBhvr>
                                      <p:to>
                                        <p:strVal val="visible"/>
                                      </p:to>
                                    </p:set>
                                    <p:anim calcmode="lin" valueType="num">
                                      <p:cBhvr additive="base">
                                        <p:cTn id="19" dur="500" fill="hold"/>
                                        <p:tgtEl>
                                          <p:spTgt spid="355331">
                                            <p:txEl>
                                              <p:charRg st="9" end="45"/>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55331">
                                            <p:txEl>
                                              <p:charRg st="9" end="45"/>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55331">
                                            <p:txEl>
                                              <p:charRg st="45" end="105"/>
                                            </p:txEl>
                                          </p:spTgt>
                                        </p:tgtEl>
                                        <p:attrNameLst>
                                          <p:attrName>style.visibility</p:attrName>
                                        </p:attrNameLst>
                                      </p:cBhvr>
                                      <p:to>
                                        <p:strVal val="visible"/>
                                      </p:to>
                                    </p:set>
                                    <p:anim calcmode="lin" valueType="num">
                                      <p:cBhvr additive="base">
                                        <p:cTn id="25" dur="500" fill="hold"/>
                                        <p:tgtEl>
                                          <p:spTgt spid="355331">
                                            <p:txEl>
                                              <p:charRg st="45" end="105"/>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55331">
                                            <p:txEl>
                                              <p:charRg st="45" end="10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0" grpId="0" bldLvl="3" build="p"/>
      <p:bldP spid="355331" grpId="0" bldLvl="4"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62585" y="0"/>
            <a:ext cx="10515600" cy="3830320"/>
          </a:xfrm>
        </p:spPr>
        <p:txBody>
          <a:bodyPr>
            <a:normAutofit fontScale="90000"/>
          </a:bodyPr>
          <a:p>
            <a:r>
              <a:rPr lang="en-US" altLang="zh-CN" sz="4000"/>
              <a:t>2</a:t>
            </a:r>
            <a:r>
              <a:rPr lang="zh-CN" altLang="en-US" sz="4000"/>
              <a:t>、再使用原则((reus</a:t>
            </a:r>
            <a:r>
              <a:rPr lang="en-US" altLang="zh-CN" sz="4000"/>
              <a:t>ing</a:t>
            </a:r>
            <a:r>
              <a:rPr lang="zh-CN" altLang="en-US" sz="4000"/>
              <a:t>)，要求制造产品和包装容器能够以初始的形式被反复使用。再使用原则要求抵制当今世界一次性用品的泛滥，生产者应该将制品及其包装当作一种日常生活器具来设计，使其像餐具和背包一样可以被再三使用。再使用原则还要求制造商应该尽量延长产品的使用期，而不是非常快地更新换代。</a:t>
            </a:r>
            <a:endParaRPr lang="zh-CN" altLang="en-US" sz="4000"/>
          </a:p>
        </p:txBody>
      </p:sp>
      <p:sp>
        <p:nvSpPr>
          <p:cNvPr id="4" name="文本框 3"/>
          <p:cNvSpPr txBox="1"/>
          <p:nvPr/>
        </p:nvSpPr>
        <p:spPr>
          <a:xfrm>
            <a:off x="171450" y="3680460"/>
            <a:ext cx="11810365" cy="4523105"/>
          </a:xfrm>
          <a:prstGeom prst="rect">
            <a:avLst/>
          </a:prstGeom>
          <a:noFill/>
        </p:spPr>
        <p:txBody>
          <a:bodyPr wrap="square" rtlCol="0" anchor="t">
            <a:noAutofit/>
          </a:bodyPr>
          <a:p>
            <a:r>
              <a:rPr lang="en-US" altLang="zh-CN" sz="3200"/>
              <a:t>3</a:t>
            </a:r>
            <a:r>
              <a:rPr lang="zh-CN" altLang="en-US" sz="3200"/>
              <a:t>、再循环原则(recyc</a:t>
            </a:r>
            <a:r>
              <a:rPr lang="en-US" altLang="zh-CN" sz="3200"/>
              <a:t>ling</a:t>
            </a:r>
            <a:r>
              <a:rPr lang="zh-CN" altLang="en-US" sz="3200"/>
              <a:t>)，要求生产出来的物品在完成其使用功能后能重新变成可以利用的资源，而不是不可恢复的垃圾。按照循环经济的思想，再循环有两种情况，一种是原级再循环，即废品被循环用来产生同种类型的新产品，例如报纸再生报纸、易拉罐再生易拉罐等等；另一种是次级再循环，即将废物资源转化成其它产品的原料。原级再循环在减少原材料消耗上面达到的效率要比次级再循环高得多，是循环经济追求的理想境界。</a:t>
            </a:r>
            <a:endParaRPr lang="zh-CN" altLang="en-US" sz="320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4306" name="标题 354305"/>
          <p:cNvSpPr>
            <a:spLocks noGrp="1"/>
          </p:cNvSpPr>
          <p:nvPr>
            <p:ph type="title"/>
          </p:nvPr>
        </p:nvSpPr>
        <p:spPr>
          <a:xfrm>
            <a:off x="2743200" y="152400"/>
            <a:ext cx="7772400" cy="1143000"/>
          </a:xfrm>
        </p:spPr>
        <p:txBody>
          <a:bodyPr lIns="45720" tIns="0" rIns="45720" bIns="0" anchor="b" anchorCtr="0"/>
          <a:p>
            <a:r>
              <a:rPr lang="zh-CN" altLang="en-US" sz="3600" b="0">
                <a:latin typeface="+mj-lt"/>
                <a:ea typeface="+mj-ea"/>
                <a:cs typeface="+mj-cs"/>
              </a:rPr>
              <a:t> </a:t>
            </a:r>
            <a:endParaRPr lang="zh-CN" altLang="en-US" sz="4400" b="0">
              <a:latin typeface="楷体_GB2312" charset="-122"/>
              <a:ea typeface="+mj-ea"/>
              <a:cs typeface="+mj-cs"/>
            </a:endParaRPr>
          </a:p>
        </p:txBody>
      </p:sp>
      <p:sp>
        <p:nvSpPr>
          <p:cNvPr id="354307" name="文本框 354306"/>
          <p:cNvSpPr txBox="1"/>
          <p:nvPr/>
        </p:nvSpPr>
        <p:spPr>
          <a:xfrm>
            <a:off x="2971800" y="3581400"/>
            <a:ext cx="7696200" cy="1014730"/>
          </a:xfrm>
          <a:prstGeom prst="rect">
            <a:avLst/>
          </a:prstGeom>
          <a:noFill/>
          <a:ln w="12699">
            <a:noFill/>
          </a:ln>
        </p:spPr>
        <p:txBody>
          <a:bodyPr>
            <a:spAutoFit/>
          </a:bodyPr>
          <a:p>
            <a:pPr algn="l"/>
            <a:endParaRPr lang="zh-CN" altLang="en-US" sz="2400" dirty="0">
              <a:latin typeface="楷体_GB2312" charset="-122"/>
              <a:ea typeface="楷体_GB2312" charset="-122"/>
            </a:endParaRPr>
          </a:p>
          <a:p>
            <a:pPr algn="l" eaLnBrk="0" hangingPunct="0">
              <a:spcBef>
                <a:spcPct val="50000"/>
              </a:spcBef>
            </a:pPr>
            <a:endParaRPr lang="zh-CN" altLang="en-US" sz="2400" dirty="0">
              <a:latin typeface="Times New Roman" panose="02020603050405020304" charset="0"/>
              <a:ea typeface="楷体_GB2312" charset="-122"/>
            </a:endParaRPr>
          </a:p>
        </p:txBody>
      </p:sp>
      <p:sp>
        <p:nvSpPr>
          <p:cNvPr id="354308" name="文本框 354307"/>
          <p:cNvSpPr txBox="1"/>
          <p:nvPr/>
        </p:nvSpPr>
        <p:spPr>
          <a:xfrm>
            <a:off x="2743200" y="36513"/>
            <a:ext cx="7772400" cy="1038860"/>
          </a:xfrm>
          <a:prstGeom prst="rect">
            <a:avLst/>
          </a:prstGeom>
          <a:noFill/>
          <a:ln w="12699">
            <a:noFill/>
          </a:ln>
        </p:spPr>
        <p:txBody>
          <a:bodyPr>
            <a:spAutoFit/>
          </a:bodyPr>
          <a:p>
            <a:pPr algn="just">
              <a:lnSpc>
                <a:spcPct val="140000"/>
              </a:lnSpc>
            </a:pPr>
            <a:r>
              <a:rPr lang="en-US" altLang="zh-CN" sz="3600">
                <a:solidFill>
                  <a:srgbClr val="FF3300"/>
                </a:solidFill>
                <a:latin typeface="楷体_GB2312" charset="-122"/>
                <a:ea typeface="楷体_GB2312" charset="-122"/>
              </a:rPr>
              <a:t>3.</a:t>
            </a:r>
            <a:r>
              <a:rPr lang="en-US" altLang="zh-CN" sz="3600">
                <a:latin typeface="楷体_GB2312" charset="-122"/>
                <a:ea typeface="楷体_GB2312" charset="-122"/>
              </a:rPr>
              <a:t> </a:t>
            </a:r>
            <a:r>
              <a:rPr lang="zh-CN" altLang="en-US" sz="4400" b="1" dirty="0">
                <a:solidFill>
                  <a:srgbClr val="FF0000"/>
                </a:solidFill>
                <a:effectLst>
                  <a:outerShdw blurRad="38100" dist="38100" dir="2700000">
                    <a:srgbClr val="C0C0C0"/>
                  </a:outerShdw>
                </a:effectLst>
                <a:latin typeface="Times New Roman" panose="02020603050405020304" charset="0"/>
                <a:ea typeface="楷体_GB2312" charset="-122"/>
              </a:rPr>
              <a:t>电子电器废物</a:t>
            </a:r>
            <a:endParaRPr lang="zh-CN" altLang="en-US" sz="4400" b="1">
              <a:solidFill>
                <a:srgbClr val="FF0000"/>
              </a:solidFill>
              <a:effectLst>
                <a:outerShdw blurRad="38100" dist="38100" dir="2700000">
                  <a:srgbClr val="C0C0C0"/>
                </a:outerShdw>
              </a:effectLst>
              <a:latin typeface="Times New Roman" panose="02020603050405020304" charset="0"/>
              <a:ea typeface="楷体_GB2312" charset="-122"/>
            </a:endParaRPr>
          </a:p>
        </p:txBody>
      </p:sp>
      <p:sp>
        <p:nvSpPr>
          <p:cNvPr id="2" name="文本框 1"/>
          <p:cNvSpPr txBox="1"/>
          <p:nvPr/>
        </p:nvSpPr>
        <p:spPr>
          <a:xfrm>
            <a:off x="144780" y="922020"/>
            <a:ext cx="11940540" cy="3333115"/>
          </a:xfrm>
          <a:prstGeom prst="rect">
            <a:avLst/>
          </a:prstGeom>
          <a:noFill/>
        </p:spPr>
        <p:txBody>
          <a:bodyPr wrap="square" rtlCol="0" anchor="t">
            <a:noAutofit/>
          </a:bodyPr>
          <a:p>
            <a:r>
              <a:rPr lang="zh-CN" altLang="en-US" sz="3200"/>
              <a:t>电子废物，是指废弃的电子电器产品、电子电气设备(以下简称产品或者设备)及其废弃零部件、元器件和原国家环境保护总局会同有关部门规定纳入电子废物管理的物品、物质。包括工业生产活动中产生的报废产品或者设备、报废的半成品和下脚料，产品或者设备维修、翻新、再制造过程产生的报废品，日常生活或者为日常生活提供服务的活动中废弃的产品或者设备，以及法律法规禁止生产或者进口的产品或者设备。</a:t>
            </a:r>
            <a:endParaRPr lang="zh-CN" altLang="en-US" sz="3200"/>
          </a:p>
        </p:txBody>
      </p:sp>
      <p:sp>
        <p:nvSpPr>
          <p:cNvPr id="3" name="文本框 2"/>
          <p:cNvSpPr txBox="1"/>
          <p:nvPr/>
        </p:nvSpPr>
        <p:spPr>
          <a:xfrm>
            <a:off x="1270" y="4375150"/>
            <a:ext cx="12190730" cy="2676525"/>
          </a:xfrm>
          <a:prstGeom prst="rect">
            <a:avLst/>
          </a:prstGeom>
          <a:noFill/>
        </p:spPr>
        <p:txBody>
          <a:bodyPr wrap="square" rtlCol="0" anchor="t">
            <a:spAutoFit/>
          </a:bodyPr>
          <a:p>
            <a:r>
              <a:rPr lang="zh-CN" altLang="en-US" sz="2800"/>
              <a:t>含有镉、汞、六价铬、聚氯乙烯塑料和溴化阻燃剂等有害物质、电脑的电池和开关含有铬化物和水银、电脑元器件中还含有砷、汞和其它多种有害物质；电视机、电冰箱、手机等电子产品也都含有铅、铬、汞等重金属、激光打印机和复印机中含有碳粉等。如果将废旧电子产品作为一般垃圾丢弃到荒野或垃圾堆填区域，其所含的铅等重金属就会渗透污染土壤和水。如果对之进行焚烧，会产生雾霾又会释放出二恶英等大量有锉气体，对环境造成二次污染。</a:t>
            </a:r>
            <a:endParaRPr lang="zh-CN" altLang="en-US" sz="2800"/>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0450" name="文本占位符 360449"/>
          <p:cNvSpPr>
            <a:spLocks noGrp="1"/>
          </p:cNvSpPr>
          <p:nvPr>
            <p:ph type="body" idx="1"/>
          </p:nvPr>
        </p:nvSpPr>
        <p:spPr>
          <a:xfrm>
            <a:off x="2819400" y="381000"/>
            <a:ext cx="7772400" cy="5638800"/>
          </a:xfrm>
        </p:spPr>
        <p:txBody>
          <a:bodyPr lIns="45720" rIns="45720" anchor="t" anchorCtr="0"/>
          <a:p>
            <a:pPr algn="just" defTabSz="684530">
              <a:buSzPct val="25000"/>
            </a:pPr>
            <a:r>
              <a:rPr lang="zh-CN" altLang="en-US" sz="3200" b="1">
                <a:latin typeface="+mn-lt"/>
                <a:ea typeface="+mn-ea"/>
                <a:cs typeface="+mn-cs"/>
              </a:rPr>
              <a:t> </a:t>
            </a:r>
            <a:endParaRPr lang="zh-CN" altLang="en-US" sz="3200" b="1">
              <a:latin typeface="楷体_GB2312" charset="-122"/>
              <a:ea typeface="+mn-ea"/>
              <a:cs typeface="+mn-cs"/>
            </a:endParaRPr>
          </a:p>
          <a:p>
            <a:pPr algn="just" defTabSz="684530">
              <a:buSzPct val="25000"/>
            </a:pPr>
            <a:r>
              <a:rPr lang="zh-CN" altLang="en-US" sz="3200" b="1">
                <a:latin typeface="楷体_GB2312" charset="-122"/>
                <a:ea typeface="+mn-ea"/>
                <a:cs typeface="+mn-cs"/>
              </a:rPr>
              <a:t> </a:t>
            </a:r>
            <a:endParaRPr lang="zh-CN" altLang="en-US" sz="3200">
              <a:latin typeface="楷体_GB2312" charset="-122"/>
              <a:ea typeface="+mn-ea"/>
              <a:cs typeface="+mn-cs"/>
            </a:endParaRPr>
          </a:p>
          <a:p>
            <a:pPr defTabSz="684530">
              <a:buSzPct val="25000"/>
              <a:buFont typeface="Wingdings" panose="05000000000000000000" pitchFamily="2" charset="2"/>
              <a:buChar char=" "/>
            </a:pPr>
            <a:endParaRPr lang="zh-CN" altLang="en-US" sz="3200">
              <a:latin typeface="+mn-lt"/>
              <a:ea typeface="+mn-ea"/>
              <a:cs typeface="+mn-cs"/>
            </a:endParaRPr>
          </a:p>
        </p:txBody>
      </p:sp>
      <p:sp>
        <p:nvSpPr>
          <p:cNvPr id="360451" name="文本框 360450"/>
          <p:cNvSpPr txBox="1"/>
          <p:nvPr/>
        </p:nvSpPr>
        <p:spPr>
          <a:xfrm>
            <a:off x="2743200" y="609600"/>
            <a:ext cx="7315200" cy="5877560"/>
          </a:xfrm>
          <a:prstGeom prst="rect">
            <a:avLst/>
          </a:prstGeom>
          <a:noFill/>
          <a:ln w="12699">
            <a:noFill/>
          </a:ln>
        </p:spPr>
        <p:txBody>
          <a:bodyPr>
            <a:spAutoFit/>
          </a:bodyPr>
          <a:p>
            <a:pPr algn="just"/>
            <a:r>
              <a:rPr lang="zh-CN" altLang="en-US" sz="4400" b="1" dirty="0">
                <a:solidFill>
                  <a:srgbClr val="FF0000"/>
                </a:solidFill>
                <a:effectLst>
                  <a:outerShdw blurRad="38100" dist="38100" dir="2700000">
                    <a:srgbClr val="C0C0C0"/>
                  </a:outerShdw>
                </a:effectLst>
                <a:latin typeface="Times New Roman" panose="02020603050405020304" charset="0"/>
                <a:ea typeface="楷体_GB2312" charset="-122"/>
              </a:rPr>
              <a:t>危险固体废物</a:t>
            </a:r>
            <a:endParaRPr lang="zh-CN" altLang="en-US" sz="4400" b="1" dirty="0">
              <a:solidFill>
                <a:srgbClr val="FF0000"/>
              </a:solidFill>
              <a:effectLst>
                <a:outerShdw blurRad="38100" dist="38100" dir="2700000">
                  <a:srgbClr val="C0C0C0"/>
                </a:outerShdw>
              </a:effectLst>
              <a:latin typeface="Times New Roman" panose="02020603050405020304" charset="0"/>
              <a:ea typeface="楷体_GB2312" charset="-122"/>
            </a:endParaRPr>
          </a:p>
          <a:p>
            <a:pPr algn="just"/>
            <a:endParaRPr lang="zh-CN" altLang="en-US" sz="4400" b="1" dirty="0">
              <a:solidFill>
                <a:srgbClr val="FF0000"/>
              </a:solidFill>
              <a:effectLst>
                <a:outerShdw blurRad="38100" dist="38100" dir="2700000">
                  <a:srgbClr val="C0C0C0"/>
                </a:outerShdw>
              </a:effectLst>
              <a:latin typeface="Times New Roman" panose="02020603050405020304" charset="0"/>
              <a:ea typeface="楷体_GB2312" charset="-122"/>
            </a:endParaRPr>
          </a:p>
          <a:p>
            <a:pPr algn="just"/>
            <a:r>
              <a:rPr lang="en-US" altLang="zh-CN" sz="3600" b="1">
                <a:latin typeface="楷体_GB2312" charset="-122"/>
                <a:ea typeface="楷体_GB2312" charset="-122"/>
              </a:rPr>
              <a:t>1. </a:t>
            </a:r>
            <a:r>
              <a:rPr lang="zh-CN" altLang="en-US" sz="3600" b="1" dirty="0">
                <a:latin typeface="楷体_GB2312" charset="-122"/>
                <a:ea typeface="楷体_GB2312" charset="-122"/>
              </a:rPr>
              <a:t>定义（</a:t>
            </a:r>
            <a:r>
              <a:rPr lang="en-US" altLang="zh-CN" sz="3600" b="1">
                <a:latin typeface="楷体_GB2312" charset="-122"/>
                <a:ea typeface="楷体_GB2312" charset="-122"/>
              </a:rPr>
              <a:t>WHO</a:t>
            </a:r>
            <a:r>
              <a:rPr lang="zh-CN" altLang="en-US" sz="3600" b="1">
                <a:latin typeface="楷体_GB2312" charset="-122"/>
                <a:ea typeface="楷体_GB2312" charset="-122"/>
              </a:rPr>
              <a:t>）：</a:t>
            </a:r>
            <a:endParaRPr lang="zh-CN" altLang="en-US" sz="3600" b="1">
              <a:latin typeface="楷体_GB2312" charset="-122"/>
              <a:ea typeface="楷体_GB2312" charset="-122"/>
            </a:endParaRPr>
          </a:p>
          <a:p>
            <a:pPr algn="just">
              <a:lnSpc>
                <a:spcPct val="150000"/>
              </a:lnSpc>
            </a:pPr>
            <a:r>
              <a:rPr lang="zh-CN" altLang="en-US" sz="3600" b="1">
                <a:latin typeface="楷体_GB2312" charset="-122"/>
                <a:ea typeface="楷体_GB2312" charset="-122"/>
              </a:rPr>
              <a:t>   </a:t>
            </a:r>
            <a:r>
              <a:rPr lang="zh-CN" altLang="en-US" sz="3600" b="1" dirty="0">
                <a:latin typeface="楷体_GB2312" charset="-122"/>
                <a:ea typeface="楷体_GB2312" charset="-122"/>
              </a:rPr>
              <a:t>根据其物理或化学性质、要求必须对其进行特殊处理和处置的废物，以免对人体健康或环境造成影响的废物，称为“危险废物”。</a:t>
            </a:r>
            <a:endParaRPr lang="zh-CN" altLang="en-US" sz="3600" b="1" dirty="0">
              <a:latin typeface="楷体_GB2312" charset="-122"/>
              <a:ea typeface="楷体_GB2312" charset="-122"/>
            </a:endParaRPr>
          </a:p>
          <a:p>
            <a:pPr algn="l" eaLnBrk="0" hangingPunct="0">
              <a:spcBef>
                <a:spcPct val="50000"/>
              </a:spcBef>
            </a:pPr>
            <a:endParaRPr lang="zh-CN" altLang="en-US" sz="2400">
              <a:latin typeface="Times New Roman" panose="02020603050405020304" charset="0"/>
              <a:ea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60451">
                                            <p:txEl>
                                              <p:charRg st="0" end="7"/>
                                            </p:txEl>
                                          </p:spTgt>
                                        </p:tgtEl>
                                        <p:attrNameLst>
                                          <p:attrName>style.visibility</p:attrName>
                                        </p:attrNameLst>
                                      </p:cBhvr>
                                      <p:to>
                                        <p:strVal val="visible"/>
                                      </p:to>
                                    </p:set>
                                    <p:anim calcmode="lin" valueType="num">
                                      <p:cBhvr additive="base">
                                        <p:cTn id="7" dur="500" fill="hold"/>
                                        <p:tgtEl>
                                          <p:spTgt spid="360451">
                                            <p:txEl>
                                              <p:charRg st="0" end="7"/>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60451">
                                            <p:txEl>
                                              <p:charRg st="0" end="7"/>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60451">
                                            <p:txEl>
                                              <p:charRg st="8" end="20"/>
                                            </p:txEl>
                                          </p:spTgt>
                                        </p:tgtEl>
                                        <p:attrNameLst>
                                          <p:attrName>style.visibility</p:attrName>
                                        </p:attrNameLst>
                                      </p:cBhvr>
                                      <p:to>
                                        <p:strVal val="visible"/>
                                      </p:to>
                                    </p:set>
                                    <p:anim calcmode="lin" valueType="num">
                                      <p:cBhvr additive="base">
                                        <p:cTn id="13" dur="500" fill="hold"/>
                                        <p:tgtEl>
                                          <p:spTgt spid="360451">
                                            <p:txEl>
                                              <p:charRg st="8" end="20"/>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60451">
                                            <p:txEl>
                                              <p:charRg st="8" end="20"/>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60451">
                                            <p:txEl>
                                              <p:charRg st="20" end="81"/>
                                            </p:txEl>
                                          </p:spTgt>
                                        </p:tgtEl>
                                        <p:attrNameLst>
                                          <p:attrName>style.visibility</p:attrName>
                                        </p:attrNameLst>
                                      </p:cBhvr>
                                      <p:to>
                                        <p:strVal val="visible"/>
                                      </p:to>
                                    </p:set>
                                    <p:anim calcmode="lin" valueType="num">
                                      <p:cBhvr additive="base">
                                        <p:cTn id="19" dur="500" fill="hold"/>
                                        <p:tgtEl>
                                          <p:spTgt spid="360451">
                                            <p:txEl>
                                              <p:charRg st="20" end="81"/>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60451">
                                            <p:txEl>
                                              <p:charRg st="20" end="8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1"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9426" name="标题 359425"/>
          <p:cNvSpPr>
            <a:spLocks noGrp="1"/>
          </p:cNvSpPr>
          <p:nvPr>
            <p:ph type="title"/>
          </p:nvPr>
        </p:nvSpPr>
        <p:spPr>
          <a:xfrm>
            <a:off x="2566988" y="115888"/>
            <a:ext cx="6481762" cy="792162"/>
          </a:xfrm>
        </p:spPr>
        <p:txBody>
          <a:bodyPr lIns="45720" tIns="0" rIns="45720" bIns="0" anchor="b" anchorCtr="0"/>
          <a:p>
            <a:r>
              <a:rPr lang="zh-CN" altLang="en-US" sz="4400" dirty="0">
                <a:latin typeface="+mj-lt"/>
                <a:ea typeface="+mj-ea"/>
                <a:cs typeface="+mj-cs"/>
              </a:rPr>
              <a:t>危险废物的危害</a:t>
            </a:r>
            <a:endParaRPr lang="zh-CN" altLang="en-US" sz="4400" dirty="0">
              <a:latin typeface="+mj-lt"/>
              <a:ea typeface="+mj-ea"/>
              <a:cs typeface="+mj-cs"/>
            </a:endParaRPr>
          </a:p>
        </p:txBody>
      </p:sp>
      <p:sp>
        <p:nvSpPr>
          <p:cNvPr id="359427" name="文本框 359426"/>
          <p:cNvSpPr txBox="1"/>
          <p:nvPr/>
        </p:nvSpPr>
        <p:spPr>
          <a:xfrm>
            <a:off x="765810" y="1125855"/>
            <a:ext cx="11009630" cy="5015865"/>
          </a:xfrm>
          <a:prstGeom prst="rect">
            <a:avLst/>
          </a:prstGeom>
          <a:noFill/>
          <a:ln w="12699">
            <a:noFill/>
          </a:ln>
        </p:spPr>
        <p:txBody>
          <a:bodyPr wrap="square">
            <a:spAutoFit/>
          </a:bodyPr>
          <a:p>
            <a:pPr algn="l">
              <a:lnSpc>
                <a:spcPct val="160000"/>
              </a:lnSpc>
            </a:pPr>
            <a:r>
              <a:rPr lang="zh-CN" altLang="en-US" sz="2000" b="1" dirty="0">
                <a:latin typeface="楷体_GB2312" charset="-122"/>
                <a:ea typeface="楷体_GB2312" charset="-122"/>
              </a:rPr>
              <a:t>（</a:t>
            </a:r>
            <a:r>
              <a:rPr lang="en-US" altLang="zh-CN" sz="2000" b="1">
                <a:latin typeface="楷体_GB2312" charset="-122"/>
                <a:ea typeface="楷体_GB2312" charset="-122"/>
              </a:rPr>
              <a:t>1</a:t>
            </a:r>
            <a:r>
              <a:rPr lang="zh-CN" altLang="en-US" sz="2000" b="1" dirty="0">
                <a:latin typeface="楷体_GB2312" charset="-122"/>
                <a:ea typeface="楷体_GB2312" charset="-122"/>
              </a:rPr>
              <a:t>）危险废物危害环境的途径</a:t>
            </a:r>
            <a:endParaRPr lang="zh-CN" altLang="en-US" sz="2000" b="1" dirty="0">
              <a:latin typeface="楷体_GB2312" charset="-122"/>
              <a:ea typeface="楷体_GB2312" charset="-122"/>
            </a:endParaRPr>
          </a:p>
          <a:p>
            <a:pPr algn="l">
              <a:lnSpc>
                <a:spcPct val="160000"/>
              </a:lnSpc>
            </a:pPr>
            <a:r>
              <a:rPr lang="zh-CN" altLang="en-US" sz="2000" b="1" dirty="0">
                <a:latin typeface="楷体_GB2312" charset="-122"/>
                <a:ea typeface="楷体_GB2312" charset="-122"/>
              </a:rPr>
              <a:t>    危险废物影响环境的途径很多，其</a:t>
            </a:r>
            <a:r>
              <a:rPr lang="zh-CN" altLang="en-US" sz="2000" b="1" dirty="0">
                <a:solidFill>
                  <a:srgbClr val="FF0000"/>
                </a:solidFill>
                <a:latin typeface="楷体_GB2312" charset="-122"/>
                <a:ea typeface="楷体_GB2312" charset="-122"/>
              </a:rPr>
              <a:t>产生、运输、储存、处理到处置</a:t>
            </a:r>
            <a:r>
              <a:rPr lang="zh-CN" altLang="en-US" sz="2000" b="1" dirty="0">
                <a:latin typeface="楷体_GB2312" charset="-122"/>
                <a:ea typeface="楷体_GB2312" charset="-122"/>
              </a:rPr>
              <a:t>的各个过程，都可能对环境造成重大危害。</a:t>
            </a:r>
            <a:endParaRPr lang="zh-CN" altLang="en-US" sz="2000" b="1" dirty="0">
              <a:latin typeface="楷体_GB2312" charset="-122"/>
              <a:ea typeface="楷体_GB2312" charset="-122"/>
            </a:endParaRPr>
          </a:p>
          <a:p>
            <a:pPr algn="l">
              <a:lnSpc>
                <a:spcPct val="160000"/>
              </a:lnSpc>
            </a:pPr>
            <a:r>
              <a:rPr lang="zh-CN" altLang="en-US" sz="2000" b="1" dirty="0">
                <a:solidFill>
                  <a:srgbClr val="FF0000"/>
                </a:solidFill>
                <a:latin typeface="楷体_GB2312" charset="-122"/>
                <a:ea typeface="楷体_GB2312" charset="-122"/>
              </a:rPr>
              <a:t>①危险废物在处理前的存放中，即可污染空气、水体与土壤</a:t>
            </a:r>
            <a:endParaRPr lang="zh-CN" altLang="en-US" sz="2000" b="1" dirty="0">
              <a:solidFill>
                <a:srgbClr val="FF0000"/>
              </a:solidFill>
              <a:latin typeface="楷体_GB2312" charset="-122"/>
              <a:ea typeface="楷体_GB2312" charset="-122"/>
            </a:endParaRPr>
          </a:p>
          <a:p>
            <a:pPr algn="l">
              <a:lnSpc>
                <a:spcPct val="160000"/>
              </a:lnSpc>
            </a:pPr>
            <a:r>
              <a:rPr lang="zh-CN" altLang="en-US" sz="2000" b="1" dirty="0">
                <a:solidFill>
                  <a:srgbClr val="FF0000"/>
                </a:solidFill>
                <a:latin typeface="楷体_GB2312" charset="-122"/>
                <a:ea typeface="楷体_GB2312" charset="-122"/>
              </a:rPr>
              <a:t>②处理和处置废物过程中，潜在的危险物往往从一种介质转入另一种介质引起污染。</a:t>
            </a:r>
            <a:endParaRPr lang="zh-CN" altLang="en-US" sz="2000" b="1" dirty="0">
              <a:solidFill>
                <a:srgbClr val="FF0000"/>
              </a:solidFill>
              <a:latin typeface="楷体_GB2312" charset="-122"/>
              <a:ea typeface="楷体_GB2312" charset="-122"/>
            </a:endParaRPr>
          </a:p>
          <a:p>
            <a:pPr algn="l">
              <a:lnSpc>
                <a:spcPct val="160000"/>
              </a:lnSpc>
            </a:pPr>
            <a:r>
              <a:rPr lang="zh-CN" altLang="en-US" sz="2000" b="1" dirty="0">
                <a:solidFill>
                  <a:srgbClr val="FF0000"/>
                </a:solidFill>
                <a:latin typeface="楷体_GB2312" charset="-122"/>
                <a:ea typeface="楷体_GB2312" charset="-122"/>
              </a:rPr>
              <a:t>③危险废物经处理和处置后，仍然可能通过空气、水或土壤威胁人类健康与环境。</a:t>
            </a:r>
            <a:endParaRPr lang="zh-CN" altLang="en-US" sz="2000" b="1" dirty="0">
              <a:solidFill>
                <a:srgbClr val="FF0000"/>
              </a:solidFill>
              <a:latin typeface="楷体_GB2312" charset="-122"/>
              <a:ea typeface="楷体_GB2312" charset="-122"/>
            </a:endParaRPr>
          </a:p>
          <a:p>
            <a:pPr algn="l">
              <a:lnSpc>
                <a:spcPct val="160000"/>
              </a:lnSpc>
            </a:pPr>
            <a:r>
              <a:rPr lang="zh-CN" altLang="en-US" sz="2000" b="1" dirty="0">
                <a:latin typeface="楷体_GB2312" charset="-122"/>
                <a:ea typeface="楷体_GB2312" charset="-122"/>
              </a:rPr>
              <a:t>（</a:t>
            </a:r>
            <a:r>
              <a:rPr lang="en-US" altLang="zh-CN" sz="2000" b="1">
                <a:latin typeface="楷体_GB2312" charset="-122"/>
                <a:ea typeface="楷体_GB2312" charset="-122"/>
              </a:rPr>
              <a:t>2</a:t>
            </a:r>
            <a:r>
              <a:rPr lang="zh-CN" altLang="en-US" sz="2000" b="1" dirty="0">
                <a:latin typeface="楷体_GB2312" charset="-122"/>
                <a:ea typeface="楷体_GB2312" charset="-122"/>
              </a:rPr>
              <a:t>）危险废物对人体健康的危害</a:t>
            </a:r>
            <a:endParaRPr lang="zh-CN" altLang="en-US" sz="2000" b="1" dirty="0">
              <a:latin typeface="楷体_GB2312" charset="-122"/>
              <a:ea typeface="楷体_GB2312" charset="-122"/>
            </a:endParaRPr>
          </a:p>
          <a:p>
            <a:pPr algn="l">
              <a:lnSpc>
                <a:spcPct val="160000"/>
              </a:lnSpc>
            </a:pPr>
            <a:r>
              <a:rPr lang="zh-CN" altLang="en-US" sz="2000" b="1" dirty="0">
                <a:latin typeface="楷体_GB2312" charset="-122"/>
                <a:ea typeface="楷体_GB2312" charset="-122"/>
              </a:rPr>
              <a:t>    危险废物的特殊性质（易燃、易腐蚀、有毒等）表现在他们的短期和长期危险性上。</a:t>
            </a:r>
            <a:endParaRPr lang="zh-CN" altLang="en-US" sz="2000" b="1" dirty="0">
              <a:latin typeface="楷体_GB2312" charset="-122"/>
              <a:ea typeface="楷体_GB2312" charset="-122"/>
            </a:endParaRPr>
          </a:p>
          <a:p>
            <a:pPr algn="l">
              <a:lnSpc>
                <a:spcPct val="160000"/>
              </a:lnSpc>
            </a:pPr>
            <a:r>
              <a:rPr lang="zh-CN" altLang="en-US" sz="2000" b="1" dirty="0">
                <a:solidFill>
                  <a:srgbClr val="FF0066"/>
                </a:solidFill>
                <a:latin typeface="楷体_GB2312" charset="-122"/>
                <a:ea typeface="楷体_GB2312" charset="-122"/>
              </a:rPr>
              <a:t>短期危害</a:t>
            </a:r>
            <a:r>
              <a:rPr lang="zh-CN" altLang="en-US" sz="2000" b="1" dirty="0">
                <a:solidFill>
                  <a:srgbClr val="FF0000"/>
                </a:solidFill>
                <a:latin typeface="楷体_GB2312" charset="-122"/>
                <a:ea typeface="楷体_GB2312" charset="-122"/>
              </a:rPr>
              <a:t>可通过摄入、吸入、皮肤吸收、眼接触而引起毒害；</a:t>
            </a:r>
            <a:endParaRPr lang="zh-CN" altLang="en-US" sz="2000" b="1" dirty="0">
              <a:solidFill>
                <a:srgbClr val="FF0000"/>
              </a:solidFill>
              <a:latin typeface="楷体_GB2312" charset="-122"/>
              <a:ea typeface="楷体_GB2312" charset="-122"/>
            </a:endParaRPr>
          </a:p>
          <a:p>
            <a:pPr algn="l">
              <a:lnSpc>
                <a:spcPct val="160000"/>
              </a:lnSpc>
            </a:pPr>
            <a:r>
              <a:rPr lang="zh-CN" altLang="en-US" sz="2000" b="1" dirty="0">
                <a:solidFill>
                  <a:srgbClr val="FF0066"/>
                </a:solidFill>
                <a:latin typeface="楷体_GB2312" charset="-122"/>
                <a:ea typeface="楷体_GB2312" charset="-122"/>
              </a:rPr>
              <a:t>长期危害</a:t>
            </a:r>
            <a:r>
              <a:rPr lang="zh-CN" altLang="en-US" sz="2000" b="1" dirty="0">
                <a:solidFill>
                  <a:srgbClr val="FF0000"/>
                </a:solidFill>
                <a:latin typeface="楷体_GB2312" charset="-122"/>
                <a:ea typeface="楷体_GB2312" charset="-122"/>
              </a:rPr>
              <a:t>包括重复接触导致的长期中毒、致癌、致畸、致变等</a:t>
            </a:r>
            <a:endParaRPr lang="zh-CN" altLang="en-US" sz="2000" b="1" dirty="0">
              <a:solidFill>
                <a:srgbClr val="FF0000"/>
              </a:solidFill>
              <a:latin typeface="楷体_GB2312" charset="-122"/>
              <a:ea typeface="楷体_GB2312"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7634" name="五边形 197633"/>
          <p:cNvSpPr/>
          <p:nvPr/>
        </p:nvSpPr>
        <p:spPr>
          <a:xfrm>
            <a:off x="1550988" y="527050"/>
            <a:ext cx="4995862" cy="539750"/>
          </a:xfrm>
          <a:prstGeom prst="homePlate">
            <a:avLst>
              <a:gd name="adj" fmla="val 231397"/>
            </a:avLst>
          </a:prstGeom>
          <a:solidFill>
            <a:schemeClr val="accent2"/>
          </a:solidFill>
          <a:ln w="12700" cap="flat" cmpd="sng">
            <a:solidFill>
              <a:srgbClr val="000000"/>
            </a:solidFill>
            <a:prstDash val="solid"/>
            <a:miter/>
            <a:headEnd type="none" w="med" len="med"/>
            <a:tailEnd type="none" w="med" len="med"/>
          </a:ln>
          <a:effectLst>
            <a:outerShdw dist="35921" dir="2699999" algn="ctr" rotWithShape="0">
              <a:schemeClr val="tx1"/>
            </a:outerShdw>
          </a:effectLst>
        </p:spPr>
        <p:txBody>
          <a:bodyPr lIns="0" tIns="44450" rIns="0" bIns="44450" anchor="ctr" anchorCtr="0"/>
          <a:p>
            <a:r>
              <a:rPr lang="zh-CN" altLang="zh-CN" sz="2400" b="1" dirty="0">
                <a:solidFill>
                  <a:schemeClr val="bg1"/>
                </a:solidFill>
                <a:latin typeface="楷体_GB2312" charset="-122"/>
                <a:ea typeface="楷体_GB2312" charset="-122"/>
              </a:rPr>
              <a:t>第</a:t>
            </a:r>
            <a:r>
              <a:rPr lang="zh-CN" altLang="en-US" sz="2400" b="1" dirty="0">
                <a:solidFill>
                  <a:schemeClr val="bg1"/>
                </a:solidFill>
                <a:latin typeface="楷体_GB2312" charset="-122"/>
                <a:ea typeface="楷体_GB2312" charset="-122"/>
              </a:rPr>
              <a:t>五</a:t>
            </a:r>
            <a:r>
              <a:rPr lang="zh-CN" altLang="zh-CN" sz="2400" b="1" dirty="0">
                <a:solidFill>
                  <a:schemeClr val="bg1"/>
                </a:solidFill>
                <a:latin typeface="楷体_GB2312" charset="-122"/>
                <a:ea typeface="楷体_GB2312" charset="-122"/>
              </a:rPr>
              <a:t>节 </a:t>
            </a:r>
            <a:r>
              <a:rPr lang="zh-CN" altLang="en-US" sz="2400" b="1" dirty="0">
                <a:solidFill>
                  <a:schemeClr val="bg1"/>
                </a:solidFill>
                <a:latin typeface="楷体_GB2312" charset="-122"/>
                <a:ea typeface="楷体_GB2312" charset="-122"/>
              </a:rPr>
              <a:t>环境物理性污染</a:t>
            </a:r>
            <a:endParaRPr lang="en-US" altLang="zh-CN" sz="2400" b="1">
              <a:solidFill>
                <a:schemeClr val="bg1"/>
              </a:solidFill>
              <a:latin typeface="楷体_GB2312" charset="-122"/>
              <a:ea typeface="楷体_GB2312" charset="-122"/>
            </a:endParaRPr>
          </a:p>
        </p:txBody>
      </p:sp>
      <p:sp>
        <p:nvSpPr>
          <p:cNvPr id="197635" name="矩形 197634"/>
          <p:cNvSpPr/>
          <p:nvPr/>
        </p:nvSpPr>
        <p:spPr>
          <a:xfrm>
            <a:off x="1743075" y="565150"/>
            <a:ext cx="8385175" cy="1431925"/>
          </a:xfrm>
          <a:prstGeom prst="rect">
            <a:avLst/>
          </a:prstGeom>
          <a:noFill/>
          <a:ln w="9525">
            <a:noFill/>
          </a:ln>
        </p:spPr>
        <p:txBody>
          <a:bodyPr lIns="45720" tIns="0" rIns="45720" bIns="0" anchor="b" anchorCtr="0"/>
          <a:lstStyle>
            <a:lvl1pPr algn="l" rtl="0" eaLnBrk="0" fontAlgn="base" hangingPunct="0">
              <a:lnSpc>
                <a:spcPct val="120000"/>
              </a:lnSpc>
              <a:spcBef>
                <a:spcPct val="0"/>
              </a:spcBef>
              <a:spcAft>
                <a:spcPct val="0"/>
              </a:spcAft>
              <a:defRPr sz="4400" b="1">
                <a:solidFill>
                  <a:schemeClr val="tx1"/>
                </a:solidFill>
                <a:latin typeface="+mj-lt"/>
                <a:ea typeface="+mj-ea"/>
                <a:cs typeface="+mj-cs"/>
              </a:defRPr>
            </a:lvl1pPr>
            <a:lvl2pPr algn="l" rtl="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2pPr>
            <a:lvl3pPr algn="l" rtl="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3pPr>
            <a:lvl4pPr algn="l" rtl="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4pPr>
            <a:lvl5pPr algn="l" rtl="0" eaLnBrk="0" fontAlgn="base" hangingPunct="0">
              <a:lnSpc>
                <a:spcPct val="120000"/>
              </a:lnSpc>
              <a:spcBef>
                <a:spcPct val="0"/>
              </a:spcBef>
              <a:spcAft>
                <a:spcPct val="0"/>
              </a:spcAft>
              <a:defRPr b="1">
                <a:solidFill>
                  <a:schemeClr val="tx1"/>
                </a:solidFill>
                <a:latin typeface="Arial" panose="020B0604020202020204" pitchFamily="34" charset="0"/>
                <a:ea typeface="宋体" panose="02010600030101010101" pitchFamily="2" charset="-122"/>
              </a:defRPr>
            </a:lvl5pPr>
          </a:lstStyle>
          <a:p>
            <a:pPr lvl="0"/>
            <a:r>
              <a:rPr lang="zh-CN" altLang="en-US" sz="2800" dirty="0">
                <a:solidFill>
                  <a:srgbClr val="0000CC"/>
                </a:solidFill>
                <a:latin typeface="楷体_GB2312" charset="-122"/>
                <a:ea typeface="楷体_GB2312" charset="-122"/>
              </a:rPr>
              <a:t>环境物理性污染的特点</a:t>
            </a:r>
            <a:r>
              <a:rPr lang="zh-CN" altLang="en-US" sz="2800" dirty="0">
                <a:latin typeface="楷体_GB2312" charset="-122"/>
                <a:ea typeface="楷体_GB2312" charset="-122"/>
              </a:rPr>
              <a:t> </a:t>
            </a:r>
            <a:endParaRPr lang="zh-CN" altLang="en-US" sz="2800" dirty="0">
              <a:latin typeface="楷体_GB2312" charset="-122"/>
              <a:ea typeface="楷体_GB2312" charset="-122"/>
            </a:endParaRPr>
          </a:p>
        </p:txBody>
      </p:sp>
      <p:sp>
        <p:nvSpPr>
          <p:cNvPr id="197636" name="文本占位符 197635"/>
          <p:cNvSpPr>
            <a:spLocks noGrp="1"/>
          </p:cNvSpPr>
          <p:nvPr>
            <p:ph type="body" sz="half" idx="1"/>
          </p:nvPr>
        </p:nvSpPr>
        <p:spPr>
          <a:xfrm>
            <a:off x="1524000" y="2133600"/>
            <a:ext cx="5580063" cy="3733800"/>
          </a:xfrm>
        </p:spPr>
        <p:txBody>
          <a:bodyPr lIns="45720" rIns="45720" anchor="t" anchorCtr="0"/>
          <a:p>
            <a:pPr defTabSz="684530">
              <a:lnSpc>
                <a:spcPct val="120000"/>
              </a:lnSpc>
              <a:buClrTx/>
              <a:buSzPct val="25000"/>
              <a:buFont typeface="Wingdings" panose="05000000000000000000" pitchFamily="2" charset="2"/>
              <a:buChar char=" "/>
            </a:pPr>
            <a:r>
              <a:rPr lang="en-US" altLang="zh-CN" sz="2400">
                <a:latin typeface="+mn-lt"/>
                <a:ea typeface="楷体_GB2312" charset="-122"/>
                <a:cs typeface="+mn-cs"/>
              </a:rPr>
              <a:t>1 </a:t>
            </a:r>
            <a:r>
              <a:rPr lang="zh-CN" altLang="en-US" sz="2400" dirty="0">
                <a:latin typeface="+mn-lt"/>
                <a:ea typeface="楷体_GB2312" charset="-122"/>
                <a:cs typeface="+mn-cs"/>
              </a:rPr>
              <a:t>物理性污染大多数都是局部或区域的，只有极少数的如温室效应为全球性的；</a:t>
            </a:r>
            <a:endParaRPr lang="zh-CN" altLang="en-US" sz="2400" dirty="0">
              <a:latin typeface="+mn-lt"/>
              <a:ea typeface="楷体_GB2312" charset="-122"/>
              <a:cs typeface="+mn-cs"/>
            </a:endParaRPr>
          </a:p>
          <a:p>
            <a:pPr defTabSz="684530">
              <a:lnSpc>
                <a:spcPct val="120000"/>
              </a:lnSpc>
              <a:buClrTx/>
              <a:buSzPct val="25000"/>
              <a:buFont typeface="Wingdings" panose="05000000000000000000" pitchFamily="2" charset="2"/>
              <a:buChar char=" "/>
            </a:pPr>
            <a:r>
              <a:rPr lang="en-US" altLang="zh-CN" sz="2400">
                <a:latin typeface="+mn-lt"/>
                <a:ea typeface="楷体_GB2312" charset="-122"/>
                <a:cs typeface="+mn-cs"/>
              </a:rPr>
              <a:t>2 </a:t>
            </a:r>
            <a:r>
              <a:rPr lang="zh-CN" altLang="en-US" sz="2400" dirty="0">
                <a:latin typeface="+mn-lt"/>
                <a:ea typeface="楷体_GB2312" charset="-122"/>
                <a:cs typeface="+mn-cs"/>
              </a:rPr>
              <a:t>物理性污染大多数都是即时性的，即污染源一旦消除，污染也即消除。</a:t>
            </a:r>
            <a:endParaRPr lang="zh-CN" altLang="en-US" sz="2400" dirty="0">
              <a:latin typeface="+mn-lt"/>
              <a:ea typeface="楷体_GB2312" charset="-122"/>
              <a:cs typeface="+mn-cs"/>
            </a:endParaRPr>
          </a:p>
        </p:txBody>
      </p:sp>
      <p:pic>
        <p:nvPicPr>
          <p:cNvPr id="197637" name="图片 197636"/>
          <p:cNvPicPr>
            <a:picLocks noChangeAspect="1"/>
          </p:cNvPicPr>
          <p:nvPr/>
        </p:nvPicPr>
        <p:blipFill>
          <a:blip r:embed="rId1"/>
          <a:stretch>
            <a:fillRect/>
          </a:stretch>
        </p:blipFill>
        <p:spPr>
          <a:xfrm>
            <a:off x="7319963" y="3789363"/>
            <a:ext cx="2879725" cy="2566987"/>
          </a:xfrm>
          <a:prstGeom prst="rect">
            <a:avLst/>
          </a:prstGeom>
          <a:noFill/>
          <a:ln w="9525">
            <a:noFill/>
          </a:ln>
        </p:spPr>
      </p:pic>
      <p:pic>
        <p:nvPicPr>
          <p:cNvPr id="197638" name="图片 197637" descr="u=1162996333,4155847181&amp;gp=10">
            <a:hlinkClick r:id="rId2"/>
          </p:cNvPr>
          <p:cNvPicPr>
            <a:picLocks noChangeAspect="1"/>
          </p:cNvPicPr>
          <p:nvPr/>
        </p:nvPicPr>
        <p:blipFill>
          <a:blip r:embed="rId3"/>
          <a:stretch>
            <a:fillRect/>
          </a:stretch>
        </p:blipFill>
        <p:spPr>
          <a:xfrm>
            <a:off x="7319963" y="1281113"/>
            <a:ext cx="2808287" cy="2349500"/>
          </a:xfrm>
          <a:prstGeom prst="rect">
            <a:avLst/>
          </a:prstGeom>
          <a:noFill/>
          <a:ln w="9525">
            <a:noFill/>
          </a:ln>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标题 198657"/>
          <p:cNvSpPr>
            <a:spLocks noGrp="1"/>
          </p:cNvSpPr>
          <p:nvPr>
            <p:ph type="title"/>
          </p:nvPr>
        </p:nvSpPr>
        <p:spPr>
          <a:xfrm>
            <a:off x="1992313" y="0"/>
            <a:ext cx="8385175" cy="1143000"/>
          </a:xfrm>
        </p:spPr>
        <p:txBody>
          <a:bodyPr lIns="45720" tIns="0" rIns="45720" bIns="0" anchor="b" anchorCtr="0"/>
          <a:p>
            <a:r>
              <a:rPr lang="zh-CN" altLang="en-US" sz="3600" dirty="0">
                <a:solidFill>
                  <a:srgbClr val="0000CC"/>
                </a:solidFill>
                <a:latin typeface="楷体_GB2312" charset="-122"/>
                <a:ea typeface="楷体_GB2312" charset="-122"/>
                <a:cs typeface="+mj-cs"/>
              </a:rPr>
              <a:t>一、噪声污染</a:t>
            </a:r>
            <a:endParaRPr lang="zh-CN" altLang="en-US" sz="3600" dirty="0">
              <a:solidFill>
                <a:srgbClr val="0000CC"/>
              </a:solidFill>
              <a:latin typeface="楷体_GB2312" charset="-122"/>
              <a:ea typeface="楷体_GB2312" charset="-122"/>
              <a:cs typeface="+mj-cs"/>
            </a:endParaRPr>
          </a:p>
        </p:txBody>
      </p:sp>
      <p:sp>
        <p:nvSpPr>
          <p:cNvPr id="198659" name="文本占位符 198658"/>
          <p:cNvSpPr>
            <a:spLocks noGrp="1"/>
          </p:cNvSpPr>
          <p:nvPr>
            <p:ph type="body" idx="1"/>
          </p:nvPr>
        </p:nvSpPr>
        <p:spPr>
          <a:xfrm>
            <a:off x="1992313" y="1268413"/>
            <a:ext cx="8351837" cy="2374900"/>
          </a:xfrm>
        </p:spPr>
        <p:txBody>
          <a:bodyPr lIns="45720" rIns="45720" anchor="t" anchorCtr="0"/>
          <a:p>
            <a:pPr defTabSz="684530">
              <a:buSzPct val="25000"/>
              <a:buFont typeface="Wingdings" panose="05000000000000000000" pitchFamily="2" charset="2"/>
              <a:buChar char=" "/>
            </a:pPr>
            <a:r>
              <a:rPr lang="zh-CN" altLang="en-US" sz="2800" dirty="0">
                <a:latin typeface="+mn-lt"/>
                <a:ea typeface="楷体_GB2312" charset="-122"/>
                <a:cs typeface="+mn-cs"/>
              </a:rPr>
              <a:t>噪声与噪声污染</a:t>
            </a:r>
            <a:endParaRPr lang="zh-CN" altLang="en-US" sz="2800" dirty="0">
              <a:latin typeface="+mn-lt"/>
              <a:ea typeface="楷体_GB2312" charset="-122"/>
              <a:cs typeface="+mn-cs"/>
            </a:endParaRPr>
          </a:p>
          <a:p>
            <a:pPr marL="342900" lvl="1" indent="-228600" defTabSz="684530">
              <a:buSzPct val="65000"/>
              <a:buFont typeface="Wingdings" panose="05000000000000000000" pitchFamily="2" charset="2"/>
              <a:buChar char="l"/>
            </a:pPr>
            <a:r>
              <a:rPr lang="zh-CN" altLang="en-US" sz="2400" dirty="0">
                <a:latin typeface="+mn-lt"/>
                <a:ea typeface="楷体_GB2312" charset="-122"/>
              </a:rPr>
              <a:t>一般认为，凡是干扰人们休息，学习和工作的声音即不需要的声音统称为</a:t>
            </a:r>
            <a:r>
              <a:rPr lang="zh-CN" altLang="en-US" sz="2400" dirty="0">
                <a:solidFill>
                  <a:srgbClr val="FF0000"/>
                </a:solidFill>
                <a:latin typeface="+mn-lt"/>
                <a:ea typeface="楷体_GB2312" charset="-122"/>
              </a:rPr>
              <a:t>噪声</a:t>
            </a:r>
            <a:r>
              <a:rPr lang="zh-CN" altLang="en-US" sz="2400" dirty="0">
                <a:latin typeface="+mn-lt"/>
                <a:ea typeface="楷体_GB2312" charset="-122"/>
              </a:rPr>
              <a:t>。</a:t>
            </a:r>
            <a:endParaRPr lang="zh-CN" altLang="en-US" sz="2400" dirty="0">
              <a:latin typeface="+mn-lt"/>
              <a:ea typeface="楷体_GB2312" charset="-122"/>
            </a:endParaRPr>
          </a:p>
          <a:p>
            <a:pPr marL="342900" lvl="1" indent="-228600" defTabSz="684530">
              <a:buSzPct val="65000"/>
              <a:buFont typeface="Wingdings" panose="05000000000000000000" pitchFamily="2" charset="2"/>
              <a:buChar char="l"/>
            </a:pPr>
            <a:r>
              <a:rPr lang="zh-CN" altLang="en-US" sz="2400" dirty="0">
                <a:latin typeface="+mn-lt"/>
                <a:ea typeface="楷体_GB2312" charset="-122"/>
              </a:rPr>
              <a:t>当噪声超过人们的生活和生产活动所能容许的程度，就形成</a:t>
            </a:r>
            <a:r>
              <a:rPr lang="zh-CN" altLang="en-US" sz="2400" dirty="0">
                <a:solidFill>
                  <a:srgbClr val="FF0000"/>
                </a:solidFill>
                <a:latin typeface="+mn-lt"/>
                <a:ea typeface="楷体_GB2312" charset="-122"/>
              </a:rPr>
              <a:t>噪声污染</a:t>
            </a:r>
            <a:r>
              <a:rPr lang="zh-CN" altLang="en-US" sz="2400" dirty="0">
                <a:latin typeface="+mn-lt"/>
                <a:ea typeface="楷体_GB2312" charset="-122"/>
              </a:rPr>
              <a:t>。</a:t>
            </a:r>
            <a:endParaRPr lang="zh-CN" altLang="en-US" sz="2400" dirty="0">
              <a:latin typeface="+mn-lt"/>
              <a:ea typeface="楷体_GB2312" charset="-122"/>
            </a:endParaRPr>
          </a:p>
        </p:txBody>
      </p:sp>
      <p:pic>
        <p:nvPicPr>
          <p:cNvPr id="198660" name="图片 198659" descr="u=2907844334,4247380496&amp;gp=26">
            <a:hlinkClick r:id="rId1"/>
          </p:cNvPr>
          <p:cNvPicPr>
            <a:picLocks noChangeAspect="1"/>
          </p:cNvPicPr>
          <p:nvPr/>
        </p:nvPicPr>
        <p:blipFill>
          <a:blip r:embed="rId2"/>
          <a:stretch>
            <a:fillRect/>
          </a:stretch>
        </p:blipFill>
        <p:spPr>
          <a:xfrm>
            <a:off x="2351088" y="3789363"/>
            <a:ext cx="3529012" cy="2362200"/>
          </a:xfrm>
          <a:prstGeom prst="rect">
            <a:avLst/>
          </a:prstGeom>
          <a:noFill/>
          <a:ln w="9525">
            <a:noFill/>
          </a:ln>
        </p:spPr>
      </p:pic>
      <p:pic>
        <p:nvPicPr>
          <p:cNvPr id="198661" name="图片 198660" descr="u=2431634440,589053258&amp;gp=40">
            <a:hlinkClick r:id="rId3"/>
          </p:cNvPr>
          <p:cNvPicPr>
            <a:picLocks noChangeAspect="1"/>
          </p:cNvPicPr>
          <p:nvPr/>
        </p:nvPicPr>
        <p:blipFill>
          <a:blip r:embed="rId4"/>
          <a:stretch>
            <a:fillRect/>
          </a:stretch>
        </p:blipFill>
        <p:spPr>
          <a:xfrm>
            <a:off x="6240463" y="3789363"/>
            <a:ext cx="3311525" cy="2389187"/>
          </a:xfrm>
          <a:prstGeom prst="rect">
            <a:avLst/>
          </a:prstGeom>
          <a:noFill/>
          <a:ln w="9525">
            <a:noFill/>
          </a:ln>
        </p:spPr>
      </p:pic>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0706" name="标题 200705"/>
          <p:cNvSpPr>
            <a:spLocks noGrp="1"/>
          </p:cNvSpPr>
          <p:nvPr>
            <p:ph type="title"/>
          </p:nvPr>
        </p:nvSpPr>
        <p:spPr>
          <a:xfrm>
            <a:off x="1905000" y="304800"/>
            <a:ext cx="8153400" cy="784225"/>
          </a:xfrm>
        </p:spPr>
        <p:txBody>
          <a:bodyPr lIns="45720" tIns="0" rIns="45720" bIns="0" anchor="b" anchorCtr="0">
            <a:normAutofit fontScale="90000"/>
          </a:bodyPr>
          <a:p>
            <a:r>
              <a:rPr lang="zh-CN" altLang="en-US" sz="3600" b="0" dirty="0">
                <a:solidFill>
                  <a:srgbClr val="0000CC"/>
                </a:solidFill>
                <a:latin typeface="楷体_GB2312" charset="-122"/>
                <a:ea typeface="楷体_GB2312" charset="-122"/>
                <a:cs typeface="+mj-cs"/>
              </a:rPr>
              <a:t>噪声的主要特征</a:t>
            </a:r>
            <a:r>
              <a:rPr lang="zh-CN" altLang="en-US" dirty="0">
                <a:solidFill>
                  <a:srgbClr val="0000CC"/>
                </a:solidFill>
                <a:latin typeface="楷体_GB2312" charset="-122"/>
                <a:ea typeface="楷体_GB2312" charset="-122"/>
                <a:cs typeface="+mj-cs"/>
              </a:rPr>
              <a:t> </a:t>
            </a:r>
            <a:endParaRPr lang="zh-CN" altLang="en-US" dirty="0">
              <a:solidFill>
                <a:srgbClr val="0000CC"/>
              </a:solidFill>
              <a:latin typeface="楷体_GB2312" charset="-122"/>
              <a:ea typeface="楷体_GB2312" charset="-122"/>
              <a:cs typeface="+mj-cs"/>
            </a:endParaRPr>
          </a:p>
        </p:txBody>
      </p:sp>
      <p:sp>
        <p:nvSpPr>
          <p:cNvPr id="200707" name="文本占位符 200706"/>
          <p:cNvSpPr>
            <a:spLocks noGrp="1"/>
          </p:cNvSpPr>
          <p:nvPr>
            <p:ph type="body" idx="1"/>
          </p:nvPr>
        </p:nvSpPr>
        <p:spPr>
          <a:xfrm>
            <a:off x="1828800" y="1484313"/>
            <a:ext cx="8540750" cy="4535487"/>
          </a:xfrm>
        </p:spPr>
        <p:txBody>
          <a:bodyPr lIns="45720" rIns="45720" anchor="t" anchorCtr="0"/>
          <a:p>
            <a:pPr defTabSz="684530">
              <a:lnSpc>
                <a:spcPct val="130000"/>
              </a:lnSpc>
              <a:buSzPct val="25000"/>
              <a:buFont typeface="Wingdings" panose="05000000000000000000" pitchFamily="2" charset="2"/>
              <a:buChar char=" "/>
            </a:pPr>
            <a:r>
              <a:rPr lang="zh-CN" altLang="en-US" sz="2400" dirty="0">
                <a:latin typeface="楷体_GB2312" charset="-122"/>
                <a:ea typeface="楷体_GB2312" charset="-122"/>
                <a:cs typeface="+mn-cs"/>
              </a:rPr>
              <a:t>    噪声是是一种</a:t>
            </a:r>
            <a:r>
              <a:rPr lang="zh-CN" altLang="en-US" sz="2400" dirty="0">
                <a:solidFill>
                  <a:srgbClr val="FF0000"/>
                </a:solidFill>
                <a:latin typeface="楷体_GB2312" charset="-122"/>
                <a:ea typeface="楷体_GB2312" charset="-122"/>
                <a:cs typeface="+mn-cs"/>
              </a:rPr>
              <a:t>感觉性污染</a:t>
            </a:r>
            <a:r>
              <a:rPr lang="zh-CN" altLang="en-US" sz="2400" dirty="0">
                <a:latin typeface="楷体_GB2312" charset="-122"/>
                <a:ea typeface="楷体_GB2312" charset="-122"/>
                <a:cs typeface="+mn-cs"/>
              </a:rPr>
              <a:t>，在空气中传播时不会在周围环境里留下有毒有害的化学污染物质。对噪声的判断与个人所处的环境和主观愿望有关。</a:t>
            </a:r>
            <a:endParaRPr lang="zh-CN" altLang="en-US" sz="2400" dirty="0">
              <a:latin typeface="楷体_GB2312" charset="-122"/>
              <a:ea typeface="楷体_GB2312" charset="-122"/>
              <a:cs typeface="+mn-cs"/>
            </a:endParaRPr>
          </a:p>
          <a:p>
            <a:pPr defTabSz="684530">
              <a:lnSpc>
                <a:spcPct val="130000"/>
              </a:lnSpc>
              <a:buSzPct val="25000"/>
              <a:buFont typeface="Wingdings" panose="05000000000000000000" pitchFamily="2" charset="2"/>
              <a:buChar char=" "/>
            </a:pPr>
            <a:r>
              <a:rPr lang="zh-CN" altLang="en-US" sz="2400" dirty="0">
                <a:latin typeface="楷体_GB2312" charset="-122"/>
                <a:ea typeface="楷体_GB2312" charset="-122"/>
                <a:cs typeface="+mn-cs"/>
              </a:rPr>
              <a:t>    噪声源的</a:t>
            </a:r>
            <a:r>
              <a:rPr lang="zh-CN" altLang="en-US" sz="2400" dirty="0">
                <a:solidFill>
                  <a:srgbClr val="FF0000"/>
                </a:solidFill>
                <a:latin typeface="楷体_GB2312" charset="-122"/>
                <a:ea typeface="楷体_GB2312" charset="-122"/>
                <a:cs typeface="+mn-cs"/>
              </a:rPr>
              <a:t>分布广泛而分散</a:t>
            </a:r>
            <a:r>
              <a:rPr lang="zh-CN" altLang="en-US" sz="2400" dirty="0">
                <a:latin typeface="楷体_GB2312" charset="-122"/>
                <a:ea typeface="楷体_GB2312" charset="-122"/>
                <a:cs typeface="+mn-cs"/>
              </a:rPr>
              <a:t>，但是由于传播过程中会发生能量的衰减，因此噪声污染的影响范围是有限的。</a:t>
            </a:r>
            <a:endParaRPr lang="zh-CN" altLang="en-US" sz="2400" dirty="0">
              <a:latin typeface="楷体_GB2312" charset="-122"/>
              <a:ea typeface="楷体_GB2312" charset="-122"/>
              <a:cs typeface="+mn-cs"/>
            </a:endParaRPr>
          </a:p>
          <a:p>
            <a:pPr defTabSz="684530">
              <a:lnSpc>
                <a:spcPct val="130000"/>
              </a:lnSpc>
              <a:buSzPct val="25000"/>
              <a:buFont typeface="Wingdings" panose="05000000000000000000" pitchFamily="2" charset="2"/>
              <a:buChar char=" "/>
            </a:pPr>
            <a:r>
              <a:rPr lang="zh-CN" altLang="en-US" sz="2400" dirty="0">
                <a:latin typeface="楷体_GB2312" charset="-122"/>
                <a:ea typeface="楷体_GB2312" charset="-122"/>
                <a:cs typeface="+mn-cs"/>
              </a:rPr>
              <a:t>    噪声产生的污染</a:t>
            </a:r>
            <a:r>
              <a:rPr lang="zh-CN" altLang="en-US" sz="2400" dirty="0">
                <a:solidFill>
                  <a:srgbClr val="FF0000"/>
                </a:solidFill>
                <a:latin typeface="楷体_GB2312" charset="-122"/>
                <a:ea typeface="楷体_GB2312" charset="-122"/>
                <a:cs typeface="+mn-cs"/>
              </a:rPr>
              <a:t>没有后效作用</a:t>
            </a:r>
            <a:r>
              <a:rPr lang="zh-CN" altLang="en-US" sz="2400" dirty="0">
                <a:latin typeface="楷体_GB2312" charset="-122"/>
                <a:ea typeface="楷体_GB2312" charset="-122"/>
                <a:cs typeface="+mn-cs"/>
              </a:rPr>
              <a:t>。一旦噪声源停止发声，噪声便会消失，转化为空气分子无规则运动的热能。</a:t>
            </a:r>
            <a:endParaRPr lang="zh-CN" altLang="en-US" sz="2400" dirty="0">
              <a:latin typeface="楷体_GB2312" charset="-122"/>
              <a:ea typeface="楷体_GB2312" charset="-122"/>
              <a:cs typeface="+mn-cs"/>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1730" name="标题 201729"/>
          <p:cNvSpPr>
            <a:spLocks noGrp="1"/>
          </p:cNvSpPr>
          <p:nvPr>
            <p:ph type="title"/>
          </p:nvPr>
        </p:nvSpPr>
        <p:spPr>
          <a:xfrm>
            <a:off x="2133600" y="228600"/>
            <a:ext cx="8153400" cy="784225"/>
          </a:xfrm>
        </p:spPr>
        <p:txBody>
          <a:bodyPr lIns="45720" tIns="0" rIns="45720" bIns="0" anchor="b" anchorCtr="0"/>
          <a:p>
            <a:r>
              <a:rPr lang="zh-CN" altLang="en-US" sz="3600" dirty="0">
                <a:solidFill>
                  <a:srgbClr val="0000CC"/>
                </a:solidFill>
                <a:latin typeface="楷体_GB2312" charset="-122"/>
                <a:ea typeface="楷体_GB2312" charset="-122"/>
                <a:cs typeface="+mj-cs"/>
              </a:rPr>
              <a:t>噪声源及其分类</a:t>
            </a:r>
            <a:r>
              <a:rPr lang="zh-CN" altLang="en-US" sz="4400" dirty="0">
                <a:solidFill>
                  <a:srgbClr val="0000CC"/>
                </a:solidFill>
                <a:latin typeface="楷体_GB2312" charset="-122"/>
                <a:ea typeface="楷体_GB2312" charset="-122"/>
                <a:cs typeface="+mj-cs"/>
              </a:rPr>
              <a:t> </a:t>
            </a:r>
            <a:endParaRPr lang="zh-CN" altLang="en-US" sz="4400" dirty="0">
              <a:solidFill>
                <a:srgbClr val="0000CC"/>
              </a:solidFill>
              <a:latin typeface="楷体_GB2312" charset="-122"/>
              <a:ea typeface="楷体_GB2312" charset="-122"/>
              <a:cs typeface="+mj-cs"/>
            </a:endParaRPr>
          </a:p>
        </p:txBody>
      </p:sp>
      <p:sp>
        <p:nvSpPr>
          <p:cNvPr id="201731" name="文本占位符 201730"/>
          <p:cNvSpPr>
            <a:spLocks noGrp="1"/>
          </p:cNvSpPr>
          <p:nvPr>
            <p:ph type="body" idx="1"/>
          </p:nvPr>
        </p:nvSpPr>
        <p:spPr>
          <a:xfrm>
            <a:off x="1905000" y="1263650"/>
            <a:ext cx="8215313" cy="3460750"/>
          </a:xfrm>
        </p:spPr>
        <p:txBody>
          <a:bodyPr lIns="45720" rIns="45720" anchor="t" anchorCtr="0"/>
          <a:p>
            <a:pPr algn="just" defTabSz="684530">
              <a:lnSpc>
                <a:spcPct val="130000"/>
              </a:lnSpc>
              <a:buSzPct val="25000"/>
              <a:buFont typeface="Wingdings" panose="05000000000000000000" pitchFamily="2" charset="2"/>
              <a:buChar char=" "/>
            </a:pPr>
            <a:r>
              <a:rPr lang="zh-CN" altLang="en-US" sz="2400" dirty="0">
                <a:latin typeface="楷体_GB2312" charset="-122"/>
                <a:ea typeface="楷体_GB2312" charset="-122"/>
                <a:cs typeface="+mn-cs"/>
              </a:rPr>
              <a:t>    按</a:t>
            </a:r>
            <a:r>
              <a:rPr lang="zh-CN" altLang="en-US" sz="2400" dirty="0">
                <a:solidFill>
                  <a:srgbClr val="FF0000"/>
                </a:solidFill>
                <a:latin typeface="楷体_GB2312" charset="-122"/>
                <a:ea typeface="楷体_GB2312" charset="-122"/>
                <a:cs typeface="+mn-cs"/>
              </a:rPr>
              <a:t>产生机理</a:t>
            </a:r>
            <a:r>
              <a:rPr lang="zh-CN" altLang="en-US" sz="2400" dirty="0">
                <a:latin typeface="楷体_GB2312" charset="-122"/>
                <a:ea typeface="楷体_GB2312" charset="-122"/>
                <a:cs typeface="+mn-cs"/>
              </a:rPr>
              <a:t>来划分，有机械噪声、空气动力性噪声和电磁性噪声三大类。</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zh-CN" altLang="en-US" sz="2400" dirty="0">
                <a:latin typeface="楷体_GB2312" charset="-122"/>
                <a:ea typeface="楷体_GB2312" charset="-122"/>
                <a:cs typeface="+mn-cs"/>
              </a:rPr>
              <a:t>    按</a:t>
            </a:r>
            <a:r>
              <a:rPr lang="zh-CN" altLang="en-US" sz="2400" dirty="0">
                <a:solidFill>
                  <a:srgbClr val="FF0000"/>
                </a:solidFill>
                <a:latin typeface="楷体_GB2312" charset="-122"/>
                <a:ea typeface="楷体_GB2312" charset="-122"/>
                <a:cs typeface="+mn-cs"/>
              </a:rPr>
              <a:t>污染源种类，</a:t>
            </a:r>
            <a:r>
              <a:rPr lang="zh-CN" altLang="en-US" sz="2400" dirty="0">
                <a:latin typeface="楷体_GB2312" charset="-122"/>
                <a:ea typeface="楷体_GB2312" charset="-122"/>
                <a:cs typeface="+mn-cs"/>
              </a:rPr>
              <a:t>可分为工厂噪声（某些机械噪声）、交通噪声、施工噪声（一般工地的噪声）、社会生活噪声（家庭常用设备的）以及自然噪声</a:t>
            </a:r>
            <a:r>
              <a:rPr lang="en-US" altLang="zh-CN" sz="2400">
                <a:latin typeface="楷体_GB2312" charset="-122"/>
                <a:ea typeface="楷体_GB2312" charset="-122"/>
                <a:cs typeface="+mn-cs"/>
              </a:rPr>
              <a:t>5</a:t>
            </a:r>
            <a:r>
              <a:rPr lang="zh-CN" altLang="en-US" sz="2400" dirty="0">
                <a:latin typeface="楷体_GB2312" charset="-122"/>
                <a:ea typeface="楷体_GB2312" charset="-122"/>
                <a:cs typeface="+mn-cs"/>
              </a:rPr>
              <a:t>类。  </a:t>
            </a:r>
            <a:endParaRPr lang="zh-CN" altLang="en-US" sz="2400" dirty="0">
              <a:latin typeface="楷体_GB2312" charset="-122"/>
              <a:ea typeface="楷体_GB2312" charset="-122"/>
              <a:cs typeface="+mn-cs"/>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2754" name="内容占位符 202753"/>
          <p:cNvGraphicFramePr/>
          <p:nvPr>
            <p:ph/>
          </p:nvPr>
        </p:nvGraphicFramePr>
        <p:xfrm>
          <a:off x="1774825" y="908050"/>
          <a:ext cx="8540750" cy="5547360"/>
        </p:xfrm>
        <a:graphic>
          <a:graphicData uri="http://schemas.openxmlformats.org/drawingml/2006/table">
            <a:tbl>
              <a:tblPr/>
              <a:tblGrid>
                <a:gridCol w="2308225"/>
                <a:gridCol w="6232525"/>
              </a:tblGrid>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噪声级</a:t>
                      </a:r>
                      <a:r>
                        <a:rPr lang="en-US" altLang="zh-CN" sz="2000">
                          <a:latin typeface="Times New Roman" panose="02020603050405020304" charset="0"/>
                          <a:cs typeface="Times New Roman" panose="02020603050405020304" charset="0"/>
                        </a:rPr>
                        <a:t>/dB</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机械名称</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130</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风铲、风铆</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125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凿岩机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120</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大型球磨机、有齿锯切割钢材</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115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振捣机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110</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电锯、无齿锯、落砂机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105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织布机、电刨、破碎机、气锤</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100</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丝织机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95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织带机、细砂机、轮转印刷机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90</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轧钢机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85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机床、凹印机、铅印、平台印刷机、制砖机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80</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挤塑机、漆包线机、织袜机、平印连动机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75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印刷上胶机、过板机、玉器抛光机、小球磨机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3962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en-US" altLang="zh-CN" sz="2000">
                          <a:latin typeface="Times New Roman" panose="02020603050405020304" charset="0"/>
                          <a:cs typeface="Times New Roman" panose="02020603050405020304" charset="0"/>
                        </a:rPr>
                        <a:t>&lt;75</a:t>
                      </a:r>
                      <a:endParaRPr lang="en-US" altLang="zh-CN" sz="200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lvl="0" algn="ctr">
                        <a:spcBef>
                          <a:spcPct val="0"/>
                        </a:spcBef>
                        <a:buFontTx/>
                        <a:buNone/>
                      </a:pPr>
                      <a:r>
                        <a:rPr lang="zh-CN" altLang="en-US" sz="2000" dirty="0">
                          <a:latin typeface="Times New Roman" panose="02020603050405020304" charset="0"/>
                          <a:cs typeface="Times New Roman" panose="02020603050405020304" charset="0"/>
                        </a:rPr>
                        <a:t>电子刻板机、电线成盘机</a:t>
                      </a:r>
                      <a:endParaRPr lang="zh-CN" altLang="en-US" sz="20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02801" name="文本框 202800"/>
          <p:cNvSpPr txBox="1"/>
          <p:nvPr/>
        </p:nvSpPr>
        <p:spPr>
          <a:xfrm>
            <a:off x="4224338" y="260350"/>
            <a:ext cx="4537075" cy="583565"/>
          </a:xfrm>
          <a:prstGeom prst="rect">
            <a:avLst/>
          </a:prstGeom>
          <a:noFill/>
          <a:ln w="9525">
            <a:noFill/>
          </a:ln>
        </p:spPr>
        <p:txBody>
          <a:bodyPr>
            <a:spAutoFit/>
          </a:bodyPr>
          <a:p>
            <a:pPr algn="l">
              <a:spcBef>
                <a:spcPct val="50000"/>
              </a:spcBef>
            </a:pPr>
            <a:r>
              <a:rPr lang="zh-CN" altLang="en-US" sz="3200" b="1" dirty="0">
                <a:solidFill>
                  <a:srgbClr val="0000CC"/>
                </a:solidFill>
                <a:latin typeface="华文行楷" panose="02010800040101010101" pitchFamily="2" charset="-122"/>
                <a:ea typeface="华文行楷" panose="02010800040101010101" pitchFamily="2" charset="-122"/>
              </a:rPr>
              <a:t>某些机械噪声源强度 </a:t>
            </a:r>
            <a:endParaRPr lang="zh-CN" altLang="en-US" sz="3200" b="1" dirty="0">
              <a:solidFill>
                <a:srgbClr val="0000CC"/>
              </a:solidFill>
              <a:latin typeface="华文行楷" panose="02010800040101010101" pitchFamily="2" charset="-122"/>
              <a:ea typeface="华文行楷" panose="02010800040101010101" pitchFamily="2"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3778" name="表格 203777"/>
          <p:cNvGraphicFramePr/>
          <p:nvPr/>
        </p:nvGraphicFramePr>
        <p:xfrm>
          <a:off x="2279650" y="1557338"/>
          <a:ext cx="7632700" cy="4321175"/>
        </p:xfrm>
        <a:graphic>
          <a:graphicData uri="http://schemas.openxmlformats.org/drawingml/2006/table">
            <a:tbl>
              <a:tblPr/>
              <a:tblGrid>
                <a:gridCol w="1833880"/>
                <a:gridCol w="1550670"/>
                <a:gridCol w="1368425"/>
                <a:gridCol w="1511300"/>
                <a:gridCol w="1368425"/>
              </a:tblGrid>
              <a:tr h="617538">
                <a:tc row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机械名称</a:t>
                      </a:r>
                      <a:endParaRPr lang="zh-CN" altLang="en-US" sz="4400" dirty="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grid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距离声源</a:t>
                      </a:r>
                      <a:r>
                        <a:rPr lang="en-US" altLang="zh-CN" sz="2000">
                          <a:latin typeface="Times New Roman" panose="02020603050405020304" charset="0"/>
                          <a:cs typeface="Times New Roman" panose="02020603050405020304" charset="0"/>
                        </a:rPr>
                        <a:t>10m</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距离声源</a:t>
                      </a:r>
                      <a:r>
                        <a:rPr lang="en-US" altLang="zh-CN" sz="2000">
                          <a:latin typeface="Times New Roman" panose="02020603050405020304" charset="0"/>
                          <a:cs typeface="Times New Roman" panose="02020603050405020304" charset="0"/>
                        </a:rPr>
                        <a:t>30m</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hMerge="1">
                  <a:tcPr>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617537">
                <a:tc vMerge="1">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B w="12700" cap="flat" cmpd="sng">
                      <a:solidFill>
                        <a:srgbClr val="000000"/>
                      </a:solidFill>
                      <a:prstDash val="solid"/>
                      <a:headEnd type="none" w="med" len="med"/>
                      <a:tailEnd type="none" w="med" len="med"/>
                    </a:lnB>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范围</a:t>
                      </a:r>
                      <a:endParaRPr lang="zh-CN" altLang="en-US" sz="44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平均</a:t>
                      </a:r>
                      <a:endParaRPr lang="zh-CN" altLang="en-US" sz="44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范围</a:t>
                      </a:r>
                      <a:endParaRPr lang="zh-CN" altLang="en-US" sz="44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平均</a:t>
                      </a:r>
                      <a:endParaRPr lang="zh-CN" altLang="en-US" sz="4400" dirty="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7538">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打桩机</a:t>
                      </a:r>
                      <a:endParaRPr lang="zh-CN" altLang="en-US" sz="4400" dirty="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93-112</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105</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84-103</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91</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595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地螺钻</a:t>
                      </a:r>
                      <a:endParaRPr lang="zh-CN" altLang="en-US" sz="4400" dirty="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68-82</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75</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57-70</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63</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7537">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铆枪</a:t>
                      </a:r>
                      <a:endParaRPr lang="zh-CN" altLang="en-US" sz="4400" dirty="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85-98</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91</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74-98</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86</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7538">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压缩机</a:t>
                      </a:r>
                      <a:endParaRPr lang="zh-CN" altLang="en-US" sz="4400" dirty="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82-98</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88</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78-80</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78</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17537">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dirty="0">
                          <a:latin typeface="Times New Roman" panose="02020603050405020304" charset="0"/>
                          <a:cs typeface="Times New Roman" panose="02020603050405020304" charset="0"/>
                        </a:rPr>
                        <a:t>破路机</a:t>
                      </a:r>
                      <a:endParaRPr lang="zh-CN" altLang="en-US" sz="4400" dirty="0">
                        <a:latin typeface="Times New Roman" panose="02020603050405020304" charset="0"/>
                      </a:endParaRPr>
                    </a:p>
                  </a:txBody>
                  <a:tcPr anchor="ctr" anchorCtr="0">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80-92</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85</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74-80</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a:latin typeface="Times New Roman" panose="02020603050405020304" charset="0"/>
                          <a:cs typeface="Times New Roman" panose="02020603050405020304" charset="0"/>
                        </a:rPr>
                        <a:t>76</a:t>
                      </a:r>
                      <a:endParaRPr lang="en-US" altLang="zh-CN" sz="4400">
                        <a:latin typeface="Times New Roman" panose="02020603050405020304" charset="0"/>
                      </a:endParaRPr>
                    </a:p>
                  </a:txBody>
                  <a:tcPr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03825" name="文本框 203824"/>
          <p:cNvSpPr txBox="1"/>
          <p:nvPr/>
        </p:nvSpPr>
        <p:spPr>
          <a:xfrm>
            <a:off x="3863975" y="765175"/>
            <a:ext cx="4824413" cy="645160"/>
          </a:xfrm>
          <a:prstGeom prst="rect">
            <a:avLst/>
          </a:prstGeom>
          <a:noFill/>
          <a:ln w="9525">
            <a:noFill/>
          </a:ln>
        </p:spPr>
        <p:txBody>
          <a:bodyPr>
            <a:spAutoFit/>
          </a:bodyPr>
          <a:p>
            <a:pPr algn="l">
              <a:spcBef>
                <a:spcPct val="50000"/>
              </a:spcBef>
            </a:pPr>
            <a:r>
              <a:rPr lang="zh-CN" altLang="en-US" sz="3600" b="1" dirty="0">
                <a:solidFill>
                  <a:srgbClr val="0000CC"/>
                </a:solidFill>
                <a:latin typeface="华文行楷" panose="02010800040101010101" pitchFamily="2" charset="-122"/>
                <a:ea typeface="华文行楷" panose="02010800040101010101" pitchFamily="2" charset="-122"/>
              </a:rPr>
              <a:t>建筑施工机械噪声级 </a:t>
            </a:r>
            <a:endParaRPr lang="zh-CN" altLang="en-US" sz="3600" b="1" dirty="0">
              <a:solidFill>
                <a:srgbClr val="0000CC"/>
              </a:solidFill>
              <a:latin typeface="华文行楷" panose="02010800040101010101" pitchFamily="2" charset="-122"/>
              <a:ea typeface="华文行楷" panose="02010800040101010101" pitchFamily="2"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02" name="表格 204801"/>
          <p:cNvGraphicFramePr/>
          <p:nvPr/>
        </p:nvGraphicFramePr>
        <p:xfrm>
          <a:off x="2208213" y="1412875"/>
          <a:ext cx="7775575" cy="4649470"/>
        </p:xfrm>
        <a:graphic>
          <a:graphicData uri="http://schemas.openxmlformats.org/drawingml/2006/table">
            <a:tbl>
              <a:tblPr/>
              <a:tblGrid>
                <a:gridCol w="4635500"/>
                <a:gridCol w="3140075"/>
              </a:tblGrid>
              <a:tr h="57023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家庭常用设备</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噪声级范围</a:t>
                      </a:r>
                      <a:r>
                        <a:rPr lang="en-US" altLang="zh-CN" sz="2400">
                          <a:latin typeface="Times New Roman" panose="02020603050405020304" charset="0"/>
                          <a:cs typeface="Times New Roman" panose="02020603050405020304" charset="0"/>
                        </a:rPr>
                        <a:t>/dB</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9595">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洗衣机、缝纫机</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50-80</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6040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电视机、除尘器及抽水马桶</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60-84</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9595">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钢琴</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62-96</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9595">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通风机、吹风机</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50-75</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023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电冰箱</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30-58</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69595">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风扇</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30-68</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57023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400" dirty="0">
                          <a:latin typeface="Times New Roman" panose="02020603050405020304" charset="0"/>
                          <a:cs typeface="Times New Roman" panose="02020603050405020304" charset="0"/>
                        </a:rPr>
                        <a:t>食物搅拌器</a:t>
                      </a:r>
                      <a:endParaRPr lang="zh-CN" altLang="en-US" sz="2400" dirty="0">
                        <a:latin typeface="Times New Roman" panose="02020603050405020304" charset="0"/>
                      </a:endParaRPr>
                    </a:p>
                  </a:txBody>
                  <a:tcPr>
                    <a:lnL w="9525" cap="flat" cmpd="sng">
                      <a:solidFill>
                        <a:srgbClr val="000000"/>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400">
                          <a:latin typeface="Times New Roman" panose="02020603050405020304" charset="0"/>
                          <a:cs typeface="Times New Roman" panose="02020603050405020304" charset="0"/>
                        </a:rPr>
                        <a:t>65-80</a:t>
                      </a:r>
                      <a:endParaRPr lang="en-US" altLang="zh-CN" sz="2400">
                        <a:latin typeface="Times New Roman" panose="02020603050405020304" charset="0"/>
                      </a:endParaRPr>
                    </a:p>
                  </a:txBody>
                  <a:tcPr>
                    <a:lnL w="12700" cap="flat" cmpd="sng">
                      <a:solidFill>
                        <a:schemeClr val="tx1"/>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204831" name="矩形 204830"/>
          <p:cNvSpPr/>
          <p:nvPr/>
        </p:nvSpPr>
        <p:spPr>
          <a:xfrm>
            <a:off x="4224338" y="618173"/>
            <a:ext cx="4370705" cy="706755"/>
          </a:xfrm>
          <a:prstGeom prst="rect">
            <a:avLst/>
          </a:prstGeom>
          <a:noFill/>
          <a:ln w="9525">
            <a:noFill/>
          </a:ln>
        </p:spPr>
        <p:txBody>
          <a:bodyPr wrap="none" anchor="ctr" anchorCtr="0">
            <a:spAutoFit/>
          </a:bodyPr>
          <a:p>
            <a:pPr algn="l"/>
            <a:r>
              <a:rPr lang="zh-CN" altLang="en-US" sz="4000" dirty="0">
                <a:solidFill>
                  <a:srgbClr val="0000CC"/>
                </a:solidFill>
                <a:latin typeface="华文行楷" panose="02010800040101010101" pitchFamily="2" charset="-122"/>
                <a:ea typeface="华文行楷" panose="02010800040101010101" pitchFamily="2" charset="-122"/>
              </a:rPr>
              <a:t>家庭常用设备噪声 </a:t>
            </a:r>
            <a:endParaRPr lang="zh-CN" altLang="en-US" sz="4000" dirty="0">
              <a:solidFill>
                <a:srgbClr val="0000CC"/>
              </a:solidFill>
              <a:latin typeface="华文行楷" panose="02010800040101010101" pitchFamily="2" charset="-122"/>
              <a:ea typeface="华文行楷" panose="02010800040101010101" pitchFamily="2" charset="-122"/>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5826" name="标题 205825"/>
          <p:cNvSpPr>
            <a:spLocks noGrp="1"/>
          </p:cNvSpPr>
          <p:nvPr>
            <p:ph type="title"/>
          </p:nvPr>
        </p:nvSpPr>
        <p:spPr>
          <a:xfrm>
            <a:off x="1947863" y="485775"/>
            <a:ext cx="8540750" cy="1143000"/>
          </a:xfrm>
        </p:spPr>
        <p:txBody>
          <a:bodyPr lIns="45720" tIns="0" rIns="45720" bIns="0" anchor="b" anchorCtr="0"/>
          <a:p>
            <a:r>
              <a:rPr lang="en-US" altLang="zh-CN" sz="2800">
                <a:solidFill>
                  <a:srgbClr val="0000CC"/>
                </a:solidFill>
                <a:latin typeface="楷体_GB2312" charset="-122"/>
                <a:ea typeface="楷体_GB2312" charset="-122"/>
                <a:cs typeface="+mj-cs"/>
              </a:rPr>
              <a:t>《</a:t>
            </a:r>
            <a:r>
              <a:rPr lang="zh-CN" altLang="en-US" sz="2800" dirty="0">
                <a:solidFill>
                  <a:srgbClr val="0000CC"/>
                </a:solidFill>
                <a:latin typeface="楷体_GB2312" charset="-122"/>
                <a:ea typeface="楷体_GB2312" charset="-122"/>
                <a:cs typeface="+mj-cs"/>
              </a:rPr>
              <a:t>城市区域噪声标准</a:t>
            </a:r>
            <a:r>
              <a:rPr lang="en-US" altLang="zh-CN" sz="2800">
                <a:solidFill>
                  <a:srgbClr val="0000CC"/>
                </a:solidFill>
                <a:latin typeface="楷体_GB2312" charset="-122"/>
                <a:ea typeface="楷体_GB2312" charset="-122"/>
                <a:cs typeface="+mj-cs"/>
              </a:rPr>
              <a:t>》</a:t>
            </a:r>
            <a:r>
              <a:rPr lang="zh-CN" altLang="en-US" sz="2800" dirty="0">
                <a:solidFill>
                  <a:srgbClr val="0000CC"/>
                </a:solidFill>
                <a:latin typeface="楷体_GB2312" charset="-122"/>
                <a:ea typeface="楷体_GB2312" charset="-122"/>
                <a:cs typeface="+mj-cs"/>
              </a:rPr>
              <a:t>中规定的城市五类区域的环境噪声最高限值</a:t>
            </a:r>
            <a:endParaRPr lang="zh-CN" altLang="en-US" sz="2800" dirty="0">
              <a:solidFill>
                <a:srgbClr val="0000CC"/>
              </a:solidFill>
              <a:latin typeface="楷体_GB2312" charset="-122"/>
              <a:ea typeface="楷体_GB2312" charset="-122"/>
              <a:cs typeface="+mj-cs"/>
            </a:endParaRPr>
          </a:p>
        </p:txBody>
      </p:sp>
      <p:sp>
        <p:nvSpPr>
          <p:cNvPr id="205827" name="文本占位符 205826"/>
          <p:cNvSpPr>
            <a:spLocks noGrp="1"/>
          </p:cNvSpPr>
          <p:nvPr>
            <p:ph type="body" idx="1"/>
          </p:nvPr>
        </p:nvSpPr>
        <p:spPr>
          <a:xfrm>
            <a:off x="2209800" y="1905000"/>
            <a:ext cx="7958138" cy="4114800"/>
          </a:xfrm>
        </p:spPr>
        <p:txBody>
          <a:bodyPr lIns="45720" rIns="45720" anchor="t" anchorCtr="0">
            <a:normAutofit lnSpcReduction="20000"/>
          </a:bodyPr>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1</a:t>
            </a:r>
            <a:r>
              <a:rPr lang="zh-CN" altLang="en-US" sz="2400" dirty="0">
                <a:latin typeface="楷体_GB2312" charset="-122"/>
                <a:ea typeface="楷体_GB2312" charset="-122"/>
                <a:cs typeface="+mn-cs"/>
              </a:rPr>
              <a:t>类：疗养区、高级别墅区、高级宾馆区，昼间</a:t>
            </a:r>
            <a:r>
              <a:rPr lang="en-US" altLang="zh-CN" sz="2400">
                <a:latin typeface="楷体_GB2312" charset="-122"/>
                <a:ea typeface="楷体_GB2312" charset="-122"/>
                <a:cs typeface="+mn-cs"/>
              </a:rPr>
              <a:t>50dB</a:t>
            </a:r>
            <a:r>
              <a:rPr lang="zh-CN" altLang="en-US" sz="2400" dirty="0">
                <a:latin typeface="楷体_GB2312" charset="-122"/>
                <a:ea typeface="楷体_GB2312" charset="-122"/>
                <a:cs typeface="+mn-cs"/>
              </a:rPr>
              <a:t>、夜间</a:t>
            </a:r>
            <a:r>
              <a:rPr lang="en-US" altLang="zh-CN" sz="2400">
                <a:latin typeface="楷体_GB2312" charset="-122"/>
                <a:ea typeface="楷体_GB2312" charset="-122"/>
                <a:cs typeface="+mn-cs"/>
              </a:rPr>
              <a:t>40dB</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2</a:t>
            </a:r>
            <a:r>
              <a:rPr lang="zh-CN" altLang="en-US" sz="2400" dirty="0">
                <a:latin typeface="楷体_GB2312" charset="-122"/>
                <a:ea typeface="楷体_GB2312" charset="-122"/>
                <a:cs typeface="+mn-cs"/>
              </a:rPr>
              <a:t>类：以居住、文教机关为主的区域，昼间</a:t>
            </a:r>
            <a:r>
              <a:rPr lang="en-US" altLang="zh-CN" sz="2400">
                <a:latin typeface="楷体_GB2312" charset="-122"/>
                <a:ea typeface="楷体_GB2312" charset="-122"/>
                <a:cs typeface="+mn-cs"/>
              </a:rPr>
              <a:t>55dB</a:t>
            </a:r>
            <a:r>
              <a:rPr lang="zh-CN" altLang="en-US" sz="2400" dirty="0">
                <a:latin typeface="楷体_GB2312" charset="-122"/>
                <a:ea typeface="楷体_GB2312" charset="-122"/>
                <a:cs typeface="+mn-cs"/>
              </a:rPr>
              <a:t>、夜间</a:t>
            </a:r>
            <a:r>
              <a:rPr lang="en-US" altLang="zh-CN" sz="2400">
                <a:latin typeface="楷体_GB2312" charset="-122"/>
                <a:ea typeface="楷体_GB2312" charset="-122"/>
                <a:cs typeface="+mn-cs"/>
              </a:rPr>
              <a:t>45dB</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3</a:t>
            </a:r>
            <a:r>
              <a:rPr lang="zh-CN" altLang="en-US" sz="2400" dirty="0">
                <a:latin typeface="楷体_GB2312" charset="-122"/>
                <a:ea typeface="楷体_GB2312" charset="-122"/>
                <a:cs typeface="+mn-cs"/>
              </a:rPr>
              <a:t>类：居住、商业、工业混杂区，昼间</a:t>
            </a:r>
            <a:r>
              <a:rPr lang="en-US" altLang="zh-CN" sz="2400">
                <a:latin typeface="楷体_GB2312" charset="-122"/>
                <a:ea typeface="楷体_GB2312" charset="-122"/>
                <a:cs typeface="+mn-cs"/>
              </a:rPr>
              <a:t>60dB</a:t>
            </a:r>
            <a:r>
              <a:rPr lang="zh-CN" altLang="en-US" sz="2400" dirty="0">
                <a:latin typeface="楷体_GB2312" charset="-122"/>
                <a:ea typeface="楷体_GB2312" charset="-122"/>
                <a:cs typeface="+mn-cs"/>
              </a:rPr>
              <a:t>、夜间</a:t>
            </a:r>
            <a:r>
              <a:rPr lang="en-US" altLang="zh-CN" sz="2400">
                <a:latin typeface="楷体_GB2312" charset="-122"/>
                <a:ea typeface="楷体_GB2312" charset="-122"/>
                <a:cs typeface="+mn-cs"/>
              </a:rPr>
              <a:t>50dB</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4</a:t>
            </a:r>
            <a:r>
              <a:rPr lang="zh-CN" altLang="en-US" sz="2400" dirty="0">
                <a:latin typeface="楷体_GB2312" charset="-122"/>
                <a:ea typeface="楷体_GB2312" charset="-122"/>
                <a:cs typeface="+mn-cs"/>
              </a:rPr>
              <a:t>类：工业区，昼间</a:t>
            </a:r>
            <a:r>
              <a:rPr lang="en-US" altLang="zh-CN" sz="2400">
                <a:latin typeface="楷体_GB2312" charset="-122"/>
                <a:ea typeface="楷体_GB2312" charset="-122"/>
                <a:cs typeface="+mn-cs"/>
              </a:rPr>
              <a:t>65dB</a:t>
            </a:r>
            <a:r>
              <a:rPr lang="zh-CN" altLang="en-US" sz="2400" dirty="0">
                <a:latin typeface="楷体_GB2312" charset="-122"/>
                <a:ea typeface="楷体_GB2312" charset="-122"/>
                <a:cs typeface="+mn-cs"/>
              </a:rPr>
              <a:t>、夜间</a:t>
            </a:r>
            <a:r>
              <a:rPr lang="en-US" altLang="zh-CN" sz="2400">
                <a:latin typeface="楷体_GB2312" charset="-122"/>
                <a:ea typeface="楷体_GB2312" charset="-122"/>
                <a:cs typeface="+mn-cs"/>
              </a:rPr>
              <a:t>55dB</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5</a:t>
            </a:r>
            <a:r>
              <a:rPr lang="zh-CN" altLang="en-US" sz="2400" dirty="0">
                <a:latin typeface="楷体_GB2312" charset="-122"/>
                <a:ea typeface="楷体_GB2312" charset="-122"/>
                <a:cs typeface="+mn-cs"/>
              </a:rPr>
              <a:t>类：城市中的道路交通干线道路、内河航道、铁路主、次干线两侧区域，昼间</a:t>
            </a:r>
            <a:r>
              <a:rPr lang="en-US" altLang="zh-CN" sz="2400">
                <a:latin typeface="楷体_GB2312" charset="-122"/>
                <a:ea typeface="楷体_GB2312" charset="-122"/>
                <a:cs typeface="+mn-cs"/>
              </a:rPr>
              <a:t>70dB</a:t>
            </a:r>
            <a:r>
              <a:rPr lang="zh-CN" altLang="en-US" sz="2400" dirty="0">
                <a:latin typeface="楷体_GB2312" charset="-122"/>
                <a:ea typeface="楷体_GB2312" charset="-122"/>
                <a:cs typeface="+mn-cs"/>
              </a:rPr>
              <a:t>、夜间</a:t>
            </a:r>
            <a:r>
              <a:rPr lang="en-US" altLang="zh-CN" sz="2400">
                <a:latin typeface="楷体_GB2312" charset="-122"/>
                <a:ea typeface="楷体_GB2312" charset="-122"/>
                <a:cs typeface="+mn-cs"/>
              </a:rPr>
              <a:t>55dB</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zh-CN" altLang="en-US" sz="2400" dirty="0">
                <a:latin typeface="楷体_GB2312" charset="-122"/>
                <a:ea typeface="楷体_GB2312" charset="-122"/>
                <a:cs typeface="+mn-cs"/>
              </a:rPr>
              <a:t>（夜间指</a:t>
            </a:r>
            <a:r>
              <a:rPr lang="en-US" altLang="zh-CN" sz="2400">
                <a:latin typeface="楷体_GB2312" charset="-122"/>
                <a:ea typeface="楷体_GB2312" charset="-122"/>
                <a:cs typeface="+mn-cs"/>
              </a:rPr>
              <a:t>22</a:t>
            </a:r>
            <a:r>
              <a:rPr lang="zh-CN" altLang="en-US" sz="2400" dirty="0">
                <a:latin typeface="楷体_GB2312" charset="-122"/>
                <a:ea typeface="楷体_GB2312" charset="-122"/>
                <a:cs typeface="+mn-cs"/>
              </a:rPr>
              <a:t>点到次日晨</a:t>
            </a:r>
            <a:r>
              <a:rPr lang="en-US" altLang="zh-CN" sz="2400">
                <a:latin typeface="楷体_GB2312" charset="-122"/>
                <a:ea typeface="楷体_GB2312" charset="-122"/>
                <a:cs typeface="+mn-cs"/>
              </a:rPr>
              <a:t>6</a:t>
            </a:r>
            <a:r>
              <a:rPr lang="zh-CN" altLang="en-US" sz="2400" dirty="0">
                <a:latin typeface="楷体_GB2312" charset="-122"/>
                <a:ea typeface="楷体_GB2312" charset="-122"/>
                <a:cs typeface="+mn-cs"/>
              </a:rPr>
              <a:t>点）。</a:t>
            </a:r>
            <a:endParaRPr lang="zh-CN" altLang="en-US" sz="2400" dirty="0">
              <a:latin typeface="楷体_GB2312" charset="-122"/>
              <a:ea typeface="楷体_GB2312" charset="-122"/>
              <a:cs typeface="+mn-cs"/>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6850" name="图片 206849" descr="020"/>
          <p:cNvPicPr>
            <a:picLocks noChangeAspect="1"/>
          </p:cNvPicPr>
          <p:nvPr/>
        </p:nvPicPr>
        <p:blipFill>
          <a:blip r:embed="rId1"/>
          <a:stretch>
            <a:fillRect/>
          </a:stretch>
        </p:blipFill>
        <p:spPr>
          <a:xfrm>
            <a:off x="3287713" y="0"/>
            <a:ext cx="6348412" cy="68580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499"/>
                                          </p:stCondLst>
                                        </p:cTn>
                                        <p:tgtEl>
                                          <p:spTgt spid="206850"/>
                                        </p:tgtEl>
                                        <p:attrNameLst>
                                          <p:attrName>style.visibility</p:attrName>
                                        </p:attrNameLst>
                                      </p:cBhvr>
                                      <p:to>
                                        <p:strVal val="visible"/>
                                      </p:to>
                                    </p:set>
                                    <p:anim to="" calcmode="lin" valueType="num">
                                      <p:cBhvr>
                                        <p:cTn id="7" dur="1" fill="hold"/>
                                        <p:tgtEl>
                                          <p:spTgt spid="206850"/>
                                        </p:tgtEl>
                                        <p:attrNameLst>
                                          <p:attrName>style.visibility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标题 207873"/>
          <p:cNvSpPr>
            <a:spLocks noGrp="1"/>
          </p:cNvSpPr>
          <p:nvPr>
            <p:ph type="title"/>
          </p:nvPr>
        </p:nvSpPr>
        <p:spPr>
          <a:xfrm>
            <a:off x="1992313" y="152400"/>
            <a:ext cx="8385175" cy="893763"/>
          </a:xfrm>
        </p:spPr>
        <p:txBody>
          <a:bodyPr lIns="45720" tIns="0" rIns="45720" bIns="0" anchor="b" anchorCtr="0"/>
          <a:p>
            <a:r>
              <a:rPr lang="zh-CN" altLang="en-US" sz="3200" dirty="0">
                <a:solidFill>
                  <a:srgbClr val="0000CC"/>
                </a:solidFill>
                <a:latin typeface="楷体_GB2312" charset="-122"/>
                <a:ea typeface="楷体_GB2312" charset="-122"/>
                <a:cs typeface="+mj-cs"/>
              </a:rPr>
              <a:t>噪声对人体的危害</a:t>
            </a:r>
            <a:endParaRPr lang="zh-CN" altLang="en-US" sz="3200" dirty="0">
              <a:solidFill>
                <a:srgbClr val="0000CC"/>
              </a:solidFill>
              <a:latin typeface="楷体_GB2312" charset="-122"/>
              <a:ea typeface="楷体_GB2312" charset="-122"/>
              <a:cs typeface="+mj-cs"/>
            </a:endParaRPr>
          </a:p>
        </p:txBody>
      </p:sp>
      <p:sp>
        <p:nvSpPr>
          <p:cNvPr id="207875" name="文本占位符 207874"/>
          <p:cNvSpPr>
            <a:spLocks noGrp="1"/>
          </p:cNvSpPr>
          <p:nvPr>
            <p:ph type="body" idx="1"/>
          </p:nvPr>
        </p:nvSpPr>
        <p:spPr>
          <a:xfrm>
            <a:off x="1919288" y="1198563"/>
            <a:ext cx="8351837" cy="2374900"/>
          </a:xfrm>
        </p:spPr>
        <p:txBody>
          <a:bodyPr lIns="45720" rIns="45720" anchor="t" anchorCtr="0"/>
          <a:p>
            <a:pPr algn="just" defTabSz="684530">
              <a:buSzPct val="25000"/>
              <a:buFont typeface="Wingdings" panose="05000000000000000000" pitchFamily="2" charset="2"/>
              <a:buChar char=" "/>
            </a:pPr>
            <a:r>
              <a:rPr lang="en-US" altLang="zh-CN" sz="2400">
                <a:latin typeface="楷体_GB2312" charset="-122"/>
                <a:ea typeface="楷体_GB2312" charset="-122"/>
                <a:cs typeface="+mn-cs"/>
              </a:rPr>
              <a:t>1. </a:t>
            </a:r>
            <a:r>
              <a:rPr lang="zh-CN" altLang="en-US" sz="2400" dirty="0">
                <a:latin typeface="楷体_GB2312" charset="-122"/>
                <a:ea typeface="楷体_GB2312" charset="-122"/>
                <a:cs typeface="+mn-cs"/>
              </a:rPr>
              <a:t>对听力的损伤</a:t>
            </a:r>
            <a:endParaRPr lang="zh-CN" altLang="en-US" sz="2400" dirty="0">
              <a:latin typeface="楷体_GB2312" charset="-122"/>
              <a:ea typeface="楷体_GB2312" charset="-122"/>
              <a:cs typeface="+mn-cs"/>
            </a:endParaRPr>
          </a:p>
          <a:p>
            <a:pPr algn="just" defTabSz="684530">
              <a:buSzPct val="25000"/>
            </a:pPr>
            <a:r>
              <a:rPr lang="zh-CN" altLang="en-US" sz="2400" dirty="0">
                <a:latin typeface="楷体_GB2312" charset="-122"/>
                <a:ea typeface="楷体_GB2312" charset="-122"/>
                <a:cs typeface="+mn-cs"/>
              </a:rPr>
              <a:t>		  对听觉的影响，是以人耳暴露在噪声环境前后的听觉灵敏度来衡量的，这种变化称为</a:t>
            </a:r>
            <a:r>
              <a:rPr lang="zh-CN" altLang="en-US" sz="2400" dirty="0">
                <a:solidFill>
                  <a:srgbClr val="FF0000"/>
                </a:solidFill>
                <a:latin typeface="楷体_GB2312" charset="-122"/>
                <a:ea typeface="楷体_GB2312" charset="-122"/>
                <a:cs typeface="+mn-cs"/>
              </a:rPr>
              <a:t>听力损失</a:t>
            </a:r>
            <a:r>
              <a:rPr lang="zh-CN" altLang="en-US" sz="2400" dirty="0">
                <a:latin typeface="楷体_GB2312" charset="-122"/>
                <a:ea typeface="楷体_GB2312" charset="-122"/>
                <a:cs typeface="+mn-cs"/>
              </a:rPr>
              <a:t>。如果人们长期在强烈的噪声环境下工作，日积月累，内耳器官不断受噪声刺激，不能恢复暴露前的听阈，便可发生器质性病变，成为永久性听阈偏移，这就是</a:t>
            </a:r>
            <a:r>
              <a:rPr lang="zh-CN" altLang="en-US" sz="2400" dirty="0">
                <a:solidFill>
                  <a:srgbClr val="FF0000"/>
                </a:solidFill>
                <a:latin typeface="楷体_GB2312" charset="-122"/>
                <a:ea typeface="楷体_GB2312" charset="-122"/>
                <a:cs typeface="+mn-cs"/>
              </a:rPr>
              <a:t>噪声性耳聋</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p:txBody>
      </p:sp>
      <p:sp>
        <p:nvSpPr>
          <p:cNvPr id="207876" name="矩形 207875"/>
          <p:cNvSpPr/>
          <p:nvPr/>
        </p:nvSpPr>
        <p:spPr>
          <a:xfrm>
            <a:off x="3914775" y="3751898"/>
            <a:ext cx="4909820" cy="398780"/>
          </a:xfrm>
          <a:prstGeom prst="rect">
            <a:avLst/>
          </a:prstGeom>
          <a:noFill/>
          <a:ln w="9525">
            <a:noFill/>
          </a:ln>
        </p:spPr>
        <p:txBody>
          <a:bodyPr wrap="none" anchor="ctr" anchorCtr="0">
            <a:spAutoFit/>
          </a:bodyPr>
          <a:p>
            <a:pPr>
              <a:buNone/>
            </a:pPr>
            <a:r>
              <a:rPr lang="zh-CN" altLang="en-US" sz="2000" b="1" dirty="0">
                <a:solidFill>
                  <a:srgbClr val="FF0000"/>
                </a:solidFill>
                <a:latin typeface="楷体_GB2312" charset="-122"/>
                <a:ea typeface="楷体_GB2312" charset="-122"/>
              </a:rPr>
              <a:t>表</a:t>
            </a:r>
            <a:r>
              <a:rPr lang="en-US" altLang="zh-CN" sz="2000" b="1">
                <a:solidFill>
                  <a:srgbClr val="FF0000"/>
                </a:solidFill>
                <a:latin typeface="楷体_GB2312" charset="-122"/>
                <a:ea typeface="楷体_GB2312" charset="-122"/>
              </a:rPr>
              <a:t>1  </a:t>
            </a:r>
            <a:r>
              <a:rPr lang="zh-CN" altLang="en-US" sz="2000" b="1" dirty="0">
                <a:solidFill>
                  <a:srgbClr val="FF0000"/>
                </a:solidFill>
                <a:latin typeface="楷体_GB2312" charset="-122"/>
                <a:ea typeface="楷体_GB2312" charset="-122"/>
              </a:rPr>
              <a:t>工作</a:t>
            </a:r>
            <a:r>
              <a:rPr lang="en-US" altLang="zh-CN" sz="2000" b="1">
                <a:solidFill>
                  <a:srgbClr val="FF0000"/>
                </a:solidFill>
                <a:latin typeface="楷体_GB2312" charset="-122"/>
                <a:ea typeface="楷体_GB2312" charset="-122"/>
              </a:rPr>
              <a:t>40</a:t>
            </a:r>
            <a:r>
              <a:rPr lang="zh-CN" altLang="en-US" sz="2000" b="1" dirty="0">
                <a:solidFill>
                  <a:srgbClr val="FF0000"/>
                </a:solidFill>
                <a:latin typeface="楷体_GB2312" charset="-122"/>
                <a:ea typeface="楷体_GB2312" charset="-122"/>
              </a:rPr>
              <a:t>年后噪声性耳聋发病率 （</a:t>
            </a:r>
            <a:r>
              <a:rPr lang="en-US" altLang="zh-CN" sz="2000" b="1">
                <a:solidFill>
                  <a:srgbClr val="FF0000"/>
                </a:solidFill>
                <a:latin typeface="楷体_GB2312" charset="-122"/>
                <a:ea typeface="楷体_GB2312" charset="-122"/>
              </a:rPr>
              <a:t>%</a:t>
            </a:r>
            <a:r>
              <a:rPr lang="zh-CN" altLang="en-US" sz="2000" b="1" dirty="0">
                <a:solidFill>
                  <a:srgbClr val="FF0000"/>
                </a:solidFill>
                <a:latin typeface="楷体_GB2312" charset="-122"/>
                <a:ea typeface="楷体_GB2312" charset="-122"/>
              </a:rPr>
              <a:t>）</a:t>
            </a:r>
            <a:endParaRPr lang="zh-CN" altLang="en-US" sz="2000" b="1" dirty="0">
              <a:solidFill>
                <a:srgbClr val="FF0000"/>
              </a:solidFill>
              <a:latin typeface="楷体_GB2312" charset="-122"/>
              <a:ea typeface="楷体_GB2312" charset="-122"/>
            </a:endParaRPr>
          </a:p>
        </p:txBody>
      </p:sp>
      <p:graphicFrame>
        <p:nvGraphicFramePr>
          <p:cNvPr id="207877" name="表格 207876"/>
          <p:cNvGraphicFramePr/>
          <p:nvPr/>
        </p:nvGraphicFramePr>
        <p:xfrm>
          <a:off x="2855913" y="4221163"/>
          <a:ext cx="6553200" cy="2316480"/>
        </p:xfrm>
        <a:graphic>
          <a:graphicData uri="http://schemas.openxmlformats.org/drawingml/2006/table">
            <a:tbl>
              <a:tblPr/>
              <a:tblGrid>
                <a:gridCol w="2184400"/>
                <a:gridCol w="2184400"/>
                <a:gridCol w="2184400"/>
              </a:tblGrid>
              <a:tr h="7010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endParaRPr lang="zh-CN" altLang="en-US" sz="2000" b="1" dirty="0">
                        <a:latin typeface="楷体_GB2312" charset="-122"/>
                        <a:ea typeface="楷体_GB2312" charset="-122"/>
                      </a:endParaRPr>
                    </a:p>
                    <a:p>
                      <a:pPr marL="0" lvl="0" indent="0" algn="ctr" defTabSz="914400">
                        <a:spcBef>
                          <a:spcPct val="0"/>
                        </a:spcBef>
                        <a:buNone/>
                      </a:pPr>
                      <a:r>
                        <a:rPr lang="zh-CN" altLang="en-US" sz="2000" b="1" dirty="0">
                          <a:latin typeface="楷体_GB2312" charset="-122"/>
                          <a:ea typeface="楷体_GB2312" charset="-122"/>
                        </a:rPr>
                        <a:t>噪声</a:t>
                      </a:r>
                      <a:r>
                        <a:rPr lang="en-US" altLang="zh-CN" sz="2000" b="1">
                          <a:latin typeface="楷体_GB2312" charset="-122"/>
                          <a:ea typeface="楷体_GB2312" charset="-122"/>
                        </a:rPr>
                        <a:t>/dB</a:t>
                      </a:r>
                      <a:endParaRPr lang="en-US" altLang="zh-CN" sz="2000" b="1">
                        <a:latin typeface="楷体_GB2312" charset="-122"/>
                        <a:ea typeface="楷体_GB2312" charset="-122"/>
                      </a:endParaRPr>
                    </a:p>
                  </a:txBody>
                  <a:tcPr anchor="b"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80808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b="1" dirty="0">
                          <a:latin typeface="楷体_GB2312" charset="-122"/>
                          <a:ea typeface="楷体_GB2312" charset="-122"/>
                        </a:rPr>
                        <a:t>国际统计（</a:t>
                      </a:r>
                      <a:r>
                        <a:rPr lang="en-US" altLang="zh-CN" sz="2000" b="1">
                          <a:latin typeface="楷体_GB2312" charset="-122"/>
                          <a:ea typeface="楷体_GB2312" charset="-122"/>
                        </a:rPr>
                        <a:t>ISO</a:t>
                      </a:r>
                      <a:r>
                        <a:rPr lang="zh-CN" altLang="en-US" sz="2000" b="1" dirty="0">
                          <a:latin typeface="楷体_GB2312" charset="-122"/>
                          <a:ea typeface="楷体_GB2312" charset="-122"/>
                        </a:rPr>
                        <a:t>）</a:t>
                      </a:r>
                      <a:endParaRPr lang="zh-CN" altLang="en-US" sz="2000" b="1" dirty="0">
                        <a:latin typeface="楷体_GB2312" charset="-122"/>
                        <a:ea typeface="楷体_GB2312" charset="-122"/>
                      </a:endParaRPr>
                    </a:p>
                  </a:txBody>
                  <a:tcPr anchor="b"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80808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zh-CN" altLang="en-US" sz="2000" b="1" dirty="0">
                          <a:latin typeface="楷体_GB2312" charset="-122"/>
                          <a:ea typeface="楷体_GB2312" charset="-122"/>
                        </a:rPr>
                        <a:t>美国统计</a:t>
                      </a:r>
                      <a:endParaRPr lang="zh-CN" altLang="en-US" sz="2000" b="1" dirty="0">
                        <a:latin typeface="楷体_GB2312" charset="-122"/>
                        <a:ea typeface="楷体_GB2312" charset="-122"/>
                      </a:endParaRPr>
                    </a:p>
                  </a:txBody>
                  <a:tcPr anchor="b" anchorCtr="0">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25400" cap="flat" cmpd="sng">
                      <a:solidFill>
                        <a:srgbClr val="80808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1615440">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b="1">
                          <a:latin typeface="楷体_GB2312" charset="-122"/>
                          <a:ea typeface="楷体_GB2312" charset="-122"/>
                        </a:rPr>
                        <a:t>80</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85</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90</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95</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100</a:t>
                      </a:r>
                      <a:endParaRPr lang="en-US" altLang="zh-CN" sz="2000" b="1">
                        <a:latin typeface="楷体_GB2312" charset="-122"/>
                        <a:ea typeface="楷体_GB2312" charset="-122"/>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80808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b="1">
                          <a:latin typeface="楷体_GB2312" charset="-122"/>
                          <a:ea typeface="楷体_GB2312" charset="-122"/>
                        </a:rPr>
                        <a:t>0</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10</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21</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29</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41</a:t>
                      </a:r>
                      <a:endParaRPr lang="en-US" altLang="zh-CN" sz="2000" b="1">
                        <a:latin typeface="楷体_GB2312" charset="-122"/>
                        <a:ea typeface="楷体_GB2312" charset="-122"/>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808080"/>
                      </a:solidFill>
                      <a:prstDash val="solid"/>
                      <a:headEnd type="none" w="med" len="med"/>
                      <a:tailEnd type="none" w="med" len="med"/>
                    </a:lnB>
                    <a:lnTlToBr>
                      <a:noFill/>
                    </a:lnTlToBr>
                    <a:lnBlToTr>
                      <a:noFill/>
                    </a:lnBlToTr>
                    <a:noFill/>
                  </a:tcPr>
                </a:tc>
                <a:tc>
                  <a:txBody>
                    <a:bodyPr/>
                    <a:lstStyle>
                      <a:lvl1pPr lvl="0" algn="l" defTabSz="684530" rtl="0" eaLnBrk="0" fontAlgn="base" hangingPunct="0">
                        <a:spcBef>
                          <a:spcPct val="20000"/>
                        </a:spcBef>
                        <a:spcAft>
                          <a:spcPct val="0"/>
                        </a:spcAft>
                        <a:buClrTx/>
                        <a:buSzPct val="25000"/>
                        <a:buFont typeface="Wingdings" panose="05000000000000000000" pitchFamily="2" charset="2"/>
                        <a:buChar char=" "/>
                        <a:defRPr sz="2800">
                          <a:solidFill>
                            <a:schemeClr val="tx1"/>
                          </a:solidFill>
                          <a:latin typeface="+mn-lt"/>
                          <a:ea typeface="+mn-ea"/>
                          <a:cs typeface="+mn-cs"/>
                        </a:defRPr>
                      </a:lvl1pPr>
                      <a:lvl2pPr marL="342900" lvl="1" indent="-228600" algn="l" defTabSz="684530" rtl="0" eaLnBrk="0" fontAlgn="base" hangingPunct="0">
                        <a:spcBef>
                          <a:spcPct val="20000"/>
                        </a:spcBef>
                        <a:spcAft>
                          <a:spcPct val="0"/>
                        </a:spcAft>
                        <a:buClrTx/>
                        <a:buSzPct val="65000"/>
                        <a:buFont typeface="Wingdings" panose="05000000000000000000" pitchFamily="2" charset="2"/>
                        <a:buChar char="l"/>
                        <a:defRPr sz="2400">
                          <a:solidFill>
                            <a:schemeClr val="tx1"/>
                          </a:solidFill>
                          <a:latin typeface="+mn-lt"/>
                          <a:ea typeface="+mn-ea"/>
                        </a:defRPr>
                      </a:lvl2pPr>
                      <a:lvl3pPr marL="685800" lvl="2" indent="-228600" algn="l" defTabSz="684530" rtl="0" eaLnBrk="0" fontAlgn="base" hangingPunct="0">
                        <a:spcBef>
                          <a:spcPct val="20000"/>
                        </a:spcBef>
                        <a:spcAft>
                          <a:spcPct val="0"/>
                        </a:spcAft>
                        <a:buClrTx/>
                        <a:buSzPct val="100000"/>
                        <a:buFontTx/>
                        <a:buChar char="–"/>
                        <a:defRPr sz="2000">
                          <a:solidFill>
                            <a:schemeClr val="tx1"/>
                          </a:solidFill>
                          <a:latin typeface="+mn-lt"/>
                          <a:ea typeface="+mn-ea"/>
                        </a:defRPr>
                      </a:lvl3pPr>
                      <a:lvl4pPr marL="1028700" lvl="3" indent="-228600" algn="l" defTabSz="684530" rtl="0" eaLnBrk="0" fontAlgn="base" hangingPunct="0">
                        <a:spcBef>
                          <a:spcPct val="20000"/>
                        </a:spcBef>
                        <a:spcAft>
                          <a:spcPct val="0"/>
                        </a:spcAft>
                        <a:buClrTx/>
                        <a:buSzPct val="55000"/>
                        <a:buFont typeface="Wingdings" panose="05000000000000000000" pitchFamily="2" charset="2"/>
                        <a:buChar char="¡"/>
                        <a:defRPr sz="1400">
                          <a:solidFill>
                            <a:schemeClr val="tx1"/>
                          </a:solidFill>
                          <a:latin typeface="+mn-lt"/>
                          <a:ea typeface="+mn-ea"/>
                        </a:defRPr>
                      </a:lvl4pPr>
                      <a:lvl5pPr marL="1371600" lvl="4" indent="-228600" algn="l" defTabSz="684530" rtl="0" eaLnBrk="0" fontAlgn="base" hangingPunct="0">
                        <a:spcBef>
                          <a:spcPct val="20000"/>
                        </a:spcBef>
                        <a:spcAft>
                          <a:spcPct val="0"/>
                        </a:spcAft>
                        <a:buClrTx/>
                        <a:buSzPct val="100000"/>
                        <a:buFontTx/>
                        <a:buChar char="–"/>
                        <a:defRPr sz="1400">
                          <a:solidFill>
                            <a:schemeClr val="tx1"/>
                          </a:solidFill>
                          <a:latin typeface="+mn-lt"/>
                          <a:ea typeface="+mn-ea"/>
                        </a:defRPr>
                      </a:lvl5pPr>
                    </a:lstStyle>
                    <a:p>
                      <a:pPr marL="0" lvl="0" indent="0" algn="ctr" defTabSz="914400">
                        <a:spcBef>
                          <a:spcPct val="0"/>
                        </a:spcBef>
                        <a:buFontTx/>
                        <a:buNone/>
                      </a:pPr>
                      <a:r>
                        <a:rPr lang="en-US" altLang="zh-CN" sz="2000" b="1">
                          <a:latin typeface="楷体_GB2312" charset="-122"/>
                          <a:ea typeface="楷体_GB2312" charset="-122"/>
                        </a:rPr>
                        <a:t>0</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8</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18</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28</a:t>
                      </a:r>
                      <a:endParaRPr lang="en-US" altLang="zh-CN" sz="2000" b="1">
                        <a:latin typeface="楷体_GB2312" charset="-122"/>
                        <a:ea typeface="楷体_GB2312" charset="-122"/>
                      </a:endParaRPr>
                    </a:p>
                    <a:p>
                      <a:pPr marL="0" lvl="0" indent="0" algn="ctr" defTabSz="914400">
                        <a:spcBef>
                          <a:spcPct val="0"/>
                        </a:spcBef>
                        <a:buNone/>
                      </a:pPr>
                      <a:r>
                        <a:rPr lang="en-US" altLang="zh-CN" sz="2000" b="1">
                          <a:latin typeface="楷体_GB2312" charset="-122"/>
                          <a:ea typeface="楷体_GB2312" charset="-122"/>
                        </a:rPr>
                        <a:t>40</a:t>
                      </a:r>
                      <a:endParaRPr lang="en-US" altLang="zh-CN" sz="2000" b="1">
                        <a:latin typeface="楷体_GB2312" charset="-122"/>
                        <a:ea typeface="楷体_GB2312" charset="-122"/>
                      </a:endParaRPr>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5400" cap="flat" cmpd="sng">
                      <a:solidFill>
                        <a:srgbClr val="80808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文本占位符 208897"/>
          <p:cNvSpPr>
            <a:spLocks noGrp="1"/>
          </p:cNvSpPr>
          <p:nvPr>
            <p:ph type="body" sz="half" idx="1"/>
          </p:nvPr>
        </p:nvSpPr>
        <p:spPr>
          <a:xfrm>
            <a:off x="1847850" y="366713"/>
            <a:ext cx="8280400" cy="4464050"/>
          </a:xfrm>
        </p:spPr>
        <p:txBody>
          <a:bodyPr lIns="45720" rIns="45720"/>
          <a:p>
            <a:pPr algn="just">
              <a:buClrTx/>
              <a:buSzPct val="25000"/>
              <a:buFont typeface="Wingdings" panose="05000000000000000000" pitchFamily="2" charset="2"/>
            </a:pPr>
            <a:r>
              <a:rPr lang="en-US" altLang="zh-CN" sz="2400">
                <a:latin typeface="楷体_GB2312" charset="-122"/>
                <a:ea typeface="楷体_GB2312" charset="-122"/>
              </a:rPr>
              <a:t>2. </a:t>
            </a:r>
            <a:r>
              <a:rPr lang="zh-CN" altLang="en-US" sz="2400" dirty="0">
                <a:latin typeface="楷体_GB2312" charset="-122"/>
                <a:ea typeface="楷体_GB2312" charset="-122"/>
              </a:rPr>
              <a:t>对睡眠的干扰</a:t>
            </a:r>
            <a:endParaRPr lang="zh-CN" altLang="en-US" sz="2400" dirty="0">
              <a:latin typeface="楷体_GB2312" charset="-122"/>
              <a:ea typeface="楷体_GB2312" charset="-122"/>
            </a:endParaRPr>
          </a:p>
          <a:p>
            <a:pPr algn="just">
              <a:buClrTx/>
              <a:buSzPct val="25000"/>
              <a:buFont typeface="Wingdings" panose="05000000000000000000" pitchFamily="2" charset="2"/>
              <a:buNone/>
            </a:pPr>
            <a:r>
              <a:rPr lang="zh-CN" altLang="en-US" sz="2400" dirty="0">
                <a:latin typeface="楷体_GB2312" charset="-122"/>
                <a:ea typeface="楷体_GB2312" charset="-122"/>
              </a:rPr>
              <a:t>		  睡眠对人是极其重要的，它能够使人的新陈代谢得到调节，使人的大脑得到休息，从而使人恢复体力和消除疲劳，保证睡眠是人体健康的重要因素。</a:t>
            </a:r>
            <a:endParaRPr lang="zh-CN" altLang="en-US" sz="2400" dirty="0">
              <a:latin typeface="楷体_GB2312" charset="-122"/>
              <a:ea typeface="楷体_GB2312" charset="-122"/>
            </a:endParaRPr>
          </a:p>
          <a:p>
            <a:pPr algn="just">
              <a:buClrTx/>
              <a:buSzPct val="25000"/>
              <a:buFont typeface="Wingdings" panose="05000000000000000000" pitchFamily="2" charset="2"/>
            </a:pPr>
            <a:r>
              <a:rPr lang="en-US" altLang="zh-CN" sz="2400">
                <a:latin typeface="楷体_GB2312" charset="-122"/>
                <a:ea typeface="楷体_GB2312" charset="-122"/>
              </a:rPr>
              <a:t>3. </a:t>
            </a:r>
            <a:r>
              <a:rPr lang="zh-CN" altLang="en-US" sz="2400" dirty="0">
                <a:latin typeface="楷体_GB2312" charset="-122"/>
                <a:ea typeface="楷体_GB2312" charset="-122"/>
              </a:rPr>
              <a:t>对交谈、工作和思考的干扰   </a:t>
            </a:r>
            <a:endParaRPr lang="zh-CN" altLang="en-US" sz="2400" dirty="0">
              <a:latin typeface="楷体_GB2312" charset="-122"/>
              <a:ea typeface="楷体_GB2312" charset="-122"/>
            </a:endParaRPr>
          </a:p>
          <a:p>
            <a:pPr algn="just">
              <a:buClrTx/>
              <a:buSzPct val="25000"/>
              <a:buFont typeface="Wingdings" panose="05000000000000000000" pitchFamily="2" charset="2"/>
              <a:buNone/>
            </a:pPr>
            <a:r>
              <a:rPr lang="zh-CN" altLang="en-US" sz="2400" dirty="0">
                <a:latin typeface="楷体_GB2312" charset="-122"/>
                <a:ea typeface="楷体_GB2312" charset="-122"/>
              </a:rPr>
              <a:t>		  在噪声环境下，妨碍人们之间的交谈、通讯是常见的</a:t>
            </a:r>
            <a:r>
              <a:rPr lang="en-US" altLang="zh-CN" sz="2400">
                <a:latin typeface="楷体_GB2312" charset="-122"/>
                <a:ea typeface="楷体_GB2312" charset="-122"/>
              </a:rPr>
              <a:t>.</a:t>
            </a:r>
            <a:r>
              <a:rPr lang="zh-CN" altLang="en-US" sz="2400" dirty="0">
                <a:latin typeface="楷体_GB2312" charset="-122"/>
                <a:ea typeface="楷体_GB2312" charset="-122"/>
              </a:rPr>
              <a:t>因为人们思考也是语言思维活动，其受噪声干扰的影响与交谈是一致的。</a:t>
            </a:r>
            <a:endParaRPr lang="zh-CN" altLang="en-US" sz="2400" dirty="0">
              <a:latin typeface="楷体_GB2312" charset="-122"/>
              <a:ea typeface="楷体_GB2312" charset="-122"/>
            </a:endParaRPr>
          </a:p>
        </p:txBody>
      </p:sp>
      <p:pic>
        <p:nvPicPr>
          <p:cNvPr id="208899" name="内容占位符 208898"/>
          <p:cNvPicPr>
            <a:picLocks noChangeAspect="1"/>
          </p:cNvPicPr>
          <p:nvPr>
            <p:ph sz="half" idx="2"/>
          </p:nvPr>
        </p:nvPicPr>
        <p:blipFill>
          <a:blip r:embed="rId1"/>
          <a:stretch>
            <a:fillRect/>
          </a:stretch>
        </p:blipFill>
        <p:spPr>
          <a:xfrm>
            <a:off x="2135188" y="4114800"/>
            <a:ext cx="8064500" cy="2627313"/>
          </a:xfrm>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2" name="文本占位符 209921"/>
          <p:cNvSpPr>
            <a:spLocks noGrp="1"/>
          </p:cNvSpPr>
          <p:nvPr>
            <p:ph type="body" idx="1"/>
          </p:nvPr>
        </p:nvSpPr>
        <p:spPr>
          <a:xfrm>
            <a:off x="1833563" y="2133600"/>
            <a:ext cx="8294687" cy="4508500"/>
          </a:xfrm>
        </p:spPr>
        <p:txBody>
          <a:bodyPr lIns="45720" rIns="45720" anchor="t" anchorCtr="0"/>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4</a:t>
            </a:r>
            <a:r>
              <a:rPr lang="zh-CN" altLang="en-US" sz="2400" dirty="0">
                <a:latin typeface="楷体_GB2312" charset="-122"/>
                <a:ea typeface="楷体_GB2312" charset="-122"/>
                <a:cs typeface="+mn-cs"/>
              </a:rPr>
              <a:t>．对生理的影响</a:t>
            </a:r>
            <a:endParaRPr lang="zh-CN" altLang="en-US" sz="2400" dirty="0">
              <a:latin typeface="楷体_GB2312" charset="-122"/>
              <a:ea typeface="楷体_GB2312" charset="-122"/>
              <a:cs typeface="+mn-cs"/>
            </a:endParaRPr>
          </a:p>
          <a:p>
            <a:pPr algn="just" defTabSz="684530">
              <a:lnSpc>
                <a:spcPct val="130000"/>
              </a:lnSpc>
              <a:buSzPct val="25000"/>
            </a:pPr>
            <a:r>
              <a:rPr lang="zh-CN" altLang="en-US" sz="2400" dirty="0">
                <a:latin typeface="楷体_GB2312" charset="-122"/>
                <a:ea typeface="楷体_GB2312" charset="-122"/>
                <a:cs typeface="+mn-cs"/>
              </a:rPr>
              <a:t>	　　噪声是一种恶性刺激波，它对人体的心血管循环系统、消化系统和神经系统都会造成危害。许多证据表明，心脏病的发展和恶化与噪声有着密切的联系。</a:t>
            </a:r>
            <a:endParaRPr lang="zh-CN" altLang="en-US" sz="2400" dirty="0">
              <a:latin typeface="楷体_GB2312" charset="-122"/>
              <a:ea typeface="楷体_GB2312" charset="-122"/>
              <a:cs typeface="+mn-cs"/>
            </a:endParaRPr>
          </a:p>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5</a:t>
            </a:r>
            <a:r>
              <a:rPr lang="zh-CN" altLang="en-US" sz="2400" dirty="0">
                <a:latin typeface="楷体_GB2312" charset="-122"/>
                <a:ea typeface="楷体_GB2312" charset="-122"/>
                <a:cs typeface="+mn-cs"/>
              </a:rPr>
              <a:t>．对心理的影响</a:t>
            </a:r>
            <a:endParaRPr lang="zh-CN" altLang="en-US" sz="2400" dirty="0">
              <a:latin typeface="楷体_GB2312" charset="-122"/>
              <a:ea typeface="楷体_GB2312" charset="-122"/>
              <a:cs typeface="+mn-cs"/>
            </a:endParaRPr>
          </a:p>
          <a:p>
            <a:pPr algn="just" defTabSz="684530">
              <a:lnSpc>
                <a:spcPct val="130000"/>
              </a:lnSpc>
              <a:buSzPct val="25000"/>
            </a:pPr>
            <a:r>
              <a:rPr lang="zh-CN" altLang="en-US" sz="2400" dirty="0">
                <a:latin typeface="楷体_GB2312" charset="-122"/>
                <a:ea typeface="楷体_GB2312" charset="-122"/>
                <a:cs typeface="+mn-cs"/>
              </a:rPr>
              <a:t>	　　噪声引起心理影响主要是烦恼，使人激动、易怒，甚至失去理智，因此，因噪声干扰发生的民事纠纷事件较为常见。</a:t>
            </a:r>
            <a:endParaRPr lang="zh-CN" altLang="en-US" sz="2400" dirty="0">
              <a:latin typeface="楷体_GB2312" charset="-122"/>
              <a:ea typeface="楷体_GB2312" charset="-122"/>
              <a:cs typeface="+mn-cs"/>
            </a:endParaRPr>
          </a:p>
        </p:txBody>
      </p:sp>
      <p:pic>
        <p:nvPicPr>
          <p:cNvPr id="209923" name="图片 209922"/>
          <p:cNvPicPr>
            <a:picLocks noChangeAspect="1"/>
          </p:cNvPicPr>
          <p:nvPr/>
        </p:nvPicPr>
        <p:blipFill>
          <a:blip r:embed="rId1"/>
          <a:stretch>
            <a:fillRect/>
          </a:stretch>
        </p:blipFill>
        <p:spPr>
          <a:xfrm>
            <a:off x="1992313" y="44450"/>
            <a:ext cx="8064500" cy="2012950"/>
          </a:xfrm>
          <a:prstGeom prst="rect">
            <a:avLst/>
          </a:prstGeom>
          <a:noFill/>
          <a:ln w="9525">
            <a:noFill/>
          </a:ln>
        </p:spPr>
      </p:pic>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0946" name="文本占位符 210945"/>
          <p:cNvSpPr>
            <a:spLocks noGrp="1"/>
          </p:cNvSpPr>
          <p:nvPr>
            <p:ph type="body" sz="half" idx="1"/>
          </p:nvPr>
        </p:nvSpPr>
        <p:spPr>
          <a:xfrm>
            <a:off x="2063750" y="619125"/>
            <a:ext cx="8064500" cy="3673475"/>
          </a:xfrm>
        </p:spPr>
        <p:txBody>
          <a:bodyPr lIns="45720" rIns="45720"/>
          <a:p>
            <a:pPr algn="just">
              <a:lnSpc>
                <a:spcPct val="130000"/>
              </a:lnSpc>
              <a:buClrTx/>
              <a:buSzPct val="25000"/>
              <a:buFont typeface="Wingdings" panose="05000000000000000000" pitchFamily="2" charset="2"/>
            </a:pPr>
            <a:r>
              <a:rPr lang="en-US" altLang="zh-CN" sz="2400">
                <a:latin typeface="楷体_GB2312" charset="-122"/>
                <a:ea typeface="楷体_GB2312" charset="-122"/>
              </a:rPr>
              <a:t>6. </a:t>
            </a:r>
            <a:r>
              <a:rPr lang="zh-CN" altLang="en-US" sz="2400" dirty="0">
                <a:latin typeface="楷体_GB2312" charset="-122"/>
                <a:ea typeface="楷体_GB2312" charset="-122"/>
              </a:rPr>
              <a:t>对视力的损害</a:t>
            </a:r>
            <a:endParaRPr lang="zh-CN" altLang="en-US" sz="2400" dirty="0">
              <a:latin typeface="楷体_GB2312" charset="-122"/>
              <a:ea typeface="楷体_GB2312" charset="-122"/>
            </a:endParaRPr>
          </a:p>
          <a:p>
            <a:pPr algn="just">
              <a:lnSpc>
                <a:spcPct val="130000"/>
              </a:lnSpc>
              <a:buClrTx/>
              <a:buSzPct val="25000"/>
              <a:buFont typeface="Wingdings" panose="05000000000000000000" pitchFamily="2" charset="2"/>
              <a:buNone/>
            </a:pPr>
            <a:r>
              <a:rPr lang="zh-CN" altLang="en-US" sz="2400" dirty="0">
                <a:latin typeface="楷体_GB2312" charset="-122"/>
                <a:ea typeface="楷体_GB2312" charset="-122"/>
              </a:rPr>
              <a:t>		  试验表明：当噪声强度达到</a:t>
            </a:r>
            <a:r>
              <a:rPr lang="en-US" altLang="zh-CN" sz="2400">
                <a:latin typeface="楷体_GB2312" charset="-122"/>
                <a:ea typeface="楷体_GB2312" charset="-122"/>
              </a:rPr>
              <a:t>90dB</a:t>
            </a:r>
            <a:r>
              <a:rPr lang="zh-CN" altLang="en-US" sz="2400" dirty="0">
                <a:latin typeface="楷体_GB2312" charset="-122"/>
                <a:ea typeface="楷体_GB2312" charset="-122"/>
              </a:rPr>
              <a:t>时，人的视觉细胞敏感性下降，识别弱光反应时间延长；噪声达到</a:t>
            </a:r>
            <a:r>
              <a:rPr lang="en-US" altLang="zh-CN" sz="2400">
                <a:latin typeface="楷体_GB2312" charset="-122"/>
                <a:ea typeface="楷体_GB2312" charset="-122"/>
              </a:rPr>
              <a:t>95dB</a:t>
            </a:r>
            <a:r>
              <a:rPr lang="zh-CN" altLang="en-US" sz="2400" dirty="0">
                <a:latin typeface="楷体_GB2312" charset="-122"/>
                <a:ea typeface="楷体_GB2312" charset="-122"/>
              </a:rPr>
              <a:t>时，有</a:t>
            </a:r>
            <a:r>
              <a:rPr lang="en-US" altLang="zh-CN" sz="2400">
                <a:latin typeface="楷体_GB2312" charset="-122"/>
                <a:ea typeface="楷体_GB2312" charset="-122"/>
              </a:rPr>
              <a:t>40%</a:t>
            </a:r>
            <a:r>
              <a:rPr lang="zh-CN" altLang="en-US" sz="2400" dirty="0">
                <a:latin typeface="楷体_GB2312" charset="-122"/>
                <a:ea typeface="楷体_GB2312" charset="-122"/>
              </a:rPr>
              <a:t>的人瞳孔放大，视模糊；而噪声达到</a:t>
            </a:r>
            <a:r>
              <a:rPr lang="en-US" altLang="zh-CN" sz="2400">
                <a:latin typeface="楷体_GB2312" charset="-122"/>
                <a:ea typeface="楷体_GB2312" charset="-122"/>
              </a:rPr>
              <a:t>115dB</a:t>
            </a:r>
            <a:r>
              <a:rPr lang="zh-CN" altLang="en-US" sz="2400" dirty="0">
                <a:latin typeface="楷体_GB2312" charset="-122"/>
                <a:ea typeface="楷体_GB2312" charset="-122"/>
              </a:rPr>
              <a:t>时，多数人的眼球对光亮度的感应都有不同程度的减弱。</a:t>
            </a:r>
            <a:endParaRPr lang="zh-CN" altLang="en-US" sz="2400" dirty="0">
              <a:latin typeface="楷体_GB2312" charset="-122"/>
              <a:ea typeface="楷体_GB2312" charset="-122"/>
            </a:endParaRPr>
          </a:p>
        </p:txBody>
      </p:sp>
      <p:pic>
        <p:nvPicPr>
          <p:cNvPr id="210947" name="内容占位符 210946"/>
          <p:cNvPicPr>
            <a:picLocks noChangeAspect="1"/>
          </p:cNvPicPr>
          <p:nvPr>
            <p:ph sz="half" idx="2"/>
          </p:nvPr>
        </p:nvPicPr>
        <p:blipFill>
          <a:blip r:embed="rId1"/>
          <a:stretch>
            <a:fillRect/>
          </a:stretch>
        </p:blipFill>
        <p:spPr>
          <a:xfrm>
            <a:off x="2566988" y="4076700"/>
            <a:ext cx="7273925" cy="2492375"/>
          </a:xfrm>
        </p:spPr>
      </p:pic>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0" name="文本占位符 211969"/>
          <p:cNvSpPr>
            <a:spLocks noGrp="1"/>
          </p:cNvSpPr>
          <p:nvPr>
            <p:ph type="body" idx="1"/>
          </p:nvPr>
        </p:nvSpPr>
        <p:spPr>
          <a:xfrm>
            <a:off x="1992313" y="2997200"/>
            <a:ext cx="8207375" cy="3327400"/>
          </a:xfrm>
        </p:spPr>
        <p:txBody>
          <a:bodyPr lIns="45720" rIns="45720" anchor="t" anchorCtr="0"/>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7. </a:t>
            </a:r>
            <a:r>
              <a:rPr lang="zh-CN" altLang="en-US" sz="2400" dirty="0">
                <a:latin typeface="楷体_GB2312" charset="-122"/>
                <a:ea typeface="楷体_GB2312" charset="-122"/>
                <a:cs typeface="+mn-cs"/>
              </a:rPr>
              <a:t>对儿童和胎儿的影响</a:t>
            </a:r>
            <a:endParaRPr lang="zh-CN" altLang="en-US" sz="2400" dirty="0">
              <a:latin typeface="楷体_GB2312" charset="-122"/>
              <a:ea typeface="楷体_GB2312" charset="-122"/>
              <a:cs typeface="+mn-cs"/>
            </a:endParaRPr>
          </a:p>
          <a:p>
            <a:pPr algn="just" defTabSz="684530">
              <a:lnSpc>
                <a:spcPct val="130000"/>
              </a:lnSpc>
              <a:buSzPct val="25000"/>
            </a:pPr>
            <a:r>
              <a:rPr lang="zh-CN" altLang="en-US" sz="2400" dirty="0">
                <a:latin typeface="楷体_GB2312" charset="-122"/>
                <a:ea typeface="楷体_GB2312" charset="-122"/>
                <a:cs typeface="+mn-cs"/>
              </a:rPr>
              <a:t>		  研究表明，噪声会使母亲产生紧张反应，严重时影响供给胎儿发育所必需的养料和氧气。噪声还影响胎儿的体重。</a:t>
            </a:r>
            <a:endParaRPr lang="zh-CN" altLang="en-US" sz="2400" dirty="0">
              <a:latin typeface="楷体_GB2312" charset="-122"/>
              <a:ea typeface="楷体_GB2312" charset="-122"/>
              <a:cs typeface="+mn-cs"/>
            </a:endParaRPr>
          </a:p>
        </p:txBody>
      </p:sp>
      <p:pic>
        <p:nvPicPr>
          <p:cNvPr id="211971" name="图片 211970"/>
          <p:cNvPicPr>
            <a:picLocks noChangeAspect="1"/>
          </p:cNvPicPr>
          <p:nvPr/>
        </p:nvPicPr>
        <p:blipFill>
          <a:blip r:embed="rId1"/>
          <a:stretch>
            <a:fillRect/>
          </a:stretch>
        </p:blipFill>
        <p:spPr>
          <a:xfrm>
            <a:off x="2449513" y="360363"/>
            <a:ext cx="7273925" cy="2492375"/>
          </a:xfrm>
          <a:prstGeom prst="rect">
            <a:avLst/>
          </a:prstGeom>
          <a:noFill/>
          <a:ln w="9525">
            <a:noFill/>
          </a:ln>
        </p:spPr>
      </p:pic>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2994" name="标题 212993"/>
          <p:cNvSpPr>
            <a:spLocks noGrp="1"/>
          </p:cNvSpPr>
          <p:nvPr>
            <p:ph type="title"/>
          </p:nvPr>
        </p:nvSpPr>
        <p:spPr>
          <a:xfrm>
            <a:off x="2286000" y="447675"/>
            <a:ext cx="4703763" cy="403225"/>
          </a:xfrm>
        </p:spPr>
        <p:txBody>
          <a:bodyPr lIns="45720" tIns="0" rIns="45720" bIns="0" anchor="b" anchorCtr="0">
            <a:normAutofit fontScale="90000"/>
          </a:bodyPr>
          <a:p>
            <a:r>
              <a:rPr lang="zh-CN" altLang="en-US" sz="3200" dirty="0">
                <a:solidFill>
                  <a:srgbClr val="0000CC"/>
                </a:solidFill>
                <a:latin typeface="楷体_GB2312" charset="-122"/>
                <a:ea typeface="楷体_GB2312" charset="-122"/>
                <a:cs typeface="+mj-cs"/>
              </a:rPr>
              <a:t>噪声污染的控制</a:t>
            </a:r>
            <a:r>
              <a:rPr lang="zh-CN" altLang="en-US" sz="2800" dirty="0">
                <a:solidFill>
                  <a:srgbClr val="0000CC"/>
                </a:solidFill>
                <a:latin typeface="楷体_GB2312" charset="-122"/>
                <a:ea typeface="楷体_GB2312" charset="-122"/>
                <a:cs typeface="+mj-cs"/>
              </a:rPr>
              <a:t> </a:t>
            </a:r>
            <a:endParaRPr lang="zh-CN" altLang="en-US" sz="2800" dirty="0">
              <a:solidFill>
                <a:srgbClr val="0000CC"/>
              </a:solidFill>
              <a:latin typeface="楷体_GB2312" charset="-122"/>
              <a:ea typeface="楷体_GB2312" charset="-122"/>
              <a:cs typeface="+mj-cs"/>
            </a:endParaRPr>
          </a:p>
        </p:txBody>
      </p:sp>
      <p:sp>
        <p:nvSpPr>
          <p:cNvPr id="212995" name="文本占位符 212994"/>
          <p:cNvSpPr>
            <a:spLocks noGrp="1"/>
          </p:cNvSpPr>
          <p:nvPr>
            <p:ph type="body" idx="1"/>
          </p:nvPr>
        </p:nvSpPr>
        <p:spPr>
          <a:xfrm>
            <a:off x="1774825" y="981075"/>
            <a:ext cx="8208963" cy="5256213"/>
          </a:xfrm>
        </p:spPr>
        <p:txBody>
          <a:bodyPr lIns="45720" rIns="45720" anchor="t" anchorCtr="0">
            <a:normAutofit lnSpcReduction="10000"/>
          </a:bodyPr>
          <a:p>
            <a:pPr marL="609600" indent="-609600" algn="just" defTabSz="91440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1. </a:t>
            </a:r>
            <a:r>
              <a:rPr lang="zh-CN" altLang="en-US" sz="2400" dirty="0">
                <a:solidFill>
                  <a:schemeClr val="folHlink"/>
                </a:solidFill>
                <a:latin typeface="楷体_GB2312" charset="-122"/>
                <a:ea typeface="楷体_GB2312" charset="-122"/>
                <a:cs typeface="+mn-cs"/>
              </a:rPr>
              <a:t>严格行政管理</a:t>
            </a:r>
            <a:endParaRPr lang="zh-CN" altLang="en-US" sz="2400" dirty="0">
              <a:solidFill>
                <a:schemeClr val="folHlink"/>
              </a:solidFill>
              <a:latin typeface="楷体_GB2312" charset="-122"/>
              <a:ea typeface="楷体_GB2312" charset="-122"/>
              <a:cs typeface="+mn-cs"/>
            </a:endParaRPr>
          </a:p>
          <a:p>
            <a:pPr marL="609600" indent="-609600" algn="just" defTabSz="914400">
              <a:lnSpc>
                <a:spcPct val="150000"/>
              </a:lnSpc>
              <a:buSzPct val="25000"/>
            </a:pPr>
            <a:r>
              <a:rPr lang="zh-CN" altLang="en-US" sz="2400" dirty="0">
                <a:latin typeface="楷体_GB2312" charset="-122"/>
                <a:ea typeface="楷体_GB2312" charset="-122"/>
                <a:cs typeface="+mn-cs"/>
              </a:rPr>
              <a:t>        靠政府有关部门颁布法令和规定来控制噪声</a:t>
            </a:r>
            <a:r>
              <a:rPr lang="en-US" altLang="zh-CN" sz="2400">
                <a:latin typeface="楷体_GB2312" charset="-122"/>
                <a:ea typeface="楷体_GB2312" charset="-122"/>
                <a:cs typeface="+mn-cs"/>
              </a:rPr>
              <a:t>.</a:t>
            </a:r>
            <a:r>
              <a:rPr lang="zh-CN" altLang="en-US" sz="2400" dirty="0">
                <a:latin typeface="楷体_GB2312" charset="-122"/>
                <a:ea typeface="楷体_GB2312" charset="-122"/>
                <a:cs typeface="+mn-cs"/>
              </a:rPr>
              <a:t>如限制高噪声车辆的行使区域；在学校医院及办公机关等附近禁止车辆鸣笛；</a:t>
            </a:r>
            <a:endParaRPr lang="zh-CN" altLang="en-US" sz="2400" dirty="0">
              <a:latin typeface="楷体_GB2312" charset="-122"/>
              <a:ea typeface="楷体_GB2312" charset="-122"/>
              <a:cs typeface="+mn-cs"/>
            </a:endParaRPr>
          </a:p>
          <a:p>
            <a:pPr marL="609600" indent="-609600" algn="just" defTabSz="91440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2. </a:t>
            </a:r>
            <a:r>
              <a:rPr lang="zh-CN" altLang="en-US" sz="2400" dirty="0">
                <a:solidFill>
                  <a:schemeClr val="folHlink"/>
                </a:solidFill>
                <a:latin typeface="楷体_GB2312" charset="-122"/>
                <a:ea typeface="楷体_GB2312" charset="-122"/>
                <a:cs typeface="+mn-cs"/>
              </a:rPr>
              <a:t>合理规划布局</a:t>
            </a:r>
            <a:endParaRPr lang="zh-CN" altLang="en-US" sz="2400" dirty="0">
              <a:solidFill>
                <a:schemeClr val="folHlink"/>
              </a:solidFill>
              <a:latin typeface="楷体_GB2312" charset="-122"/>
              <a:ea typeface="楷体_GB2312" charset="-122"/>
              <a:cs typeface="+mn-cs"/>
            </a:endParaRPr>
          </a:p>
          <a:p>
            <a:pPr marL="609600" indent="-609600" algn="just" defTabSz="914400">
              <a:lnSpc>
                <a:spcPct val="150000"/>
              </a:lnSpc>
              <a:buSzPct val="25000"/>
            </a:pPr>
            <a:r>
              <a:rPr lang="zh-CN" altLang="en-US" sz="2400" dirty="0">
                <a:latin typeface="楷体_GB2312" charset="-122"/>
                <a:ea typeface="楷体_GB2312" charset="-122"/>
                <a:cs typeface="+mn-cs"/>
              </a:rPr>
              <a:t>        合理地布局各种不同功能区的位置。其基本原则是让居民区、学校、办公机关、疗养院和医院这些要求低噪声地，尽量免除交通噪声、工业噪声和商业区噪声的干扰。</a:t>
            </a:r>
            <a:endParaRPr lang="zh-CN" altLang="en-US" sz="2400" dirty="0">
              <a:latin typeface="楷体_GB2312" charset="-122"/>
              <a:ea typeface="楷体_GB2312" charset="-122"/>
              <a:cs typeface="+mn-cs"/>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4018" name="文本占位符 214017"/>
          <p:cNvSpPr>
            <a:spLocks noGrp="1"/>
          </p:cNvSpPr>
          <p:nvPr>
            <p:ph type="body" sz="half" idx="1"/>
          </p:nvPr>
        </p:nvSpPr>
        <p:spPr>
          <a:xfrm>
            <a:off x="2135188" y="688975"/>
            <a:ext cx="7993062" cy="5619750"/>
          </a:xfrm>
        </p:spPr>
        <p:txBody>
          <a:bodyPr lIns="45720" rIns="45720"/>
          <a:p>
            <a:pPr algn="just">
              <a:buClrTx/>
              <a:buSzPct val="25000"/>
              <a:buFont typeface="Wingdings" panose="05000000000000000000" pitchFamily="2" charset="2"/>
            </a:pPr>
            <a:r>
              <a:rPr lang="en-US" altLang="zh-CN" sz="2800">
                <a:solidFill>
                  <a:srgbClr val="0000CC"/>
                </a:solidFill>
                <a:latin typeface="楷体_GB2312" charset="-122"/>
                <a:ea typeface="楷体_GB2312" charset="-122"/>
              </a:rPr>
              <a:t>3.</a:t>
            </a:r>
            <a:r>
              <a:rPr lang="zh-CN" altLang="en-US" sz="2800" dirty="0">
                <a:solidFill>
                  <a:srgbClr val="0000CC"/>
                </a:solidFill>
                <a:latin typeface="楷体_GB2312" charset="-122"/>
                <a:ea typeface="楷体_GB2312" charset="-122"/>
              </a:rPr>
              <a:t>常用控制办法</a:t>
            </a:r>
            <a:endParaRPr lang="zh-CN" altLang="en-US" sz="2800" dirty="0">
              <a:solidFill>
                <a:srgbClr val="0000CC"/>
              </a:solidFill>
              <a:latin typeface="楷体_GB2312" charset="-122"/>
              <a:ea typeface="楷体_GB2312" charset="-122"/>
            </a:endParaRPr>
          </a:p>
          <a:p>
            <a:pPr algn="just">
              <a:lnSpc>
                <a:spcPct val="130000"/>
              </a:lnSpc>
              <a:buClrTx/>
              <a:buSzPct val="25000"/>
              <a:buFont typeface="Wingdings" panose="05000000000000000000" pitchFamily="2" charset="2"/>
              <a:buNone/>
            </a:pPr>
            <a:r>
              <a:rPr lang="zh-CN" altLang="en-US" sz="2400" dirty="0">
                <a:solidFill>
                  <a:schemeClr val="folHlink"/>
                </a:solidFill>
                <a:latin typeface="楷体_GB2312" charset="-122"/>
                <a:ea typeface="楷体_GB2312" charset="-122"/>
              </a:rPr>
              <a:t>     （</a:t>
            </a:r>
            <a:r>
              <a:rPr lang="en-US" altLang="zh-CN" sz="2400">
                <a:solidFill>
                  <a:schemeClr val="folHlink"/>
                </a:solidFill>
                <a:latin typeface="楷体_GB2312" charset="-122"/>
                <a:ea typeface="楷体_GB2312" charset="-122"/>
              </a:rPr>
              <a:t>1</a:t>
            </a:r>
            <a:r>
              <a:rPr lang="zh-CN" altLang="en-US" sz="2400" dirty="0">
                <a:solidFill>
                  <a:schemeClr val="folHlink"/>
                </a:solidFill>
                <a:latin typeface="楷体_GB2312" charset="-122"/>
                <a:ea typeface="楷体_GB2312" charset="-122"/>
              </a:rPr>
              <a:t>）吸声</a:t>
            </a:r>
            <a:r>
              <a:rPr lang="zh-CN" altLang="en-US" sz="2400" dirty="0">
                <a:latin typeface="楷体_GB2312" charset="-122"/>
                <a:ea typeface="楷体_GB2312" charset="-122"/>
              </a:rPr>
              <a:t>，主要是利用吸声材料或吸收结构来吸收声能。吸声材料大多是用多孔的材料制成，如玻璃棉、矿渣棉、泡沫塑料、毛毡、吸声砖、木丝板和甘蔗板等。</a:t>
            </a:r>
            <a:r>
              <a:rPr lang="zh-CN" altLang="en-US" sz="2800" dirty="0">
                <a:latin typeface="楷体_GB2312" charset="-122"/>
                <a:ea typeface="楷体_GB2312" charset="-122"/>
              </a:rPr>
              <a:t> </a:t>
            </a:r>
            <a:endParaRPr lang="zh-CN" altLang="en-US" sz="2800" dirty="0">
              <a:latin typeface="楷体_GB2312" charset="-122"/>
              <a:ea typeface="楷体_GB2312" charset="-122"/>
            </a:endParaRPr>
          </a:p>
        </p:txBody>
      </p:sp>
      <p:graphicFrame>
        <p:nvGraphicFramePr>
          <p:cNvPr id="214019" name="内容占位符 214018"/>
          <p:cNvGraphicFramePr/>
          <p:nvPr>
            <p:ph sz="quarter" idx="2"/>
          </p:nvPr>
        </p:nvGraphicFramePr>
        <p:xfrm>
          <a:off x="2201863" y="3213100"/>
          <a:ext cx="3317875" cy="3095625"/>
        </p:xfrm>
        <a:graphic>
          <a:graphicData uri="http://schemas.openxmlformats.org/presentationml/2006/ole">
            <mc:AlternateContent xmlns:mc="http://schemas.openxmlformats.org/markup-compatibility/2006">
              <mc:Choice xmlns:v="urn:schemas-microsoft-com:vml" Requires="v">
                <p:oleObj spid="_x0000_s3076" name="" r:id="rId1" imgW="1447800" imgH="1524000" progId="Paint.Picture">
                  <p:embed/>
                </p:oleObj>
              </mc:Choice>
              <mc:Fallback>
                <p:oleObj name="" r:id="rId1" imgW="1447800" imgH="1524000" progId="Paint.Picture">
                  <p:embed/>
                  <p:pic>
                    <p:nvPicPr>
                      <p:cNvPr id="0" name="图片 3075"/>
                      <p:cNvPicPr/>
                      <p:nvPr/>
                    </p:nvPicPr>
                    <p:blipFill>
                      <a:blip r:embed="rId2"/>
                      <a:stretch>
                        <a:fillRect/>
                      </a:stretch>
                    </p:blipFill>
                    <p:spPr>
                      <a:xfrm>
                        <a:off x="2201863" y="3213100"/>
                        <a:ext cx="3317875" cy="3095625"/>
                      </a:xfrm>
                      <a:prstGeom prst="rect">
                        <a:avLst/>
                      </a:prstGeom>
                      <a:noFill/>
                      <a:ln w="38100">
                        <a:miter/>
                      </a:ln>
                    </p:spPr>
                  </p:pic>
                </p:oleObj>
              </mc:Fallback>
            </mc:AlternateContent>
          </a:graphicData>
        </a:graphic>
      </p:graphicFrame>
      <p:graphicFrame>
        <p:nvGraphicFramePr>
          <p:cNvPr id="214020" name="内容占位符 214019"/>
          <p:cNvGraphicFramePr/>
          <p:nvPr>
            <p:ph sz="quarter" idx="3"/>
          </p:nvPr>
        </p:nvGraphicFramePr>
        <p:xfrm>
          <a:off x="5888038" y="3136900"/>
          <a:ext cx="4146550" cy="3244850"/>
        </p:xfrm>
        <a:graphic>
          <a:graphicData uri="http://schemas.openxmlformats.org/presentationml/2006/ole">
            <mc:AlternateContent xmlns:mc="http://schemas.openxmlformats.org/markup-compatibility/2006">
              <mc:Choice xmlns:v="urn:schemas-microsoft-com:vml" Requires="v">
                <p:oleObj spid="_x0000_s3077" name="" r:id="rId3" imgW="1790700" imgH="1381125" progId="Paint.Picture">
                  <p:embed/>
                </p:oleObj>
              </mc:Choice>
              <mc:Fallback>
                <p:oleObj name="" r:id="rId3" imgW="1790700" imgH="1381125" progId="Paint.Picture">
                  <p:embed/>
                  <p:pic>
                    <p:nvPicPr>
                      <p:cNvPr id="0" name="图片 3076"/>
                      <p:cNvPicPr/>
                      <p:nvPr/>
                    </p:nvPicPr>
                    <p:blipFill>
                      <a:blip r:embed="rId4"/>
                      <a:stretch>
                        <a:fillRect/>
                      </a:stretch>
                    </p:blipFill>
                    <p:spPr>
                      <a:xfrm>
                        <a:off x="5888038" y="3136900"/>
                        <a:ext cx="4146550" cy="3244850"/>
                      </a:xfrm>
                      <a:prstGeom prst="rect">
                        <a:avLst/>
                      </a:prstGeom>
                      <a:noFill/>
                      <a:ln w="38100">
                        <a:miter/>
                      </a:ln>
                    </p:spPr>
                  </p:pic>
                </p:oleObj>
              </mc:Fallback>
            </mc:AlternateContent>
          </a:graphicData>
        </a:graphic>
      </p:graphicFrame>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42" name="文本占位符 215041"/>
          <p:cNvSpPr>
            <a:spLocks noGrp="1"/>
          </p:cNvSpPr>
          <p:nvPr>
            <p:ph type="body" sz="half" idx="1"/>
          </p:nvPr>
        </p:nvSpPr>
        <p:spPr>
          <a:xfrm>
            <a:off x="2135188" y="549275"/>
            <a:ext cx="7848600" cy="2592388"/>
          </a:xfrm>
        </p:spPr>
        <p:txBody>
          <a:bodyPr lIns="45720" rIns="45720"/>
          <a:p>
            <a:pPr algn="just">
              <a:lnSpc>
                <a:spcPct val="120000"/>
              </a:lnSpc>
              <a:buClrTx/>
              <a:buSzPct val="25000"/>
              <a:buFont typeface="Wingdings" panose="05000000000000000000" pitchFamily="2" charset="2"/>
              <a:buNone/>
            </a:pPr>
            <a:r>
              <a:rPr lang="zh-CN" altLang="en-US" sz="2400" dirty="0">
                <a:solidFill>
                  <a:schemeClr val="folHlink"/>
                </a:solidFill>
                <a:latin typeface="楷体_GB2312" charset="-122"/>
                <a:ea typeface="楷体_GB2312" charset="-122"/>
              </a:rPr>
              <a:t>     （</a:t>
            </a:r>
            <a:r>
              <a:rPr lang="en-US" altLang="zh-CN" sz="2400">
                <a:solidFill>
                  <a:schemeClr val="folHlink"/>
                </a:solidFill>
                <a:latin typeface="楷体_GB2312" charset="-122"/>
                <a:ea typeface="楷体_GB2312" charset="-122"/>
              </a:rPr>
              <a:t>2</a:t>
            </a:r>
            <a:r>
              <a:rPr lang="zh-CN" altLang="en-US" sz="2400" dirty="0">
                <a:solidFill>
                  <a:schemeClr val="folHlink"/>
                </a:solidFill>
                <a:latin typeface="楷体_GB2312" charset="-122"/>
                <a:ea typeface="楷体_GB2312" charset="-122"/>
              </a:rPr>
              <a:t>）隔声</a:t>
            </a:r>
            <a:r>
              <a:rPr lang="zh-CN" altLang="en-US" sz="2400" dirty="0">
                <a:latin typeface="楷体_GB2312" charset="-122"/>
                <a:ea typeface="楷体_GB2312" charset="-122"/>
              </a:rPr>
              <a:t>，在许多情况下，可以把发声的物体或需要安静的场所封闭在一个小的空间中，使它与周围环境隔绝，这种方法叫隔声。典型的隔声措施是隔声罩、隔声室、隔声屏。</a:t>
            </a:r>
            <a:r>
              <a:rPr lang="zh-CN" altLang="en-US" sz="2800" dirty="0">
                <a:latin typeface="楷体_GB2312" charset="-122"/>
                <a:ea typeface="楷体_GB2312" charset="-122"/>
              </a:rPr>
              <a:t> </a:t>
            </a:r>
            <a:endParaRPr lang="zh-CN" altLang="en-US" sz="2800" dirty="0">
              <a:latin typeface="楷体_GB2312" charset="-122"/>
              <a:ea typeface="楷体_GB2312" charset="-122"/>
            </a:endParaRPr>
          </a:p>
        </p:txBody>
      </p:sp>
      <p:pic>
        <p:nvPicPr>
          <p:cNvPr id="215043" name="图片 215042"/>
          <p:cNvPicPr>
            <a:picLocks noChangeAspect="1"/>
          </p:cNvPicPr>
          <p:nvPr/>
        </p:nvPicPr>
        <p:blipFill>
          <a:blip r:embed="rId1"/>
          <a:stretch>
            <a:fillRect/>
          </a:stretch>
        </p:blipFill>
        <p:spPr>
          <a:xfrm>
            <a:off x="2351088" y="3141663"/>
            <a:ext cx="7921625" cy="3297237"/>
          </a:xfrm>
          <a:prstGeom prst="rect">
            <a:avLst/>
          </a:prstGeom>
          <a:noFill/>
          <a:ln w="9525">
            <a:noFill/>
          </a:ln>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标题 216065"/>
          <p:cNvSpPr>
            <a:spLocks noGrp="1"/>
          </p:cNvSpPr>
          <p:nvPr>
            <p:ph type="title"/>
          </p:nvPr>
        </p:nvSpPr>
        <p:spPr>
          <a:xfrm>
            <a:off x="1905000" y="44450"/>
            <a:ext cx="8153400" cy="784225"/>
          </a:xfrm>
        </p:spPr>
        <p:txBody>
          <a:bodyPr lIns="45720" tIns="0" rIns="45720" bIns="0" anchor="b" anchorCtr="0"/>
          <a:p>
            <a:endParaRPr lang="zh-CN" altLang="en-US" sz="4400" dirty="0">
              <a:latin typeface="+mj-lt"/>
              <a:ea typeface="+mj-ea"/>
              <a:cs typeface="+mj-cs"/>
            </a:endParaRPr>
          </a:p>
        </p:txBody>
      </p:sp>
      <p:sp>
        <p:nvSpPr>
          <p:cNvPr id="216067" name="文本占位符 216066"/>
          <p:cNvSpPr>
            <a:spLocks noGrp="1"/>
          </p:cNvSpPr>
          <p:nvPr>
            <p:ph type="body" idx="1"/>
          </p:nvPr>
        </p:nvSpPr>
        <p:spPr>
          <a:xfrm>
            <a:off x="1905000" y="1263650"/>
            <a:ext cx="8382000" cy="5181600"/>
          </a:xfrm>
        </p:spPr>
        <p:txBody>
          <a:bodyPr lIns="45720" rIns="45720" anchor="t" anchorCtr="0"/>
          <a:p>
            <a:pPr defTabSz="684530">
              <a:buSzPct val="25000"/>
              <a:buFont typeface="Wingdings" panose="05000000000000000000" pitchFamily="2" charset="2"/>
              <a:buChar char=" "/>
            </a:pPr>
            <a:endParaRPr lang="zh-CN" altLang="en-US" sz="3200" dirty="0">
              <a:latin typeface="+mn-lt"/>
              <a:ea typeface="+mn-ea"/>
              <a:cs typeface="+mn-cs"/>
            </a:endParaRPr>
          </a:p>
        </p:txBody>
      </p:sp>
      <p:pic>
        <p:nvPicPr>
          <p:cNvPr id="216068" name="图片 216067" descr="20101016212826"/>
          <p:cNvPicPr>
            <a:picLocks noChangeAspect="1"/>
          </p:cNvPicPr>
          <p:nvPr/>
        </p:nvPicPr>
        <p:blipFill>
          <a:blip r:embed="rId1"/>
          <a:stretch>
            <a:fillRect/>
          </a:stretch>
        </p:blipFill>
        <p:spPr>
          <a:xfrm>
            <a:off x="1524000" y="0"/>
            <a:ext cx="9144000" cy="6853238"/>
          </a:xfrm>
          <a:prstGeom prst="rect">
            <a:avLst/>
          </a:prstGeom>
          <a:noFill/>
          <a:ln w="9525">
            <a:noFill/>
          </a:ln>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7090" name="图片 217089" descr="200910932748"/>
          <p:cNvPicPr>
            <a:picLocks noChangeAspect="1"/>
          </p:cNvPicPr>
          <p:nvPr/>
        </p:nvPicPr>
        <p:blipFill>
          <a:blip r:embed="rId1"/>
          <a:stretch>
            <a:fillRect/>
          </a:stretch>
        </p:blipFill>
        <p:spPr>
          <a:xfrm>
            <a:off x="1524000" y="381000"/>
            <a:ext cx="9144000" cy="6096000"/>
          </a:xfrm>
          <a:prstGeom prst="rect">
            <a:avLst/>
          </a:prstGeom>
          <a:noFill/>
          <a:ln w="9525">
            <a:noFill/>
          </a:ln>
        </p:spPr>
      </p:pic>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文本占位符 218113"/>
          <p:cNvSpPr>
            <a:spLocks noGrp="1"/>
          </p:cNvSpPr>
          <p:nvPr>
            <p:ph type="body" sz="half" idx="1"/>
          </p:nvPr>
        </p:nvSpPr>
        <p:spPr>
          <a:xfrm>
            <a:off x="1774825" y="617538"/>
            <a:ext cx="5184775" cy="5691187"/>
          </a:xfrm>
        </p:spPr>
        <p:txBody>
          <a:bodyPr lIns="45720" rIns="45720"/>
          <a:p>
            <a:pPr algn="just">
              <a:lnSpc>
                <a:spcPct val="150000"/>
              </a:lnSpc>
              <a:buClrTx/>
              <a:buSzPct val="25000"/>
              <a:buFont typeface="Wingdings" panose="05000000000000000000" pitchFamily="2" charset="2"/>
            </a:pPr>
            <a:r>
              <a:rPr lang="en-US" altLang="zh-CN" sz="2400">
                <a:solidFill>
                  <a:srgbClr val="0000FF"/>
                </a:solidFill>
                <a:latin typeface="楷体_GB2312" charset="-122"/>
                <a:ea typeface="楷体_GB2312" charset="-122"/>
              </a:rPr>
              <a:t>3.</a:t>
            </a:r>
            <a:r>
              <a:rPr lang="zh-CN" altLang="en-US" sz="2400" dirty="0">
                <a:solidFill>
                  <a:srgbClr val="0000FF"/>
                </a:solidFill>
                <a:latin typeface="楷体_GB2312" charset="-122"/>
                <a:ea typeface="楷体_GB2312" charset="-122"/>
              </a:rPr>
              <a:t>常用控制办法</a:t>
            </a:r>
            <a:endParaRPr lang="zh-CN" altLang="en-US" sz="2400" dirty="0">
              <a:solidFill>
                <a:srgbClr val="0000FF"/>
              </a:solidFill>
              <a:latin typeface="楷体_GB2312" charset="-122"/>
              <a:ea typeface="楷体_GB2312" charset="-122"/>
            </a:endParaRPr>
          </a:p>
          <a:p>
            <a:pPr algn="just">
              <a:lnSpc>
                <a:spcPct val="150000"/>
              </a:lnSpc>
              <a:buClrTx/>
              <a:buSzPct val="25000"/>
              <a:buFont typeface="Wingdings" panose="05000000000000000000" pitchFamily="2" charset="2"/>
              <a:buNone/>
            </a:pPr>
            <a:r>
              <a:rPr lang="zh-CN" altLang="en-US" sz="2400" dirty="0">
                <a:solidFill>
                  <a:schemeClr val="folHlink"/>
                </a:solidFill>
                <a:latin typeface="楷体_GB2312" charset="-122"/>
                <a:ea typeface="楷体_GB2312" charset="-122"/>
              </a:rPr>
              <a:t>（</a:t>
            </a:r>
            <a:r>
              <a:rPr lang="en-US" altLang="zh-CN" sz="2400">
                <a:solidFill>
                  <a:schemeClr val="folHlink"/>
                </a:solidFill>
                <a:latin typeface="楷体_GB2312" charset="-122"/>
                <a:ea typeface="楷体_GB2312" charset="-122"/>
              </a:rPr>
              <a:t>3</a:t>
            </a:r>
            <a:r>
              <a:rPr lang="zh-CN" altLang="en-US" sz="2400" dirty="0">
                <a:solidFill>
                  <a:schemeClr val="folHlink"/>
                </a:solidFill>
                <a:latin typeface="楷体_GB2312" charset="-122"/>
                <a:ea typeface="楷体_GB2312" charset="-122"/>
              </a:rPr>
              <a:t>）消声</a:t>
            </a:r>
            <a:r>
              <a:rPr lang="zh-CN" altLang="en-US" sz="2400" dirty="0">
                <a:latin typeface="楷体_GB2312" charset="-122"/>
                <a:ea typeface="楷体_GB2312" charset="-122"/>
              </a:rPr>
              <a:t>，消声是利用消声器来降低噪声在空气中的传播。通常用在气流噪声控制方面的有，风机声、通风管噪声、排气噪声等。</a:t>
            </a:r>
            <a:endParaRPr lang="zh-CN" altLang="en-US" sz="2400" dirty="0">
              <a:latin typeface="楷体_GB2312" charset="-122"/>
              <a:ea typeface="楷体_GB2312" charset="-122"/>
            </a:endParaRPr>
          </a:p>
          <a:p>
            <a:pPr algn="just">
              <a:lnSpc>
                <a:spcPct val="150000"/>
              </a:lnSpc>
              <a:buClrTx/>
              <a:buSzPct val="25000"/>
              <a:buFont typeface="Wingdings" panose="05000000000000000000" pitchFamily="2" charset="2"/>
              <a:buNone/>
            </a:pPr>
            <a:r>
              <a:rPr lang="zh-CN" altLang="en-US" sz="2400" dirty="0">
                <a:solidFill>
                  <a:schemeClr val="folHlink"/>
                </a:solidFill>
                <a:latin typeface="楷体_GB2312" charset="-122"/>
                <a:ea typeface="楷体_GB2312" charset="-122"/>
              </a:rPr>
              <a:t>（</a:t>
            </a:r>
            <a:r>
              <a:rPr lang="en-US" altLang="zh-CN" sz="2400">
                <a:solidFill>
                  <a:schemeClr val="folHlink"/>
                </a:solidFill>
                <a:latin typeface="楷体_GB2312" charset="-122"/>
                <a:ea typeface="楷体_GB2312" charset="-122"/>
              </a:rPr>
              <a:t>4</a:t>
            </a:r>
            <a:r>
              <a:rPr lang="zh-CN" altLang="en-US" sz="2400" dirty="0">
                <a:solidFill>
                  <a:schemeClr val="folHlink"/>
                </a:solidFill>
                <a:latin typeface="楷体_GB2312" charset="-122"/>
                <a:ea typeface="楷体_GB2312" charset="-122"/>
              </a:rPr>
              <a:t>）个人防护</a:t>
            </a:r>
            <a:r>
              <a:rPr lang="zh-CN" altLang="en-US" sz="2400" dirty="0">
                <a:latin typeface="楷体_GB2312" charset="-122"/>
                <a:ea typeface="楷体_GB2312" charset="-122"/>
              </a:rPr>
              <a:t>，对个人的防护主要采取限制工作时间和戴防护装置，常用的个人防护装置有防声棉（蜡浸棉花）、耳塞、耳罩、帽盔等。</a:t>
            </a:r>
            <a:endParaRPr lang="zh-CN" altLang="en-US" sz="2400" dirty="0">
              <a:latin typeface="楷体_GB2312" charset="-122"/>
              <a:ea typeface="楷体_GB2312" charset="-122"/>
            </a:endParaRPr>
          </a:p>
        </p:txBody>
      </p:sp>
      <p:graphicFrame>
        <p:nvGraphicFramePr>
          <p:cNvPr id="218115" name="内容占位符 218114"/>
          <p:cNvGraphicFramePr/>
          <p:nvPr>
            <p:ph sz="half" idx="2"/>
          </p:nvPr>
        </p:nvGraphicFramePr>
        <p:xfrm>
          <a:off x="7261225" y="3335338"/>
          <a:ext cx="2789238" cy="2862262"/>
        </p:xfrm>
        <a:graphic>
          <a:graphicData uri="http://schemas.openxmlformats.org/presentationml/2006/ole">
            <mc:AlternateContent xmlns:mc="http://schemas.openxmlformats.org/markup-compatibility/2006">
              <mc:Choice xmlns:v="urn:schemas-microsoft-com:vml" Requires="v">
                <p:oleObj spid="_x0000_s3078" name="" r:id="rId1" imgW="1543050" imgH="1343025" progId="Paint.Picture">
                  <p:embed/>
                </p:oleObj>
              </mc:Choice>
              <mc:Fallback>
                <p:oleObj name="" r:id="rId1" imgW="1543050" imgH="1343025" progId="Paint.Picture">
                  <p:embed/>
                  <p:pic>
                    <p:nvPicPr>
                      <p:cNvPr id="0" name="图片 3077"/>
                      <p:cNvPicPr/>
                      <p:nvPr/>
                    </p:nvPicPr>
                    <p:blipFill>
                      <a:blip r:embed="rId2"/>
                      <a:stretch>
                        <a:fillRect/>
                      </a:stretch>
                    </p:blipFill>
                    <p:spPr>
                      <a:xfrm>
                        <a:off x="7261225" y="3335338"/>
                        <a:ext cx="2789238" cy="2862262"/>
                      </a:xfrm>
                      <a:prstGeom prst="rect">
                        <a:avLst/>
                      </a:prstGeom>
                      <a:noFill/>
                      <a:ln w="38100">
                        <a:miter/>
                      </a:ln>
                    </p:spPr>
                  </p:pic>
                </p:oleObj>
              </mc:Fallback>
            </mc:AlternateContent>
          </a:graphicData>
        </a:graphic>
      </p:graphicFrame>
      <p:pic>
        <p:nvPicPr>
          <p:cNvPr id="218116" name="图片 218115"/>
          <p:cNvPicPr>
            <a:picLocks noChangeAspect="1"/>
          </p:cNvPicPr>
          <p:nvPr/>
        </p:nvPicPr>
        <p:blipFill>
          <a:blip r:embed="rId3"/>
          <a:stretch>
            <a:fillRect/>
          </a:stretch>
        </p:blipFill>
        <p:spPr>
          <a:xfrm>
            <a:off x="7246938" y="836613"/>
            <a:ext cx="2665412" cy="2381250"/>
          </a:xfrm>
          <a:prstGeom prst="rect">
            <a:avLst/>
          </a:prstGeom>
          <a:noFill/>
          <a:ln w="9525">
            <a:noFill/>
          </a:ln>
        </p:spPr>
      </p:pic>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8" name="标题 219137"/>
          <p:cNvSpPr>
            <a:spLocks noGrp="1"/>
          </p:cNvSpPr>
          <p:nvPr>
            <p:ph type="title"/>
          </p:nvPr>
        </p:nvSpPr>
        <p:spPr>
          <a:xfrm>
            <a:off x="1524000" y="642938"/>
            <a:ext cx="6932613" cy="554037"/>
          </a:xfrm>
        </p:spPr>
        <p:txBody>
          <a:bodyPr lIns="45720" tIns="0" rIns="45720" bIns="0" anchor="b" anchorCtr="0"/>
          <a:p>
            <a:r>
              <a:rPr lang="zh-CN" altLang="en-US" sz="3200" b="0" dirty="0">
                <a:solidFill>
                  <a:srgbClr val="0000CC"/>
                </a:solidFill>
                <a:latin typeface="楷体_GB2312" charset="-122"/>
                <a:ea typeface="楷体_GB2312" charset="-122"/>
                <a:cs typeface="+mj-cs"/>
              </a:rPr>
              <a:t>二、电磁辐射污染 </a:t>
            </a:r>
            <a:endParaRPr lang="zh-CN" altLang="en-US" sz="3200" b="0" dirty="0">
              <a:solidFill>
                <a:srgbClr val="0000CC"/>
              </a:solidFill>
              <a:latin typeface="楷体_GB2312" charset="-122"/>
              <a:ea typeface="楷体_GB2312" charset="-122"/>
              <a:cs typeface="+mj-cs"/>
            </a:endParaRPr>
          </a:p>
        </p:txBody>
      </p:sp>
      <p:sp>
        <p:nvSpPr>
          <p:cNvPr id="219139" name="文本占位符 219138"/>
          <p:cNvSpPr>
            <a:spLocks noGrp="1"/>
          </p:cNvSpPr>
          <p:nvPr>
            <p:ph type="body" sz="half" idx="4294967295"/>
          </p:nvPr>
        </p:nvSpPr>
        <p:spPr>
          <a:xfrm>
            <a:off x="1524000" y="1447800"/>
            <a:ext cx="8062913" cy="3505200"/>
          </a:xfrm>
        </p:spPr>
        <p:txBody>
          <a:bodyPr lIns="45720" rIns="45720"/>
          <a:lstStyle>
            <a:lvl1pPr lvl="0">
              <a:buClrTx/>
              <a:buSzPct val="25000"/>
              <a:buFont typeface="Wingdings" panose="05000000000000000000" pitchFamily="2" charset="2"/>
              <a:defRPr sz="2800"/>
            </a:lvl1pPr>
            <a:lvl2pPr lvl="1">
              <a:buClrTx/>
              <a:buSzPct val="65000"/>
              <a:buFont typeface="Wingdings" panose="05000000000000000000" pitchFamily="2" charset="2"/>
              <a:defRPr sz="2400"/>
            </a:lvl2pPr>
            <a:lvl3pPr lvl="2">
              <a:buClrTx/>
              <a:buSzPct val="100000"/>
              <a:buFontTx/>
              <a:defRPr sz="2000"/>
            </a:lvl3pPr>
            <a:lvl4pPr lvl="3">
              <a:buClrTx/>
              <a:buSzPct val="55000"/>
              <a:buFont typeface="Wingdings" panose="05000000000000000000" pitchFamily="2" charset="2"/>
              <a:defRPr sz="1400"/>
            </a:lvl4pPr>
            <a:lvl5pPr lvl="4">
              <a:buClrTx/>
              <a:buSzPct val="100000"/>
              <a:buFontTx/>
              <a:defRPr sz="1400"/>
            </a:lvl5pPr>
          </a:lstStyle>
          <a:p>
            <a:pPr lvl="0">
              <a:lnSpc>
                <a:spcPct val="140000"/>
              </a:lnSpc>
            </a:pPr>
            <a:r>
              <a:rPr lang="en-US" altLang="zh-CN" sz="2400">
                <a:latin typeface="楷体_GB2312" charset="-122"/>
                <a:ea typeface="楷体_GB2312" charset="-122"/>
              </a:rPr>
              <a:t>    19</a:t>
            </a:r>
            <a:r>
              <a:rPr lang="zh-CN" altLang="en-US" sz="2400" dirty="0">
                <a:latin typeface="楷体_GB2312" charset="-122"/>
                <a:ea typeface="楷体_GB2312" charset="-122"/>
              </a:rPr>
              <a:t>世纪</a:t>
            </a:r>
            <a:r>
              <a:rPr lang="en-US" altLang="zh-CN" sz="2400">
                <a:latin typeface="楷体_GB2312" charset="-122"/>
                <a:ea typeface="楷体_GB2312" charset="-122"/>
              </a:rPr>
              <a:t>60</a:t>
            </a:r>
            <a:r>
              <a:rPr lang="zh-CN" altLang="en-US" sz="2400" dirty="0">
                <a:latin typeface="楷体_GB2312" charset="-122"/>
                <a:ea typeface="楷体_GB2312" charset="-122"/>
              </a:rPr>
              <a:t>年代，麦克斯韦尔在前人的基础上预言了电磁波的存在，</a:t>
            </a:r>
            <a:r>
              <a:rPr lang="en-US" altLang="zh-CN" sz="2400">
                <a:latin typeface="楷体_GB2312" charset="-122"/>
                <a:ea typeface="楷体_GB2312" charset="-122"/>
              </a:rPr>
              <a:t>20</a:t>
            </a:r>
            <a:r>
              <a:rPr lang="zh-CN" altLang="en-US" sz="2400" dirty="0">
                <a:latin typeface="楷体_GB2312" charset="-122"/>
                <a:ea typeface="楷体_GB2312" charset="-122"/>
              </a:rPr>
              <a:t>年后赫兹首先实现了电磁波传播，从此人类文明逐步进入信息时代。不同波长和频率的电磁波无色无味、看不见、摸不着、穿透力强，令人防不胜防，影响着我们的健康，引发了各种社会文明病。电磁污染已成为当今危害人类健康的致病源之一。</a:t>
            </a:r>
            <a:endParaRPr lang="zh-CN" altLang="en-US" sz="2400" dirty="0">
              <a:latin typeface="楷体_GB2312" charset="-122"/>
              <a:ea typeface="楷体_GB2312" charset="-122"/>
            </a:endParaRP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标题 220161"/>
          <p:cNvSpPr>
            <a:spLocks noGrp="1"/>
          </p:cNvSpPr>
          <p:nvPr>
            <p:ph type="title"/>
          </p:nvPr>
        </p:nvSpPr>
        <p:spPr>
          <a:xfrm>
            <a:off x="1905000" y="304800"/>
            <a:ext cx="8153400" cy="784225"/>
          </a:xfrm>
        </p:spPr>
        <p:txBody>
          <a:bodyPr lIns="45720" tIns="0" rIns="45720" bIns="0" anchor="b" anchorCtr="0"/>
          <a:p>
            <a:r>
              <a:rPr lang="zh-CN" altLang="en-US" sz="3200" dirty="0">
                <a:solidFill>
                  <a:schemeClr val="folHlink"/>
                </a:solidFill>
                <a:latin typeface="楷体_GB2312" charset="-122"/>
                <a:ea typeface="楷体_GB2312" charset="-122"/>
                <a:cs typeface="+mj-cs"/>
              </a:rPr>
              <a:t>电磁辐射的影响与危害</a:t>
            </a:r>
            <a:r>
              <a:rPr lang="zh-CN" altLang="en-US" sz="2800" dirty="0">
                <a:latin typeface="楷体_GB2312" charset="-122"/>
                <a:ea typeface="楷体_GB2312" charset="-122"/>
                <a:cs typeface="+mj-cs"/>
              </a:rPr>
              <a:t> </a:t>
            </a:r>
            <a:endParaRPr lang="zh-CN" altLang="en-US" sz="2800" dirty="0">
              <a:latin typeface="楷体_GB2312" charset="-122"/>
              <a:ea typeface="楷体_GB2312" charset="-122"/>
              <a:cs typeface="+mj-cs"/>
            </a:endParaRPr>
          </a:p>
        </p:txBody>
      </p:sp>
      <p:sp>
        <p:nvSpPr>
          <p:cNvPr id="220163" name="文本占位符 220162"/>
          <p:cNvSpPr>
            <a:spLocks noGrp="1"/>
          </p:cNvSpPr>
          <p:nvPr>
            <p:ph type="body" idx="1"/>
          </p:nvPr>
        </p:nvSpPr>
        <p:spPr>
          <a:xfrm>
            <a:off x="1703388" y="1341438"/>
            <a:ext cx="8736012" cy="4895850"/>
          </a:xfrm>
        </p:spPr>
        <p:txBody>
          <a:bodyPr lIns="45720" rIns="45720" anchor="t" anchorCtr="0"/>
          <a:p>
            <a:pPr algn="just"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1. </a:t>
            </a:r>
            <a:r>
              <a:rPr lang="zh-CN" altLang="en-US" sz="2400" dirty="0">
                <a:solidFill>
                  <a:schemeClr val="folHlink"/>
                </a:solidFill>
                <a:latin typeface="楷体_GB2312" charset="-122"/>
                <a:ea typeface="楷体_GB2312" charset="-122"/>
                <a:cs typeface="+mn-cs"/>
              </a:rPr>
              <a:t>致癌作用</a:t>
            </a:r>
            <a:endParaRPr lang="zh-CN" altLang="en-US" sz="2400" dirty="0">
              <a:solidFill>
                <a:schemeClr val="folHlink"/>
              </a:solidFill>
              <a:latin typeface="楷体_GB2312" charset="-122"/>
              <a:ea typeface="楷体_GB2312" charset="-122"/>
              <a:cs typeface="+mn-cs"/>
            </a:endParaRPr>
          </a:p>
          <a:p>
            <a:pPr algn="just" defTabSz="684530">
              <a:lnSpc>
                <a:spcPct val="150000"/>
              </a:lnSpc>
              <a:buSzPct val="25000"/>
            </a:pPr>
            <a:r>
              <a:rPr lang="zh-CN" altLang="en-US" sz="2400" dirty="0">
                <a:latin typeface="楷体_GB2312" charset="-122"/>
                <a:ea typeface="楷体_GB2312" charset="-122"/>
                <a:cs typeface="+mn-cs"/>
              </a:rPr>
              <a:t>      调查表明，在</a:t>
            </a:r>
            <a:r>
              <a:rPr lang="en-US" altLang="zh-CN" sz="2400">
                <a:latin typeface="楷体_GB2312" charset="-122"/>
                <a:ea typeface="楷体_GB2312" charset="-122"/>
                <a:cs typeface="+mn-cs"/>
              </a:rPr>
              <a:t>2Gs (1Gs</a:t>
            </a:r>
            <a:r>
              <a:rPr lang="zh-CN" altLang="en-US" sz="2400" dirty="0">
                <a:latin typeface="楷体_GB2312" charset="-122"/>
                <a:ea typeface="楷体_GB2312" charset="-122"/>
                <a:cs typeface="+mn-cs"/>
              </a:rPr>
              <a:t>＝</a:t>
            </a:r>
            <a:r>
              <a:rPr lang="en-US" altLang="zh-CN" sz="2400">
                <a:latin typeface="楷体_GB2312" charset="-122"/>
                <a:ea typeface="楷体_GB2312" charset="-122"/>
                <a:cs typeface="+mn-cs"/>
              </a:rPr>
              <a:t>10</a:t>
            </a:r>
            <a:r>
              <a:rPr lang="en-US" altLang="zh-CN" sz="2400" baseline="30000">
                <a:latin typeface="楷体_GB2312" charset="-122"/>
                <a:ea typeface="楷体_GB2312" charset="-122"/>
                <a:cs typeface="+mn-cs"/>
              </a:rPr>
              <a:t>-4</a:t>
            </a:r>
            <a:r>
              <a:rPr lang="en-US" altLang="zh-CN" sz="2400">
                <a:latin typeface="楷体_GB2312" charset="-122"/>
                <a:ea typeface="楷体_GB2312" charset="-122"/>
                <a:cs typeface="+mn-cs"/>
              </a:rPr>
              <a:t>T) </a:t>
            </a:r>
            <a:r>
              <a:rPr lang="zh-CN" altLang="en-US" sz="2400" dirty="0">
                <a:latin typeface="楷体_GB2312" charset="-122"/>
                <a:ea typeface="楷体_GB2312" charset="-122"/>
                <a:cs typeface="+mn-cs"/>
              </a:rPr>
              <a:t>以上电磁波磁场中，人群患白血病的为正常的</a:t>
            </a:r>
            <a:r>
              <a:rPr lang="en-US" altLang="zh-CN" sz="2400">
                <a:latin typeface="楷体_GB2312" charset="-122"/>
                <a:ea typeface="楷体_GB2312" charset="-122"/>
                <a:cs typeface="+mn-cs"/>
              </a:rPr>
              <a:t>2.93</a:t>
            </a:r>
            <a:r>
              <a:rPr lang="zh-CN" altLang="en-US" sz="2400" dirty="0">
                <a:latin typeface="楷体_GB2312" charset="-122"/>
                <a:ea typeface="楷体_GB2312" charset="-122"/>
                <a:cs typeface="+mn-cs"/>
              </a:rPr>
              <a:t>倍，肌肉肿瘤的为正常的</a:t>
            </a:r>
            <a:r>
              <a:rPr lang="en-US" altLang="zh-CN" sz="2400">
                <a:latin typeface="楷体_GB2312" charset="-122"/>
                <a:ea typeface="楷体_GB2312" charset="-122"/>
                <a:cs typeface="+mn-cs"/>
              </a:rPr>
              <a:t>3.26</a:t>
            </a:r>
            <a:r>
              <a:rPr lang="zh-CN" altLang="en-US" sz="2400" dirty="0">
                <a:latin typeface="楷体_GB2312" charset="-122"/>
                <a:ea typeface="楷体_GB2312" charset="-122"/>
                <a:cs typeface="+mn-cs"/>
              </a:rPr>
              <a:t>倍。</a:t>
            </a:r>
            <a:endParaRPr lang="zh-CN" altLang="en-US" sz="2400" dirty="0">
              <a:latin typeface="楷体_GB2312" charset="-122"/>
              <a:ea typeface="楷体_GB2312" charset="-122"/>
              <a:cs typeface="+mn-cs"/>
            </a:endParaRPr>
          </a:p>
          <a:p>
            <a:pPr algn="just"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2. </a:t>
            </a:r>
            <a:r>
              <a:rPr lang="zh-CN" altLang="en-US" sz="2400" dirty="0">
                <a:solidFill>
                  <a:schemeClr val="folHlink"/>
                </a:solidFill>
                <a:latin typeface="楷体_GB2312" charset="-122"/>
                <a:ea typeface="楷体_GB2312" charset="-122"/>
                <a:cs typeface="+mn-cs"/>
              </a:rPr>
              <a:t>致畸和致突变效应</a:t>
            </a:r>
            <a:endParaRPr lang="zh-CN" altLang="en-US" sz="2400" dirty="0">
              <a:solidFill>
                <a:schemeClr val="folHlink"/>
              </a:solidFill>
              <a:latin typeface="楷体_GB2312" charset="-122"/>
              <a:ea typeface="楷体_GB2312" charset="-122"/>
              <a:cs typeface="+mn-cs"/>
            </a:endParaRPr>
          </a:p>
          <a:p>
            <a:pPr algn="just" defTabSz="684530">
              <a:lnSpc>
                <a:spcPct val="150000"/>
              </a:lnSpc>
              <a:buSzPct val="25000"/>
            </a:pPr>
            <a:r>
              <a:rPr lang="zh-CN" altLang="en-US" sz="2400" dirty="0">
                <a:latin typeface="楷体_GB2312" charset="-122"/>
                <a:ea typeface="楷体_GB2312" charset="-122"/>
                <a:cs typeface="+mn-cs"/>
              </a:rPr>
              <a:t>      妊娠妇女在早期或在妊娠的，接受了短波透热疗法，结果使其子代出现先天性出生缺陷</a:t>
            </a:r>
            <a:r>
              <a:rPr lang="en-US" altLang="zh-CN" sz="2400">
                <a:latin typeface="楷体_GB2312" charset="-122"/>
                <a:ea typeface="楷体_GB2312" charset="-122"/>
                <a:cs typeface="+mn-cs"/>
              </a:rPr>
              <a:t>(</a:t>
            </a:r>
            <a:r>
              <a:rPr lang="zh-CN" altLang="en-US" sz="2400" dirty="0">
                <a:latin typeface="楷体_GB2312" charset="-122"/>
                <a:ea typeface="楷体_GB2312" charset="-122"/>
                <a:cs typeface="+mn-cs"/>
              </a:rPr>
              <a:t>畸形婴儿</a:t>
            </a:r>
            <a:r>
              <a:rPr lang="en-US" altLang="zh-CN" sz="2400">
                <a:latin typeface="楷体_GB2312" charset="-122"/>
                <a:ea typeface="楷体_GB2312" charset="-122"/>
                <a:cs typeface="+mn-cs"/>
              </a:rPr>
              <a:t>)</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1186" name="文本占位符 221185"/>
          <p:cNvSpPr>
            <a:spLocks noGrp="1"/>
          </p:cNvSpPr>
          <p:nvPr>
            <p:ph type="body" idx="4294967295"/>
          </p:nvPr>
        </p:nvSpPr>
        <p:spPr>
          <a:xfrm>
            <a:off x="2146300" y="533400"/>
            <a:ext cx="8521700" cy="4899025"/>
          </a:xfrm>
        </p:spPr>
        <p:txBody>
          <a:bodyPr lIns="45720" rIns="45720"/>
          <a:p>
            <a:pPr>
              <a:lnSpc>
                <a:spcPct val="190000"/>
              </a:lnSpc>
            </a:pPr>
            <a:r>
              <a:rPr lang="en-US" altLang="zh-CN">
                <a:solidFill>
                  <a:srgbClr val="0000CC"/>
                </a:solidFill>
                <a:latin typeface="楷体_GB2312" charset="-122"/>
                <a:ea typeface="楷体_GB2312" charset="-122"/>
              </a:rPr>
              <a:t>3. </a:t>
            </a:r>
            <a:r>
              <a:rPr lang="zh-CN" altLang="en-US" dirty="0">
                <a:solidFill>
                  <a:srgbClr val="0000CC"/>
                </a:solidFill>
                <a:latin typeface="楷体_GB2312" charset="-122"/>
                <a:ea typeface="楷体_GB2312" charset="-122"/>
              </a:rPr>
              <a:t>对人体各大系统的损害</a:t>
            </a:r>
            <a:endParaRPr lang="zh-CN" altLang="en-US" dirty="0">
              <a:solidFill>
                <a:srgbClr val="0000CC"/>
              </a:solidFill>
              <a:latin typeface="楷体_GB2312" charset="-122"/>
              <a:ea typeface="楷体_GB2312" charset="-122"/>
            </a:endParaRPr>
          </a:p>
          <a:p>
            <a:pPr>
              <a:lnSpc>
                <a:spcPct val="190000"/>
              </a:lnSpc>
              <a:buNone/>
            </a:pPr>
            <a:r>
              <a:rPr lang="zh-CN" altLang="en-US" dirty="0">
                <a:latin typeface="楷体_GB2312" charset="-122"/>
                <a:ea typeface="楷体_GB2312" charset="-122"/>
              </a:rPr>
              <a:t>    </a:t>
            </a:r>
            <a:r>
              <a:rPr lang="zh-CN" altLang="en-US" sz="2400" dirty="0">
                <a:latin typeface="楷体_GB2312" charset="-122"/>
                <a:ea typeface="楷体_GB2312" charset="-122"/>
              </a:rPr>
              <a:t>在电磁辐射作用下，眼球的温度易升高，可以使晶状体出现水肿，严重的则成为白内障，甚至使</a:t>
            </a:r>
            <a:r>
              <a:rPr lang="zh-CN" altLang="en-US" sz="2400" dirty="0">
                <a:solidFill>
                  <a:schemeClr val="folHlink"/>
                </a:solidFill>
                <a:latin typeface="楷体_GB2312" charset="-122"/>
                <a:ea typeface="楷体_GB2312" charset="-122"/>
              </a:rPr>
              <a:t>视力</a:t>
            </a:r>
            <a:r>
              <a:rPr lang="zh-CN" altLang="en-US" sz="2400" dirty="0">
                <a:latin typeface="楷体_GB2312" charset="-122"/>
                <a:ea typeface="楷体_GB2312" charset="-122"/>
              </a:rPr>
              <a:t>完全消失。电磁辐射会使</a:t>
            </a:r>
            <a:r>
              <a:rPr lang="zh-CN" altLang="en-US" sz="2400" dirty="0">
                <a:solidFill>
                  <a:schemeClr val="folHlink"/>
                </a:solidFill>
                <a:latin typeface="楷体_GB2312" charset="-122"/>
                <a:ea typeface="楷体_GB2312" charset="-122"/>
              </a:rPr>
              <a:t>红血球</a:t>
            </a:r>
            <a:r>
              <a:rPr lang="zh-CN" altLang="en-US" sz="2400" dirty="0">
                <a:latin typeface="楷体_GB2312" charset="-122"/>
                <a:ea typeface="楷体_GB2312" charset="-122"/>
              </a:rPr>
              <a:t>的生成受到抑制，出现网状红血球减少，并能引起</a:t>
            </a:r>
            <a:r>
              <a:rPr lang="zh-CN" altLang="en-US" sz="2400" dirty="0">
                <a:solidFill>
                  <a:schemeClr val="folHlink"/>
                </a:solidFill>
                <a:latin typeface="楷体_GB2312" charset="-122"/>
                <a:ea typeface="楷体_GB2312" charset="-122"/>
              </a:rPr>
              <a:t>心血管疾病</a:t>
            </a:r>
            <a:r>
              <a:rPr lang="zh-CN" altLang="en-US" sz="2400" dirty="0">
                <a:latin typeface="楷体_GB2312" charset="-122"/>
                <a:ea typeface="楷体_GB2312" charset="-122"/>
              </a:rPr>
              <a:t>。</a:t>
            </a:r>
            <a:endParaRPr lang="zh-CN" altLang="en-US" sz="2400" dirty="0">
              <a:latin typeface="楷体_GB2312" charset="-122"/>
              <a:ea typeface="楷体_GB2312" charset="-122"/>
            </a:endParaRPr>
          </a:p>
        </p:txBody>
      </p:sp>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2210" name="文本占位符 222209"/>
          <p:cNvSpPr>
            <a:spLocks noGrp="1"/>
          </p:cNvSpPr>
          <p:nvPr>
            <p:ph type="body" idx="1"/>
          </p:nvPr>
        </p:nvSpPr>
        <p:spPr>
          <a:xfrm>
            <a:off x="1992313" y="476250"/>
            <a:ext cx="8161337" cy="5187950"/>
          </a:xfrm>
        </p:spPr>
        <p:txBody>
          <a:bodyPr lIns="45720" rIns="45720" anchor="t" anchorCtr="0"/>
          <a:p>
            <a:pPr algn="just"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3. </a:t>
            </a:r>
            <a:r>
              <a:rPr lang="zh-CN" altLang="en-US" sz="2400" dirty="0">
                <a:solidFill>
                  <a:schemeClr val="folHlink"/>
                </a:solidFill>
                <a:latin typeface="楷体_GB2312" charset="-122"/>
                <a:ea typeface="楷体_GB2312" charset="-122"/>
                <a:cs typeface="+mn-cs"/>
              </a:rPr>
              <a:t>区域控制及绿化</a:t>
            </a:r>
            <a:endParaRPr lang="zh-CN" altLang="en-US" sz="2400" dirty="0">
              <a:solidFill>
                <a:schemeClr val="folHlink"/>
              </a:solidFill>
              <a:latin typeface="楷体_GB2312" charset="-122"/>
              <a:ea typeface="楷体_GB2312" charset="-122"/>
              <a:cs typeface="+mn-cs"/>
            </a:endParaRPr>
          </a:p>
          <a:p>
            <a:pPr algn="just" defTabSz="684530">
              <a:lnSpc>
                <a:spcPct val="150000"/>
              </a:lnSpc>
              <a:buSzPct val="25000"/>
            </a:pPr>
            <a:r>
              <a:rPr lang="zh-CN" altLang="en-US" sz="2400" dirty="0">
                <a:latin typeface="楷体_GB2312" charset="-122"/>
                <a:ea typeface="楷体_GB2312" charset="-122"/>
                <a:cs typeface="+mn-cs"/>
              </a:rPr>
              <a:t>      对工业集中城市，可将电磁辐射源相对集中在某一区域，使其远离一般工作区或居民区，并对这样的区域设置安全隔离带，从而在较大的区域范围内控制电磁辐射的危害。</a:t>
            </a:r>
            <a:endParaRPr lang="zh-CN" altLang="en-US" sz="2400" dirty="0">
              <a:latin typeface="楷体_GB2312" charset="-122"/>
              <a:ea typeface="楷体_GB2312" charset="-122"/>
              <a:cs typeface="+mn-cs"/>
            </a:endParaRPr>
          </a:p>
          <a:p>
            <a:pPr algn="just"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4. </a:t>
            </a:r>
            <a:r>
              <a:rPr lang="zh-CN" altLang="en-US" sz="2400" dirty="0">
                <a:solidFill>
                  <a:schemeClr val="folHlink"/>
                </a:solidFill>
                <a:latin typeface="楷体_GB2312" charset="-122"/>
                <a:ea typeface="楷体_GB2312" charset="-122"/>
                <a:cs typeface="+mn-cs"/>
              </a:rPr>
              <a:t>个人防护</a:t>
            </a:r>
            <a:endParaRPr lang="zh-CN" altLang="en-US" sz="2400" dirty="0">
              <a:solidFill>
                <a:schemeClr val="folHlink"/>
              </a:solidFill>
              <a:latin typeface="楷体_GB2312" charset="-122"/>
              <a:ea typeface="楷体_GB2312" charset="-122"/>
              <a:cs typeface="+mn-cs"/>
            </a:endParaRPr>
          </a:p>
          <a:p>
            <a:pPr algn="just" defTabSz="684530">
              <a:lnSpc>
                <a:spcPct val="150000"/>
              </a:lnSpc>
              <a:buSzPct val="25000"/>
            </a:pPr>
            <a:r>
              <a:rPr lang="zh-CN" altLang="en-US" sz="2400" dirty="0">
                <a:latin typeface="楷体_GB2312" charset="-122"/>
                <a:ea typeface="楷体_GB2312" charset="-122"/>
                <a:cs typeface="+mn-cs"/>
              </a:rPr>
              <a:t>      个人防护的对象是个体的微波作业人员，当工作需要操作人员必须进入微波辐射源的近场区作业时，采取个人防护措施，以保护作业人员安全。</a:t>
            </a:r>
            <a:endParaRPr lang="zh-CN" altLang="en-US" sz="2400" dirty="0">
              <a:latin typeface="楷体_GB2312" charset="-122"/>
              <a:ea typeface="楷体_GB2312" charset="-122"/>
              <a:cs typeface="+mn-cs"/>
            </a:endParaRP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34" name="标题 223233"/>
          <p:cNvSpPr>
            <a:spLocks noGrp="1"/>
          </p:cNvSpPr>
          <p:nvPr>
            <p:ph type="title"/>
          </p:nvPr>
        </p:nvSpPr>
        <p:spPr>
          <a:xfrm>
            <a:off x="1992313" y="0"/>
            <a:ext cx="8385175" cy="1431925"/>
          </a:xfrm>
        </p:spPr>
        <p:txBody>
          <a:bodyPr lIns="45720" tIns="0" rIns="45720" bIns="0" anchor="b" anchorCtr="0"/>
          <a:p>
            <a:r>
              <a:rPr lang="zh-CN" altLang="en-US" sz="3600" dirty="0">
                <a:solidFill>
                  <a:srgbClr val="0000CC"/>
                </a:solidFill>
                <a:latin typeface="楷体_GB2312" charset="-122"/>
                <a:ea typeface="楷体_GB2312" charset="-122"/>
              </a:rPr>
              <a:t>三、热污染</a:t>
            </a:r>
            <a:r>
              <a:rPr lang="zh-CN" altLang="en-US" sz="3200" dirty="0">
                <a:latin typeface="楷体_GB2312" charset="-122"/>
                <a:ea typeface="楷体_GB2312" charset="-122"/>
              </a:rPr>
              <a:t> </a:t>
            </a:r>
            <a:endParaRPr lang="zh-CN" altLang="en-US" sz="3200" dirty="0">
              <a:latin typeface="楷体_GB2312" charset="-122"/>
              <a:ea typeface="楷体_GB2312" charset="-122"/>
            </a:endParaRPr>
          </a:p>
        </p:txBody>
      </p:sp>
      <p:sp>
        <p:nvSpPr>
          <p:cNvPr id="223235" name="文本占位符 223234"/>
          <p:cNvSpPr>
            <a:spLocks noGrp="1"/>
          </p:cNvSpPr>
          <p:nvPr>
            <p:ph type="body" sz="half" idx="1"/>
          </p:nvPr>
        </p:nvSpPr>
        <p:spPr>
          <a:xfrm>
            <a:off x="2025650" y="1600200"/>
            <a:ext cx="8424863" cy="2952750"/>
          </a:xfrm>
        </p:spPr>
        <p:txBody>
          <a:bodyPr lIns="45720" rIns="45720"/>
          <a:p>
            <a:pPr>
              <a:lnSpc>
                <a:spcPct val="150000"/>
              </a:lnSpc>
              <a:buClrTx/>
              <a:buSzPct val="25000"/>
              <a:buFont typeface="Wingdings" panose="05000000000000000000" pitchFamily="2" charset="2"/>
            </a:pPr>
            <a:r>
              <a:rPr lang="zh-CN" altLang="en-US" sz="2400" dirty="0">
                <a:latin typeface="楷体_GB2312" charset="-122"/>
                <a:ea typeface="楷体_GB2312" charset="-122"/>
              </a:rPr>
              <a:t>热环境：指提供给人类生产、生活及生命活动的良好的生存空间的温度环境。</a:t>
            </a:r>
            <a:endParaRPr lang="zh-CN" altLang="en-US" sz="2400" dirty="0">
              <a:latin typeface="楷体_GB2312" charset="-122"/>
              <a:ea typeface="楷体_GB2312" charset="-122"/>
            </a:endParaRPr>
          </a:p>
          <a:p>
            <a:pPr>
              <a:lnSpc>
                <a:spcPct val="150000"/>
              </a:lnSpc>
              <a:buClrTx/>
              <a:buSzPct val="25000"/>
              <a:buFont typeface="Wingdings" panose="05000000000000000000" pitchFamily="2" charset="2"/>
            </a:pPr>
            <a:r>
              <a:rPr lang="zh-CN" altLang="en-US" sz="2400" dirty="0">
                <a:latin typeface="楷体_GB2312" charset="-122"/>
                <a:ea typeface="楷体_GB2312" charset="-122"/>
              </a:rPr>
              <a:t>热污染：指人类生活活动影响环境不良增温的现象。</a:t>
            </a:r>
            <a:endParaRPr lang="zh-CN" altLang="en-US" sz="2400" dirty="0">
              <a:latin typeface="楷体_GB2312" charset="-122"/>
              <a:ea typeface="楷体_GB2312" charset="-122"/>
            </a:endParaRPr>
          </a:p>
        </p:txBody>
      </p:sp>
      <p:pic>
        <p:nvPicPr>
          <p:cNvPr id="223236" name="图片 223235">
            <a:hlinkClick r:id="rId1"/>
          </p:cNvPr>
          <p:cNvPicPr>
            <a:picLocks noChangeAspect="1"/>
          </p:cNvPicPr>
          <p:nvPr/>
        </p:nvPicPr>
        <p:blipFill>
          <a:blip r:embed="rId2"/>
          <a:stretch>
            <a:fillRect/>
          </a:stretch>
        </p:blipFill>
        <p:spPr>
          <a:xfrm>
            <a:off x="2640013" y="3644900"/>
            <a:ext cx="3598862" cy="2417763"/>
          </a:xfrm>
          <a:prstGeom prst="rect">
            <a:avLst/>
          </a:prstGeom>
          <a:noFill/>
          <a:ln w="9525">
            <a:noFill/>
          </a:ln>
        </p:spPr>
      </p:pic>
      <p:pic>
        <p:nvPicPr>
          <p:cNvPr id="223237" name="图片 223236">
            <a:hlinkClick r:id="rId3"/>
          </p:cNvPr>
          <p:cNvPicPr>
            <a:picLocks noChangeAspect="1"/>
          </p:cNvPicPr>
          <p:nvPr/>
        </p:nvPicPr>
        <p:blipFill>
          <a:blip r:embed="rId4"/>
          <a:stretch>
            <a:fillRect/>
          </a:stretch>
        </p:blipFill>
        <p:spPr>
          <a:xfrm>
            <a:off x="6456363" y="3644900"/>
            <a:ext cx="3240087" cy="2422525"/>
          </a:xfrm>
          <a:prstGeom prst="rect">
            <a:avLst/>
          </a:prstGeom>
          <a:noFill/>
          <a:ln w="9525">
            <a:noFill/>
          </a:ln>
        </p:spPr>
      </p:pic>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4258" name="标题 224257"/>
          <p:cNvSpPr>
            <a:spLocks noGrp="1"/>
          </p:cNvSpPr>
          <p:nvPr>
            <p:ph type="title"/>
          </p:nvPr>
        </p:nvSpPr>
        <p:spPr>
          <a:xfrm>
            <a:off x="2135188" y="0"/>
            <a:ext cx="8024812" cy="1268413"/>
          </a:xfrm>
        </p:spPr>
        <p:txBody>
          <a:bodyPr lIns="45720" tIns="0" rIns="45720" bIns="0" anchor="b" anchorCtr="0"/>
          <a:p>
            <a:r>
              <a:rPr lang="zh-CN" altLang="en-US" sz="3200" b="0" dirty="0">
                <a:solidFill>
                  <a:srgbClr val="0000CC"/>
                </a:solidFill>
                <a:latin typeface="楷体_GB2312" charset="-122"/>
                <a:ea typeface="楷体_GB2312" charset="-122"/>
                <a:cs typeface="+mj-cs"/>
              </a:rPr>
              <a:t>引起热污染的原因</a:t>
            </a:r>
            <a:r>
              <a:rPr lang="zh-CN" altLang="en-US" sz="2400" dirty="0">
                <a:latin typeface="楷体_GB2312" charset="-122"/>
                <a:ea typeface="楷体_GB2312" charset="-122"/>
                <a:cs typeface="+mj-cs"/>
              </a:rPr>
              <a:t> </a:t>
            </a:r>
            <a:endParaRPr lang="zh-CN" altLang="en-US" sz="2400" dirty="0">
              <a:latin typeface="楷体_GB2312" charset="-122"/>
              <a:ea typeface="楷体_GB2312" charset="-122"/>
              <a:cs typeface="+mj-cs"/>
            </a:endParaRPr>
          </a:p>
        </p:txBody>
      </p:sp>
      <p:sp>
        <p:nvSpPr>
          <p:cNvPr id="224259" name="文本占位符 224258"/>
          <p:cNvSpPr>
            <a:spLocks noGrp="1"/>
          </p:cNvSpPr>
          <p:nvPr>
            <p:ph type="body" idx="1"/>
          </p:nvPr>
        </p:nvSpPr>
        <p:spPr>
          <a:xfrm>
            <a:off x="1847850" y="1268413"/>
            <a:ext cx="8351838" cy="5184775"/>
          </a:xfrm>
        </p:spPr>
        <p:txBody>
          <a:bodyPr lIns="45720" rIns="45720" anchor="t" anchorCtr="0"/>
          <a:p>
            <a:pPr algn="just" defTabSz="684530">
              <a:lnSpc>
                <a:spcPct val="130000"/>
              </a:lnSpc>
              <a:buSzPct val="25000"/>
              <a:buFont typeface="Wingdings" panose="05000000000000000000" pitchFamily="2" charset="2"/>
              <a:buChar char=" "/>
            </a:pPr>
            <a:r>
              <a:rPr lang="en-US" altLang="zh-CN" sz="2400">
                <a:latin typeface="楷体_GB2312" charset="-122"/>
                <a:ea typeface="楷体_GB2312" charset="-122"/>
                <a:cs typeface="+mn-cs"/>
              </a:rPr>
              <a:t>1. </a:t>
            </a:r>
            <a:r>
              <a:rPr lang="zh-CN" altLang="en-US" sz="2400" dirty="0">
                <a:latin typeface="楷体_GB2312" charset="-122"/>
                <a:ea typeface="楷体_GB2312" charset="-122"/>
                <a:cs typeface="+mn-cs"/>
              </a:rPr>
              <a:t>燃料燃烧和工业生产过程所产生的废热向环境的直接排放。</a:t>
            </a:r>
            <a:endParaRPr lang="zh-CN" altLang="en-US" sz="2400" dirty="0">
              <a:latin typeface="楷体_GB2312" charset="-122"/>
              <a:ea typeface="楷体_GB2312" charset="-122"/>
              <a:cs typeface="+mn-cs"/>
            </a:endParaRPr>
          </a:p>
          <a:p>
            <a:pPr algn="just" defTabSz="684530">
              <a:lnSpc>
                <a:spcPct val="130000"/>
              </a:lnSpc>
              <a:buSzPct val="25000"/>
            </a:pPr>
            <a:r>
              <a:rPr lang="zh-CN" altLang="en-US" sz="2400" dirty="0">
                <a:latin typeface="楷体_GB2312" charset="-122"/>
                <a:ea typeface="楷体_GB2312" charset="-122"/>
                <a:cs typeface="+mn-cs"/>
              </a:rPr>
              <a:t>       热污染主要来自能源消费。各种生产过程排放的废热大部分转入到水中，使水升温成温热水排出。这些温度较高的水排进水体，形成对水体的热污染。电力工业是排放温热水量最多的行业，据统计，排进水体的热量，有</a:t>
            </a:r>
            <a:r>
              <a:rPr lang="en-US" altLang="zh-CN" sz="2400">
                <a:latin typeface="楷体_GB2312" charset="-122"/>
                <a:ea typeface="楷体_GB2312" charset="-122"/>
                <a:cs typeface="+mn-cs"/>
              </a:rPr>
              <a:t>80%</a:t>
            </a:r>
            <a:r>
              <a:rPr lang="zh-CN" altLang="en-US" sz="2400" dirty="0">
                <a:latin typeface="楷体_GB2312" charset="-122"/>
                <a:ea typeface="楷体_GB2312" charset="-122"/>
                <a:cs typeface="+mn-cs"/>
              </a:rPr>
              <a:t>来自发电厂。</a:t>
            </a:r>
            <a:endParaRPr lang="zh-CN" altLang="en-US" sz="2400" dirty="0">
              <a:latin typeface="楷体_GB2312" charset="-122"/>
              <a:ea typeface="楷体_GB2312" charset="-122"/>
              <a:cs typeface="+mn-cs"/>
            </a:endParaRP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文本占位符 225281"/>
          <p:cNvSpPr>
            <a:spLocks noGrp="1"/>
          </p:cNvSpPr>
          <p:nvPr>
            <p:ph type="body" idx="1"/>
          </p:nvPr>
        </p:nvSpPr>
        <p:spPr>
          <a:xfrm>
            <a:off x="1847850" y="765175"/>
            <a:ext cx="8450263" cy="5187950"/>
          </a:xfrm>
        </p:spPr>
        <p:txBody>
          <a:bodyPr lIns="45720" rIns="45720" anchor="t" anchorCtr="0"/>
          <a:p>
            <a:pPr algn="just" defTabSz="684530">
              <a:lnSpc>
                <a:spcPct val="150000"/>
              </a:lnSpc>
              <a:buSzPct val="25000"/>
              <a:buFont typeface="Wingdings" panose="05000000000000000000" pitchFamily="2" charset="2"/>
              <a:buChar char=" "/>
            </a:pPr>
            <a:r>
              <a:rPr lang="en-US" altLang="zh-CN" sz="2400">
                <a:latin typeface="楷体_GB2312" charset="-122"/>
                <a:ea typeface="楷体_GB2312" charset="-122"/>
                <a:cs typeface="+mn-cs"/>
              </a:rPr>
              <a:t>2. </a:t>
            </a:r>
            <a:r>
              <a:rPr lang="zh-CN" altLang="en-US" sz="2400" dirty="0">
                <a:latin typeface="楷体_GB2312" charset="-122"/>
                <a:ea typeface="楷体_GB2312" charset="-122"/>
                <a:cs typeface="+mn-cs"/>
              </a:rPr>
              <a:t>温室气体的排放，通过大气温室效应的增强，引起大气增温。</a:t>
            </a:r>
            <a:endParaRPr lang="zh-CN" altLang="en-US" sz="2400" dirty="0">
              <a:latin typeface="楷体_GB2312" charset="-122"/>
              <a:ea typeface="楷体_GB2312" charset="-122"/>
              <a:cs typeface="+mn-cs"/>
            </a:endParaRPr>
          </a:p>
          <a:p>
            <a:pPr algn="just" defTabSz="684530">
              <a:lnSpc>
                <a:spcPct val="150000"/>
              </a:lnSpc>
              <a:buSzPct val="25000"/>
              <a:buFont typeface="Wingdings" panose="05000000000000000000" pitchFamily="2" charset="2"/>
              <a:buChar char=" "/>
            </a:pPr>
            <a:r>
              <a:rPr lang="en-US" altLang="zh-CN" sz="2400">
                <a:latin typeface="楷体_GB2312" charset="-122"/>
                <a:ea typeface="楷体_GB2312" charset="-122"/>
                <a:cs typeface="+mn-cs"/>
              </a:rPr>
              <a:t>3. </a:t>
            </a:r>
            <a:r>
              <a:rPr lang="zh-CN" altLang="en-US" sz="2400" dirty="0">
                <a:latin typeface="楷体_GB2312" charset="-122"/>
                <a:ea typeface="楷体_GB2312" charset="-122"/>
                <a:cs typeface="+mn-cs"/>
              </a:rPr>
              <a:t>由于消耗臭氧层物质的排放，破坏了大气臭氧层，导致太阳辐射的增强。</a:t>
            </a:r>
            <a:endParaRPr lang="zh-CN" altLang="en-US" sz="2400" dirty="0">
              <a:latin typeface="楷体_GB2312" charset="-122"/>
              <a:ea typeface="楷体_GB2312" charset="-122"/>
              <a:cs typeface="+mn-cs"/>
            </a:endParaRPr>
          </a:p>
          <a:p>
            <a:pPr algn="just" defTabSz="684530">
              <a:lnSpc>
                <a:spcPct val="150000"/>
              </a:lnSpc>
              <a:buSzPct val="25000"/>
              <a:buFont typeface="Wingdings" panose="05000000000000000000" pitchFamily="2" charset="2"/>
              <a:buChar char=" "/>
            </a:pPr>
            <a:r>
              <a:rPr lang="en-US" altLang="zh-CN" sz="2400">
                <a:latin typeface="楷体_GB2312" charset="-122"/>
                <a:ea typeface="楷体_GB2312" charset="-122"/>
                <a:cs typeface="+mn-cs"/>
              </a:rPr>
              <a:t>4. </a:t>
            </a:r>
            <a:r>
              <a:rPr lang="zh-CN" altLang="en-US" sz="2400" dirty="0">
                <a:latin typeface="楷体_GB2312" charset="-122"/>
                <a:ea typeface="楷体_GB2312" charset="-122"/>
                <a:cs typeface="+mn-cs"/>
              </a:rPr>
              <a:t>地表状态的改变，使反射率发生变化，影响了地表和大气间的换热等。</a:t>
            </a:r>
            <a:endParaRPr lang="zh-CN" altLang="en-US" sz="2400" dirty="0">
              <a:latin typeface="楷体_GB2312" charset="-122"/>
              <a:ea typeface="楷体_GB2312" charset="-122"/>
              <a:cs typeface="+mn-cs"/>
            </a:endParaRP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标题 226305"/>
          <p:cNvSpPr>
            <a:spLocks noGrp="1"/>
          </p:cNvSpPr>
          <p:nvPr>
            <p:ph type="title"/>
          </p:nvPr>
        </p:nvSpPr>
        <p:spPr>
          <a:xfrm>
            <a:off x="1881188" y="457200"/>
            <a:ext cx="8153400" cy="784225"/>
          </a:xfrm>
        </p:spPr>
        <p:txBody>
          <a:bodyPr lIns="45720" tIns="0" rIns="45720" bIns="0" anchor="b" anchorCtr="0"/>
          <a:p>
            <a:r>
              <a:rPr lang="zh-CN" altLang="en-US" sz="3600" dirty="0">
                <a:solidFill>
                  <a:srgbClr val="0000CC"/>
                </a:solidFill>
                <a:latin typeface="楷体_GB2312" charset="-122"/>
                <a:ea typeface="楷体_GB2312" charset="-122"/>
                <a:cs typeface="+mj-cs"/>
              </a:rPr>
              <a:t>四、光污染</a:t>
            </a:r>
            <a:r>
              <a:rPr lang="zh-CN" altLang="en-US" sz="3200" dirty="0">
                <a:latin typeface="楷体_GB2312" charset="-122"/>
                <a:ea typeface="楷体_GB2312" charset="-122"/>
                <a:cs typeface="+mj-cs"/>
              </a:rPr>
              <a:t> </a:t>
            </a:r>
            <a:endParaRPr lang="zh-CN" altLang="en-US" sz="3200" dirty="0">
              <a:latin typeface="楷体_GB2312" charset="-122"/>
              <a:ea typeface="楷体_GB2312" charset="-122"/>
              <a:cs typeface="+mj-cs"/>
            </a:endParaRPr>
          </a:p>
        </p:txBody>
      </p:sp>
      <p:sp>
        <p:nvSpPr>
          <p:cNvPr id="226307" name="文本占位符 226306"/>
          <p:cNvSpPr>
            <a:spLocks noGrp="1"/>
          </p:cNvSpPr>
          <p:nvPr>
            <p:ph type="body" idx="1"/>
          </p:nvPr>
        </p:nvSpPr>
        <p:spPr>
          <a:xfrm>
            <a:off x="1824038" y="1447800"/>
            <a:ext cx="8234362" cy="4619625"/>
          </a:xfrm>
        </p:spPr>
        <p:txBody>
          <a:bodyPr lIns="45720" rIns="45720" anchor="t" anchorCtr="0"/>
          <a:p>
            <a:pPr defTabSz="684530">
              <a:lnSpc>
                <a:spcPct val="150000"/>
              </a:lnSpc>
              <a:buSzPct val="25000"/>
              <a:buFont typeface="Wingdings" panose="05000000000000000000" pitchFamily="2" charset="2"/>
              <a:buChar char=" "/>
            </a:pPr>
            <a:r>
              <a:rPr lang="zh-CN" altLang="en-US" sz="2400" dirty="0">
                <a:solidFill>
                  <a:srgbClr val="FF0000"/>
                </a:solidFill>
                <a:latin typeface="楷体_GB2312" charset="-122"/>
                <a:ea typeface="楷体_GB2312" charset="-122"/>
                <a:cs typeface="+mn-cs"/>
              </a:rPr>
              <a:t>    光污染</a:t>
            </a:r>
            <a:r>
              <a:rPr lang="zh-CN" altLang="en-US" sz="2400" dirty="0">
                <a:latin typeface="楷体_GB2312" charset="-122"/>
                <a:ea typeface="楷体_GB2312" charset="-122"/>
                <a:cs typeface="+mn-cs"/>
              </a:rPr>
              <a:t>是指光辐射过量而对生活、生产环境以及人体健康产生的不良影响。它主要来源于人类生存环境中日光、灯光以及各种反射、折射光源造成的各种过量和不协调的光辐射。</a:t>
            </a:r>
            <a:endParaRPr lang="zh-CN" altLang="en-US" sz="2400" dirty="0">
              <a:latin typeface="楷体_GB2312" charset="-122"/>
              <a:ea typeface="楷体_GB2312" charset="-122"/>
              <a:cs typeface="+mn-cs"/>
            </a:endParaRPr>
          </a:p>
          <a:p>
            <a:pPr defTabSz="684530">
              <a:lnSpc>
                <a:spcPct val="150000"/>
              </a:lnSpc>
              <a:buSzPct val="25000"/>
              <a:buFont typeface="Wingdings" panose="05000000000000000000" pitchFamily="2" charset="2"/>
              <a:buChar char=" "/>
            </a:pPr>
            <a:r>
              <a:rPr lang="zh-CN" altLang="en-US" sz="2400" dirty="0">
                <a:latin typeface="楷体_GB2312" charset="-122"/>
                <a:ea typeface="楷体_GB2312" charset="-122"/>
                <a:cs typeface="+mn-cs"/>
              </a:rPr>
              <a:t>光污染一般包括</a:t>
            </a:r>
            <a:r>
              <a:rPr lang="zh-CN" altLang="en-US" sz="2400" dirty="0">
                <a:solidFill>
                  <a:schemeClr val="folHlink"/>
                </a:solidFill>
                <a:latin typeface="楷体_GB2312" charset="-122"/>
                <a:ea typeface="楷体_GB2312" charset="-122"/>
                <a:cs typeface="+mn-cs"/>
              </a:rPr>
              <a:t>白亮污染、人工白昼污染</a:t>
            </a:r>
            <a:r>
              <a:rPr lang="zh-CN" altLang="en-US" sz="2400" dirty="0">
                <a:latin typeface="楷体_GB2312" charset="-122"/>
                <a:ea typeface="楷体_GB2312" charset="-122"/>
                <a:cs typeface="+mn-cs"/>
              </a:rPr>
              <a:t>和</a:t>
            </a:r>
            <a:r>
              <a:rPr lang="zh-CN" altLang="en-US" sz="2400" dirty="0">
                <a:solidFill>
                  <a:schemeClr val="folHlink"/>
                </a:solidFill>
                <a:latin typeface="楷体_GB2312" charset="-122"/>
                <a:ea typeface="楷体_GB2312" charset="-122"/>
                <a:cs typeface="+mn-cs"/>
              </a:rPr>
              <a:t>彩光污染</a:t>
            </a:r>
            <a:r>
              <a:rPr lang="zh-CN" altLang="en-US" sz="2400" dirty="0">
                <a:latin typeface="楷体_GB2312" charset="-122"/>
                <a:ea typeface="楷体_GB2312" charset="-122"/>
                <a:cs typeface="+mn-cs"/>
              </a:rPr>
              <a:t>。</a:t>
            </a:r>
            <a:endParaRPr lang="zh-CN" altLang="en-US" sz="2400" dirty="0">
              <a:latin typeface="楷体_GB2312" charset="-122"/>
              <a:ea typeface="楷体_GB2312" charset="-122"/>
              <a:cs typeface="+mn-cs"/>
            </a:endParaRPr>
          </a:p>
          <a:p>
            <a:pPr defTabSz="684530">
              <a:lnSpc>
                <a:spcPct val="150000"/>
              </a:lnSpc>
              <a:buSzPct val="25000"/>
              <a:buFont typeface="Wingdings" panose="05000000000000000000" pitchFamily="2" charset="2"/>
              <a:buChar char=" "/>
            </a:pPr>
            <a:r>
              <a:rPr lang="zh-CN" altLang="en-US" sz="2400" dirty="0">
                <a:latin typeface="楷体_GB2312" charset="-122"/>
                <a:ea typeface="楷体_GB2312" charset="-122"/>
                <a:cs typeface="+mn-cs"/>
              </a:rPr>
              <a:t>    有时按光的波长分为红外光污染、紫外光污染、激光污染及可见光污染等。 </a:t>
            </a:r>
            <a:endParaRPr lang="zh-CN" altLang="en-US" sz="2400" dirty="0">
              <a:latin typeface="楷体_GB2312" charset="-122"/>
              <a:ea typeface="楷体_GB2312" charset="-122"/>
              <a:cs typeface="+mn-cs"/>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标题 227329"/>
          <p:cNvSpPr>
            <a:spLocks noGrp="1"/>
          </p:cNvSpPr>
          <p:nvPr>
            <p:ph type="title"/>
          </p:nvPr>
        </p:nvSpPr>
        <p:spPr>
          <a:xfrm>
            <a:off x="1847850" y="115888"/>
            <a:ext cx="7210425" cy="950912"/>
          </a:xfrm>
        </p:spPr>
        <p:txBody>
          <a:bodyPr lIns="45720" tIns="0" rIns="45720" bIns="0" anchor="b" anchorCtr="0"/>
          <a:p>
            <a:r>
              <a:rPr lang="zh-CN" altLang="en-US" sz="3200" dirty="0">
                <a:solidFill>
                  <a:srgbClr val="0000CC"/>
                </a:solidFill>
                <a:latin typeface="楷体_GB2312" charset="-122"/>
                <a:ea typeface="楷体_GB2312" charset="-122"/>
                <a:cs typeface="+mj-cs"/>
              </a:rPr>
              <a:t>光污染及其危害</a:t>
            </a:r>
            <a:r>
              <a:rPr lang="zh-CN" altLang="en-US" sz="2800" dirty="0">
                <a:latin typeface="楷体_GB2312" charset="-122"/>
                <a:ea typeface="楷体_GB2312" charset="-122"/>
                <a:cs typeface="+mj-cs"/>
              </a:rPr>
              <a:t> </a:t>
            </a:r>
            <a:endParaRPr lang="zh-CN" altLang="en-US" sz="2800" dirty="0">
              <a:latin typeface="楷体_GB2312" charset="-122"/>
              <a:ea typeface="楷体_GB2312" charset="-122"/>
              <a:cs typeface="+mj-cs"/>
            </a:endParaRPr>
          </a:p>
        </p:txBody>
      </p:sp>
      <p:sp>
        <p:nvSpPr>
          <p:cNvPr id="227331" name="文本占位符 227330"/>
          <p:cNvSpPr>
            <a:spLocks noGrp="1"/>
          </p:cNvSpPr>
          <p:nvPr>
            <p:ph type="body" idx="1"/>
          </p:nvPr>
        </p:nvSpPr>
        <p:spPr>
          <a:xfrm>
            <a:off x="1847850" y="1268413"/>
            <a:ext cx="8532813" cy="5184775"/>
          </a:xfrm>
        </p:spPr>
        <p:txBody>
          <a:bodyPr lIns="45720" rIns="45720" anchor="t" anchorCtr="0"/>
          <a:p>
            <a:pPr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1.</a:t>
            </a:r>
            <a:r>
              <a:rPr lang="zh-CN" altLang="en-US" sz="2400" dirty="0">
                <a:solidFill>
                  <a:schemeClr val="folHlink"/>
                </a:solidFill>
                <a:latin typeface="楷体_GB2312" charset="-122"/>
                <a:ea typeface="楷体_GB2312" charset="-122"/>
                <a:cs typeface="+mn-cs"/>
              </a:rPr>
              <a:t>可见光污染：</a:t>
            </a:r>
            <a:r>
              <a:rPr lang="zh-CN" altLang="en-US" sz="2400" dirty="0">
                <a:latin typeface="楷体_GB2312" charset="-122"/>
                <a:ea typeface="楷体_GB2312" charset="-122"/>
                <a:cs typeface="+mn-cs"/>
              </a:rPr>
              <a:t>眩光污染、灯光污染、视觉污染。</a:t>
            </a:r>
            <a:endParaRPr lang="en-US" altLang="zh-CN" sz="2400">
              <a:latin typeface="楷体_GB2312" charset="-122"/>
              <a:ea typeface="楷体_GB2312" charset="-122"/>
              <a:cs typeface="+mn-cs"/>
            </a:endParaRPr>
          </a:p>
          <a:p>
            <a:pPr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2.</a:t>
            </a:r>
            <a:r>
              <a:rPr lang="zh-CN" altLang="en-US" sz="2400" dirty="0">
                <a:solidFill>
                  <a:schemeClr val="folHlink"/>
                </a:solidFill>
                <a:latin typeface="楷体_GB2312" charset="-122"/>
                <a:ea typeface="楷体_GB2312" charset="-122"/>
                <a:cs typeface="+mn-cs"/>
              </a:rPr>
              <a:t>红外光污染</a:t>
            </a:r>
            <a:endParaRPr lang="zh-CN" altLang="en-US" sz="2400" dirty="0">
              <a:solidFill>
                <a:schemeClr val="folHlink"/>
              </a:solidFill>
              <a:latin typeface="楷体_GB2312" charset="-122"/>
              <a:ea typeface="楷体_GB2312" charset="-122"/>
              <a:cs typeface="+mn-cs"/>
            </a:endParaRPr>
          </a:p>
          <a:p>
            <a:pPr defTabSz="684530">
              <a:lnSpc>
                <a:spcPct val="150000"/>
              </a:lnSpc>
              <a:buSzPct val="25000"/>
            </a:pPr>
            <a:r>
              <a:rPr lang="zh-CN" altLang="en-US" sz="2400" dirty="0">
                <a:latin typeface="楷体_GB2312" charset="-122"/>
                <a:ea typeface="楷体_GB2312" charset="-122"/>
                <a:cs typeface="+mn-cs"/>
              </a:rPr>
              <a:t>		　红外线通过高温灼伤人的皮肤，还可透过眼睛角膜对视网膜造成伤害，长期的红外照射可以引起白内障。</a:t>
            </a:r>
            <a:endParaRPr lang="zh-CN" altLang="en-US" sz="2400" dirty="0">
              <a:latin typeface="楷体_GB2312" charset="-122"/>
              <a:ea typeface="楷体_GB2312" charset="-122"/>
              <a:cs typeface="+mn-cs"/>
            </a:endParaRPr>
          </a:p>
          <a:p>
            <a:pPr defTabSz="684530">
              <a:lnSpc>
                <a:spcPct val="150000"/>
              </a:lnSpc>
              <a:buSzPct val="25000"/>
              <a:buFont typeface="Wingdings" panose="05000000000000000000" pitchFamily="2" charset="2"/>
              <a:buChar char=" "/>
            </a:pPr>
            <a:r>
              <a:rPr lang="en-US" altLang="zh-CN" sz="2400">
                <a:solidFill>
                  <a:schemeClr val="folHlink"/>
                </a:solidFill>
                <a:latin typeface="楷体_GB2312" charset="-122"/>
                <a:ea typeface="楷体_GB2312" charset="-122"/>
                <a:cs typeface="+mn-cs"/>
              </a:rPr>
              <a:t>3.</a:t>
            </a:r>
            <a:r>
              <a:rPr lang="zh-CN" altLang="en-US" sz="2400" dirty="0">
                <a:solidFill>
                  <a:schemeClr val="folHlink"/>
                </a:solidFill>
                <a:latin typeface="楷体_GB2312" charset="-122"/>
                <a:ea typeface="楷体_GB2312" charset="-122"/>
                <a:cs typeface="+mn-cs"/>
              </a:rPr>
              <a:t>紫外光污染</a:t>
            </a:r>
            <a:endParaRPr lang="zh-CN" altLang="en-US" sz="2400" dirty="0">
              <a:solidFill>
                <a:schemeClr val="folHlink"/>
              </a:solidFill>
              <a:latin typeface="楷体_GB2312" charset="-122"/>
              <a:ea typeface="楷体_GB2312" charset="-122"/>
              <a:cs typeface="+mn-cs"/>
            </a:endParaRPr>
          </a:p>
          <a:p>
            <a:pPr defTabSz="684530">
              <a:lnSpc>
                <a:spcPct val="150000"/>
              </a:lnSpc>
              <a:buSzPct val="25000"/>
            </a:pPr>
            <a:r>
              <a:rPr lang="zh-CN" altLang="en-US" sz="2400" dirty="0">
                <a:latin typeface="楷体_GB2312" charset="-122"/>
                <a:ea typeface="楷体_GB2312" charset="-122"/>
                <a:cs typeface="+mn-cs"/>
              </a:rPr>
              <a:t>	　　对人具有伤害作用，主要伤害表现为角膜损伤和皮肤的灼伤，并伴有高度畏光、流泪和脸痉挛等症状。</a:t>
            </a:r>
            <a:endParaRPr lang="zh-CN" altLang="en-US" sz="2400" dirty="0">
              <a:latin typeface="楷体_GB2312" charset="-122"/>
              <a:ea typeface="楷体_GB2312" charset="-122"/>
              <a:cs typeface="+mn-cs"/>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2866" name="矩形 292865"/>
          <p:cNvSpPr/>
          <p:nvPr/>
        </p:nvSpPr>
        <p:spPr>
          <a:xfrm>
            <a:off x="3982085" y="2728913"/>
            <a:ext cx="4043680" cy="583565"/>
          </a:xfrm>
          <a:prstGeom prst="rect">
            <a:avLst/>
          </a:prstGeom>
          <a:solidFill>
            <a:srgbClr val="3366FF">
              <a:alpha val="50000"/>
            </a:srgbClr>
          </a:solidFill>
          <a:ln w="9525">
            <a:noFill/>
          </a:ln>
        </p:spPr>
        <p:txBody>
          <a:bodyPr wrap="none" anchor="t" anchorCtr="0">
            <a:spAutoFit/>
          </a:bodyPr>
          <a:p>
            <a:r>
              <a:rPr lang="zh-CN" altLang="en-US" sz="3200" b="1" dirty="0">
                <a:solidFill>
                  <a:srgbClr val="FF0000"/>
                </a:solidFill>
                <a:latin typeface="Times New Roman" panose="02020603050405020304" charset="0"/>
              </a:rPr>
              <a:t>第四章  全球环境问题</a:t>
            </a:r>
            <a:endParaRPr lang="zh-CN" altLang="en-US" sz="3200" b="1" dirty="0">
              <a:solidFill>
                <a:srgbClr val="FF0000"/>
              </a:solidFill>
              <a:latin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92866"/>
                                        </p:tgtEl>
                                        <p:attrNameLst>
                                          <p:attrName>style.visibility</p:attrName>
                                        </p:attrNameLst>
                                      </p:cBhvr>
                                      <p:to>
                                        <p:strVal val="visible"/>
                                      </p:to>
                                    </p:set>
                                    <p:animEffect transition="in" filter="blinds(horizontal)">
                                      <p:cBhvr>
                                        <p:cTn id="7" dur="500"/>
                                        <p:tgtEl>
                                          <p:spTgt spid="2928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bldLvl="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3890" name="折角形 293889"/>
          <p:cNvSpPr/>
          <p:nvPr/>
        </p:nvSpPr>
        <p:spPr>
          <a:xfrm>
            <a:off x="2133600" y="2057400"/>
            <a:ext cx="8001000" cy="3657600"/>
          </a:xfrm>
          <a:prstGeom prst="foldedCorner">
            <a:avLst>
              <a:gd name="adj" fmla="val 12500"/>
            </a:avLst>
          </a:prstGeom>
          <a:gradFill rotWithShape="0">
            <a:gsLst>
              <a:gs pos="0">
                <a:schemeClr val="accent1"/>
              </a:gs>
              <a:gs pos="50000">
                <a:schemeClr val="bg1"/>
              </a:gs>
              <a:gs pos="100000">
                <a:schemeClr val="accent1"/>
              </a:gs>
            </a:gsLst>
            <a:lin ang="18900000" scaled="1"/>
            <a:tileRect/>
          </a:gradFill>
          <a:ln w="9525" cap="flat" cmpd="sng">
            <a:solidFill>
              <a:schemeClr val="tx1"/>
            </a:solidFill>
            <a:prstDash val="solid"/>
            <a:headEnd type="none" w="med" len="med"/>
            <a:tailEnd type="none" w="med" len="med"/>
          </a:ln>
        </p:spPr>
        <p:txBody>
          <a:bodyPr wrap="none" anchor="ctr" anchorCtr="0"/>
          <a:p>
            <a:pPr>
              <a:spcBef>
                <a:spcPct val="20000"/>
              </a:spcBef>
            </a:pPr>
            <a:r>
              <a:rPr lang="en-US" altLang="zh-CN" sz="2800" b="1" dirty="0">
                <a:solidFill>
                  <a:schemeClr val="accent2"/>
                </a:solidFill>
                <a:latin typeface="宋体" panose="02010600030101010101" pitchFamily="2" charset="-122"/>
              </a:rPr>
              <a:t>    </a:t>
            </a:r>
            <a:r>
              <a:rPr lang="zh-CN" altLang="en-US" sz="2800" b="1" dirty="0">
                <a:solidFill>
                  <a:schemeClr val="accent2"/>
                </a:solidFill>
                <a:latin typeface="宋体" panose="02010600030101010101" pitchFamily="2" charset="-122"/>
              </a:rPr>
              <a:t>气候是指包括温度、湿度和降水等在内的综合</a:t>
            </a:r>
            <a:endParaRPr lang="zh-CN" altLang="en-US" sz="2800" b="1" dirty="0">
              <a:solidFill>
                <a:schemeClr val="accent2"/>
              </a:solidFill>
              <a:latin typeface="宋体" panose="02010600030101010101" pitchFamily="2" charset="-122"/>
            </a:endParaRPr>
          </a:p>
          <a:p>
            <a:pPr>
              <a:spcBef>
                <a:spcPct val="20000"/>
              </a:spcBef>
            </a:pPr>
            <a:r>
              <a:rPr lang="zh-CN" altLang="en-US" sz="2800" b="1" dirty="0">
                <a:solidFill>
                  <a:schemeClr val="accent2"/>
                </a:solidFill>
                <a:latin typeface="宋体" panose="02010600030101010101" pitchFamily="2" charset="-122"/>
              </a:rPr>
              <a:t>信息。</a:t>
            </a:r>
            <a:endParaRPr lang="zh-CN" altLang="en-US" sz="2800" b="1" dirty="0">
              <a:solidFill>
                <a:schemeClr val="accent2"/>
              </a:solidFill>
              <a:latin typeface="宋体" panose="02010600030101010101" pitchFamily="2" charset="-122"/>
            </a:endParaRPr>
          </a:p>
          <a:p>
            <a:pPr>
              <a:spcBef>
                <a:spcPct val="20000"/>
              </a:spcBef>
            </a:pPr>
            <a:r>
              <a:rPr lang="zh-CN" altLang="en-US" sz="2800" b="1" dirty="0">
                <a:solidFill>
                  <a:schemeClr val="accent2"/>
                </a:solidFill>
                <a:latin typeface="宋体" panose="02010600030101010101" pitchFamily="2" charset="-122"/>
              </a:rPr>
              <a:t>    在过去</a:t>
            </a:r>
            <a:r>
              <a:rPr lang="en-US" altLang="zh-CN" sz="2800" b="1" dirty="0">
                <a:solidFill>
                  <a:schemeClr val="accent2"/>
                </a:solidFill>
                <a:latin typeface="宋体" panose="02010600030101010101" pitchFamily="2" charset="-122"/>
              </a:rPr>
              <a:t>100</a:t>
            </a:r>
            <a:r>
              <a:rPr lang="zh-CN" altLang="en-US" sz="2800" b="1" dirty="0">
                <a:solidFill>
                  <a:schemeClr val="accent2"/>
                </a:solidFill>
                <a:latin typeface="宋体" panose="02010600030101010101" pitchFamily="2" charset="-122"/>
              </a:rPr>
              <a:t>年间：气温上升</a:t>
            </a:r>
            <a:r>
              <a:rPr lang="en-US" altLang="zh-CN" sz="2800" b="1" dirty="0">
                <a:solidFill>
                  <a:schemeClr val="accent2"/>
                </a:solidFill>
                <a:latin typeface="宋体" panose="02010600030101010101" pitchFamily="2" charset="-122"/>
              </a:rPr>
              <a:t>0.2-0.5℃</a:t>
            </a:r>
            <a:r>
              <a:rPr lang="zh-CN" altLang="en-US" sz="2800" b="1" dirty="0">
                <a:solidFill>
                  <a:schemeClr val="accent2"/>
                </a:solidFill>
                <a:latin typeface="宋体" panose="02010600030101010101" pitchFamily="2" charset="-122"/>
              </a:rPr>
              <a:t>；</a:t>
            </a:r>
            <a:endParaRPr lang="zh-CN" altLang="en-US" sz="2800" b="1" dirty="0">
              <a:solidFill>
                <a:schemeClr val="accent2"/>
              </a:solidFill>
              <a:latin typeface="宋体" panose="02010600030101010101" pitchFamily="2" charset="-122"/>
            </a:endParaRPr>
          </a:p>
          <a:p>
            <a:pPr>
              <a:spcBef>
                <a:spcPct val="20000"/>
              </a:spcBef>
            </a:pPr>
            <a:r>
              <a:rPr lang="zh-CN" altLang="en-US" sz="2800" b="1" dirty="0">
                <a:solidFill>
                  <a:schemeClr val="accent2"/>
                </a:solidFill>
                <a:latin typeface="宋体" panose="02010600030101010101" pitchFamily="2" charset="-122"/>
              </a:rPr>
              <a:t>                   降水增加</a:t>
            </a:r>
            <a:r>
              <a:rPr lang="en-US" altLang="zh-CN" sz="2800" b="1" dirty="0">
                <a:solidFill>
                  <a:schemeClr val="accent2"/>
                </a:solidFill>
                <a:latin typeface="宋体" panose="02010600030101010101" pitchFamily="2" charset="-122"/>
              </a:rPr>
              <a:t>1%</a:t>
            </a:r>
            <a:r>
              <a:rPr lang="zh-CN" altLang="en-US" sz="2800" b="1" dirty="0">
                <a:solidFill>
                  <a:schemeClr val="accent2"/>
                </a:solidFill>
                <a:latin typeface="宋体" panose="02010600030101010101" pitchFamily="2" charset="-122"/>
              </a:rPr>
              <a:t>；</a:t>
            </a:r>
            <a:endParaRPr lang="zh-CN" altLang="en-US" sz="2800" b="1" dirty="0">
              <a:solidFill>
                <a:schemeClr val="accent2"/>
              </a:solidFill>
              <a:latin typeface="宋体" panose="02010600030101010101" pitchFamily="2" charset="-122"/>
            </a:endParaRPr>
          </a:p>
          <a:p>
            <a:pPr>
              <a:spcBef>
                <a:spcPct val="20000"/>
              </a:spcBef>
            </a:pPr>
            <a:r>
              <a:rPr lang="zh-CN" altLang="en-US" sz="2800" b="1" dirty="0">
                <a:solidFill>
                  <a:schemeClr val="accent2"/>
                </a:solidFill>
                <a:latin typeface="宋体" panose="02010600030101010101" pitchFamily="2" charset="-122"/>
              </a:rPr>
              <a:t>                   海平面上升</a:t>
            </a:r>
            <a:r>
              <a:rPr lang="en-US" altLang="zh-CN" sz="2800" b="1" dirty="0">
                <a:solidFill>
                  <a:schemeClr val="accent2"/>
                </a:solidFill>
                <a:latin typeface="宋体" panose="02010600030101010101" pitchFamily="2" charset="-122"/>
              </a:rPr>
              <a:t>10-25</a:t>
            </a:r>
            <a:r>
              <a:rPr lang="en-US" altLang="zh-CN" sz="2800" b="1">
                <a:solidFill>
                  <a:schemeClr val="accent2"/>
                </a:solidFill>
                <a:latin typeface="宋体" panose="02010600030101010101" pitchFamily="2" charset="-122"/>
              </a:rPr>
              <a:t>cm</a:t>
            </a:r>
            <a:endParaRPr lang="en-US" altLang="zh-CN" sz="2800" b="1">
              <a:solidFill>
                <a:schemeClr val="accent2"/>
              </a:solidFill>
              <a:latin typeface="宋体" panose="02010600030101010101" pitchFamily="2" charset="-122"/>
            </a:endParaRPr>
          </a:p>
        </p:txBody>
      </p:sp>
      <p:grpSp>
        <p:nvGrpSpPr>
          <p:cNvPr id="293891" name="组合 293890"/>
          <p:cNvGrpSpPr/>
          <p:nvPr/>
        </p:nvGrpSpPr>
        <p:grpSpPr>
          <a:xfrm>
            <a:off x="1905000" y="228600"/>
            <a:ext cx="3810000" cy="1828800"/>
            <a:chOff x="288" y="288"/>
            <a:chExt cx="1824" cy="1152"/>
          </a:xfrm>
        </p:grpSpPr>
        <p:sp>
          <p:nvSpPr>
            <p:cNvPr id="293892" name="菱形 293891"/>
            <p:cNvSpPr/>
            <p:nvPr/>
          </p:nvSpPr>
          <p:spPr>
            <a:xfrm>
              <a:off x="288" y="288"/>
              <a:ext cx="1824" cy="768"/>
            </a:xfrm>
            <a:prstGeom prst="diamond">
              <a:avLst/>
            </a:prstGeom>
            <a:gradFill rotWithShape="0">
              <a:gsLst>
                <a:gs pos="0">
                  <a:srgbClr val="CCFF66"/>
                </a:gs>
                <a:gs pos="50000">
                  <a:schemeClr val="bg1"/>
                </a:gs>
                <a:gs pos="100000">
                  <a:srgbClr val="CCFF66"/>
                </a:gs>
              </a:gsLst>
              <a:lin ang="5400000" scaled="1"/>
              <a:tileRect/>
            </a:gradFill>
            <a:ln w="9525" cap="flat" cmpd="sng">
              <a:solidFill>
                <a:schemeClr val="tx1"/>
              </a:solidFill>
              <a:prstDash val="solid"/>
              <a:miter/>
              <a:headEnd type="none" w="med" len="med"/>
              <a:tailEnd type="none" w="med" len="med"/>
            </a:ln>
          </p:spPr>
          <p:txBody>
            <a:bodyPr wrap="none" anchor="ctr" anchorCtr="0"/>
            <a:p>
              <a:pPr algn="ctr"/>
              <a:r>
                <a:rPr lang="zh-CN" altLang="en-US" sz="2800" b="1" dirty="0">
                  <a:latin typeface="Times New Roman" panose="02020603050405020304" charset="0"/>
                  <a:ea typeface="黑体" panose="02010609060101010101" pitchFamily="2" charset="-122"/>
                </a:rPr>
                <a:t>（一）、</a:t>
              </a:r>
              <a:r>
                <a:rPr lang="zh-CN" altLang="en-US" sz="2800" b="1" dirty="0">
                  <a:latin typeface="Times New Roman" panose="02020603050405020304" charset="0"/>
                  <a:ea typeface="黑体" panose="02010609060101010101" pitchFamily="2" charset="-122"/>
                </a:rPr>
                <a:t>气候变化：全球变暖</a:t>
              </a:r>
              <a:endParaRPr lang="zh-CN" altLang="en-US" sz="2800" b="1" dirty="0">
                <a:latin typeface="Times New Roman" panose="02020603050405020304" charset="0"/>
                <a:ea typeface="黑体" panose="02010609060101010101" pitchFamily="2" charset="-122"/>
              </a:endParaRPr>
            </a:p>
          </p:txBody>
        </p:sp>
        <p:sp>
          <p:nvSpPr>
            <p:cNvPr id="293893" name="左弧形箭头 293892"/>
            <p:cNvSpPr/>
            <p:nvPr/>
          </p:nvSpPr>
          <p:spPr>
            <a:xfrm>
              <a:off x="1392" y="864"/>
              <a:ext cx="336" cy="576"/>
            </a:xfrm>
            <a:prstGeom prst="curvedRightArrow">
              <a:avLst>
                <a:gd name="adj1" fmla="val 31189"/>
                <a:gd name="adj2" fmla="val 65475"/>
                <a:gd name="adj3" fmla="val 3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93890"/>
                                        </p:tgtEl>
                                        <p:attrNameLst>
                                          <p:attrName>style.visibility</p:attrName>
                                        </p:attrNameLst>
                                      </p:cBhvr>
                                      <p:to>
                                        <p:strVal val="visible"/>
                                      </p:to>
                                    </p:set>
                                    <p:animEffect transition="in" filter="barn(inHorizontal)">
                                      <p:cBhvr>
                                        <p:cTn id="7" dur="500"/>
                                        <p:tgtEl>
                                          <p:spTgt spid="293890"/>
                                        </p:tgtEl>
                                      </p:cBhvr>
                                    </p:animEffect>
                                  </p:childTnLst>
                                  <p:subTnLst>
                                    <p:set>
                                      <p:cBhvr override="childStyle">
                                        <p:cTn dur="1" fill="hold" display="0" masterRel="nextClick" afterEffect="1"/>
                                        <p:tgtEl>
                                          <p:spTgt spid="29389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3890"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4914" name="矩形 294913"/>
          <p:cNvSpPr/>
          <p:nvPr/>
        </p:nvSpPr>
        <p:spPr>
          <a:xfrm>
            <a:off x="1752600" y="228600"/>
            <a:ext cx="8686800" cy="6492875"/>
          </a:xfrm>
          <a:prstGeom prst="rect">
            <a:avLst/>
          </a:prstGeom>
          <a:solidFill>
            <a:srgbClr val="CCFFCC"/>
          </a:solidFill>
          <a:ln w="9525">
            <a:noFill/>
          </a:ln>
        </p:spPr>
        <p:txBody>
          <a:bodyPr>
            <a:spAutoFit/>
          </a:bodyPr>
          <a:p>
            <a:pPr>
              <a:spcBef>
                <a:spcPct val="50000"/>
              </a:spcBef>
            </a:pPr>
            <a:r>
              <a:rPr lang="en-US" altLang="zh-CN" sz="2800" dirty="0">
                <a:latin typeface="宋体" panose="02010600030101010101" pitchFamily="2" charset="-122"/>
              </a:rPr>
              <a:t>   </a:t>
            </a:r>
            <a:r>
              <a:rPr lang="zh-CN" altLang="en-US" sz="3200" b="1" dirty="0">
                <a:solidFill>
                  <a:srgbClr val="0000CC"/>
                </a:solidFill>
                <a:latin typeface="宋体" panose="02010600030101010101" pitchFamily="2" charset="-122"/>
              </a:rPr>
              <a:t>全球气候变化引起了世界各国政府的高度重</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视</a:t>
            </a:r>
            <a:r>
              <a:rPr lang="en-US" altLang="zh-CN" sz="3200" b="1" dirty="0">
                <a:solidFill>
                  <a:srgbClr val="0000CC"/>
                </a:solidFill>
                <a:latin typeface="宋体" panose="02010600030101010101" pitchFamily="2" charset="-122"/>
              </a:rPr>
              <a:t>1992</a:t>
            </a:r>
            <a:r>
              <a:rPr lang="zh-CN" altLang="en-US" sz="3200" b="1" dirty="0">
                <a:solidFill>
                  <a:srgbClr val="0000CC"/>
                </a:solidFill>
                <a:latin typeface="宋体" panose="02010600030101010101" pitchFamily="2" charset="-122"/>
              </a:rPr>
              <a:t>年</a:t>
            </a:r>
            <a:r>
              <a:rPr lang="en-US" altLang="zh-CN" sz="3200" b="1" dirty="0">
                <a:solidFill>
                  <a:srgbClr val="0000CC"/>
                </a:solidFill>
                <a:latin typeface="宋体" panose="02010600030101010101" pitchFamily="2" charset="-122"/>
              </a:rPr>
              <a:t>6</a:t>
            </a:r>
            <a:r>
              <a:rPr lang="zh-CN" altLang="en-US" sz="3200" b="1" dirty="0">
                <a:solidFill>
                  <a:srgbClr val="0000CC"/>
                </a:solidFill>
                <a:latin typeface="宋体" panose="02010600030101010101" pitchFamily="2" charset="-122"/>
              </a:rPr>
              <a:t>月，有</a:t>
            </a:r>
            <a:r>
              <a:rPr lang="en-US" altLang="zh-CN" sz="3200" b="1" dirty="0">
                <a:solidFill>
                  <a:srgbClr val="0000CC"/>
                </a:solidFill>
                <a:latin typeface="宋体" panose="02010600030101010101" pitchFamily="2" charset="-122"/>
              </a:rPr>
              <a:t>154</a:t>
            </a:r>
            <a:r>
              <a:rPr lang="zh-CN" altLang="en-US" sz="3200" b="1" dirty="0">
                <a:solidFill>
                  <a:srgbClr val="0000CC"/>
                </a:solidFill>
                <a:latin typeface="宋体" panose="02010600030101010101" pitchFamily="2" charset="-122"/>
              </a:rPr>
              <a:t>个国家参加的联合国环境</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与发展大会在巴西里约热内卢召开，会议通过</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了</a:t>
            </a:r>
            <a:r>
              <a:rPr lang="en-US" altLang="zh-CN" sz="3200" b="1" dirty="0">
                <a:solidFill>
                  <a:srgbClr val="0000CC"/>
                </a:solidFill>
                <a:latin typeface="宋体" panose="02010600030101010101" pitchFamily="2" charset="-122"/>
              </a:rPr>
              <a:t>《</a:t>
            </a:r>
            <a:r>
              <a:rPr lang="zh-CN" altLang="en-US" sz="3200" b="1" dirty="0">
                <a:solidFill>
                  <a:srgbClr val="0000CC"/>
                </a:solidFill>
                <a:latin typeface="宋体" panose="02010600030101010101" pitchFamily="2" charset="-122"/>
              </a:rPr>
              <a:t>气候变化框架公约</a:t>
            </a:r>
            <a:r>
              <a:rPr lang="en-US" altLang="zh-CN" sz="3200" b="1" dirty="0">
                <a:solidFill>
                  <a:srgbClr val="0000CC"/>
                </a:solidFill>
                <a:latin typeface="宋体" panose="02010600030101010101" pitchFamily="2" charset="-122"/>
              </a:rPr>
              <a:t>》</a:t>
            </a:r>
            <a:r>
              <a:rPr lang="zh-CN" altLang="en-US" sz="3200" b="1" dirty="0">
                <a:solidFill>
                  <a:srgbClr val="0000CC"/>
                </a:solidFill>
                <a:latin typeface="宋体" panose="02010600030101010101" pitchFamily="2" charset="-122"/>
              </a:rPr>
              <a:t>。</a:t>
            </a:r>
            <a:r>
              <a:rPr lang="en-US" altLang="zh-CN" sz="3200" b="1" dirty="0">
                <a:solidFill>
                  <a:srgbClr val="0000CC"/>
                </a:solidFill>
                <a:latin typeface="宋体" panose="02010600030101010101" pitchFamily="2" charset="-122"/>
              </a:rPr>
              <a:t>1997</a:t>
            </a:r>
            <a:r>
              <a:rPr lang="zh-CN" altLang="en-US" sz="3200" b="1" dirty="0">
                <a:solidFill>
                  <a:srgbClr val="0000CC"/>
                </a:solidFill>
                <a:latin typeface="宋体" panose="02010600030101010101" pitchFamily="2" charset="-122"/>
              </a:rPr>
              <a:t>年</a:t>
            </a:r>
            <a:r>
              <a:rPr lang="en-US" altLang="zh-CN" sz="3200" b="1" dirty="0">
                <a:solidFill>
                  <a:srgbClr val="0000CC"/>
                </a:solidFill>
                <a:latin typeface="宋体" panose="02010600030101010101" pitchFamily="2" charset="-122"/>
              </a:rPr>
              <a:t>12</a:t>
            </a:r>
            <a:r>
              <a:rPr lang="zh-CN" altLang="en-US" sz="3200" b="1" dirty="0">
                <a:solidFill>
                  <a:srgbClr val="0000CC"/>
                </a:solidFill>
                <a:latin typeface="宋体" panose="02010600030101010101" pitchFamily="2" charset="-122"/>
              </a:rPr>
              <a:t>月在日本</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京都，</a:t>
            </a:r>
            <a:r>
              <a:rPr lang="en-US" altLang="zh-CN" sz="3200" b="1" dirty="0">
                <a:solidFill>
                  <a:srgbClr val="0000CC"/>
                </a:solidFill>
                <a:latin typeface="宋体" panose="02010600030101010101" pitchFamily="2" charset="-122"/>
              </a:rPr>
              <a:t>170</a:t>
            </a:r>
            <a:r>
              <a:rPr lang="zh-CN" altLang="en-US" sz="3200" b="1" dirty="0">
                <a:solidFill>
                  <a:srgbClr val="0000CC"/>
                </a:solidFill>
                <a:latin typeface="宋体" panose="02010600030101010101" pitchFamily="2" charset="-122"/>
              </a:rPr>
              <a:t>多个国家的政府首脑聚集在一起就人</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类密切关注的全球气候变化的问题达成了一个</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世界性的协议，希望在气候变化导致严重后果</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发生之前，采取一致的行动，控制，控制气候</a:t>
            </a:r>
            <a:endParaRPr lang="zh-CN" altLang="en-US" sz="3200" b="1" dirty="0">
              <a:solidFill>
                <a:srgbClr val="0000CC"/>
              </a:solidFill>
              <a:latin typeface="宋体" panose="02010600030101010101" pitchFamily="2" charset="-122"/>
            </a:endParaRPr>
          </a:p>
          <a:p>
            <a:pPr>
              <a:spcBef>
                <a:spcPct val="50000"/>
              </a:spcBef>
            </a:pPr>
            <a:r>
              <a:rPr lang="zh-CN" altLang="en-US" sz="3200" b="1" dirty="0">
                <a:solidFill>
                  <a:srgbClr val="0000CC"/>
                </a:solidFill>
                <a:latin typeface="宋体" panose="02010600030101010101" pitchFamily="2" charset="-122"/>
              </a:rPr>
              <a:t>变化的发展趋势。    </a:t>
            </a:r>
            <a:endParaRPr lang="zh-CN" altLang="en-US" sz="3200" b="1" dirty="0">
              <a:solidFill>
                <a:srgbClr val="0000CC"/>
              </a:solidFill>
              <a:latin typeface="宋体" panose="02010600030101010101" pitchFamily="2" charset="-122"/>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82245" y="177800"/>
            <a:ext cx="6096000" cy="583565"/>
          </a:xfrm>
          <a:prstGeom prst="rect">
            <a:avLst/>
          </a:prstGeom>
          <a:noFill/>
        </p:spPr>
        <p:txBody>
          <a:bodyPr wrap="square" rtlCol="0" anchor="t">
            <a:spAutoFit/>
          </a:bodyPr>
          <a:p>
            <a:r>
              <a:rPr lang="zh-CN" altLang="en-US" sz="3200"/>
              <a:t>第21届联合国气候变化大会</a:t>
            </a:r>
            <a:endParaRPr lang="zh-CN" altLang="en-US" sz="3200"/>
          </a:p>
        </p:txBody>
      </p:sp>
      <p:sp>
        <p:nvSpPr>
          <p:cNvPr id="3" name="文本框 2"/>
          <p:cNvSpPr txBox="1"/>
          <p:nvPr/>
        </p:nvSpPr>
        <p:spPr>
          <a:xfrm>
            <a:off x="374015" y="1127760"/>
            <a:ext cx="11510010" cy="4832985"/>
          </a:xfrm>
          <a:prstGeom prst="rect">
            <a:avLst/>
          </a:prstGeom>
          <a:noFill/>
        </p:spPr>
        <p:txBody>
          <a:bodyPr wrap="square" rtlCol="0" anchor="t">
            <a:noAutofit/>
          </a:bodyPr>
          <a:p>
            <a:r>
              <a:rPr lang="zh-CN" altLang="en-US" sz="2800"/>
              <a:t>第21届联合国气候变化大会全称是“《联合国气候变化框架公约》第21次缔约方大会暨《京都议定书》第11次缔约方大会”，大会于2015年11月30日至12月11日在巴黎北郊的布尔歇展览中心举行。已有184个国家提交了应对气候变化“国家自主贡献”文件，涵盖全球碳排放量的97.9%。超过150个国家元首和政府首脑参加了本次气候大会的开幕式。</a:t>
            </a:r>
            <a:endParaRPr lang="zh-CN" altLang="en-US" sz="2800"/>
          </a:p>
          <a:p>
            <a:r>
              <a:rPr lang="zh-CN" altLang="en-US" sz="2800"/>
              <a:t>大会目的是促使196个缔约方（195个国家+欧盟）形成统一意见，达成一项普遍适用的协议，并于2020年开始付诸实施。</a:t>
            </a:r>
            <a:endParaRPr lang="zh-CN" altLang="en-US" sz="2800"/>
          </a:p>
          <a:p>
            <a:r>
              <a:rPr lang="zh-CN" altLang="en-US" sz="2800"/>
              <a:t>2015年12月12日，《联合国气候变化框架公约》近200个缔约方一致同意通过《巴黎协定》，协定将为2020年后全球应对气候变化行动作出安排。</a:t>
            </a:r>
            <a:endParaRPr lang="zh-CN" altLang="en-US" sz="280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95938" name="组合 295937"/>
          <p:cNvGrpSpPr/>
          <p:nvPr/>
        </p:nvGrpSpPr>
        <p:grpSpPr>
          <a:xfrm>
            <a:off x="1981200" y="457200"/>
            <a:ext cx="2895600" cy="1828800"/>
            <a:chOff x="288" y="288"/>
            <a:chExt cx="1824" cy="1152"/>
          </a:xfrm>
        </p:grpSpPr>
        <p:sp>
          <p:nvSpPr>
            <p:cNvPr id="295939" name="菱形 295938"/>
            <p:cNvSpPr/>
            <p:nvPr/>
          </p:nvSpPr>
          <p:spPr>
            <a:xfrm>
              <a:off x="288" y="288"/>
              <a:ext cx="1824" cy="768"/>
            </a:xfrm>
            <a:prstGeom prst="diamond">
              <a:avLst/>
            </a:prstGeom>
            <a:gradFill rotWithShape="0">
              <a:gsLst>
                <a:gs pos="0">
                  <a:srgbClr val="CCFF66"/>
                </a:gs>
                <a:gs pos="50000">
                  <a:schemeClr val="bg1"/>
                </a:gs>
                <a:gs pos="100000">
                  <a:srgbClr val="CCFF66"/>
                </a:gs>
              </a:gsLst>
              <a:lin ang="5400000" scaled="1"/>
              <a:tileRect/>
            </a:gradFill>
            <a:ln w="9525" cap="flat" cmpd="sng">
              <a:solidFill>
                <a:schemeClr val="tx1"/>
              </a:solidFill>
              <a:prstDash val="solid"/>
              <a:miter/>
              <a:headEnd type="none" w="med" len="med"/>
              <a:tailEnd type="none" w="med" len="med"/>
            </a:ln>
          </p:spPr>
          <p:txBody>
            <a:bodyPr wrap="none" anchor="ctr" anchorCtr="0"/>
            <a:p>
              <a:pPr algn="ctr"/>
              <a:r>
                <a:rPr lang="zh-CN" altLang="en-US" sz="2800" b="1" dirty="0">
                  <a:latin typeface="Times New Roman" panose="02020603050405020304" charset="0"/>
                  <a:ea typeface="黑体" panose="02010609060101010101" pitchFamily="2" charset="-122"/>
                </a:rPr>
                <a:t>全球变暖</a:t>
              </a:r>
              <a:endParaRPr lang="zh-CN" altLang="en-US" sz="2800" b="1" dirty="0">
                <a:latin typeface="Times New Roman" panose="02020603050405020304" charset="0"/>
                <a:ea typeface="黑体" panose="02010609060101010101" pitchFamily="2" charset="-122"/>
              </a:endParaRPr>
            </a:p>
          </p:txBody>
        </p:sp>
        <p:sp>
          <p:nvSpPr>
            <p:cNvPr id="295940" name="左弧形箭头 295939"/>
            <p:cNvSpPr/>
            <p:nvPr/>
          </p:nvSpPr>
          <p:spPr>
            <a:xfrm>
              <a:off x="1392" y="864"/>
              <a:ext cx="336" cy="576"/>
            </a:xfrm>
            <a:prstGeom prst="curvedRightArrow">
              <a:avLst>
                <a:gd name="adj1" fmla="val 31189"/>
                <a:gd name="adj2" fmla="val 65475"/>
                <a:gd name="adj3" fmla="val 3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grpSp>
      <p:sp>
        <p:nvSpPr>
          <p:cNvPr id="295941" name="椭圆 295940"/>
          <p:cNvSpPr/>
          <p:nvPr/>
        </p:nvSpPr>
        <p:spPr>
          <a:xfrm>
            <a:off x="4572000" y="1905000"/>
            <a:ext cx="4343400" cy="914400"/>
          </a:xfrm>
          <a:prstGeom prst="ellipse">
            <a:avLst/>
          </a:prstGeom>
          <a:gradFill rotWithShape="0">
            <a:gsLst>
              <a:gs pos="0">
                <a:srgbClr val="FFCCCC"/>
              </a:gs>
              <a:gs pos="100000">
                <a:schemeClr val="bg1"/>
              </a:gs>
            </a:gsLst>
            <a:lin ang="5400000" scaled="1"/>
            <a:tileRect/>
          </a:gradFill>
          <a:ln w="9525" cap="flat" cmpd="sng">
            <a:solidFill>
              <a:schemeClr val="tx1"/>
            </a:solidFill>
            <a:prstDash val="solid"/>
            <a:headEnd type="none" w="med" len="med"/>
            <a:tailEnd type="none" w="med" len="med"/>
          </a:ln>
        </p:spPr>
        <p:txBody>
          <a:bodyPr wrap="none" anchor="ctr" anchorCtr="0"/>
          <a:p>
            <a:pPr algn="ctr"/>
            <a:r>
              <a:rPr lang="zh-CN" altLang="en-US" sz="2800" b="1" dirty="0">
                <a:latin typeface="Times New Roman" panose="02020603050405020304" charset="0"/>
                <a:ea typeface="黑体" panose="02010609060101010101" pitchFamily="2" charset="-122"/>
              </a:rPr>
              <a:t>原因：温室效应的加剧</a:t>
            </a:r>
            <a:endParaRPr lang="zh-CN" altLang="en-US" sz="2800" b="1" dirty="0">
              <a:latin typeface="Times New Roman" panose="02020603050405020304" charset="0"/>
              <a:ea typeface="黑体" panose="02010609060101010101" pitchFamily="2" charset="-122"/>
            </a:endParaRPr>
          </a:p>
        </p:txBody>
      </p:sp>
      <p:sp>
        <p:nvSpPr>
          <p:cNvPr id="295942" name="折角形 295941"/>
          <p:cNvSpPr/>
          <p:nvPr/>
        </p:nvSpPr>
        <p:spPr>
          <a:xfrm>
            <a:off x="1828800" y="3200400"/>
            <a:ext cx="8305800" cy="3276600"/>
          </a:xfrm>
          <a:prstGeom prst="foldedCorner">
            <a:avLst>
              <a:gd name="adj" fmla="val 12500"/>
            </a:avLst>
          </a:prstGeom>
          <a:gradFill rotWithShape="0">
            <a:gsLst>
              <a:gs pos="0">
                <a:schemeClr val="accent1"/>
              </a:gs>
              <a:gs pos="50000">
                <a:schemeClr val="bg1"/>
              </a:gs>
              <a:gs pos="100000">
                <a:schemeClr val="accent1"/>
              </a:gs>
            </a:gsLst>
            <a:lin ang="18900000" scaled="1"/>
            <a:tileRect/>
          </a:gradFill>
          <a:ln w="9525" cap="flat" cmpd="sng">
            <a:solidFill>
              <a:schemeClr val="tx1"/>
            </a:solidFill>
            <a:prstDash val="solid"/>
            <a:headEnd type="none" w="med" len="med"/>
            <a:tailEnd type="none" w="med" len="med"/>
          </a:ln>
        </p:spPr>
        <p:txBody>
          <a:bodyPr wrap="none" anchor="ctr" anchorCtr="0"/>
          <a:p>
            <a:pPr>
              <a:lnSpc>
                <a:spcPct val="125000"/>
              </a:lnSpc>
            </a:pPr>
            <a:r>
              <a:rPr lang="zh-CN" altLang="en-US" sz="2400" b="1" dirty="0">
                <a:latin typeface="楷体_GB2312" charset="-122"/>
                <a:ea typeface="楷体_GB2312" charset="-122"/>
              </a:rPr>
              <a:t>温室效应：</a:t>
            </a:r>
            <a:endParaRPr lang="zh-CN" altLang="en-US" sz="2400" b="1" dirty="0">
              <a:latin typeface="楷体_GB2312" charset="-122"/>
              <a:ea typeface="楷体_GB2312" charset="-122"/>
            </a:endParaRPr>
          </a:p>
          <a:p>
            <a:pPr>
              <a:lnSpc>
                <a:spcPct val="125000"/>
              </a:lnSpc>
            </a:pPr>
            <a:r>
              <a:rPr lang="zh-CN" altLang="en-US" sz="2400" b="1" dirty="0">
                <a:latin typeface="楷体_GB2312" charset="-122"/>
                <a:ea typeface="楷体_GB2312" charset="-122"/>
              </a:rPr>
              <a:t>    太阳发出的短波辐射透过大气层到达地面，使地表温度</a:t>
            </a:r>
            <a:endParaRPr lang="zh-CN" altLang="en-US" sz="2400" b="1" dirty="0">
              <a:latin typeface="楷体_GB2312" charset="-122"/>
              <a:ea typeface="楷体_GB2312" charset="-122"/>
            </a:endParaRPr>
          </a:p>
          <a:p>
            <a:pPr>
              <a:lnSpc>
                <a:spcPct val="125000"/>
              </a:lnSpc>
            </a:pPr>
            <a:r>
              <a:rPr lang="zh-CN" altLang="en-US" sz="2400" b="1" dirty="0">
                <a:latin typeface="楷体_GB2312" charset="-122"/>
                <a:ea typeface="楷体_GB2312" charset="-122"/>
              </a:rPr>
              <a:t>上升，发出长波辐射，大气中的温室气体对短波吸收很弱，</a:t>
            </a:r>
            <a:endParaRPr lang="zh-CN" altLang="en-US" sz="2400" b="1" dirty="0">
              <a:latin typeface="楷体_GB2312" charset="-122"/>
              <a:ea typeface="楷体_GB2312" charset="-122"/>
            </a:endParaRPr>
          </a:p>
          <a:p>
            <a:pPr>
              <a:lnSpc>
                <a:spcPct val="125000"/>
              </a:lnSpc>
            </a:pPr>
            <a:r>
              <a:rPr lang="zh-CN" altLang="en-US" sz="2400" b="1" dirty="0">
                <a:latin typeface="楷体_GB2312" charset="-122"/>
                <a:ea typeface="楷体_GB2312" charset="-122"/>
              </a:rPr>
              <a:t>而对长波辐射吸收很强。因此地表从太阳辐射获得的热量相</a:t>
            </a:r>
            <a:endParaRPr lang="zh-CN" altLang="en-US" sz="2400" b="1" dirty="0">
              <a:latin typeface="楷体_GB2312" charset="-122"/>
              <a:ea typeface="楷体_GB2312" charset="-122"/>
            </a:endParaRPr>
          </a:p>
          <a:p>
            <a:pPr>
              <a:lnSpc>
                <a:spcPct val="125000"/>
              </a:lnSpc>
            </a:pPr>
            <a:r>
              <a:rPr lang="zh-CN" altLang="en-US" sz="2400" b="1" dirty="0">
                <a:latin typeface="楷体_GB2312" charset="-122"/>
                <a:ea typeface="楷体_GB2312" charset="-122"/>
              </a:rPr>
              <a:t>对多，而散失到大气层以外的热量相对少，地球表面的温度</a:t>
            </a:r>
            <a:endParaRPr lang="zh-CN" altLang="en-US" sz="2400" b="1" dirty="0">
              <a:latin typeface="楷体_GB2312" charset="-122"/>
              <a:ea typeface="楷体_GB2312" charset="-122"/>
            </a:endParaRPr>
          </a:p>
          <a:p>
            <a:pPr>
              <a:lnSpc>
                <a:spcPct val="125000"/>
              </a:lnSpc>
            </a:pPr>
            <a:r>
              <a:rPr lang="zh-CN" altLang="en-US" sz="2400" b="1" dirty="0">
                <a:latin typeface="楷体_GB2312" charset="-122"/>
                <a:ea typeface="楷体_GB2312" charset="-122"/>
              </a:rPr>
              <a:t>得以维持，这就是大气的温室效应。</a:t>
            </a:r>
            <a:endParaRPr lang="zh-CN" altLang="en-US" sz="2400" b="1" dirty="0">
              <a:latin typeface="楷体_GB2312" charset="-122"/>
              <a:ea typeface="楷体_GB2312" charset="-122"/>
            </a:endParaRPr>
          </a:p>
        </p:txBody>
      </p:sp>
      <p:pic>
        <p:nvPicPr>
          <p:cNvPr id="295943" name="图片 295942" descr="HC_185"/>
          <p:cNvPicPr>
            <a:picLocks noChangeAspect="1"/>
          </p:cNvPicPr>
          <p:nvPr/>
        </p:nvPicPr>
        <p:blipFill>
          <a:blip r:embed="rId1"/>
          <a:stretch>
            <a:fillRect/>
          </a:stretch>
        </p:blipFill>
        <p:spPr>
          <a:xfrm>
            <a:off x="9448800" y="0"/>
            <a:ext cx="1219200" cy="1028700"/>
          </a:xfrm>
          <a:prstGeom prst="rect">
            <a:avLst/>
          </a:prstGeom>
          <a:noFill/>
          <a:ln w="9525">
            <a:noFill/>
          </a:ln>
        </p:spPr>
      </p:pic>
      <p:sp>
        <p:nvSpPr>
          <p:cNvPr id="295944" name="折角形 295943"/>
          <p:cNvSpPr/>
          <p:nvPr/>
        </p:nvSpPr>
        <p:spPr>
          <a:xfrm>
            <a:off x="2057400" y="3962400"/>
            <a:ext cx="8501380" cy="2590800"/>
          </a:xfrm>
          <a:prstGeom prst="foldedCorner">
            <a:avLst>
              <a:gd name="adj" fmla="val 12500"/>
            </a:avLst>
          </a:prstGeom>
          <a:gradFill rotWithShape="0">
            <a:gsLst>
              <a:gs pos="0">
                <a:schemeClr val="accent1"/>
              </a:gs>
              <a:gs pos="50000">
                <a:schemeClr val="bg1"/>
              </a:gs>
              <a:gs pos="100000">
                <a:schemeClr val="accent1"/>
              </a:gs>
            </a:gsLst>
            <a:lin ang="18900000" scaled="1"/>
            <a:tileRect/>
          </a:gradFill>
          <a:ln w="9525" cap="flat" cmpd="sng">
            <a:solidFill>
              <a:schemeClr val="tx1"/>
            </a:solidFill>
            <a:prstDash val="solid"/>
            <a:headEnd type="none" w="med" len="med"/>
            <a:tailEnd type="none" w="med" len="med"/>
          </a:ln>
        </p:spPr>
        <p:txBody>
          <a:bodyPr wrap="none" anchor="ctr" anchorCtr="0"/>
          <a:p>
            <a:pPr>
              <a:lnSpc>
                <a:spcPct val="130000"/>
              </a:lnSpc>
            </a:pPr>
            <a:r>
              <a:rPr lang="zh-CN" altLang="en-US" sz="2400" b="1" dirty="0">
                <a:latin typeface="楷体_GB2312" charset="-122"/>
                <a:ea typeface="楷体_GB2312" charset="-122"/>
              </a:rPr>
              <a:t>温室气体：</a:t>
            </a:r>
            <a:endParaRPr lang="zh-CN" altLang="en-US" sz="2400" b="1" dirty="0">
              <a:latin typeface="楷体_GB2312" charset="-122"/>
              <a:ea typeface="楷体_GB2312" charset="-122"/>
            </a:endParaRPr>
          </a:p>
          <a:p>
            <a:pPr>
              <a:lnSpc>
                <a:spcPct val="130000"/>
              </a:lnSpc>
            </a:pPr>
            <a:endParaRPr lang="zh-CN" altLang="en-US" sz="2400" b="1" dirty="0">
              <a:latin typeface="楷体_GB2312" charset="-122"/>
              <a:ea typeface="楷体_GB2312" charset="-122"/>
            </a:endParaRPr>
          </a:p>
          <a:p>
            <a:pPr>
              <a:lnSpc>
                <a:spcPct val="130000"/>
              </a:lnSpc>
            </a:pPr>
            <a:r>
              <a:rPr lang="zh-CN" altLang="en-US" sz="2400" b="1" dirty="0">
                <a:latin typeface="楷体_GB2312" charset="-122"/>
                <a:ea typeface="楷体_GB2312" charset="-122"/>
              </a:rPr>
              <a:t>         二氧化碳、甲烷、一氧化碳、二氯乙烷、</a:t>
            </a:r>
            <a:r>
              <a:rPr lang="en-US" altLang="zh-CN" sz="2400" b="1" dirty="0">
                <a:latin typeface="楷体_GB2312" charset="-122"/>
                <a:ea typeface="楷体_GB2312" charset="-122"/>
              </a:rPr>
              <a:t>H</a:t>
            </a:r>
            <a:r>
              <a:rPr lang="en-US" altLang="zh-CN" sz="2400" b="1" baseline="-25000" dirty="0">
                <a:latin typeface="楷体_GB2312" charset="-122"/>
                <a:ea typeface="楷体_GB2312" charset="-122"/>
              </a:rPr>
              <a:t>2</a:t>
            </a:r>
            <a:r>
              <a:rPr lang="en-US" altLang="zh-CN" sz="2400" b="1" dirty="0">
                <a:latin typeface="楷体_GB2312" charset="-122"/>
                <a:ea typeface="楷体_GB2312" charset="-122"/>
              </a:rPr>
              <a:t>O</a:t>
            </a:r>
            <a:r>
              <a:rPr lang="zh-CN" altLang="en-US" sz="2400" b="1" dirty="0">
                <a:latin typeface="楷体_GB2312" charset="-122"/>
                <a:ea typeface="楷体_GB2312" charset="-122"/>
              </a:rPr>
              <a:t>，臭氧、</a:t>
            </a:r>
            <a:endParaRPr lang="zh-CN" altLang="en-US" sz="2400" b="1" dirty="0">
              <a:latin typeface="楷体_GB2312" charset="-122"/>
              <a:ea typeface="楷体_GB2312" charset="-122"/>
            </a:endParaRPr>
          </a:p>
          <a:p>
            <a:pPr>
              <a:lnSpc>
                <a:spcPct val="130000"/>
              </a:lnSpc>
            </a:pPr>
            <a:endParaRPr lang="zh-CN" altLang="en-US" sz="2400" b="1" dirty="0">
              <a:latin typeface="楷体_GB2312" charset="-122"/>
              <a:ea typeface="楷体_GB2312" charset="-122"/>
            </a:endParaRPr>
          </a:p>
          <a:p>
            <a:pPr>
              <a:lnSpc>
                <a:spcPct val="130000"/>
              </a:lnSpc>
            </a:pPr>
            <a:r>
              <a:rPr lang="zh-CN" altLang="en-US" sz="2400" b="1">
                <a:latin typeface="楷体_GB2312" charset="-122"/>
                <a:ea typeface="楷体_GB2312" charset="-122"/>
              </a:rPr>
              <a:t>         </a:t>
            </a:r>
            <a:r>
              <a:rPr lang="en-US" altLang="zh-CN" sz="2400" b="1">
                <a:latin typeface="楷体_GB2312" charset="-122"/>
                <a:ea typeface="楷体_GB2312" charset="-122"/>
              </a:rPr>
              <a:t>CFC11</a:t>
            </a:r>
            <a:r>
              <a:rPr lang="zh-CN" altLang="en-US" sz="2400" b="1">
                <a:latin typeface="楷体_GB2312" charset="-122"/>
                <a:ea typeface="楷体_GB2312" charset="-122"/>
              </a:rPr>
              <a:t>、</a:t>
            </a:r>
            <a:r>
              <a:rPr lang="en-US" altLang="zh-CN" sz="2400" b="1">
                <a:latin typeface="楷体_GB2312" charset="-122"/>
                <a:ea typeface="楷体_GB2312" charset="-122"/>
              </a:rPr>
              <a:t>CFC12</a:t>
            </a:r>
            <a:r>
              <a:rPr lang="zh-CN" altLang="en-US" sz="2400" b="1">
                <a:latin typeface="楷体_GB2312" charset="-122"/>
                <a:ea typeface="楷体_GB2312" charset="-122"/>
              </a:rPr>
              <a:t>、</a:t>
            </a:r>
            <a:r>
              <a:rPr lang="zh-CN" altLang="en-US" sz="2400" b="1" dirty="0">
                <a:latin typeface="楷体_GB2312" charset="-122"/>
                <a:ea typeface="楷体_GB2312" charset="-122"/>
              </a:rPr>
              <a:t>四氯化碳、一氧化碳</a:t>
            </a:r>
            <a:endParaRPr lang="zh-CN" altLang="en-US" sz="2400" b="1" dirty="0">
              <a:latin typeface="楷体_GB2312" charset="-122"/>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95941"/>
                                        </p:tgtEl>
                                        <p:attrNameLst>
                                          <p:attrName>style.visibility</p:attrName>
                                        </p:attrNameLst>
                                      </p:cBhvr>
                                      <p:to>
                                        <p:strVal val="visible"/>
                                      </p:to>
                                    </p:set>
                                    <p:animEffect transition="in" filter="dissolve">
                                      <p:cBhvr>
                                        <p:cTn id="7" dur="500"/>
                                        <p:tgtEl>
                                          <p:spTgt spid="29594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95942"/>
                                        </p:tgtEl>
                                        <p:attrNameLst>
                                          <p:attrName>style.visibility</p:attrName>
                                        </p:attrNameLst>
                                      </p:cBhvr>
                                      <p:to>
                                        <p:strVal val="visible"/>
                                      </p:to>
                                    </p:set>
                                    <p:animEffect transition="in" filter="barn(inHorizontal)">
                                      <p:cBhvr>
                                        <p:cTn id="12" dur="500"/>
                                        <p:tgtEl>
                                          <p:spTgt spid="295942"/>
                                        </p:tgtEl>
                                      </p:cBhvr>
                                    </p:animEffect>
                                  </p:childTnLst>
                                  <p:subTnLst>
                                    <p:set>
                                      <p:cBhvr override="childStyle">
                                        <p:cTn dur="1" fill="hold" display="0" masterRel="nextClick" afterEffect="1"/>
                                        <p:tgtEl>
                                          <p:spTgt spid="29594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95944"/>
                                        </p:tgtEl>
                                        <p:attrNameLst>
                                          <p:attrName>style.visibility</p:attrName>
                                        </p:attrNameLst>
                                      </p:cBhvr>
                                      <p:to>
                                        <p:strVal val="visible"/>
                                      </p:to>
                                    </p:set>
                                    <p:anim calcmode="lin" valueType="num">
                                      <p:cBhvr additive="base">
                                        <p:cTn id="17" dur="500" fill="hold"/>
                                        <p:tgtEl>
                                          <p:spTgt spid="295944"/>
                                        </p:tgtEl>
                                        <p:attrNameLst>
                                          <p:attrName>ppt_x</p:attrName>
                                        </p:attrNameLst>
                                      </p:cBhvr>
                                      <p:tavLst>
                                        <p:tav tm="0">
                                          <p:val>
                                            <p:strVal val="0-#ppt_w/2"/>
                                          </p:val>
                                        </p:tav>
                                        <p:tav tm="100000">
                                          <p:val>
                                            <p:strVal val="#ppt_x"/>
                                          </p:val>
                                        </p:tav>
                                      </p:tavLst>
                                    </p:anim>
                                    <p:anim calcmode="lin" valueType="num">
                                      <p:cBhvr additive="base">
                                        <p:cTn id="18" dur="500" fill="hold"/>
                                        <p:tgtEl>
                                          <p:spTgt spid="2959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1" grpId="0" bldLvl="0" animBg="1"/>
      <p:bldP spid="295942" grpId="0" bldLvl="0" animBg="1"/>
      <p:bldP spid="295944" grpId="0" bldLvl="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62" name="图片 296961"/>
          <p:cNvPicPr>
            <a:picLocks noChangeAspect="1"/>
          </p:cNvPicPr>
          <p:nvPr/>
        </p:nvPicPr>
        <p:blipFill>
          <a:blip r:embed="rId1"/>
          <a:stretch>
            <a:fillRect/>
          </a:stretch>
        </p:blipFill>
        <p:spPr>
          <a:xfrm>
            <a:off x="2057400" y="2286000"/>
            <a:ext cx="8305800" cy="2708275"/>
          </a:xfrm>
          <a:prstGeom prst="rect">
            <a:avLst/>
          </a:prstGeom>
          <a:noFill/>
          <a:ln w="9525">
            <a:noFill/>
          </a:ln>
        </p:spPr>
      </p:pic>
      <p:pic>
        <p:nvPicPr>
          <p:cNvPr id="296963" name="图片 296962" descr="HC_185"/>
          <p:cNvPicPr>
            <a:picLocks noChangeAspect="1"/>
          </p:cNvPicPr>
          <p:nvPr/>
        </p:nvPicPr>
        <p:blipFill>
          <a:blip r:embed="rId2"/>
          <a:stretch>
            <a:fillRect/>
          </a:stretch>
        </p:blipFill>
        <p:spPr>
          <a:xfrm>
            <a:off x="9448800" y="0"/>
            <a:ext cx="1219200" cy="1028700"/>
          </a:xfrm>
          <a:prstGeom prst="rect">
            <a:avLst/>
          </a:prstGeom>
          <a:noFill/>
          <a:ln w="9525">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7986" name="折角形 297985"/>
          <p:cNvSpPr/>
          <p:nvPr/>
        </p:nvSpPr>
        <p:spPr>
          <a:xfrm>
            <a:off x="2133600" y="1524000"/>
            <a:ext cx="8305800" cy="4953000"/>
          </a:xfrm>
          <a:prstGeom prst="foldedCorner">
            <a:avLst>
              <a:gd name="adj" fmla="val 12500"/>
            </a:avLst>
          </a:prstGeom>
          <a:gradFill rotWithShape="0">
            <a:gsLst>
              <a:gs pos="0">
                <a:schemeClr val="accent1"/>
              </a:gs>
              <a:gs pos="50000">
                <a:schemeClr val="bg1"/>
              </a:gs>
              <a:gs pos="100000">
                <a:schemeClr val="accent1"/>
              </a:gs>
            </a:gsLst>
            <a:lin ang="18900000" scaled="1"/>
            <a:tileRect/>
          </a:gradFill>
          <a:ln w="9525" cap="flat" cmpd="sng">
            <a:solidFill>
              <a:schemeClr val="tx1"/>
            </a:solidFill>
            <a:prstDash val="solid"/>
            <a:headEnd type="none" w="med" len="med"/>
            <a:tailEnd type="none" w="med" len="med"/>
          </a:ln>
        </p:spPr>
        <p:txBody>
          <a:bodyPr wrap="none" anchor="ctr" anchorCtr="0"/>
          <a:p>
            <a:pPr>
              <a:lnSpc>
                <a:spcPct val="125000"/>
              </a:lnSpc>
            </a:pPr>
            <a:r>
              <a:rPr lang="en-US" altLang="zh-CN" sz="2800" b="1">
                <a:latin typeface="楷体_GB2312" charset="-122"/>
                <a:ea typeface="楷体_GB2312" charset="-122"/>
              </a:rPr>
              <a:t>    19</a:t>
            </a:r>
            <a:r>
              <a:rPr lang="zh-CN" altLang="en-US" sz="2800" b="1" dirty="0">
                <a:latin typeface="楷体_GB2312" charset="-122"/>
                <a:ea typeface="楷体_GB2312" charset="-122"/>
              </a:rPr>
              <a:t>世纪初，大气中</a:t>
            </a:r>
            <a:r>
              <a:rPr lang="en-US" altLang="zh-CN" sz="2800" b="1">
                <a:latin typeface="楷体_GB2312" charset="-122"/>
                <a:ea typeface="楷体_GB2312" charset="-122"/>
              </a:rPr>
              <a:t>CO</a:t>
            </a:r>
            <a:r>
              <a:rPr lang="en-US" altLang="zh-CN" sz="2800" b="1" baseline="-25000">
                <a:latin typeface="楷体_GB2312" charset="-122"/>
                <a:ea typeface="楷体_GB2312" charset="-122"/>
              </a:rPr>
              <a:t>2</a:t>
            </a:r>
            <a:r>
              <a:rPr lang="en-US" altLang="zh-CN" sz="2800" b="1">
                <a:latin typeface="楷体_GB2312" charset="-122"/>
                <a:ea typeface="楷体_GB2312" charset="-122"/>
              </a:rPr>
              <a:t> </a:t>
            </a:r>
            <a:r>
              <a:rPr lang="zh-CN" altLang="en-US" sz="2800" b="1" dirty="0">
                <a:latin typeface="楷体_GB2312" charset="-122"/>
                <a:ea typeface="楷体_GB2312" charset="-122"/>
              </a:rPr>
              <a:t>浓度为</a:t>
            </a:r>
            <a:r>
              <a:rPr lang="en-US" altLang="zh-CN" sz="2800" b="1" dirty="0">
                <a:latin typeface="楷体_GB2312" charset="-122"/>
                <a:ea typeface="楷体_GB2312" charset="-122"/>
              </a:rPr>
              <a:t>270</a:t>
            </a:r>
            <a:r>
              <a:rPr lang="en-US" altLang="zh-CN" sz="2800" b="1" dirty="0" err="1">
                <a:latin typeface="楷体_GB2312" charset="-122"/>
                <a:ea typeface="楷体_GB2312" charset="-122"/>
              </a:rPr>
              <a:t>ppm</a:t>
            </a:r>
            <a:r>
              <a:rPr lang="zh-CN" altLang="en-US" sz="2800" b="1">
                <a:latin typeface="楷体_GB2312" charset="-122"/>
                <a:ea typeface="楷体_GB2312" charset="-122"/>
              </a:rPr>
              <a:t>；</a:t>
            </a:r>
            <a:endParaRPr lang="zh-CN" altLang="en-US" sz="2800" b="1">
              <a:latin typeface="楷体_GB2312" charset="-122"/>
              <a:ea typeface="楷体_GB2312" charset="-122"/>
            </a:endParaRPr>
          </a:p>
          <a:p>
            <a:pPr>
              <a:spcBef>
                <a:spcPct val="20000"/>
              </a:spcBef>
            </a:pPr>
            <a:r>
              <a:rPr lang="zh-CN" altLang="en-US" sz="2800" b="1">
                <a:latin typeface="楷体_GB2312" charset="-122"/>
                <a:ea typeface="楷体_GB2312" charset="-122"/>
              </a:rPr>
              <a:t>    </a:t>
            </a:r>
            <a:r>
              <a:rPr lang="en-US" altLang="zh-CN" sz="2800" b="1">
                <a:latin typeface="楷体_GB2312" charset="-122"/>
                <a:ea typeface="楷体_GB2312" charset="-122"/>
              </a:rPr>
              <a:t>1988</a:t>
            </a:r>
            <a:r>
              <a:rPr lang="zh-CN" altLang="en-US" sz="2800" b="1" dirty="0">
                <a:latin typeface="楷体_GB2312" charset="-122"/>
                <a:ea typeface="楷体_GB2312" charset="-122"/>
              </a:rPr>
              <a:t>年上升到</a:t>
            </a:r>
            <a:r>
              <a:rPr lang="en-US" altLang="zh-CN" sz="2800" b="1" dirty="0">
                <a:latin typeface="楷体_GB2312" charset="-122"/>
                <a:ea typeface="楷体_GB2312" charset="-122"/>
              </a:rPr>
              <a:t>350</a:t>
            </a:r>
            <a:r>
              <a:rPr lang="en-US" altLang="zh-CN" sz="2800" b="1" dirty="0" err="1">
                <a:latin typeface="楷体_GB2312" charset="-122"/>
                <a:ea typeface="楷体_GB2312" charset="-122"/>
              </a:rPr>
              <a:t>ppm</a:t>
            </a:r>
            <a:r>
              <a:rPr lang="zh-CN" altLang="en-US" sz="2800" b="1">
                <a:latin typeface="楷体_GB2312" charset="-122"/>
                <a:ea typeface="楷体_GB2312" charset="-122"/>
              </a:rPr>
              <a:t>；</a:t>
            </a:r>
            <a:endParaRPr lang="zh-CN" altLang="en-US" sz="2800" b="1">
              <a:latin typeface="楷体_GB2312" charset="-122"/>
              <a:ea typeface="楷体_GB2312" charset="-122"/>
            </a:endParaRPr>
          </a:p>
          <a:p>
            <a:pPr>
              <a:spcBef>
                <a:spcPct val="20000"/>
              </a:spcBef>
            </a:pPr>
            <a:r>
              <a:rPr lang="zh-CN" altLang="en-US" sz="2800" b="1">
                <a:latin typeface="楷体_GB2312" charset="-122"/>
                <a:ea typeface="楷体_GB2312" charset="-122"/>
              </a:rPr>
              <a:t>    </a:t>
            </a:r>
            <a:r>
              <a:rPr lang="zh-CN" altLang="en-US" sz="2800" b="1" dirty="0">
                <a:latin typeface="楷体_GB2312" charset="-122"/>
                <a:ea typeface="楷体_GB2312" charset="-122"/>
              </a:rPr>
              <a:t>大气中</a:t>
            </a:r>
            <a:r>
              <a:rPr lang="en-US" altLang="zh-CN" sz="2800" b="1">
                <a:latin typeface="楷体_GB2312" charset="-122"/>
                <a:ea typeface="楷体_GB2312" charset="-122"/>
              </a:rPr>
              <a:t>CO</a:t>
            </a:r>
            <a:r>
              <a:rPr lang="en-US" altLang="zh-CN" sz="2800" b="1" baseline="-25000">
                <a:latin typeface="楷体_GB2312" charset="-122"/>
                <a:ea typeface="楷体_GB2312" charset="-122"/>
              </a:rPr>
              <a:t>2</a:t>
            </a:r>
            <a:r>
              <a:rPr lang="zh-CN" altLang="en-US" sz="2800" b="1" dirty="0">
                <a:latin typeface="楷体_GB2312" charset="-122"/>
                <a:ea typeface="楷体_GB2312" charset="-122"/>
              </a:rPr>
              <a:t>浓度急剧增加的原因主要有两个：</a:t>
            </a:r>
            <a:endParaRPr lang="zh-CN" altLang="en-US" sz="2800" b="1" dirty="0">
              <a:latin typeface="楷体_GB2312" charset="-122"/>
              <a:ea typeface="楷体_GB2312" charset="-122"/>
            </a:endParaRPr>
          </a:p>
          <a:p>
            <a:pPr>
              <a:spcBef>
                <a:spcPct val="20000"/>
              </a:spcBef>
            </a:pPr>
            <a:r>
              <a:rPr lang="zh-CN" altLang="en-US" sz="2800" b="1" dirty="0">
                <a:latin typeface="楷体_GB2312" charset="-122"/>
                <a:ea typeface="楷体_GB2312" charset="-122"/>
              </a:rPr>
              <a:t>首先，随着工业化的发展人口的剧增，人类消耗的</a:t>
            </a:r>
            <a:endParaRPr lang="zh-CN" altLang="en-US" sz="2800" b="1" dirty="0">
              <a:latin typeface="楷体_GB2312" charset="-122"/>
              <a:ea typeface="楷体_GB2312" charset="-122"/>
            </a:endParaRPr>
          </a:p>
          <a:p>
            <a:pPr>
              <a:spcBef>
                <a:spcPct val="20000"/>
              </a:spcBef>
            </a:pPr>
            <a:r>
              <a:rPr lang="zh-CN" altLang="en-US" sz="2800" b="1" dirty="0">
                <a:latin typeface="楷体_GB2312" charset="-122"/>
                <a:ea typeface="楷体_GB2312" charset="-122"/>
              </a:rPr>
              <a:t>矿物燃料迅速增加燃烧产生的</a:t>
            </a:r>
            <a:r>
              <a:rPr lang="en-US" altLang="zh-CN" sz="2800" b="1">
                <a:latin typeface="楷体_GB2312" charset="-122"/>
                <a:ea typeface="楷体_GB2312" charset="-122"/>
              </a:rPr>
              <a:t>CO</a:t>
            </a:r>
            <a:r>
              <a:rPr lang="en-US" altLang="zh-CN" sz="2800" b="1" baseline="-25000">
                <a:latin typeface="楷体_GB2312" charset="-122"/>
                <a:ea typeface="楷体_GB2312" charset="-122"/>
              </a:rPr>
              <a:t>2</a:t>
            </a:r>
            <a:r>
              <a:rPr lang="zh-CN" altLang="en-US" sz="2800" b="1" dirty="0">
                <a:latin typeface="楷体_GB2312" charset="-122"/>
                <a:ea typeface="楷体_GB2312" charset="-122"/>
              </a:rPr>
              <a:t>释放进入大气层，</a:t>
            </a:r>
            <a:endParaRPr lang="zh-CN" altLang="en-US" sz="2800" b="1" dirty="0">
              <a:latin typeface="楷体_GB2312" charset="-122"/>
              <a:ea typeface="楷体_GB2312" charset="-122"/>
            </a:endParaRPr>
          </a:p>
          <a:p>
            <a:pPr>
              <a:spcBef>
                <a:spcPct val="20000"/>
              </a:spcBef>
            </a:pPr>
            <a:r>
              <a:rPr lang="zh-CN" altLang="en-US" sz="2800" b="1" dirty="0">
                <a:latin typeface="楷体_GB2312" charset="-122"/>
                <a:ea typeface="楷体_GB2312" charset="-122"/>
              </a:rPr>
              <a:t>使大气中</a:t>
            </a:r>
            <a:r>
              <a:rPr lang="en-US" altLang="zh-CN" sz="2800" b="1">
                <a:latin typeface="楷体_GB2312" charset="-122"/>
                <a:ea typeface="楷体_GB2312" charset="-122"/>
              </a:rPr>
              <a:t>CO</a:t>
            </a:r>
            <a:r>
              <a:rPr lang="en-US" altLang="zh-CN" sz="2800" b="1" baseline="-25000">
                <a:latin typeface="楷体_GB2312" charset="-122"/>
                <a:ea typeface="楷体_GB2312" charset="-122"/>
              </a:rPr>
              <a:t>2</a:t>
            </a:r>
            <a:r>
              <a:rPr lang="zh-CN" altLang="en-US" sz="2800" b="1" dirty="0">
                <a:latin typeface="楷体_GB2312" charset="-122"/>
                <a:ea typeface="楷体_GB2312" charset="-122"/>
              </a:rPr>
              <a:t>浓度增加；其次，森林、植被的减少，</a:t>
            </a:r>
            <a:endParaRPr lang="zh-CN" altLang="en-US" sz="2800" b="1" dirty="0">
              <a:latin typeface="楷体_GB2312" charset="-122"/>
              <a:ea typeface="楷体_GB2312" charset="-122"/>
            </a:endParaRPr>
          </a:p>
          <a:p>
            <a:pPr>
              <a:spcBef>
                <a:spcPct val="20000"/>
              </a:spcBef>
            </a:pPr>
            <a:r>
              <a:rPr lang="zh-CN" altLang="en-US" sz="2800" b="1" dirty="0">
                <a:latin typeface="楷体_GB2312" charset="-122"/>
                <a:ea typeface="楷体_GB2312" charset="-122"/>
              </a:rPr>
              <a:t>使全球总的光合作用减小，从而增加了</a:t>
            </a:r>
            <a:r>
              <a:rPr lang="en-US" altLang="zh-CN" sz="2800" b="1">
                <a:latin typeface="楷体_GB2312" charset="-122"/>
                <a:ea typeface="楷体_GB2312" charset="-122"/>
              </a:rPr>
              <a:t>CO</a:t>
            </a:r>
            <a:r>
              <a:rPr lang="en-US" altLang="zh-CN" sz="2800" b="1" baseline="-25000">
                <a:latin typeface="楷体_GB2312" charset="-122"/>
                <a:ea typeface="楷体_GB2312" charset="-122"/>
              </a:rPr>
              <a:t>2</a:t>
            </a:r>
            <a:r>
              <a:rPr lang="zh-CN" altLang="en-US" sz="2800" b="1" dirty="0">
                <a:latin typeface="楷体_GB2312" charset="-122"/>
                <a:ea typeface="楷体_GB2312" charset="-122"/>
              </a:rPr>
              <a:t>在大气中</a:t>
            </a:r>
            <a:endParaRPr lang="zh-CN" altLang="en-US" sz="2800" b="1" dirty="0">
              <a:latin typeface="楷体_GB2312" charset="-122"/>
              <a:ea typeface="楷体_GB2312" charset="-122"/>
            </a:endParaRPr>
          </a:p>
          <a:p>
            <a:pPr>
              <a:spcBef>
                <a:spcPct val="20000"/>
              </a:spcBef>
            </a:pPr>
            <a:r>
              <a:rPr lang="zh-CN" altLang="en-US" sz="2800" b="1" dirty="0">
                <a:latin typeface="楷体_GB2312" charset="-122"/>
                <a:ea typeface="楷体_GB2312" charset="-122"/>
              </a:rPr>
              <a:t>的积累。</a:t>
            </a:r>
            <a:endParaRPr lang="zh-CN" altLang="en-US" sz="2800" b="1" dirty="0">
              <a:latin typeface="楷体_GB2312" charset="-122"/>
              <a:ea typeface="楷体_GB2312" charset="-122"/>
            </a:endParaRPr>
          </a:p>
        </p:txBody>
      </p:sp>
      <p:sp>
        <p:nvSpPr>
          <p:cNvPr id="297987" name="椭圆 297986"/>
          <p:cNvSpPr/>
          <p:nvPr/>
        </p:nvSpPr>
        <p:spPr>
          <a:xfrm>
            <a:off x="3505200" y="228600"/>
            <a:ext cx="4343400" cy="914400"/>
          </a:xfrm>
          <a:prstGeom prst="ellipse">
            <a:avLst/>
          </a:prstGeom>
          <a:gradFill rotWithShape="0">
            <a:gsLst>
              <a:gs pos="0">
                <a:srgbClr val="FFCCCC"/>
              </a:gs>
              <a:gs pos="100000">
                <a:schemeClr val="bg1"/>
              </a:gs>
            </a:gsLst>
            <a:lin ang="5400000" scaled="1"/>
            <a:tileRect/>
          </a:gradFill>
          <a:ln w="9525" cap="flat" cmpd="sng">
            <a:solidFill>
              <a:schemeClr val="tx1"/>
            </a:solidFill>
            <a:prstDash val="solid"/>
            <a:headEnd type="none" w="med" len="med"/>
            <a:tailEnd type="none" w="med" len="med"/>
          </a:ln>
        </p:spPr>
        <p:txBody>
          <a:bodyPr wrap="none" anchor="ctr" anchorCtr="0"/>
          <a:p>
            <a:pPr algn="ctr"/>
            <a:r>
              <a:rPr lang="zh-CN" altLang="en-US" sz="2800" b="1" dirty="0">
                <a:latin typeface="Times New Roman" panose="02020603050405020304" charset="0"/>
                <a:ea typeface="黑体" panose="02010609060101010101" pitchFamily="2" charset="-122"/>
              </a:rPr>
              <a:t>二氧化碳（ </a:t>
            </a:r>
            <a:r>
              <a:rPr lang="en-US" altLang="zh-CN" sz="2800" b="1">
                <a:latin typeface="Times New Roman" panose="02020603050405020304" charset="0"/>
                <a:ea typeface="黑体" panose="02010609060101010101" pitchFamily="2" charset="-122"/>
              </a:rPr>
              <a:t>CO</a:t>
            </a:r>
            <a:r>
              <a:rPr lang="en-US" altLang="zh-CN" sz="2800" b="1" baseline="-25000">
                <a:latin typeface="Times New Roman" panose="02020603050405020304" charset="0"/>
                <a:ea typeface="黑体" panose="02010609060101010101" pitchFamily="2" charset="-122"/>
              </a:rPr>
              <a:t>2</a:t>
            </a:r>
            <a:r>
              <a:rPr lang="en-US" altLang="zh-CN" sz="2800" b="1">
                <a:latin typeface="Times New Roman" panose="02020603050405020304" charset="0"/>
                <a:ea typeface="黑体" panose="02010609060101010101" pitchFamily="2" charset="-122"/>
              </a:rPr>
              <a:t> </a:t>
            </a:r>
            <a:r>
              <a:rPr lang="zh-CN" altLang="en-US" sz="2800" b="1">
                <a:latin typeface="Times New Roman" panose="02020603050405020304" charset="0"/>
                <a:ea typeface="黑体" panose="02010609060101010101" pitchFamily="2" charset="-122"/>
              </a:rPr>
              <a:t>）</a:t>
            </a:r>
            <a:endParaRPr lang="zh-CN" altLang="en-US" sz="2800" b="1">
              <a:latin typeface="Times New Roman" panose="0202060305040502030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97987"/>
                                        </p:tgtEl>
                                        <p:attrNameLst>
                                          <p:attrName>style.visibility</p:attrName>
                                        </p:attrNameLst>
                                      </p:cBhvr>
                                      <p:to>
                                        <p:strVal val="visible"/>
                                      </p:to>
                                    </p:set>
                                    <p:animEffect transition="in" filter="dissolve">
                                      <p:cBhvr>
                                        <p:cTn id="7" dur="500"/>
                                        <p:tgtEl>
                                          <p:spTgt spid="29798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6" fill="hold" grpId="0" nodeType="clickEffect">
                                  <p:stCondLst>
                                    <p:cond delay="0"/>
                                  </p:stCondLst>
                                  <p:childTnLst>
                                    <p:set>
                                      <p:cBhvr>
                                        <p:cTn id="11" dur="1" fill="hold">
                                          <p:stCondLst>
                                            <p:cond delay="0"/>
                                          </p:stCondLst>
                                        </p:cTn>
                                        <p:tgtEl>
                                          <p:spTgt spid="297986"/>
                                        </p:tgtEl>
                                        <p:attrNameLst>
                                          <p:attrName>style.visibility</p:attrName>
                                        </p:attrNameLst>
                                      </p:cBhvr>
                                      <p:to>
                                        <p:strVal val="visible"/>
                                      </p:to>
                                    </p:set>
                                    <p:animEffect transition="in" filter="barn(inHorizontal)">
                                      <p:cBhvr>
                                        <p:cTn id="12" dur="500"/>
                                        <p:tgtEl>
                                          <p:spTgt spid="297986"/>
                                        </p:tgtEl>
                                      </p:cBhvr>
                                    </p:animEffect>
                                  </p:childTnLst>
                                  <p:subTnLst>
                                    <p:set>
                                      <p:cBhvr override="childStyle">
                                        <p:cTn dur="1" fill="hold" display="0" masterRel="nextClick" afterEffect="1"/>
                                        <p:tgtEl>
                                          <p:spTgt spid="29798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6" grpId="0" bldLvl="0" animBg="1"/>
      <p:bldP spid="297987" grpId="0" bldLvl="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9010" name="椭圆 299009"/>
          <p:cNvSpPr/>
          <p:nvPr/>
        </p:nvSpPr>
        <p:spPr>
          <a:xfrm>
            <a:off x="3810000" y="228600"/>
            <a:ext cx="4343400" cy="914400"/>
          </a:xfrm>
          <a:prstGeom prst="ellipse">
            <a:avLst/>
          </a:prstGeom>
          <a:gradFill rotWithShape="0">
            <a:gsLst>
              <a:gs pos="0">
                <a:srgbClr val="FFCCCC"/>
              </a:gs>
              <a:gs pos="100000">
                <a:schemeClr val="bg1"/>
              </a:gs>
            </a:gsLst>
            <a:lin ang="5400000" scaled="1"/>
            <a:tileRect/>
          </a:gradFill>
          <a:ln w="9525" cap="flat" cmpd="sng">
            <a:solidFill>
              <a:schemeClr val="tx1"/>
            </a:solidFill>
            <a:prstDash val="solid"/>
            <a:headEnd type="none" w="med" len="med"/>
            <a:tailEnd type="none" w="med" len="med"/>
          </a:ln>
        </p:spPr>
        <p:txBody>
          <a:bodyPr wrap="none" anchor="ctr" anchorCtr="0"/>
          <a:p>
            <a:pPr algn="ctr"/>
            <a:r>
              <a:rPr lang="zh-CN" altLang="en-US" sz="3200" b="1" dirty="0">
                <a:latin typeface="楷体_GB2312" charset="-122"/>
                <a:ea typeface="楷体_GB2312" charset="-122"/>
              </a:rPr>
              <a:t>甲烷（</a:t>
            </a:r>
            <a:r>
              <a:rPr lang="en-US" altLang="zh-CN" sz="3200" b="1">
                <a:latin typeface="楷体_GB2312" charset="-122"/>
                <a:ea typeface="楷体_GB2312" charset="-122"/>
              </a:rPr>
              <a:t>CH</a:t>
            </a:r>
            <a:r>
              <a:rPr lang="en-US" altLang="zh-CN" sz="3200" b="1" baseline="-25000">
                <a:latin typeface="楷体_GB2312" charset="-122"/>
                <a:ea typeface="楷体_GB2312" charset="-122"/>
              </a:rPr>
              <a:t>4</a:t>
            </a:r>
            <a:r>
              <a:rPr lang="zh-CN" altLang="en-US" sz="3200" b="1">
                <a:latin typeface="楷体_GB2312" charset="-122"/>
                <a:ea typeface="楷体_GB2312" charset="-122"/>
              </a:rPr>
              <a:t>）</a:t>
            </a:r>
            <a:endParaRPr lang="zh-CN" altLang="en-US" sz="3200" b="1">
              <a:latin typeface="楷体_GB2312" charset="-122"/>
              <a:ea typeface="楷体_GB2312" charset="-122"/>
            </a:endParaRPr>
          </a:p>
        </p:txBody>
      </p:sp>
      <p:sp>
        <p:nvSpPr>
          <p:cNvPr id="299011" name="矩形 299010"/>
          <p:cNvSpPr/>
          <p:nvPr/>
        </p:nvSpPr>
        <p:spPr>
          <a:xfrm>
            <a:off x="2190750" y="2381250"/>
            <a:ext cx="7678420" cy="3046095"/>
          </a:xfrm>
          <a:prstGeom prst="rect">
            <a:avLst/>
          </a:prstGeom>
          <a:noFill/>
          <a:ln w="9525">
            <a:noFill/>
          </a:ln>
        </p:spPr>
        <p:txBody>
          <a:bodyPr wrap="none" anchor="t" anchorCtr="0">
            <a:spAutoFit/>
          </a:bodyPr>
          <a:p>
            <a:pPr>
              <a:lnSpc>
                <a:spcPct val="150000"/>
              </a:lnSpc>
            </a:pPr>
            <a:r>
              <a:rPr lang="en-US" altLang="zh-CN" sz="2800">
                <a:latin typeface="宋体" panose="02010600030101010101" pitchFamily="2" charset="-122"/>
              </a:rPr>
              <a:t>    </a:t>
            </a:r>
            <a:r>
              <a:rPr lang="en-US" altLang="zh-CN" sz="3200" b="1">
                <a:solidFill>
                  <a:srgbClr val="660066"/>
                </a:solidFill>
                <a:latin typeface="宋体" panose="02010600030101010101" pitchFamily="2" charset="-122"/>
              </a:rPr>
              <a:t>CH</a:t>
            </a:r>
            <a:r>
              <a:rPr lang="en-US" altLang="zh-CN" sz="3200" b="1" baseline="-25000">
                <a:solidFill>
                  <a:srgbClr val="660066"/>
                </a:solidFill>
                <a:latin typeface="宋体" panose="02010600030101010101" pitchFamily="2" charset="-122"/>
              </a:rPr>
              <a:t>4</a:t>
            </a:r>
            <a:r>
              <a:rPr lang="en-US" altLang="zh-CN" sz="3200" b="1">
                <a:solidFill>
                  <a:srgbClr val="660066"/>
                </a:solidFill>
                <a:latin typeface="宋体" panose="02010600030101010101" pitchFamily="2" charset="-122"/>
              </a:rPr>
              <a:t> </a:t>
            </a:r>
            <a:r>
              <a:rPr lang="zh-CN" altLang="en-US" sz="3200" b="1" dirty="0">
                <a:solidFill>
                  <a:srgbClr val="660066"/>
                </a:solidFill>
                <a:latin typeface="宋体" panose="02010600030101010101" pitchFamily="2" charset="-122"/>
              </a:rPr>
              <a:t>对温室效应的影响是</a:t>
            </a:r>
            <a:r>
              <a:rPr lang="en-US" altLang="zh-CN" sz="3200" b="1">
                <a:solidFill>
                  <a:srgbClr val="660066"/>
                </a:solidFill>
                <a:latin typeface="宋体" panose="02010600030101010101" pitchFamily="2" charset="-122"/>
              </a:rPr>
              <a:t>CO</a:t>
            </a:r>
            <a:r>
              <a:rPr lang="en-US" altLang="zh-CN" sz="3200" b="1" baseline="-25000">
                <a:solidFill>
                  <a:srgbClr val="660066"/>
                </a:solidFill>
                <a:latin typeface="宋体" panose="02010600030101010101" pitchFamily="2" charset="-122"/>
              </a:rPr>
              <a:t>2</a:t>
            </a:r>
            <a:r>
              <a:rPr lang="en-US" altLang="zh-CN" sz="3200" b="1">
                <a:solidFill>
                  <a:srgbClr val="660066"/>
                </a:solidFill>
                <a:latin typeface="宋体" panose="02010600030101010101" pitchFamily="2" charset="-122"/>
              </a:rPr>
              <a:t> </a:t>
            </a:r>
            <a:r>
              <a:rPr lang="zh-CN" altLang="en-US" sz="3200" b="1" dirty="0">
                <a:solidFill>
                  <a:srgbClr val="660066"/>
                </a:solidFill>
                <a:latin typeface="宋体" panose="02010600030101010101" pitchFamily="2" charset="-122"/>
              </a:rPr>
              <a:t>的</a:t>
            </a:r>
            <a:r>
              <a:rPr lang="en-US" altLang="zh-CN" sz="3200" b="1" dirty="0">
                <a:solidFill>
                  <a:srgbClr val="660066"/>
                </a:solidFill>
                <a:latin typeface="宋体" panose="02010600030101010101" pitchFamily="2" charset="-122"/>
              </a:rPr>
              <a:t>21</a:t>
            </a:r>
            <a:r>
              <a:rPr lang="zh-CN" altLang="en-US" sz="3200" b="1" dirty="0">
                <a:solidFill>
                  <a:srgbClr val="660066"/>
                </a:solidFill>
                <a:latin typeface="宋体" panose="02010600030101010101" pitchFamily="2" charset="-122"/>
              </a:rPr>
              <a:t>倍。</a:t>
            </a:r>
            <a:endParaRPr lang="zh-CN" altLang="en-US" sz="3200" b="1" dirty="0">
              <a:solidFill>
                <a:srgbClr val="660066"/>
              </a:solidFill>
              <a:latin typeface="宋体" panose="02010600030101010101" pitchFamily="2" charset="-122"/>
            </a:endParaRPr>
          </a:p>
          <a:p>
            <a:pPr>
              <a:lnSpc>
                <a:spcPct val="150000"/>
              </a:lnSpc>
            </a:pPr>
            <a:endParaRPr lang="zh-CN" altLang="en-US" sz="3200" b="1" dirty="0">
              <a:solidFill>
                <a:srgbClr val="660066"/>
              </a:solidFill>
              <a:latin typeface="宋体" panose="02010600030101010101" pitchFamily="2" charset="-122"/>
            </a:endParaRPr>
          </a:p>
          <a:p>
            <a:pPr>
              <a:lnSpc>
                <a:spcPct val="150000"/>
              </a:lnSpc>
            </a:pPr>
            <a:r>
              <a:rPr lang="zh-CN" altLang="en-US" sz="3200" b="1" dirty="0">
                <a:solidFill>
                  <a:srgbClr val="660066"/>
                </a:solidFill>
                <a:latin typeface="宋体" panose="02010600030101010101" pitchFamily="2" charset="-122"/>
              </a:rPr>
              <a:t>单个</a:t>
            </a:r>
            <a:r>
              <a:rPr lang="en-US" altLang="zh-CN" sz="3200" b="1">
                <a:solidFill>
                  <a:srgbClr val="660066"/>
                </a:solidFill>
                <a:latin typeface="宋体" panose="02010600030101010101" pitchFamily="2" charset="-122"/>
              </a:rPr>
              <a:t>CH</a:t>
            </a:r>
            <a:r>
              <a:rPr lang="en-US" altLang="zh-CN" sz="3200" b="1" baseline="-25000">
                <a:solidFill>
                  <a:srgbClr val="660066"/>
                </a:solidFill>
                <a:latin typeface="宋体" panose="02010600030101010101" pitchFamily="2" charset="-122"/>
              </a:rPr>
              <a:t>4</a:t>
            </a:r>
            <a:r>
              <a:rPr lang="zh-CN" altLang="en-US" sz="3200" b="1" dirty="0">
                <a:solidFill>
                  <a:srgbClr val="660066"/>
                </a:solidFill>
                <a:latin typeface="宋体" panose="02010600030101010101" pitchFamily="2" charset="-122"/>
              </a:rPr>
              <a:t>分子的红外辐射吸收能力超过</a:t>
            </a:r>
            <a:r>
              <a:rPr lang="en-US" altLang="zh-CN" sz="3200" b="1">
                <a:solidFill>
                  <a:srgbClr val="660066"/>
                </a:solidFill>
                <a:latin typeface="宋体" panose="02010600030101010101" pitchFamily="2" charset="-122"/>
              </a:rPr>
              <a:t>CO</a:t>
            </a:r>
            <a:r>
              <a:rPr lang="en-US" altLang="zh-CN" sz="3200" b="1" baseline="-25000">
                <a:solidFill>
                  <a:srgbClr val="660066"/>
                </a:solidFill>
                <a:latin typeface="宋体" panose="02010600030101010101" pitchFamily="2" charset="-122"/>
              </a:rPr>
              <a:t>2</a:t>
            </a:r>
            <a:r>
              <a:rPr lang="zh-CN" altLang="en-US" sz="3200" b="1" baseline="-25000">
                <a:solidFill>
                  <a:srgbClr val="660066"/>
                </a:solidFill>
                <a:latin typeface="宋体" panose="02010600030101010101" pitchFamily="2" charset="-122"/>
              </a:rPr>
              <a:t>。</a:t>
            </a:r>
            <a:endParaRPr lang="zh-CN" altLang="en-US" sz="3200" b="1" baseline="-25000">
              <a:solidFill>
                <a:srgbClr val="660066"/>
              </a:solidFill>
              <a:latin typeface="宋体" panose="02010600030101010101" pitchFamily="2" charset="-122"/>
            </a:endParaRPr>
          </a:p>
          <a:p>
            <a:pPr>
              <a:lnSpc>
                <a:spcPct val="150000"/>
              </a:lnSpc>
            </a:pPr>
            <a:endParaRPr lang="zh-CN" altLang="en-US" sz="3200" b="1">
              <a:solidFill>
                <a:srgbClr val="660066"/>
              </a:solidFill>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99010"/>
                                        </p:tgtEl>
                                        <p:attrNameLst>
                                          <p:attrName>style.visibility</p:attrName>
                                        </p:attrNameLst>
                                      </p:cBhvr>
                                      <p:to>
                                        <p:strVal val="visible"/>
                                      </p:to>
                                    </p:set>
                                    <p:animEffect transition="in" filter="dissolve">
                                      <p:cBhvr>
                                        <p:cTn id="7" dur="500"/>
                                        <p:tgtEl>
                                          <p:spTgt spid="2990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0"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0034" name="矩形 300033"/>
          <p:cNvSpPr/>
          <p:nvPr/>
        </p:nvSpPr>
        <p:spPr>
          <a:xfrm>
            <a:off x="2438400" y="1524000"/>
            <a:ext cx="7359650" cy="1143000"/>
          </a:xfrm>
          <a:prstGeom prst="rect">
            <a:avLst/>
          </a:prstGeom>
          <a:gradFill rotWithShape="0">
            <a:gsLst>
              <a:gs pos="0">
                <a:srgbClr val="FFCC99"/>
              </a:gs>
              <a:gs pos="50000">
                <a:schemeClr val="bg1"/>
              </a:gs>
              <a:gs pos="100000">
                <a:srgbClr val="FFCC99"/>
              </a:gs>
            </a:gsLst>
            <a:lin ang="5400000" scaled="1"/>
            <a:tileRect/>
          </a:gradFill>
          <a:ln w="9525" cap="flat" cmpd="sng">
            <a:solidFill>
              <a:srgbClr val="0000CC"/>
            </a:solidFill>
            <a:prstDash val="solid"/>
            <a:miter/>
            <a:headEnd type="none" w="med" len="med"/>
            <a:tailEnd type="none" w="med" len="med"/>
          </a:ln>
        </p:spPr>
        <p:txBody>
          <a:bodyPr wrap="none" anchor="ctr" anchorCtr="0"/>
          <a:p>
            <a:pPr algn="ctr">
              <a:lnSpc>
                <a:spcPct val="135000"/>
              </a:lnSpc>
            </a:pPr>
            <a:r>
              <a:rPr lang="en-US" altLang="zh-CN" sz="2400" b="1" dirty="0">
                <a:solidFill>
                  <a:schemeClr val="accent2"/>
                </a:solidFill>
                <a:latin typeface="楷体_GB2312" charset="-122"/>
                <a:ea typeface="楷体_GB2312" charset="-122"/>
              </a:rPr>
              <a:t>1</a:t>
            </a:r>
            <a:r>
              <a:rPr lang="zh-CN" altLang="en-US" sz="2400" b="1" dirty="0">
                <a:solidFill>
                  <a:schemeClr val="accent2"/>
                </a:solidFill>
                <a:latin typeface="楷体_GB2312" charset="-122"/>
                <a:ea typeface="楷体_GB2312" charset="-122"/>
              </a:rPr>
              <a:t>、海平面上升</a:t>
            </a:r>
            <a:r>
              <a:rPr lang="zh-CN" altLang="en-US" sz="2400" b="1" dirty="0">
                <a:latin typeface="楷体_GB2312" charset="-122"/>
                <a:ea typeface="楷体_GB2312" charset="-122"/>
              </a:rPr>
              <a:t>：低地被淹，海岸被冲蚀，排洪不畅，</a:t>
            </a:r>
            <a:endParaRPr lang="zh-CN" altLang="en-US" sz="2400" b="1" dirty="0">
              <a:latin typeface="楷体_GB2312" charset="-122"/>
              <a:ea typeface="楷体_GB2312" charset="-122"/>
            </a:endParaRPr>
          </a:p>
          <a:p>
            <a:pPr algn="ctr">
              <a:lnSpc>
                <a:spcPct val="135000"/>
              </a:lnSpc>
            </a:pPr>
            <a:r>
              <a:rPr lang="zh-CN" altLang="en-US" sz="2400" b="1" dirty="0">
                <a:latin typeface="楷体_GB2312" charset="-122"/>
                <a:ea typeface="楷体_GB2312" charset="-122"/>
              </a:rPr>
              <a:t>       土地盐渍化，海水倒灌等。</a:t>
            </a:r>
            <a:endParaRPr lang="zh-CN" altLang="en-US" sz="2400" b="1" dirty="0">
              <a:latin typeface="楷体_GB2312" charset="-122"/>
              <a:ea typeface="楷体_GB2312" charset="-122"/>
            </a:endParaRPr>
          </a:p>
        </p:txBody>
      </p:sp>
      <p:sp>
        <p:nvSpPr>
          <p:cNvPr id="300035" name="矩形 300034"/>
          <p:cNvSpPr/>
          <p:nvPr/>
        </p:nvSpPr>
        <p:spPr>
          <a:xfrm>
            <a:off x="2438400" y="3276600"/>
            <a:ext cx="7391400" cy="1143000"/>
          </a:xfrm>
          <a:prstGeom prst="rect">
            <a:avLst/>
          </a:prstGeom>
          <a:gradFill rotWithShape="0">
            <a:gsLst>
              <a:gs pos="0">
                <a:srgbClr val="FFCC99"/>
              </a:gs>
              <a:gs pos="50000">
                <a:schemeClr val="bg1"/>
              </a:gs>
              <a:gs pos="100000">
                <a:srgbClr val="FFCC99"/>
              </a:gs>
            </a:gsLst>
            <a:lin ang="5400000" scaled="1"/>
            <a:tileRect/>
          </a:gradFill>
          <a:ln w="9525" cap="flat" cmpd="sng">
            <a:solidFill>
              <a:srgbClr val="0000CC"/>
            </a:solidFill>
            <a:prstDash val="solid"/>
            <a:miter/>
            <a:headEnd type="none" w="med" len="med"/>
            <a:tailEnd type="none" w="med" len="med"/>
          </a:ln>
        </p:spPr>
        <p:txBody>
          <a:bodyPr wrap="none" anchor="ctr" anchorCtr="0"/>
          <a:p>
            <a:pPr algn="ctr">
              <a:lnSpc>
                <a:spcPct val="135000"/>
              </a:lnSpc>
            </a:pPr>
            <a:r>
              <a:rPr lang="en-US" altLang="zh-CN" sz="2400" b="1" dirty="0">
                <a:solidFill>
                  <a:schemeClr val="accent2"/>
                </a:solidFill>
                <a:latin typeface="Times New Roman" panose="02020603050405020304" charset="0"/>
                <a:ea typeface="楷体_GB2312" charset="-122"/>
              </a:rPr>
              <a:t>2</a:t>
            </a:r>
            <a:r>
              <a:rPr lang="zh-CN" altLang="en-US" sz="2400" b="1" dirty="0">
                <a:solidFill>
                  <a:schemeClr val="accent2"/>
                </a:solidFill>
                <a:latin typeface="Times New Roman" panose="02020603050405020304" charset="0"/>
                <a:ea typeface="楷体_GB2312" charset="-122"/>
              </a:rPr>
              <a:t>、对动植物的影响：</a:t>
            </a:r>
            <a:r>
              <a:rPr lang="zh-CN" altLang="en-US" sz="2400" b="1" dirty="0">
                <a:latin typeface="Times New Roman" panose="02020603050405020304" charset="0"/>
                <a:ea typeface="楷体_GB2312" charset="-122"/>
              </a:rPr>
              <a:t>一些地区某些物种将会消失，而</a:t>
            </a:r>
            <a:endParaRPr lang="zh-CN" altLang="en-US" sz="2400" b="1" dirty="0">
              <a:latin typeface="Times New Roman" panose="02020603050405020304" charset="0"/>
              <a:ea typeface="楷体_GB2312" charset="-122"/>
            </a:endParaRPr>
          </a:p>
          <a:p>
            <a:pPr algn="ctr">
              <a:lnSpc>
                <a:spcPct val="135000"/>
              </a:lnSpc>
            </a:pPr>
            <a:r>
              <a:rPr lang="zh-CN" altLang="en-US" sz="2400" b="1" dirty="0">
                <a:latin typeface="Times New Roman" panose="02020603050405020304" charset="0"/>
                <a:ea typeface="楷体_GB2312" charset="-122"/>
              </a:rPr>
              <a:t>                                       有些则从气候变暖中得到益处。</a:t>
            </a:r>
            <a:endParaRPr lang="zh-CN" altLang="en-US" sz="2400" b="1" dirty="0">
              <a:latin typeface="Times New Roman" panose="02020603050405020304" charset="0"/>
              <a:ea typeface="楷体_GB2312" charset="-122"/>
            </a:endParaRPr>
          </a:p>
        </p:txBody>
      </p:sp>
      <p:sp>
        <p:nvSpPr>
          <p:cNvPr id="300036" name="矩形 300035"/>
          <p:cNvSpPr/>
          <p:nvPr/>
        </p:nvSpPr>
        <p:spPr>
          <a:xfrm>
            <a:off x="2438400" y="5105400"/>
            <a:ext cx="7391400" cy="1143000"/>
          </a:xfrm>
          <a:prstGeom prst="rect">
            <a:avLst/>
          </a:prstGeom>
          <a:gradFill rotWithShape="0">
            <a:gsLst>
              <a:gs pos="0">
                <a:srgbClr val="FFCC99"/>
              </a:gs>
              <a:gs pos="50000">
                <a:schemeClr val="bg1"/>
              </a:gs>
              <a:gs pos="100000">
                <a:srgbClr val="FFCC99"/>
              </a:gs>
            </a:gsLst>
            <a:lin ang="5400000" scaled="1"/>
            <a:tileRect/>
          </a:gradFill>
          <a:ln w="9525" cap="flat" cmpd="sng">
            <a:solidFill>
              <a:srgbClr val="0000CC"/>
            </a:solidFill>
            <a:prstDash val="solid"/>
            <a:miter/>
            <a:headEnd type="none" w="med" len="med"/>
            <a:tailEnd type="none" w="med" len="med"/>
          </a:ln>
        </p:spPr>
        <p:txBody>
          <a:bodyPr wrap="none" anchor="ctr" anchorCtr="0"/>
          <a:p>
            <a:pPr algn="ctr">
              <a:lnSpc>
                <a:spcPct val="135000"/>
              </a:lnSpc>
            </a:pPr>
            <a:r>
              <a:rPr lang="en-US" altLang="zh-CN" sz="2400" b="1" dirty="0">
                <a:solidFill>
                  <a:schemeClr val="accent2"/>
                </a:solidFill>
                <a:latin typeface="Times New Roman" panose="02020603050405020304" charset="0"/>
                <a:ea typeface="楷体_GB2312" charset="-122"/>
              </a:rPr>
              <a:t>3</a:t>
            </a:r>
            <a:r>
              <a:rPr lang="zh-CN" altLang="en-US" sz="2400" b="1" dirty="0">
                <a:solidFill>
                  <a:schemeClr val="accent2"/>
                </a:solidFill>
                <a:latin typeface="Times New Roman" panose="02020603050405020304" charset="0"/>
                <a:ea typeface="楷体_GB2312" charset="-122"/>
              </a:rPr>
              <a:t>、对农业的影响：</a:t>
            </a:r>
            <a:r>
              <a:rPr lang="zh-CN" altLang="en-US" sz="2400" b="1" dirty="0">
                <a:latin typeface="Times New Roman" panose="02020603050405020304" charset="0"/>
                <a:ea typeface="楷体_GB2312" charset="-122"/>
              </a:rPr>
              <a:t>世界粮食生产的稳定性和分布状况</a:t>
            </a:r>
            <a:endParaRPr lang="zh-CN" altLang="en-US" sz="2400" b="1" dirty="0">
              <a:latin typeface="Times New Roman" panose="02020603050405020304" charset="0"/>
              <a:ea typeface="楷体_GB2312" charset="-122"/>
            </a:endParaRPr>
          </a:p>
          <a:p>
            <a:pPr algn="ctr">
              <a:lnSpc>
                <a:spcPct val="135000"/>
              </a:lnSpc>
            </a:pPr>
            <a:r>
              <a:rPr lang="zh-CN" altLang="en-US" sz="2400" b="1" dirty="0">
                <a:latin typeface="Times New Roman" panose="02020603050405020304" charset="0"/>
                <a:ea typeface="楷体_GB2312" charset="-122"/>
              </a:rPr>
              <a:t>                                  的改变，农产品贸易模式的变化。</a:t>
            </a:r>
            <a:endParaRPr lang="zh-CN" altLang="en-US" sz="2400" b="1" dirty="0">
              <a:latin typeface="Times New Roman" panose="02020603050405020304" charset="0"/>
              <a:ea typeface="楷体_GB2312" charset="-122"/>
            </a:endParaRPr>
          </a:p>
        </p:txBody>
      </p:sp>
      <p:sp>
        <p:nvSpPr>
          <p:cNvPr id="300037" name="爆炸形 1 300036"/>
          <p:cNvSpPr/>
          <p:nvPr/>
        </p:nvSpPr>
        <p:spPr>
          <a:xfrm>
            <a:off x="1600200" y="76200"/>
            <a:ext cx="6553200" cy="1371600"/>
          </a:xfrm>
          <a:prstGeom prst="irregularSeal1">
            <a:avLst/>
          </a:prstGeom>
          <a:gradFill rotWithShape="0">
            <a:gsLst>
              <a:gs pos="0">
                <a:srgbClr val="CCFF99"/>
              </a:gs>
              <a:gs pos="50000">
                <a:schemeClr val="bg1"/>
              </a:gs>
              <a:gs pos="100000">
                <a:srgbClr val="CCFF99"/>
              </a:gs>
            </a:gsLst>
            <a:lin ang="18900000" scaled="1"/>
            <a:tileRect/>
          </a:gradFill>
          <a:ln w="9525" cap="flat" cmpd="sng">
            <a:solidFill>
              <a:srgbClr val="CC00CC"/>
            </a:solidFill>
            <a:prstDash val="solid"/>
            <a:miter/>
            <a:headEnd type="none" w="med" len="med"/>
            <a:tailEnd type="none" w="med" len="med"/>
          </a:ln>
        </p:spPr>
        <p:txBody>
          <a:bodyPr wrap="none" anchor="ctr" anchorCtr="0"/>
          <a:p>
            <a:pPr algn="ctr"/>
            <a:r>
              <a:rPr lang="zh-CN" altLang="en-US" sz="2800" b="1" dirty="0">
                <a:latin typeface="Times New Roman" panose="02020603050405020304" charset="0"/>
                <a:ea typeface="黑体" panose="02010609060101010101" pitchFamily="2" charset="-122"/>
              </a:rPr>
              <a:t>全球变暖可能产生的影响</a:t>
            </a:r>
            <a:endParaRPr lang="zh-CN" altLang="en-US" sz="2800" b="1" dirty="0">
              <a:latin typeface="Times New Roman" panose="02020603050405020304" charset="0"/>
              <a:ea typeface="黑体" panose="02010609060101010101" pitchFamily="2" charset="-122"/>
            </a:endParaRPr>
          </a:p>
        </p:txBody>
      </p:sp>
      <p:grpSp>
        <p:nvGrpSpPr>
          <p:cNvPr id="300038" name="组合 300037"/>
          <p:cNvGrpSpPr/>
          <p:nvPr/>
        </p:nvGrpSpPr>
        <p:grpSpPr>
          <a:xfrm>
            <a:off x="2063750" y="2667000"/>
            <a:ext cx="8064500" cy="4191000"/>
            <a:chOff x="432" y="1680"/>
            <a:chExt cx="4752" cy="2640"/>
          </a:xfrm>
        </p:grpSpPr>
        <p:sp>
          <p:nvSpPr>
            <p:cNvPr id="300039" name="矩形 300038"/>
            <p:cNvSpPr/>
            <p:nvPr/>
          </p:nvSpPr>
          <p:spPr>
            <a:xfrm>
              <a:off x="432" y="1728"/>
              <a:ext cx="4752" cy="2592"/>
            </a:xfrm>
            <a:prstGeom prst="rect">
              <a:avLst/>
            </a:prstGeom>
            <a:solidFill>
              <a:schemeClr val="bg1"/>
            </a:solidFill>
            <a:ln w="9525">
              <a:noFill/>
            </a:ln>
          </p:spPr>
          <p:txBody>
            <a:bodyPr/>
            <a:p>
              <a:endParaRPr lang="zh-CN" altLang="en-US"/>
            </a:p>
          </p:txBody>
        </p:sp>
        <p:sp>
          <p:nvSpPr>
            <p:cNvPr id="300040" name="矩形 300039"/>
            <p:cNvSpPr/>
            <p:nvPr/>
          </p:nvSpPr>
          <p:spPr>
            <a:xfrm>
              <a:off x="1776" y="1680"/>
              <a:ext cx="2400" cy="251"/>
            </a:xfrm>
            <a:prstGeom prst="rect">
              <a:avLst/>
            </a:prstGeom>
            <a:noFill/>
            <a:ln w="9525">
              <a:noFill/>
            </a:ln>
          </p:spPr>
          <p:txBody>
            <a:bodyPr>
              <a:spAutoFit/>
            </a:bodyPr>
            <a:p>
              <a:pPr algn="ctr"/>
              <a:r>
                <a:rPr lang="zh-CN" altLang="en-US" sz="2000" b="1" dirty="0">
                  <a:latin typeface="Times New Roman" panose="02020603050405020304" charset="0"/>
                  <a:ea typeface="楷体_GB2312" charset="-122"/>
                </a:rPr>
                <a:t>未来海平面变化的预测</a:t>
              </a:r>
              <a:endParaRPr lang="zh-CN" altLang="en-US" sz="2000" b="1" dirty="0">
                <a:latin typeface="Times New Roman" panose="02020603050405020304" charset="0"/>
                <a:ea typeface="楷体_GB2312" charset="-122"/>
              </a:endParaRPr>
            </a:p>
          </p:txBody>
        </p:sp>
        <p:grpSp>
          <p:nvGrpSpPr>
            <p:cNvPr id="300041" name="组合 300040"/>
            <p:cNvGrpSpPr/>
            <p:nvPr/>
          </p:nvGrpSpPr>
          <p:grpSpPr>
            <a:xfrm>
              <a:off x="720" y="1920"/>
              <a:ext cx="4416" cy="2208"/>
              <a:chOff x="-3" y="371"/>
              <a:chExt cx="2660" cy="3748"/>
            </a:xfrm>
          </p:grpSpPr>
          <p:grpSp>
            <p:nvGrpSpPr>
              <p:cNvPr id="300042" name="组合 300041"/>
              <p:cNvGrpSpPr/>
              <p:nvPr/>
            </p:nvGrpSpPr>
            <p:grpSpPr>
              <a:xfrm>
                <a:off x="0" y="374"/>
                <a:ext cx="2654" cy="3742"/>
                <a:chOff x="0" y="374"/>
                <a:chExt cx="2654" cy="3742"/>
              </a:xfrm>
            </p:grpSpPr>
            <p:grpSp>
              <p:nvGrpSpPr>
                <p:cNvPr id="300043" name="组合 300042"/>
                <p:cNvGrpSpPr/>
                <p:nvPr/>
              </p:nvGrpSpPr>
              <p:grpSpPr>
                <a:xfrm>
                  <a:off x="0" y="374"/>
                  <a:ext cx="1304" cy="403"/>
                  <a:chOff x="0" y="374"/>
                  <a:chExt cx="1304" cy="403"/>
                </a:xfrm>
              </p:grpSpPr>
              <p:sp>
                <p:nvSpPr>
                  <p:cNvPr id="300044" name="矩形 300043"/>
                  <p:cNvSpPr/>
                  <p:nvPr/>
                </p:nvSpPr>
                <p:spPr>
                  <a:xfrm>
                    <a:off x="43" y="374"/>
                    <a:ext cx="1218" cy="403"/>
                  </a:xfrm>
                  <a:prstGeom prst="rect">
                    <a:avLst/>
                  </a:prstGeom>
                  <a:noFill/>
                  <a:ln w="9525">
                    <a:noFill/>
                  </a:ln>
                </p:spPr>
                <p:txBody>
                  <a:bodyPr/>
                  <a:p>
                    <a:pPr algn="ctr"/>
                    <a:r>
                      <a:rPr lang="zh-CN" altLang="en-US" sz="2000" b="1" dirty="0">
                        <a:latin typeface="Times New Roman" panose="02020603050405020304" charset="0"/>
                        <a:ea typeface="楷体_GB2312" charset="-122"/>
                      </a:rPr>
                      <a:t>预测者</a:t>
                    </a:r>
                    <a:endParaRPr lang="zh-CN" altLang="en-US" sz="2000" b="1" dirty="0">
                      <a:latin typeface="Times New Roman" panose="02020603050405020304" charset="0"/>
                      <a:ea typeface="楷体_GB2312" charset="-122"/>
                    </a:endParaRPr>
                  </a:p>
                  <a:p>
                    <a:pPr algn="ctr" eaLnBrk="0" hangingPunct="0"/>
                    <a:endParaRPr lang="zh-CN" altLang="en-US" sz="2000" b="1" dirty="0">
                      <a:latin typeface="Times New Roman" panose="02020603050405020304" charset="0"/>
                      <a:ea typeface="楷体_GB2312" charset="-122"/>
                    </a:endParaRPr>
                  </a:p>
                </p:txBody>
              </p:sp>
              <p:sp>
                <p:nvSpPr>
                  <p:cNvPr id="300045" name="矩形 300044"/>
                  <p:cNvSpPr/>
                  <p:nvPr/>
                </p:nvSpPr>
                <p:spPr>
                  <a:xfrm>
                    <a:off x="0" y="374"/>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46" name="组合 300045"/>
                <p:cNvGrpSpPr/>
                <p:nvPr/>
              </p:nvGrpSpPr>
              <p:grpSpPr>
                <a:xfrm>
                  <a:off x="1304" y="374"/>
                  <a:ext cx="602" cy="403"/>
                  <a:chOff x="1304" y="374"/>
                  <a:chExt cx="602" cy="403"/>
                </a:xfrm>
              </p:grpSpPr>
              <p:sp>
                <p:nvSpPr>
                  <p:cNvPr id="300047" name="矩形 300046"/>
                  <p:cNvSpPr/>
                  <p:nvPr/>
                </p:nvSpPr>
                <p:spPr>
                  <a:xfrm>
                    <a:off x="1347" y="374"/>
                    <a:ext cx="516" cy="403"/>
                  </a:xfrm>
                  <a:prstGeom prst="rect">
                    <a:avLst/>
                  </a:prstGeom>
                  <a:noFill/>
                  <a:ln w="9525">
                    <a:noFill/>
                  </a:ln>
                </p:spPr>
                <p:txBody>
                  <a:bodyPr/>
                  <a:p>
                    <a:pPr algn="ctr"/>
                    <a:r>
                      <a:rPr lang="zh-CN" altLang="en-US" sz="2000" b="1" dirty="0">
                        <a:latin typeface="Times New Roman" panose="02020603050405020304" charset="0"/>
                        <a:ea typeface="楷体_GB2312" charset="-122"/>
                      </a:rPr>
                      <a:t>预测年份</a:t>
                    </a:r>
                    <a:endParaRPr lang="zh-CN" altLang="en-US" sz="2000" b="1" dirty="0">
                      <a:latin typeface="Times New Roman" panose="02020603050405020304" charset="0"/>
                      <a:ea typeface="楷体_GB2312" charset="-122"/>
                    </a:endParaRPr>
                  </a:p>
                  <a:p>
                    <a:pPr algn="ctr" eaLnBrk="0" hangingPunct="0"/>
                    <a:endParaRPr lang="zh-CN" altLang="en-US" sz="2000" b="1" dirty="0">
                      <a:latin typeface="Times New Roman" panose="02020603050405020304" charset="0"/>
                      <a:ea typeface="楷体_GB2312" charset="-122"/>
                    </a:endParaRPr>
                  </a:p>
                </p:txBody>
              </p:sp>
              <p:sp>
                <p:nvSpPr>
                  <p:cNvPr id="300048" name="矩形 300047"/>
                  <p:cNvSpPr/>
                  <p:nvPr/>
                </p:nvSpPr>
                <p:spPr>
                  <a:xfrm>
                    <a:off x="1304" y="374"/>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49" name="组合 300048"/>
                <p:cNvGrpSpPr/>
                <p:nvPr/>
              </p:nvGrpSpPr>
              <p:grpSpPr>
                <a:xfrm>
                  <a:off x="1906" y="374"/>
                  <a:ext cx="748" cy="403"/>
                  <a:chOff x="1906" y="374"/>
                  <a:chExt cx="748" cy="403"/>
                </a:xfrm>
              </p:grpSpPr>
              <p:sp>
                <p:nvSpPr>
                  <p:cNvPr id="300050" name="矩形 300049"/>
                  <p:cNvSpPr/>
                  <p:nvPr/>
                </p:nvSpPr>
                <p:spPr>
                  <a:xfrm>
                    <a:off x="1949" y="374"/>
                    <a:ext cx="662" cy="403"/>
                  </a:xfrm>
                  <a:prstGeom prst="rect">
                    <a:avLst/>
                  </a:prstGeom>
                  <a:noFill/>
                  <a:ln w="9525">
                    <a:noFill/>
                  </a:ln>
                </p:spPr>
                <p:txBody>
                  <a:bodyPr/>
                  <a:p>
                    <a:pPr algn="ctr"/>
                    <a:r>
                      <a:rPr lang="zh-CN" altLang="en-US" sz="2000" b="1" dirty="0">
                        <a:latin typeface="Times New Roman" panose="02020603050405020304" charset="0"/>
                        <a:ea typeface="楷体_GB2312" charset="-122"/>
                      </a:rPr>
                      <a:t>上升量（</a:t>
                    </a:r>
                    <a:r>
                      <a:rPr lang="en-US" altLang="zh-CN" sz="2000" b="1">
                        <a:latin typeface="Times New Roman" panose="02020603050405020304" charset="0"/>
                        <a:ea typeface="楷体_GB2312" charset="-122"/>
                      </a:rPr>
                      <a:t>cm</a:t>
                    </a:r>
                    <a:r>
                      <a:rPr lang="zh-CN" altLang="en-US" sz="2000" b="1">
                        <a:latin typeface="Times New Roman" panose="02020603050405020304" charset="0"/>
                        <a:ea typeface="楷体_GB2312" charset="-122"/>
                      </a:rPr>
                      <a:t>）</a:t>
                    </a:r>
                    <a:endParaRPr lang="zh-CN" altLang="en-US" sz="2000" b="1">
                      <a:latin typeface="Times New Roman" panose="02020603050405020304" charset="0"/>
                      <a:ea typeface="楷体_GB2312" charset="-122"/>
                    </a:endParaRPr>
                  </a:p>
                  <a:p>
                    <a:pPr algn="ctr" eaLnBrk="0" hangingPunct="0"/>
                    <a:endParaRPr lang="zh-CN" altLang="en-US" sz="2000" b="1">
                      <a:latin typeface="Times New Roman" panose="02020603050405020304" charset="0"/>
                      <a:ea typeface="楷体_GB2312" charset="-122"/>
                    </a:endParaRPr>
                  </a:p>
                </p:txBody>
              </p:sp>
              <p:sp>
                <p:nvSpPr>
                  <p:cNvPr id="300051" name="矩形 300050"/>
                  <p:cNvSpPr/>
                  <p:nvPr/>
                </p:nvSpPr>
                <p:spPr>
                  <a:xfrm>
                    <a:off x="1906" y="374"/>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52" name="组合 300051"/>
                <p:cNvGrpSpPr/>
                <p:nvPr/>
              </p:nvGrpSpPr>
              <p:grpSpPr>
                <a:xfrm>
                  <a:off x="0" y="777"/>
                  <a:ext cx="1304" cy="403"/>
                  <a:chOff x="0" y="777"/>
                  <a:chExt cx="1304" cy="403"/>
                </a:xfrm>
              </p:grpSpPr>
              <p:sp>
                <p:nvSpPr>
                  <p:cNvPr id="300053" name="矩形 300052"/>
                  <p:cNvSpPr/>
                  <p:nvPr/>
                </p:nvSpPr>
                <p:spPr>
                  <a:xfrm>
                    <a:off x="43" y="777"/>
                    <a:ext cx="1218" cy="403"/>
                  </a:xfrm>
                  <a:prstGeom prst="rect">
                    <a:avLst/>
                  </a:prstGeom>
                  <a:noFill/>
                  <a:ln w="9525">
                    <a:noFill/>
                  </a:ln>
                </p:spPr>
                <p:txBody>
                  <a:bodyPr/>
                  <a:p>
                    <a:pPr algn="ctr"/>
                    <a:r>
                      <a:rPr lang="zh-CN" altLang="en-US" sz="2000" b="1" dirty="0">
                        <a:latin typeface="Times New Roman" panose="02020603050405020304" charset="0"/>
                        <a:ea typeface="楷体_GB2312" charset="-122"/>
                      </a:rPr>
                      <a:t>世界气象组织（</a:t>
                    </a:r>
                    <a:r>
                      <a:rPr lang="en-US" altLang="zh-CN" sz="2000" b="1">
                        <a:latin typeface="Times New Roman" panose="02020603050405020304" charset="0"/>
                        <a:ea typeface="楷体_GB2312" charset="-122"/>
                      </a:rPr>
                      <a:t>WMO</a:t>
                    </a:r>
                    <a:r>
                      <a:rPr lang="zh-CN" altLang="en-US" sz="2000" b="1">
                        <a:latin typeface="Times New Roman" panose="02020603050405020304" charset="0"/>
                        <a:ea typeface="楷体_GB2312" charset="-122"/>
                      </a:rPr>
                      <a:t>）</a:t>
                    </a:r>
                    <a:endParaRPr lang="zh-CN" altLang="en-US" sz="2000" b="1">
                      <a:latin typeface="Times New Roman" panose="02020603050405020304" charset="0"/>
                      <a:ea typeface="楷体_GB2312" charset="-122"/>
                    </a:endParaRPr>
                  </a:p>
                  <a:p>
                    <a:pPr algn="ctr" eaLnBrk="0" hangingPunct="0"/>
                    <a:endParaRPr lang="zh-CN" altLang="en-US" sz="2000" b="1">
                      <a:latin typeface="Times New Roman" panose="02020603050405020304" charset="0"/>
                      <a:ea typeface="楷体_GB2312" charset="-122"/>
                    </a:endParaRPr>
                  </a:p>
                </p:txBody>
              </p:sp>
              <p:sp>
                <p:nvSpPr>
                  <p:cNvPr id="300054" name="矩形 300053"/>
                  <p:cNvSpPr/>
                  <p:nvPr/>
                </p:nvSpPr>
                <p:spPr>
                  <a:xfrm>
                    <a:off x="0" y="777"/>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55" name="组合 300054"/>
                <p:cNvGrpSpPr/>
                <p:nvPr/>
              </p:nvGrpSpPr>
              <p:grpSpPr>
                <a:xfrm>
                  <a:off x="1304" y="777"/>
                  <a:ext cx="602" cy="403"/>
                  <a:chOff x="1304" y="777"/>
                  <a:chExt cx="602" cy="403"/>
                </a:xfrm>
              </p:grpSpPr>
              <p:sp>
                <p:nvSpPr>
                  <p:cNvPr id="300056" name="矩形 300055"/>
                  <p:cNvSpPr/>
                  <p:nvPr/>
                </p:nvSpPr>
                <p:spPr>
                  <a:xfrm>
                    <a:off x="1347" y="777"/>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2025</a:t>
                    </a: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057" name="矩形 300056"/>
                  <p:cNvSpPr/>
                  <p:nvPr/>
                </p:nvSpPr>
                <p:spPr>
                  <a:xfrm>
                    <a:off x="1304" y="777"/>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58" name="组合 300057"/>
                <p:cNvGrpSpPr/>
                <p:nvPr/>
              </p:nvGrpSpPr>
              <p:grpSpPr>
                <a:xfrm>
                  <a:off x="1906" y="777"/>
                  <a:ext cx="748" cy="403"/>
                  <a:chOff x="1906" y="777"/>
                  <a:chExt cx="748" cy="403"/>
                </a:xfrm>
              </p:grpSpPr>
              <p:sp>
                <p:nvSpPr>
                  <p:cNvPr id="300059" name="矩形 300058"/>
                  <p:cNvSpPr/>
                  <p:nvPr/>
                </p:nvSpPr>
                <p:spPr>
                  <a:xfrm>
                    <a:off x="1949" y="777"/>
                    <a:ext cx="662" cy="403"/>
                  </a:xfrm>
                  <a:prstGeom prst="rect">
                    <a:avLst/>
                  </a:prstGeom>
                  <a:noFill/>
                  <a:ln w="9525">
                    <a:noFill/>
                  </a:ln>
                </p:spPr>
                <p:txBody>
                  <a:bodyPr/>
                  <a:p>
                    <a:pPr algn="ctr"/>
                    <a:r>
                      <a:rPr lang="en-US" altLang="zh-CN" sz="2000" b="1" dirty="0">
                        <a:latin typeface="Times New Roman" panose="02020603050405020304" charset="0"/>
                        <a:ea typeface="楷体_GB2312" charset="-122"/>
                      </a:rPr>
                      <a:t>20</a:t>
                    </a:r>
                    <a:r>
                      <a:rPr lang="en-US" altLang="zh-CN" sz="2000" b="1">
                        <a:latin typeface="Times New Roman" panose="02020603050405020304" charset="0"/>
                        <a:ea typeface="楷体_GB2312" charset="-122"/>
                      </a:rPr>
                      <a:t>~140</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060" name="矩形 300059"/>
                  <p:cNvSpPr/>
                  <p:nvPr/>
                </p:nvSpPr>
                <p:spPr>
                  <a:xfrm>
                    <a:off x="1906" y="777"/>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61" name="组合 300060"/>
                <p:cNvGrpSpPr/>
                <p:nvPr/>
              </p:nvGrpSpPr>
              <p:grpSpPr>
                <a:xfrm>
                  <a:off x="0" y="1180"/>
                  <a:ext cx="1304" cy="403"/>
                  <a:chOff x="0" y="1180"/>
                  <a:chExt cx="1304" cy="403"/>
                </a:xfrm>
              </p:grpSpPr>
              <p:sp>
                <p:nvSpPr>
                  <p:cNvPr id="300062" name="矩形 300061"/>
                  <p:cNvSpPr/>
                  <p:nvPr/>
                </p:nvSpPr>
                <p:spPr>
                  <a:xfrm>
                    <a:off x="43" y="1180"/>
                    <a:ext cx="1218" cy="403"/>
                  </a:xfrm>
                  <a:prstGeom prst="rect">
                    <a:avLst/>
                  </a:prstGeom>
                  <a:noFill/>
                  <a:ln w="9525">
                    <a:noFill/>
                  </a:ln>
                </p:spPr>
                <p:txBody>
                  <a:bodyPr/>
                  <a:p>
                    <a:pPr algn="ctr"/>
                    <a:r>
                      <a:rPr lang="en-US" altLang="zh-CN" sz="2000" b="1">
                        <a:latin typeface="Times New Roman" panose="02020603050405020304" charset="0"/>
                        <a:ea typeface="楷体_GB2312" charset="-122"/>
                      </a:rPr>
                      <a:t>Mercer</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063" name="矩形 300062"/>
                  <p:cNvSpPr/>
                  <p:nvPr/>
                </p:nvSpPr>
                <p:spPr>
                  <a:xfrm>
                    <a:off x="0" y="1180"/>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64" name="组合 300063"/>
                <p:cNvGrpSpPr/>
                <p:nvPr/>
              </p:nvGrpSpPr>
              <p:grpSpPr>
                <a:xfrm>
                  <a:off x="1304" y="1180"/>
                  <a:ext cx="602" cy="403"/>
                  <a:chOff x="1304" y="1180"/>
                  <a:chExt cx="602" cy="403"/>
                </a:xfrm>
              </p:grpSpPr>
              <p:sp>
                <p:nvSpPr>
                  <p:cNvPr id="300065" name="矩形 300064"/>
                  <p:cNvSpPr/>
                  <p:nvPr/>
                </p:nvSpPr>
                <p:spPr>
                  <a:xfrm>
                    <a:off x="1347" y="1180"/>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2030</a:t>
                    </a: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066" name="矩形 300065"/>
                  <p:cNvSpPr/>
                  <p:nvPr/>
                </p:nvSpPr>
                <p:spPr>
                  <a:xfrm>
                    <a:off x="1304" y="1180"/>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67" name="组合 300066"/>
                <p:cNvGrpSpPr/>
                <p:nvPr/>
              </p:nvGrpSpPr>
              <p:grpSpPr>
                <a:xfrm>
                  <a:off x="1906" y="1180"/>
                  <a:ext cx="748" cy="403"/>
                  <a:chOff x="1906" y="1180"/>
                  <a:chExt cx="748" cy="403"/>
                </a:xfrm>
              </p:grpSpPr>
              <p:sp>
                <p:nvSpPr>
                  <p:cNvPr id="300068" name="矩形 300067"/>
                  <p:cNvSpPr/>
                  <p:nvPr/>
                </p:nvSpPr>
                <p:spPr>
                  <a:xfrm>
                    <a:off x="1949" y="1180"/>
                    <a:ext cx="662" cy="403"/>
                  </a:xfrm>
                  <a:prstGeom prst="rect">
                    <a:avLst/>
                  </a:prstGeom>
                  <a:noFill/>
                  <a:ln w="9525">
                    <a:noFill/>
                  </a:ln>
                </p:spPr>
                <p:txBody>
                  <a:bodyPr/>
                  <a:p>
                    <a:pPr algn="ctr"/>
                    <a:r>
                      <a:rPr lang="en-US" altLang="zh-CN" sz="2000" b="1" dirty="0">
                        <a:latin typeface="Times New Roman" panose="02020603050405020304" charset="0"/>
                        <a:ea typeface="楷体_GB2312" charset="-122"/>
                      </a:rPr>
                      <a:t>500</a:t>
                    </a: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069" name="矩形 300068"/>
                  <p:cNvSpPr/>
                  <p:nvPr/>
                </p:nvSpPr>
                <p:spPr>
                  <a:xfrm>
                    <a:off x="1906" y="1180"/>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70" name="组合 300069"/>
                <p:cNvGrpSpPr/>
                <p:nvPr/>
              </p:nvGrpSpPr>
              <p:grpSpPr>
                <a:xfrm>
                  <a:off x="0" y="1583"/>
                  <a:ext cx="1304" cy="403"/>
                  <a:chOff x="0" y="1583"/>
                  <a:chExt cx="1304" cy="403"/>
                </a:xfrm>
              </p:grpSpPr>
              <p:sp>
                <p:nvSpPr>
                  <p:cNvPr id="300071" name="矩形 300070"/>
                  <p:cNvSpPr/>
                  <p:nvPr/>
                </p:nvSpPr>
                <p:spPr>
                  <a:xfrm>
                    <a:off x="43" y="1583"/>
                    <a:ext cx="1218" cy="403"/>
                  </a:xfrm>
                  <a:prstGeom prst="rect">
                    <a:avLst/>
                  </a:prstGeom>
                  <a:noFill/>
                  <a:ln w="9525">
                    <a:noFill/>
                  </a:ln>
                </p:spPr>
                <p:txBody>
                  <a:bodyPr/>
                  <a:p>
                    <a:pPr algn="ctr"/>
                    <a:r>
                      <a:rPr lang="zh-CN" altLang="en-US" sz="2000" b="1" dirty="0">
                        <a:latin typeface="Times New Roman" panose="02020603050405020304" charset="0"/>
                        <a:ea typeface="楷体_GB2312" charset="-122"/>
                      </a:rPr>
                      <a:t>日本环境厅</a:t>
                    </a:r>
                    <a:endParaRPr lang="zh-CN" altLang="en-US" sz="2000" b="1" dirty="0">
                      <a:latin typeface="Times New Roman" panose="02020603050405020304" charset="0"/>
                      <a:ea typeface="楷体_GB2312" charset="-122"/>
                    </a:endParaRPr>
                  </a:p>
                  <a:p>
                    <a:pPr algn="ctr" eaLnBrk="0" hangingPunct="0"/>
                    <a:endParaRPr lang="zh-CN" altLang="en-US" sz="2000" b="1" dirty="0">
                      <a:latin typeface="Times New Roman" panose="02020603050405020304" charset="0"/>
                      <a:ea typeface="楷体_GB2312" charset="-122"/>
                    </a:endParaRPr>
                  </a:p>
                </p:txBody>
              </p:sp>
              <p:sp>
                <p:nvSpPr>
                  <p:cNvPr id="300072" name="矩形 300071"/>
                  <p:cNvSpPr/>
                  <p:nvPr/>
                </p:nvSpPr>
                <p:spPr>
                  <a:xfrm>
                    <a:off x="0" y="1583"/>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73" name="组合 300072"/>
                <p:cNvGrpSpPr/>
                <p:nvPr/>
              </p:nvGrpSpPr>
              <p:grpSpPr>
                <a:xfrm>
                  <a:off x="1304" y="1583"/>
                  <a:ext cx="602" cy="403"/>
                  <a:chOff x="1304" y="1583"/>
                  <a:chExt cx="602" cy="403"/>
                </a:xfrm>
              </p:grpSpPr>
              <p:sp>
                <p:nvSpPr>
                  <p:cNvPr id="300074" name="矩形 300073"/>
                  <p:cNvSpPr/>
                  <p:nvPr/>
                </p:nvSpPr>
                <p:spPr>
                  <a:xfrm>
                    <a:off x="1347" y="1583"/>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2030</a:t>
                    </a: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075" name="矩形 300074"/>
                  <p:cNvSpPr/>
                  <p:nvPr/>
                </p:nvSpPr>
                <p:spPr>
                  <a:xfrm>
                    <a:off x="1304" y="1583"/>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76" name="组合 300075"/>
                <p:cNvGrpSpPr/>
                <p:nvPr/>
              </p:nvGrpSpPr>
              <p:grpSpPr>
                <a:xfrm>
                  <a:off x="1906" y="1583"/>
                  <a:ext cx="748" cy="403"/>
                  <a:chOff x="1906" y="1583"/>
                  <a:chExt cx="748" cy="403"/>
                </a:xfrm>
              </p:grpSpPr>
              <p:sp>
                <p:nvSpPr>
                  <p:cNvPr id="300077" name="矩形 300076"/>
                  <p:cNvSpPr/>
                  <p:nvPr/>
                </p:nvSpPr>
                <p:spPr>
                  <a:xfrm>
                    <a:off x="1949" y="1583"/>
                    <a:ext cx="662" cy="403"/>
                  </a:xfrm>
                  <a:prstGeom prst="rect">
                    <a:avLst/>
                  </a:prstGeom>
                  <a:noFill/>
                  <a:ln w="9525">
                    <a:noFill/>
                  </a:ln>
                </p:spPr>
                <p:txBody>
                  <a:bodyPr/>
                  <a:p>
                    <a:pPr algn="ctr"/>
                    <a:r>
                      <a:rPr lang="en-US" altLang="zh-CN" sz="2000" b="1" dirty="0">
                        <a:latin typeface="Times New Roman" panose="02020603050405020304" charset="0"/>
                        <a:ea typeface="楷体_GB2312" charset="-122"/>
                      </a:rPr>
                      <a:t>26</a:t>
                    </a:r>
                    <a:r>
                      <a:rPr lang="en-US" altLang="zh-CN" sz="2000" b="1">
                        <a:latin typeface="Times New Roman" panose="02020603050405020304" charset="0"/>
                        <a:ea typeface="楷体_GB2312" charset="-122"/>
                      </a:rPr>
                      <a:t>~165</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078" name="矩形 300077"/>
                  <p:cNvSpPr/>
                  <p:nvPr/>
                </p:nvSpPr>
                <p:spPr>
                  <a:xfrm>
                    <a:off x="1906" y="1583"/>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79" name="组合 300078"/>
                <p:cNvGrpSpPr/>
                <p:nvPr/>
              </p:nvGrpSpPr>
              <p:grpSpPr>
                <a:xfrm>
                  <a:off x="0" y="1986"/>
                  <a:ext cx="1304" cy="403"/>
                  <a:chOff x="0" y="1986"/>
                  <a:chExt cx="1304" cy="403"/>
                </a:xfrm>
              </p:grpSpPr>
              <p:sp>
                <p:nvSpPr>
                  <p:cNvPr id="300080" name="矩形 300079"/>
                  <p:cNvSpPr/>
                  <p:nvPr/>
                </p:nvSpPr>
                <p:spPr>
                  <a:xfrm>
                    <a:off x="43" y="1986"/>
                    <a:ext cx="1218" cy="403"/>
                  </a:xfrm>
                  <a:prstGeom prst="rect">
                    <a:avLst/>
                  </a:prstGeom>
                  <a:noFill/>
                  <a:ln w="9525">
                    <a:noFill/>
                  </a:ln>
                </p:spPr>
                <p:txBody>
                  <a:bodyPr/>
                  <a:p>
                    <a:pPr algn="ctr"/>
                    <a:r>
                      <a:rPr lang="en-US" altLang="zh-CN" sz="2000" b="1">
                        <a:latin typeface="Times New Roman" panose="02020603050405020304" charset="0"/>
                        <a:ea typeface="楷体_GB2312" charset="-122"/>
                      </a:rPr>
                      <a:t>Bloom</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081" name="矩形 300080"/>
                  <p:cNvSpPr/>
                  <p:nvPr/>
                </p:nvSpPr>
                <p:spPr>
                  <a:xfrm>
                    <a:off x="0" y="1986"/>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82" name="组合 300081"/>
                <p:cNvGrpSpPr/>
                <p:nvPr/>
              </p:nvGrpSpPr>
              <p:grpSpPr>
                <a:xfrm>
                  <a:off x="1304" y="1986"/>
                  <a:ext cx="602" cy="403"/>
                  <a:chOff x="1304" y="1986"/>
                  <a:chExt cx="602" cy="403"/>
                </a:xfrm>
              </p:grpSpPr>
              <p:sp>
                <p:nvSpPr>
                  <p:cNvPr id="300083" name="矩形 300082"/>
                  <p:cNvSpPr/>
                  <p:nvPr/>
                </p:nvSpPr>
                <p:spPr>
                  <a:xfrm>
                    <a:off x="1347" y="1986"/>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2030</a:t>
                    </a:r>
                    <a:endParaRPr lang="en-US" altLang="zh-CN" sz="2000" b="1" dirty="0">
                      <a:latin typeface="Times New Roman" panose="02020603050405020304" charset="0"/>
                      <a:ea typeface="楷体_GB2312" charset="-122"/>
                    </a:endParaRPr>
                  </a:p>
                  <a:p>
                    <a:pPr algn="ct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084" name="矩形 300083"/>
                  <p:cNvSpPr/>
                  <p:nvPr/>
                </p:nvSpPr>
                <p:spPr>
                  <a:xfrm>
                    <a:off x="1304" y="1986"/>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85" name="组合 300084"/>
                <p:cNvGrpSpPr/>
                <p:nvPr/>
              </p:nvGrpSpPr>
              <p:grpSpPr>
                <a:xfrm>
                  <a:off x="1906" y="1986"/>
                  <a:ext cx="748" cy="403"/>
                  <a:chOff x="1906" y="1986"/>
                  <a:chExt cx="748" cy="403"/>
                </a:xfrm>
              </p:grpSpPr>
              <p:sp>
                <p:nvSpPr>
                  <p:cNvPr id="300086" name="矩形 300085"/>
                  <p:cNvSpPr/>
                  <p:nvPr/>
                </p:nvSpPr>
                <p:spPr>
                  <a:xfrm>
                    <a:off x="1949" y="1986"/>
                    <a:ext cx="662" cy="403"/>
                  </a:xfrm>
                  <a:prstGeom prst="rect">
                    <a:avLst/>
                  </a:prstGeom>
                  <a:noFill/>
                  <a:ln w="9525">
                    <a:noFill/>
                  </a:ln>
                </p:spPr>
                <p:txBody>
                  <a:bodyPr/>
                  <a:p>
                    <a:pPr algn="ctr"/>
                    <a:r>
                      <a:rPr lang="en-US" altLang="zh-CN" sz="2000" b="1" dirty="0">
                        <a:latin typeface="Times New Roman" panose="02020603050405020304" charset="0"/>
                        <a:ea typeface="楷体_GB2312" charset="-122"/>
                      </a:rPr>
                      <a:t>100</a:t>
                    </a:r>
                    <a:endParaRPr lang="en-US" altLang="zh-CN" sz="2000" b="1" dirty="0">
                      <a:latin typeface="Times New Roman" panose="02020603050405020304" charset="0"/>
                      <a:ea typeface="楷体_GB2312" charset="-122"/>
                    </a:endParaRPr>
                  </a:p>
                  <a:p>
                    <a:pPr algn="ct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087" name="矩形 300086"/>
                  <p:cNvSpPr/>
                  <p:nvPr/>
                </p:nvSpPr>
                <p:spPr>
                  <a:xfrm>
                    <a:off x="1906" y="1986"/>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88" name="组合 300087"/>
                <p:cNvGrpSpPr/>
                <p:nvPr/>
              </p:nvGrpSpPr>
              <p:grpSpPr>
                <a:xfrm>
                  <a:off x="0" y="2389"/>
                  <a:ext cx="1304" cy="403"/>
                  <a:chOff x="0" y="2389"/>
                  <a:chExt cx="1304" cy="403"/>
                </a:xfrm>
              </p:grpSpPr>
              <p:sp>
                <p:nvSpPr>
                  <p:cNvPr id="300089" name="矩形 300088"/>
                  <p:cNvSpPr/>
                  <p:nvPr/>
                </p:nvSpPr>
                <p:spPr>
                  <a:xfrm>
                    <a:off x="43" y="2389"/>
                    <a:ext cx="1218" cy="403"/>
                  </a:xfrm>
                  <a:prstGeom prst="rect">
                    <a:avLst/>
                  </a:prstGeom>
                  <a:noFill/>
                  <a:ln w="9525">
                    <a:noFill/>
                  </a:ln>
                </p:spPr>
                <p:txBody>
                  <a:bodyPr/>
                  <a:p>
                    <a:pPr algn="ctr" eaLnBrk="0" hangingPunct="0"/>
                    <a:r>
                      <a:rPr lang="zh-CN" altLang="en-US" sz="2000" b="1" dirty="0">
                        <a:latin typeface="Times New Roman" panose="02020603050405020304" charset="0"/>
                        <a:ea typeface="楷体_GB2312" charset="-122"/>
                      </a:rPr>
                      <a:t>欧洲共同体</a:t>
                    </a:r>
                    <a:endParaRPr lang="zh-CN" altLang="en-US" sz="2000" b="1" dirty="0">
                      <a:latin typeface="Times New Roman" panose="02020603050405020304" charset="0"/>
                      <a:ea typeface="楷体_GB2312" charset="-122"/>
                    </a:endParaRPr>
                  </a:p>
                </p:txBody>
              </p:sp>
              <p:sp>
                <p:nvSpPr>
                  <p:cNvPr id="300090" name="矩形 300089"/>
                  <p:cNvSpPr/>
                  <p:nvPr/>
                </p:nvSpPr>
                <p:spPr>
                  <a:xfrm>
                    <a:off x="0" y="2389"/>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91" name="组合 300090"/>
                <p:cNvGrpSpPr/>
                <p:nvPr/>
              </p:nvGrpSpPr>
              <p:grpSpPr>
                <a:xfrm>
                  <a:off x="1304" y="2389"/>
                  <a:ext cx="602" cy="403"/>
                  <a:chOff x="1304" y="2389"/>
                  <a:chExt cx="602" cy="403"/>
                </a:xfrm>
              </p:grpSpPr>
              <p:sp>
                <p:nvSpPr>
                  <p:cNvPr id="300092" name="矩形 300091"/>
                  <p:cNvSpPr/>
                  <p:nvPr/>
                </p:nvSpPr>
                <p:spPr>
                  <a:xfrm>
                    <a:off x="1347" y="2389"/>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21</a:t>
                    </a:r>
                    <a:r>
                      <a:rPr lang="zh-CN" altLang="en-US" sz="2000" b="1" dirty="0">
                        <a:latin typeface="Times New Roman" panose="02020603050405020304" charset="0"/>
                        <a:ea typeface="楷体_GB2312" charset="-122"/>
                      </a:rPr>
                      <a:t>世纪</a:t>
                    </a:r>
                    <a:endParaRPr lang="zh-CN" altLang="en-US" sz="2000" b="1" dirty="0">
                      <a:latin typeface="Times New Roman" panose="02020603050405020304" charset="0"/>
                      <a:ea typeface="楷体_GB2312" charset="-122"/>
                    </a:endParaRPr>
                  </a:p>
                  <a:p>
                    <a:pPr algn="ctr" eaLnBrk="0" hangingPunct="0"/>
                    <a:endParaRPr lang="zh-CN" altLang="en-US" sz="2000" b="1" dirty="0">
                      <a:latin typeface="Times New Roman" panose="02020603050405020304" charset="0"/>
                      <a:ea typeface="楷体_GB2312" charset="-122"/>
                    </a:endParaRPr>
                  </a:p>
                </p:txBody>
              </p:sp>
              <p:sp>
                <p:nvSpPr>
                  <p:cNvPr id="300093" name="矩形 300092"/>
                  <p:cNvSpPr/>
                  <p:nvPr/>
                </p:nvSpPr>
                <p:spPr>
                  <a:xfrm>
                    <a:off x="1304" y="2389"/>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94" name="组合 300093"/>
                <p:cNvGrpSpPr/>
                <p:nvPr/>
              </p:nvGrpSpPr>
              <p:grpSpPr>
                <a:xfrm>
                  <a:off x="1906" y="2389"/>
                  <a:ext cx="748" cy="403"/>
                  <a:chOff x="1906" y="2389"/>
                  <a:chExt cx="748" cy="403"/>
                </a:xfrm>
              </p:grpSpPr>
              <p:sp>
                <p:nvSpPr>
                  <p:cNvPr id="300095" name="矩形 300094"/>
                  <p:cNvSpPr/>
                  <p:nvPr/>
                </p:nvSpPr>
                <p:spPr>
                  <a:xfrm>
                    <a:off x="1949" y="2389"/>
                    <a:ext cx="662" cy="403"/>
                  </a:xfrm>
                  <a:prstGeom prst="rect">
                    <a:avLst/>
                  </a:prstGeom>
                  <a:noFill/>
                  <a:ln w="9525">
                    <a:noFill/>
                  </a:ln>
                </p:spPr>
                <p:txBody>
                  <a:bodyPr/>
                  <a:p>
                    <a:pPr algn="ctr"/>
                    <a:r>
                      <a:rPr lang="en-US" altLang="zh-CN" sz="2000" b="1" dirty="0">
                        <a:latin typeface="Times New Roman" panose="02020603050405020304" charset="0"/>
                        <a:ea typeface="楷体_GB2312" charset="-122"/>
                      </a:rPr>
                      <a:t>20</a:t>
                    </a:r>
                    <a:r>
                      <a:rPr lang="en-US" altLang="zh-CN" sz="2000" b="1">
                        <a:latin typeface="Times New Roman" panose="02020603050405020304" charset="0"/>
                        <a:ea typeface="楷体_GB2312" charset="-122"/>
                      </a:rPr>
                      <a:t>~165</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096" name="矩形 300095"/>
                  <p:cNvSpPr/>
                  <p:nvPr/>
                </p:nvSpPr>
                <p:spPr>
                  <a:xfrm>
                    <a:off x="1906" y="2389"/>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097" name="组合 300096"/>
                <p:cNvGrpSpPr/>
                <p:nvPr/>
              </p:nvGrpSpPr>
              <p:grpSpPr>
                <a:xfrm>
                  <a:off x="0" y="2792"/>
                  <a:ext cx="1304" cy="403"/>
                  <a:chOff x="0" y="2792"/>
                  <a:chExt cx="1304" cy="403"/>
                </a:xfrm>
              </p:grpSpPr>
              <p:sp>
                <p:nvSpPr>
                  <p:cNvPr id="300098" name="矩形 300097"/>
                  <p:cNvSpPr/>
                  <p:nvPr/>
                </p:nvSpPr>
                <p:spPr>
                  <a:xfrm>
                    <a:off x="43" y="2792"/>
                    <a:ext cx="1218" cy="403"/>
                  </a:xfrm>
                  <a:prstGeom prst="rect">
                    <a:avLst/>
                  </a:prstGeom>
                  <a:noFill/>
                  <a:ln w="9525">
                    <a:noFill/>
                  </a:ln>
                </p:spPr>
                <p:txBody>
                  <a:bodyPr/>
                  <a:p>
                    <a:pPr algn="ctr"/>
                    <a:r>
                      <a:rPr lang="en-US" altLang="zh-CN" sz="2000" b="1" dirty="0" err="1">
                        <a:latin typeface="Times New Roman" panose="02020603050405020304" charset="0"/>
                        <a:ea typeface="楷体_GB2312" charset="-122"/>
                      </a:rPr>
                      <a:t>Barth</a:t>
                    </a:r>
                    <a:r>
                      <a:rPr lang="en-US" altLang="zh-CN" sz="2000" b="1">
                        <a:latin typeface="Times New Roman" panose="02020603050405020304" charset="0"/>
                        <a:ea typeface="楷体_GB2312" charset="-122"/>
                      </a:rPr>
                      <a:t>&amp;Titus</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099" name="矩形 300098"/>
                  <p:cNvSpPr/>
                  <p:nvPr/>
                </p:nvSpPr>
                <p:spPr>
                  <a:xfrm>
                    <a:off x="0" y="2792"/>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00" name="组合 300099"/>
                <p:cNvGrpSpPr/>
                <p:nvPr/>
              </p:nvGrpSpPr>
              <p:grpSpPr>
                <a:xfrm>
                  <a:off x="1304" y="2792"/>
                  <a:ext cx="602" cy="403"/>
                  <a:chOff x="1304" y="2792"/>
                  <a:chExt cx="602" cy="403"/>
                </a:xfrm>
              </p:grpSpPr>
              <p:sp>
                <p:nvSpPr>
                  <p:cNvPr id="300101" name="矩形 300100"/>
                  <p:cNvSpPr/>
                  <p:nvPr/>
                </p:nvSpPr>
                <p:spPr>
                  <a:xfrm>
                    <a:off x="1347" y="2792"/>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2025</a:t>
                    </a: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102" name="矩形 300101"/>
                  <p:cNvSpPr/>
                  <p:nvPr/>
                </p:nvSpPr>
                <p:spPr>
                  <a:xfrm>
                    <a:off x="1304" y="2792"/>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03" name="组合 300102"/>
                <p:cNvGrpSpPr/>
                <p:nvPr/>
              </p:nvGrpSpPr>
              <p:grpSpPr>
                <a:xfrm>
                  <a:off x="1906" y="2792"/>
                  <a:ext cx="748" cy="403"/>
                  <a:chOff x="1906" y="2792"/>
                  <a:chExt cx="748" cy="403"/>
                </a:xfrm>
              </p:grpSpPr>
              <p:sp>
                <p:nvSpPr>
                  <p:cNvPr id="300104" name="矩形 300103"/>
                  <p:cNvSpPr/>
                  <p:nvPr/>
                </p:nvSpPr>
                <p:spPr>
                  <a:xfrm>
                    <a:off x="1949" y="2792"/>
                    <a:ext cx="662" cy="403"/>
                  </a:xfrm>
                  <a:prstGeom prst="rect">
                    <a:avLst/>
                  </a:prstGeom>
                  <a:noFill/>
                  <a:ln w="9525">
                    <a:noFill/>
                  </a:ln>
                </p:spPr>
                <p:txBody>
                  <a:bodyPr/>
                  <a:p>
                    <a:pPr algn="ctr"/>
                    <a:r>
                      <a:rPr lang="en-US" altLang="zh-CN" sz="2000" b="1" dirty="0">
                        <a:latin typeface="Times New Roman" panose="02020603050405020304" charset="0"/>
                        <a:ea typeface="楷体_GB2312" charset="-122"/>
                      </a:rPr>
                      <a:t>13</a:t>
                    </a:r>
                    <a:r>
                      <a:rPr lang="en-US" altLang="zh-CN" sz="2000" b="1">
                        <a:latin typeface="Times New Roman" panose="02020603050405020304" charset="0"/>
                        <a:ea typeface="楷体_GB2312" charset="-122"/>
                      </a:rPr>
                      <a:t>~55</a:t>
                    </a:r>
                    <a:endParaRPr lang="en-US" altLang="zh-CN" sz="2000" b="1">
                      <a:latin typeface="Times New Roman" panose="02020603050405020304" charset="0"/>
                      <a:ea typeface="楷体_GB2312" charset="-122"/>
                    </a:endParaRPr>
                  </a:p>
                  <a:p>
                    <a:pPr algn="ctr" eaLnBrk="0" hangingPunct="0"/>
                    <a:endParaRPr lang="en-US" altLang="zh-CN" sz="2000" b="1">
                      <a:latin typeface="Times New Roman" panose="02020603050405020304" charset="0"/>
                      <a:ea typeface="楷体_GB2312" charset="-122"/>
                    </a:endParaRPr>
                  </a:p>
                </p:txBody>
              </p:sp>
              <p:sp>
                <p:nvSpPr>
                  <p:cNvPr id="300105" name="矩形 300104"/>
                  <p:cNvSpPr/>
                  <p:nvPr/>
                </p:nvSpPr>
                <p:spPr>
                  <a:xfrm>
                    <a:off x="1906" y="2792"/>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06" name="组合 300105"/>
                <p:cNvGrpSpPr/>
                <p:nvPr/>
              </p:nvGrpSpPr>
              <p:grpSpPr>
                <a:xfrm>
                  <a:off x="0" y="3195"/>
                  <a:ext cx="1304" cy="403"/>
                  <a:chOff x="0" y="3195"/>
                  <a:chExt cx="1304" cy="403"/>
                </a:xfrm>
              </p:grpSpPr>
              <p:sp>
                <p:nvSpPr>
                  <p:cNvPr id="300107" name="矩形 300106"/>
                  <p:cNvSpPr/>
                  <p:nvPr/>
                </p:nvSpPr>
                <p:spPr>
                  <a:xfrm>
                    <a:off x="43" y="3195"/>
                    <a:ext cx="1218" cy="403"/>
                  </a:xfrm>
                  <a:prstGeom prst="rect">
                    <a:avLst/>
                  </a:prstGeom>
                  <a:noFill/>
                  <a:ln w="9525">
                    <a:noFill/>
                  </a:ln>
                </p:spPr>
                <p:txBody>
                  <a:bodyPr/>
                  <a:p>
                    <a:pPr algn="ctr"/>
                    <a:r>
                      <a:rPr lang="zh-CN" altLang="en-US" sz="2000" b="1" dirty="0">
                        <a:latin typeface="Times New Roman" panose="02020603050405020304" charset="0"/>
                        <a:ea typeface="楷体_GB2312" charset="-122"/>
                      </a:rPr>
                      <a:t>联合国环境规划署（</a:t>
                    </a:r>
                    <a:r>
                      <a:rPr lang="en-US" altLang="zh-CN" sz="2000" b="1">
                        <a:latin typeface="Times New Roman" panose="02020603050405020304" charset="0"/>
                        <a:ea typeface="楷体_GB2312" charset="-122"/>
                      </a:rPr>
                      <a:t>UNEP</a:t>
                    </a:r>
                    <a:r>
                      <a:rPr lang="zh-CN" altLang="en-US" sz="2000" b="1">
                        <a:latin typeface="Times New Roman" panose="02020603050405020304" charset="0"/>
                        <a:ea typeface="楷体_GB2312" charset="-122"/>
                      </a:rPr>
                      <a:t>）</a:t>
                    </a:r>
                    <a:endParaRPr lang="zh-CN" altLang="en-US" sz="2000" b="1">
                      <a:latin typeface="Times New Roman" panose="02020603050405020304" charset="0"/>
                      <a:ea typeface="楷体_GB2312" charset="-122"/>
                    </a:endParaRPr>
                  </a:p>
                  <a:p>
                    <a:pPr algn="ctr"/>
                    <a:endParaRPr lang="zh-CN" altLang="en-US" sz="2000" b="1">
                      <a:latin typeface="Times New Roman" panose="02020603050405020304" charset="0"/>
                      <a:ea typeface="楷体_GB2312" charset="-122"/>
                    </a:endParaRPr>
                  </a:p>
                  <a:p>
                    <a:pPr algn="ctr" eaLnBrk="0" hangingPunct="0"/>
                    <a:endParaRPr lang="zh-CN" altLang="en-US" sz="2000" b="1">
                      <a:latin typeface="Times New Roman" panose="02020603050405020304" charset="0"/>
                      <a:ea typeface="楷体_GB2312" charset="-122"/>
                    </a:endParaRPr>
                  </a:p>
                </p:txBody>
              </p:sp>
              <p:sp>
                <p:nvSpPr>
                  <p:cNvPr id="300108" name="矩形 300107"/>
                  <p:cNvSpPr/>
                  <p:nvPr/>
                </p:nvSpPr>
                <p:spPr>
                  <a:xfrm>
                    <a:off x="0" y="3195"/>
                    <a:ext cx="1304"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09" name="组合 300108"/>
                <p:cNvGrpSpPr/>
                <p:nvPr/>
              </p:nvGrpSpPr>
              <p:grpSpPr>
                <a:xfrm>
                  <a:off x="1304" y="3195"/>
                  <a:ext cx="602" cy="403"/>
                  <a:chOff x="1304" y="3195"/>
                  <a:chExt cx="602" cy="403"/>
                </a:xfrm>
              </p:grpSpPr>
              <p:sp>
                <p:nvSpPr>
                  <p:cNvPr id="300110" name="矩形 300109"/>
                  <p:cNvSpPr/>
                  <p:nvPr/>
                </p:nvSpPr>
                <p:spPr>
                  <a:xfrm>
                    <a:off x="1347" y="3195"/>
                    <a:ext cx="516" cy="403"/>
                  </a:xfrm>
                  <a:prstGeom prst="rect">
                    <a:avLst/>
                  </a:prstGeom>
                  <a:noFill/>
                  <a:ln w="9525">
                    <a:noFill/>
                  </a:ln>
                </p:spPr>
                <p:txBody>
                  <a:bodyPr/>
                  <a:p>
                    <a:pPr algn="ctr"/>
                    <a:r>
                      <a:rPr lang="en-US" altLang="zh-CN" sz="2000" b="1" dirty="0">
                        <a:latin typeface="Times New Roman" panose="02020603050405020304" charset="0"/>
                        <a:ea typeface="楷体_GB2312" charset="-122"/>
                      </a:rPr>
                      <a:t>21</a:t>
                    </a:r>
                    <a:r>
                      <a:rPr lang="zh-CN" altLang="en-US" sz="2000" b="1" dirty="0">
                        <a:latin typeface="Times New Roman" panose="02020603050405020304" charset="0"/>
                        <a:ea typeface="楷体_GB2312" charset="-122"/>
                      </a:rPr>
                      <a:t>世纪末</a:t>
                    </a:r>
                    <a:endParaRPr lang="zh-CN" altLang="en-US" sz="2000" b="1" dirty="0">
                      <a:latin typeface="Times New Roman" panose="02020603050405020304" charset="0"/>
                      <a:ea typeface="楷体_GB2312" charset="-122"/>
                    </a:endParaRPr>
                  </a:p>
                  <a:p>
                    <a:pPr algn="ctr" eaLnBrk="0" hangingPunct="0"/>
                    <a:endParaRPr lang="zh-CN" altLang="en-US" sz="2000" b="1" dirty="0">
                      <a:latin typeface="Times New Roman" panose="02020603050405020304" charset="0"/>
                      <a:ea typeface="楷体_GB2312" charset="-122"/>
                    </a:endParaRPr>
                  </a:p>
                </p:txBody>
              </p:sp>
              <p:sp>
                <p:nvSpPr>
                  <p:cNvPr id="300111" name="矩形 300110"/>
                  <p:cNvSpPr/>
                  <p:nvPr/>
                </p:nvSpPr>
                <p:spPr>
                  <a:xfrm>
                    <a:off x="1304" y="3195"/>
                    <a:ext cx="602"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12" name="组合 300111"/>
                <p:cNvGrpSpPr/>
                <p:nvPr/>
              </p:nvGrpSpPr>
              <p:grpSpPr>
                <a:xfrm>
                  <a:off x="1906" y="3195"/>
                  <a:ext cx="748" cy="403"/>
                  <a:chOff x="1906" y="3195"/>
                  <a:chExt cx="748" cy="403"/>
                </a:xfrm>
              </p:grpSpPr>
              <p:sp>
                <p:nvSpPr>
                  <p:cNvPr id="300113" name="矩形 300112"/>
                  <p:cNvSpPr/>
                  <p:nvPr/>
                </p:nvSpPr>
                <p:spPr>
                  <a:xfrm>
                    <a:off x="1949" y="3195"/>
                    <a:ext cx="662" cy="403"/>
                  </a:xfrm>
                  <a:prstGeom prst="rect">
                    <a:avLst/>
                  </a:prstGeom>
                  <a:noFill/>
                  <a:ln w="9525">
                    <a:noFill/>
                  </a:ln>
                </p:spPr>
                <p:txBody>
                  <a:bodyPr/>
                  <a:p>
                    <a:pPr algn="ctr" eaLnBrk="0" hangingPunct="0"/>
                    <a:r>
                      <a:rPr lang="en-US" altLang="zh-CN" sz="2000" b="1" dirty="0">
                        <a:latin typeface="Times New Roman" panose="02020603050405020304" charset="0"/>
                        <a:ea typeface="楷体_GB2312" charset="-122"/>
                      </a:rPr>
                      <a:t>65</a:t>
                    </a:r>
                    <a:endParaRPr lang="en-US" altLang="zh-CN" sz="2000" b="1" dirty="0">
                      <a:latin typeface="Times New Roman" panose="02020603050405020304" charset="0"/>
                      <a:ea typeface="楷体_GB2312" charset="-122"/>
                    </a:endParaRPr>
                  </a:p>
                </p:txBody>
              </p:sp>
              <p:sp>
                <p:nvSpPr>
                  <p:cNvPr id="300114" name="矩形 300113"/>
                  <p:cNvSpPr/>
                  <p:nvPr/>
                </p:nvSpPr>
                <p:spPr>
                  <a:xfrm>
                    <a:off x="1906" y="3195"/>
                    <a:ext cx="748" cy="403"/>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15" name="组合 300114"/>
                <p:cNvGrpSpPr/>
                <p:nvPr/>
              </p:nvGrpSpPr>
              <p:grpSpPr>
                <a:xfrm>
                  <a:off x="0" y="3598"/>
                  <a:ext cx="1304" cy="518"/>
                  <a:chOff x="0" y="3598"/>
                  <a:chExt cx="1304" cy="518"/>
                </a:xfrm>
              </p:grpSpPr>
              <p:sp>
                <p:nvSpPr>
                  <p:cNvPr id="300116" name="矩形 300115"/>
                  <p:cNvSpPr/>
                  <p:nvPr/>
                </p:nvSpPr>
                <p:spPr>
                  <a:xfrm>
                    <a:off x="43" y="3598"/>
                    <a:ext cx="1218" cy="518"/>
                  </a:xfrm>
                  <a:prstGeom prst="rect">
                    <a:avLst/>
                  </a:prstGeom>
                  <a:noFill/>
                  <a:ln w="9525">
                    <a:noFill/>
                  </a:ln>
                </p:spPr>
                <p:txBody>
                  <a:bodyPr/>
                  <a:p>
                    <a:pPr algn="ctr" eaLnBrk="0" hangingPunct="0"/>
                    <a:endParaRPr sz="2000" b="1" dirty="0">
                      <a:latin typeface="Times New Roman" panose="02020603050405020304" charset="0"/>
                      <a:ea typeface="楷体_GB2312" charset="-122"/>
                    </a:endParaRPr>
                  </a:p>
                </p:txBody>
              </p:sp>
              <p:sp>
                <p:nvSpPr>
                  <p:cNvPr id="300117" name="矩形 300116"/>
                  <p:cNvSpPr/>
                  <p:nvPr/>
                </p:nvSpPr>
                <p:spPr>
                  <a:xfrm>
                    <a:off x="0" y="3598"/>
                    <a:ext cx="1304" cy="518"/>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18" name="组合 300117"/>
                <p:cNvGrpSpPr/>
                <p:nvPr/>
              </p:nvGrpSpPr>
              <p:grpSpPr>
                <a:xfrm>
                  <a:off x="1304" y="3598"/>
                  <a:ext cx="602" cy="518"/>
                  <a:chOff x="1304" y="3598"/>
                  <a:chExt cx="602" cy="518"/>
                </a:xfrm>
              </p:grpSpPr>
              <p:sp>
                <p:nvSpPr>
                  <p:cNvPr id="300119" name="矩形 300118"/>
                  <p:cNvSpPr/>
                  <p:nvPr/>
                </p:nvSpPr>
                <p:spPr>
                  <a:xfrm>
                    <a:off x="1347" y="3598"/>
                    <a:ext cx="516" cy="518"/>
                  </a:xfrm>
                  <a:prstGeom prst="rect">
                    <a:avLst/>
                  </a:prstGeom>
                  <a:noFill/>
                  <a:ln w="9525">
                    <a:noFill/>
                  </a:ln>
                </p:spPr>
                <p:txBody>
                  <a:bodyPr/>
                  <a:p>
                    <a:pPr algn="ctr" eaLnBrk="0" hangingPunct="0"/>
                    <a:endParaRPr sz="2000" b="1" dirty="0">
                      <a:latin typeface="Times New Roman" panose="02020603050405020304" charset="0"/>
                      <a:ea typeface="楷体_GB2312" charset="-122"/>
                    </a:endParaRPr>
                  </a:p>
                </p:txBody>
              </p:sp>
              <p:sp>
                <p:nvSpPr>
                  <p:cNvPr id="300120" name="矩形 300119"/>
                  <p:cNvSpPr/>
                  <p:nvPr/>
                </p:nvSpPr>
                <p:spPr>
                  <a:xfrm>
                    <a:off x="1304" y="3598"/>
                    <a:ext cx="602" cy="518"/>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nvGrpSpPr>
                <p:cNvPr id="300121" name="组合 300120"/>
                <p:cNvGrpSpPr/>
                <p:nvPr/>
              </p:nvGrpSpPr>
              <p:grpSpPr>
                <a:xfrm>
                  <a:off x="1906" y="3598"/>
                  <a:ext cx="748" cy="518"/>
                  <a:chOff x="1906" y="3598"/>
                  <a:chExt cx="748" cy="518"/>
                </a:xfrm>
              </p:grpSpPr>
              <p:sp>
                <p:nvSpPr>
                  <p:cNvPr id="300122" name="矩形 300121"/>
                  <p:cNvSpPr/>
                  <p:nvPr/>
                </p:nvSpPr>
                <p:spPr>
                  <a:xfrm>
                    <a:off x="1949" y="3598"/>
                    <a:ext cx="662" cy="518"/>
                  </a:xfrm>
                  <a:prstGeom prst="rect">
                    <a:avLst/>
                  </a:prstGeom>
                  <a:noFill/>
                  <a:ln w="9525">
                    <a:noFill/>
                  </a:ln>
                </p:spPr>
                <p:txBody>
                  <a:bodyPr/>
                  <a:p>
                    <a:pPr algn="ctr"/>
                    <a:endParaRPr lang="en-US" altLang="zh-CN" sz="2000" b="1" dirty="0">
                      <a:latin typeface="Times New Roman" panose="02020603050405020304" charset="0"/>
                      <a:ea typeface="楷体_GB2312" charset="-122"/>
                    </a:endParaRPr>
                  </a:p>
                  <a:p>
                    <a:pPr algn="ctr" eaLnBrk="0" hangingPunct="0"/>
                    <a:endParaRPr lang="en-US" altLang="zh-CN" sz="2000" b="1" dirty="0">
                      <a:latin typeface="Times New Roman" panose="02020603050405020304" charset="0"/>
                      <a:ea typeface="楷体_GB2312" charset="-122"/>
                    </a:endParaRPr>
                  </a:p>
                </p:txBody>
              </p:sp>
              <p:sp>
                <p:nvSpPr>
                  <p:cNvPr id="300123" name="矩形 300122"/>
                  <p:cNvSpPr/>
                  <p:nvPr/>
                </p:nvSpPr>
                <p:spPr>
                  <a:xfrm>
                    <a:off x="1906" y="3598"/>
                    <a:ext cx="748" cy="518"/>
                  </a:xfrm>
                  <a:prstGeom prst="rect">
                    <a:avLst/>
                  </a:prstGeom>
                  <a:noFill/>
                  <a:ln w="7" cap="flat" cmpd="sng">
                    <a:solidFill>
                      <a:srgbClr val="A0A0A0"/>
                    </a:solidFill>
                    <a:prstDash val="solid"/>
                    <a:miter/>
                    <a:headEnd type="none" w="med" len="med"/>
                    <a:tailEnd type="none" w="med" len="med"/>
                  </a:ln>
                </p:spPr>
                <p:txBody>
                  <a:bodyPr/>
                  <a:p>
                    <a:endParaRPr lang="zh-CN" altLang="en-US"/>
                  </a:p>
                </p:txBody>
              </p:sp>
            </p:grpSp>
          </p:grpSp>
          <p:sp>
            <p:nvSpPr>
              <p:cNvPr id="300124" name="矩形 300123"/>
              <p:cNvSpPr/>
              <p:nvPr/>
            </p:nvSpPr>
            <p:spPr>
              <a:xfrm>
                <a:off x="-3" y="371"/>
                <a:ext cx="2660" cy="3748"/>
              </a:xfrm>
              <a:prstGeom prst="rect">
                <a:avLst/>
              </a:prstGeom>
              <a:noFill/>
              <a:ln w="11112" cap="flat" cmpd="sng">
                <a:solidFill>
                  <a:srgbClr val="A0A0A0"/>
                </a:solidFill>
                <a:prstDash val="solid"/>
                <a:miter/>
                <a:headEnd type="none" w="med" len="med"/>
                <a:tailEnd type="none" w="med" len="med"/>
              </a:ln>
            </p:spPr>
            <p:txBody>
              <a:bodyPr/>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0037"/>
                                        </p:tgtEl>
                                        <p:attrNameLst>
                                          <p:attrName>style.visibility</p:attrName>
                                        </p:attrNameLst>
                                      </p:cBhvr>
                                      <p:to>
                                        <p:strVal val="visible"/>
                                      </p:to>
                                    </p:set>
                                    <p:animEffect transition="in" filter="wipe(up)">
                                      <p:cBhvr>
                                        <p:cTn id="7" dur="500"/>
                                        <p:tgtEl>
                                          <p:spTgt spid="3000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00034"/>
                                        </p:tgtEl>
                                        <p:attrNameLst>
                                          <p:attrName>style.visibility</p:attrName>
                                        </p:attrNameLst>
                                      </p:cBhvr>
                                      <p:to>
                                        <p:strVal val="visible"/>
                                      </p:to>
                                    </p:set>
                                    <p:anim calcmode="lin" valueType="num">
                                      <p:cBhvr additive="base">
                                        <p:cTn id="12" dur="500" fill="hold"/>
                                        <p:tgtEl>
                                          <p:spTgt spid="300034"/>
                                        </p:tgtEl>
                                        <p:attrNameLst>
                                          <p:attrName>ppt_x</p:attrName>
                                        </p:attrNameLst>
                                      </p:cBhvr>
                                      <p:tavLst>
                                        <p:tav tm="0">
                                          <p:val>
                                            <p:strVal val="0-#ppt_w/2"/>
                                          </p:val>
                                        </p:tav>
                                        <p:tav tm="100000">
                                          <p:val>
                                            <p:strVal val="#ppt_x"/>
                                          </p:val>
                                        </p:tav>
                                      </p:tavLst>
                                    </p:anim>
                                    <p:anim calcmode="lin" valueType="num">
                                      <p:cBhvr additive="base">
                                        <p:cTn id="13" dur="500" fill="hold"/>
                                        <p:tgtEl>
                                          <p:spTgt spid="300034"/>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7" presetClass="entr" presetSubtype="8" fill="hold" nodeType="afterEffect">
                                  <p:stCondLst>
                                    <p:cond delay="0"/>
                                  </p:stCondLst>
                                  <p:childTnLst>
                                    <p:set>
                                      <p:cBhvr>
                                        <p:cTn id="16" dur="1" fill="hold">
                                          <p:stCondLst>
                                            <p:cond delay="0"/>
                                          </p:stCondLst>
                                        </p:cTn>
                                        <p:tgtEl>
                                          <p:spTgt spid="300038"/>
                                        </p:tgtEl>
                                        <p:attrNameLst>
                                          <p:attrName>style.visibility</p:attrName>
                                        </p:attrNameLst>
                                      </p:cBhvr>
                                      <p:to>
                                        <p:strVal val="visible"/>
                                      </p:to>
                                    </p:set>
                                    <p:anim calcmode="lin" valueType="num">
                                      <p:cBhvr>
                                        <p:cTn id="17" dur="500" fill="hold"/>
                                        <p:tgtEl>
                                          <p:spTgt spid="300038"/>
                                        </p:tgtEl>
                                        <p:attrNameLst>
                                          <p:attrName>ppt_x</p:attrName>
                                        </p:attrNameLst>
                                      </p:cBhvr>
                                      <p:tavLst>
                                        <p:tav tm="0">
                                          <p:val>
                                            <p:strVal val="#ppt_x-#ppt_w/2"/>
                                          </p:val>
                                        </p:tav>
                                        <p:tav tm="100000">
                                          <p:val>
                                            <p:strVal val="#ppt_x"/>
                                          </p:val>
                                        </p:tav>
                                      </p:tavLst>
                                    </p:anim>
                                    <p:anim calcmode="lin" valueType="num">
                                      <p:cBhvr>
                                        <p:cTn id="18" dur="500" fill="hold"/>
                                        <p:tgtEl>
                                          <p:spTgt spid="300038"/>
                                        </p:tgtEl>
                                        <p:attrNameLst>
                                          <p:attrName>ppt_y</p:attrName>
                                        </p:attrNameLst>
                                      </p:cBhvr>
                                      <p:tavLst>
                                        <p:tav tm="0">
                                          <p:val>
                                            <p:strVal val="#ppt_y"/>
                                          </p:val>
                                        </p:tav>
                                        <p:tav tm="100000">
                                          <p:val>
                                            <p:strVal val="#ppt_y"/>
                                          </p:val>
                                        </p:tav>
                                      </p:tavLst>
                                    </p:anim>
                                    <p:anim calcmode="lin" valueType="num">
                                      <p:cBhvr>
                                        <p:cTn id="19" dur="500" fill="hold"/>
                                        <p:tgtEl>
                                          <p:spTgt spid="300038"/>
                                        </p:tgtEl>
                                        <p:attrNameLst>
                                          <p:attrName>ppt_w</p:attrName>
                                        </p:attrNameLst>
                                      </p:cBhvr>
                                      <p:tavLst>
                                        <p:tav tm="0">
                                          <p:val>
                                            <p:fltVal val="0.000000"/>
                                          </p:val>
                                        </p:tav>
                                        <p:tav tm="100000">
                                          <p:val>
                                            <p:strVal val="#ppt_w"/>
                                          </p:val>
                                        </p:tav>
                                      </p:tavLst>
                                    </p:anim>
                                    <p:anim calcmode="lin" valueType="num">
                                      <p:cBhvr>
                                        <p:cTn id="20" dur="500" fill="hold"/>
                                        <p:tgtEl>
                                          <p:spTgt spid="300038"/>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30003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300035"/>
                                        </p:tgtEl>
                                        <p:attrNameLst>
                                          <p:attrName>style.visibility</p:attrName>
                                        </p:attrNameLst>
                                      </p:cBhvr>
                                      <p:to>
                                        <p:strVal val="visible"/>
                                      </p:to>
                                    </p:set>
                                    <p:animEffect transition="in" filter="dissolve">
                                      <p:cBhvr>
                                        <p:cTn id="25" dur="500"/>
                                        <p:tgtEl>
                                          <p:spTgt spid="300035"/>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42" fill="hold" grpId="0" nodeType="clickEffect">
                                  <p:stCondLst>
                                    <p:cond delay="0"/>
                                  </p:stCondLst>
                                  <p:childTnLst>
                                    <p:set>
                                      <p:cBhvr>
                                        <p:cTn id="29" dur="1" fill="hold">
                                          <p:stCondLst>
                                            <p:cond delay="0"/>
                                          </p:stCondLst>
                                        </p:cTn>
                                        <p:tgtEl>
                                          <p:spTgt spid="300036"/>
                                        </p:tgtEl>
                                        <p:attrNameLst>
                                          <p:attrName>style.visibility</p:attrName>
                                        </p:attrNameLst>
                                      </p:cBhvr>
                                      <p:to>
                                        <p:strVal val="visible"/>
                                      </p:to>
                                    </p:set>
                                    <p:animEffect transition="in" filter="barn(outHorizontal)">
                                      <p:cBhvr>
                                        <p:cTn id="30" dur="500"/>
                                        <p:tgtEl>
                                          <p:spTgt spid="300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4" grpId="0" bldLvl="0" animBg="1"/>
      <p:bldP spid="300035" grpId="0" bldLvl="0" animBg="1"/>
      <p:bldP spid="300036" grpId="0" bldLvl="0" animBg="1"/>
      <p:bldP spid="300037" grpId="0" bldLvl="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1058" name="横卷形 301057"/>
          <p:cNvSpPr/>
          <p:nvPr/>
        </p:nvSpPr>
        <p:spPr>
          <a:xfrm>
            <a:off x="3733800" y="228600"/>
            <a:ext cx="4953000" cy="914400"/>
          </a:xfrm>
          <a:prstGeom prst="horizontalScroll">
            <a:avLst>
              <a:gd name="adj" fmla="val 12500"/>
            </a:avLst>
          </a:prstGeom>
          <a:gradFill rotWithShape="0">
            <a:gsLst>
              <a:gs pos="0">
                <a:srgbClr val="CCFF99"/>
              </a:gs>
              <a:gs pos="100000">
                <a:schemeClr val="bg1"/>
              </a:gs>
            </a:gsLst>
            <a:path path="rect">
              <a:fillToRect l="100000" b="100000"/>
            </a:path>
            <a:tileRect/>
          </a:gradFill>
          <a:ln w="9525" cap="flat" cmpd="sng">
            <a:solidFill>
              <a:schemeClr val="tx1"/>
            </a:solidFill>
            <a:prstDash val="solid"/>
            <a:headEnd type="none" w="med" len="med"/>
            <a:tailEnd type="none" w="med" len="med"/>
          </a:ln>
        </p:spPr>
        <p:txBody>
          <a:bodyPr wrap="none" anchor="ctr" anchorCtr="0"/>
          <a:p>
            <a:pPr algn="ctr"/>
            <a:r>
              <a:rPr lang="zh-CN" altLang="en-US" sz="3200" b="1" dirty="0">
                <a:latin typeface="Times New Roman" panose="02020603050405020304" charset="0"/>
                <a:ea typeface="黑体" panose="02010609060101010101" pitchFamily="2" charset="-122"/>
              </a:rPr>
              <a:t>减缓全球变暖的对策</a:t>
            </a:r>
            <a:endParaRPr lang="zh-CN" altLang="en-US" sz="3200" b="1" dirty="0">
              <a:latin typeface="Times New Roman" panose="02020603050405020304" charset="0"/>
              <a:ea typeface="黑体" panose="02010609060101010101" pitchFamily="2" charset="-122"/>
            </a:endParaRPr>
          </a:p>
        </p:txBody>
      </p:sp>
      <p:sp>
        <p:nvSpPr>
          <p:cNvPr id="301059" name="云形标注 301058"/>
          <p:cNvSpPr/>
          <p:nvPr/>
        </p:nvSpPr>
        <p:spPr>
          <a:xfrm>
            <a:off x="7467600" y="1295400"/>
            <a:ext cx="2514600" cy="1295400"/>
          </a:xfrm>
          <a:prstGeom prst="cloudCallout">
            <a:avLst>
              <a:gd name="adj1" fmla="val -64014"/>
              <a:gd name="adj2" fmla="val -58824"/>
            </a:avLst>
          </a:prstGeom>
          <a:gradFill rotWithShape="0">
            <a:gsLst>
              <a:gs pos="0">
                <a:srgbClr val="FFFF00"/>
              </a:gs>
              <a:gs pos="100000">
                <a:schemeClr val="bg1"/>
              </a:gs>
            </a:gsLst>
            <a:lin ang="5400000" scaled="1"/>
            <a:tileRect/>
          </a:gradFill>
          <a:ln w="9525" cap="flat" cmpd="sng">
            <a:solidFill>
              <a:schemeClr val="tx1"/>
            </a:solidFill>
            <a:prstDash val="solid"/>
            <a:headEnd type="none" w="med" len="med"/>
            <a:tailEnd type="none" w="med" len="med"/>
          </a:ln>
        </p:spPr>
        <p:txBody>
          <a:bodyPr/>
          <a:p>
            <a:pPr algn="ctr"/>
            <a:r>
              <a:rPr lang="zh-CN" altLang="en-US" sz="2400" b="1" dirty="0">
                <a:latin typeface="Times New Roman" panose="02020603050405020304" charset="0"/>
                <a:ea typeface="楷体_GB2312" charset="-122"/>
              </a:rPr>
              <a:t>主要是控制</a:t>
            </a:r>
            <a:r>
              <a:rPr lang="en-US" altLang="zh-CN" sz="2400" b="1">
                <a:latin typeface="Times New Roman" panose="02020603050405020304" charset="0"/>
                <a:ea typeface="楷体_GB2312" charset="-122"/>
              </a:rPr>
              <a:t>CO</a:t>
            </a:r>
            <a:r>
              <a:rPr lang="en-US" altLang="zh-CN" sz="2400" b="1" baseline="-25000">
                <a:latin typeface="Times New Roman" panose="02020603050405020304" charset="0"/>
                <a:ea typeface="楷体_GB2312" charset="-122"/>
              </a:rPr>
              <a:t>2</a:t>
            </a:r>
            <a:endParaRPr lang="en-US" altLang="zh-CN" sz="2400" b="1" baseline="-25000">
              <a:latin typeface="Times New Roman" panose="02020603050405020304" charset="0"/>
              <a:ea typeface="楷体_GB2312" charset="-122"/>
            </a:endParaRPr>
          </a:p>
        </p:txBody>
      </p:sp>
      <p:sp>
        <p:nvSpPr>
          <p:cNvPr id="301060" name="文本框 301059"/>
          <p:cNvSpPr txBox="1"/>
          <p:nvPr/>
        </p:nvSpPr>
        <p:spPr>
          <a:xfrm>
            <a:off x="1905000" y="2743200"/>
            <a:ext cx="8439150" cy="460375"/>
          </a:xfrm>
          <a:prstGeom prst="rect">
            <a:avLst/>
          </a:prstGeom>
          <a:noFill/>
          <a:ln w="9525">
            <a:noFill/>
          </a:ln>
        </p:spPr>
        <p:txBody>
          <a:bodyPr>
            <a:spAutoFit/>
          </a:bodyPr>
          <a:p>
            <a:pPr>
              <a:spcBef>
                <a:spcPct val="50000"/>
              </a:spcBef>
            </a:pPr>
            <a:r>
              <a:rPr lang="en-US" altLang="zh-CN" sz="2400" b="1" dirty="0">
                <a:solidFill>
                  <a:srgbClr val="FF0066"/>
                </a:solidFill>
                <a:latin typeface="Times New Roman" panose="02020603050405020304" charset="0"/>
                <a:ea typeface="楷体_GB2312" charset="-122"/>
              </a:rPr>
              <a:t>1</a:t>
            </a:r>
            <a:r>
              <a:rPr lang="zh-CN" altLang="en-US" sz="2400" b="1" dirty="0">
                <a:solidFill>
                  <a:srgbClr val="FF0066"/>
                </a:solidFill>
                <a:latin typeface="Times New Roman" panose="02020603050405020304" charset="0"/>
                <a:ea typeface="楷体_GB2312" charset="-122"/>
              </a:rPr>
              <a:t>、排放控制对策：</a:t>
            </a:r>
            <a:r>
              <a:rPr lang="zh-CN" altLang="en-US" sz="2400" b="1" dirty="0">
                <a:solidFill>
                  <a:schemeClr val="accent2"/>
                </a:solidFill>
                <a:latin typeface="Times New Roman" panose="02020603050405020304" charset="0"/>
                <a:ea typeface="楷体_GB2312" charset="-122"/>
              </a:rPr>
              <a:t>控制化石燃料消耗，以抑制</a:t>
            </a:r>
            <a:r>
              <a:rPr lang="en-US" altLang="zh-CN" sz="2400" b="1">
                <a:solidFill>
                  <a:schemeClr val="accent2"/>
                </a:solidFill>
                <a:latin typeface="Times New Roman" panose="02020603050405020304" charset="0"/>
                <a:ea typeface="楷体_GB2312" charset="-122"/>
              </a:rPr>
              <a:t>CO</a:t>
            </a:r>
            <a:r>
              <a:rPr lang="en-US" altLang="zh-CN" sz="2400" b="1" baseline="-25000">
                <a:solidFill>
                  <a:schemeClr val="accent2"/>
                </a:solidFill>
                <a:latin typeface="Times New Roman" panose="02020603050405020304" charset="0"/>
                <a:ea typeface="楷体_GB2312" charset="-122"/>
              </a:rPr>
              <a:t>2</a:t>
            </a:r>
            <a:r>
              <a:rPr lang="zh-CN" altLang="en-US" sz="2400" b="1" dirty="0">
                <a:solidFill>
                  <a:schemeClr val="accent2"/>
                </a:solidFill>
                <a:latin typeface="Times New Roman" panose="02020603050405020304" charset="0"/>
                <a:ea typeface="楷体_GB2312" charset="-122"/>
              </a:rPr>
              <a:t>的排放；</a:t>
            </a:r>
            <a:endParaRPr lang="zh-CN" altLang="en-US" sz="2400" b="1" dirty="0">
              <a:solidFill>
                <a:schemeClr val="accent2"/>
              </a:solidFill>
              <a:latin typeface="Times New Roman" panose="02020603050405020304" charset="0"/>
              <a:ea typeface="楷体_GB2312" charset="-122"/>
            </a:endParaRPr>
          </a:p>
        </p:txBody>
      </p:sp>
      <p:sp>
        <p:nvSpPr>
          <p:cNvPr id="301061" name="文本框 301060"/>
          <p:cNvSpPr txBox="1"/>
          <p:nvPr/>
        </p:nvSpPr>
        <p:spPr>
          <a:xfrm>
            <a:off x="1917700" y="3733800"/>
            <a:ext cx="8426450" cy="1014730"/>
          </a:xfrm>
          <a:prstGeom prst="rect">
            <a:avLst/>
          </a:prstGeom>
          <a:noFill/>
          <a:ln w="9525">
            <a:noFill/>
          </a:ln>
        </p:spPr>
        <p:txBody>
          <a:bodyPr>
            <a:spAutoFit/>
          </a:bodyPr>
          <a:p>
            <a:pPr>
              <a:spcBef>
                <a:spcPct val="50000"/>
              </a:spcBef>
            </a:pPr>
            <a:r>
              <a:rPr lang="en-US" altLang="zh-CN" sz="2400" b="1" dirty="0">
                <a:solidFill>
                  <a:srgbClr val="FF0066"/>
                </a:solidFill>
                <a:latin typeface="Times New Roman" panose="02020603050405020304" charset="0"/>
                <a:ea typeface="楷体_GB2312" charset="-122"/>
              </a:rPr>
              <a:t>2</a:t>
            </a:r>
            <a:r>
              <a:rPr lang="zh-CN" altLang="en-US" sz="2400" b="1" dirty="0">
                <a:solidFill>
                  <a:srgbClr val="FF0066"/>
                </a:solidFill>
                <a:latin typeface="Times New Roman" panose="02020603050405020304" charset="0"/>
                <a:ea typeface="楷体_GB2312" charset="-122"/>
              </a:rPr>
              <a:t>、固定化对策：</a:t>
            </a:r>
            <a:r>
              <a:rPr lang="zh-CN" altLang="en-US" sz="2400" b="1" dirty="0">
                <a:solidFill>
                  <a:schemeClr val="accent2"/>
                </a:solidFill>
                <a:latin typeface="Times New Roman" panose="02020603050405020304" charset="0"/>
                <a:ea typeface="楷体_GB2312" charset="-122"/>
              </a:rPr>
              <a:t>使已生成的</a:t>
            </a:r>
            <a:r>
              <a:rPr lang="en-US" altLang="zh-CN" sz="2400" b="1">
                <a:solidFill>
                  <a:schemeClr val="accent2"/>
                </a:solidFill>
                <a:latin typeface="Times New Roman" panose="02020603050405020304" charset="0"/>
                <a:ea typeface="楷体_GB2312" charset="-122"/>
              </a:rPr>
              <a:t>CO</a:t>
            </a:r>
            <a:r>
              <a:rPr lang="en-US" altLang="zh-CN" sz="2400" b="1" baseline="-25000">
                <a:solidFill>
                  <a:schemeClr val="accent2"/>
                </a:solidFill>
                <a:latin typeface="Times New Roman" panose="02020603050405020304" charset="0"/>
                <a:ea typeface="楷体_GB2312" charset="-122"/>
              </a:rPr>
              <a:t>2</a:t>
            </a:r>
            <a:r>
              <a:rPr lang="zh-CN" altLang="en-US" sz="2400" b="1" dirty="0">
                <a:solidFill>
                  <a:schemeClr val="accent2"/>
                </a:solidFill>
                <a:latin typeface="Times New Roman" panose="02020603050405020304" charset="0"/>
                <a:ea typeface="楷体_GB2312" charset="-122"/>
              </a:rPr>
              <a:t>变为其他物质，以防止其向</a:t>
            </a:r>
            <a:endParaRPr lang="zh-CN" altLang="en-US" sz="2400" b="1" dirty="0">
              <a:solidFill>
                <a:schemeClr val="accent2"/>
              </a:solidFill>
              <a:latin typeface="Times New Roman" panose="02020603050405020304" charset="0"/>
              <a:ea typeface="楷体_GB2312" charset="-122"/>
            </a:endParaRPr>
          </a:p>
          <a:p>
            <a:pPr>
              <a:spcBef>
                <a:spcPct val="50000"/>
              </a:spcBef>
            </a:pPr>
            <a:r>
              <a:rPr lang="zh-CN" altLang="en-US" sz="2400" b="1" dirty="0">
                <a:solidFill>
                  <a:schemeClr val="accent2"/>
                </a:solidFill>
                <a:latin typeface="Times New Roman" panose="02020603050405020304" charset="0"/>
                <a:ea typeface="楷体_GB2312" charset="-122"/>
              </a:rPr>
              <a:t>                              大气中排放；</a:t>
            </a:r>
            <a:endParaRPr lang="zh-CN" altLang="en-US" sz="2400" b="1" dirty="0">
              <a:solidFill>
                <a:schemeClr val="accent2"/>
              </a:solidFill>
              <a:latin typeface="Times New Roman" panose="02020603050405020304" charset="0"/>
              <a:ea typeface="楷体_GB2312" charset="-122"/>
            </a:endParaRPr>
          </a:p>
        </p:txBody>
      </p:sp>
      <p:sp>
        <p:nvSpPr>
          <p:cNvPr id="301062" name="文本框 301061"/>
          <p:cNvSpPr txBox="1"/>
          <p:nvPr/>
        </p:nvSpPr>
        <p:spPr>
          <a:xfrm>
            <a:off x="1981200" y="5257800"/>
            <a:ext cx="8153400" cy="1014730"/>
          </a:xfrm>
          <a:prstGeom prst="rect">
            <a:avLst/>
          </a:prstGeom>
          <a:noFill/>
          <a:ln w="9525">
            <a:noFill/>
          </a:ln>
        </p:spPr>
        <p:txBody>
          <a:bodyPr>
            <a:spAutoFit/>
          </a:bodyPr>
          <a:p>
            <a:pPr>
              <a:spcBef>
                <a:spcPct val="50000"/>
              </a:spcBef>
            </a:pPr>
            <a:r>
              <a:rPr lang="en-US" altLang="zh-CN" sz="2400" b="1" dirty="0">
                <a:solidFill>
                  <a:srgbClr val="FF0066"/>
                </a:solidFill>
                <a:latin typeface="Times New Roman" panose="02020603050405020304" charset="0"/>
                <a:ea typeface="楷体_GB2312" charset="-122"/>
              </a:rPr>
              <a:t>3</a:t>
            </a:r>
            <a:r>
              <a:rPr lang="zh-CN" altLang="en-US" sz="2400" b="1" dirty="0">
                <a:solidFill>
                  <a:srgbClr val="FF0066"/>
                </a:solidFill>
                <a:latin typeface="Times New Roman" panose="02020603050405020304" charset="0"/>
                <a:ea typeface="楷体_GB2312" charset="-122"/>
              </a:rPr>
              <a:t>、适应对策：</a:t>
            </a:r>
            <a:r>
              <a:rPr lang="zh-CN" altLang="en-US" sz="2400" b="1" dirty="0">
                <a:solidFill>
                  <a:schemeClr val="accent2"/>
                </a:solidFill>
                <a:latin typeface="Times New Roman" panose="02020603050405020304" charset="0"/>
                <a:ea typeface="楷体_GB2312" charset="-122"/>
              </a:rPr>
              <a:t>在已发生全球变暖的情况下，采取相适应的</a:t>
            </a:r>
            <a:endParaRPr lang="zh-CN" altLang="en-US" sz="2400" b="1" dirty="0">
              <a:solidFill>
                <a:schemeClr val="accent2"/>
              </a:solidFill>
              <a:latin typeface="Times New Roman" panose="02020603050405020304" charset="0"/>
              <a:ea typeface="楷体_GB2312" charset="-122"/>
            </a:endParaRPr>
          </a:p>
          <a:p>
            <a:pPr>
              <a:spcBef>
                <a:spcPct val="50000"/>
              </a:spcBef>
            </a:pPr>
            <a:r>
              <a:rPr lang="zh-CN" altLang="en-US" sz="2400" b="1" dirty="0">
                <a:solidFill>
                  <a:schemeClr val="accent2"/>
                </a:solidFill>
                <a:latin typeface="Times New Roman" panose="02020603050405020304" charset="0"/>
                <a:ea typeface="楷体_GB2312" charset="-122"/>
              </a:rPr>
              <a:t>                            对策以使其影响降低到最小程度。</a:t>
            </a:r>
            <a:endParaRPr lang="zh-CN" altLang="en-US" sz="2400" b="1" dirty="0">
              <a:solidFill>
                <a:schemeClr val="accent2"/>
              </a:solidFill>
              <a:latin typeface="Times New Roman" panose="02020603050405020304" charset="0"/>
              <a:ea typeface="楷体_GB2312" charset="-122"/>
            </a:endParaRPr>
          </a:p>
        </p:txBody>
      </p:sp>
      <p:pic>
        <p:nvPicPr>
          <p:cNvPr id="301063" name="图片 301062" descr="HC_128"/>
          <p:cNvPicPr>
            <a:picLocks noChangeAspect="1"/>
          </p:cNvPicPr>
          <p:nvPr/>
        </p:nvPicPr>
        <p:blipFill>
          <a:blip r:embed="rId1"/>
          <a:stretch>
            <a:fillRect/>
          </a:stretch>
        </p:blipFill>
        <p:spPr>
          <a:xfrm>
            <a:off x="1524000" y="0"/>
            <a:ext cx="1143000" cy="9715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301058"/>
                                        </p:tgtEl>
                                        <p:attrNameLst>
                                          <p:attrName>style.visibility</p:attrName>
                                        </p:attrNameLst>
                                      </p:cBhvr>
                                      <p:to>
                                        <p:strVal val="visible"/>
                                      </p:to>
                                    </p:set>
                                    <p:anim calcmode="lin" valueType="num">
                                      <p:cBhvr>
                                        <p:cTn id="7" dur="500" fill="hold"/>
                                        <p:tgtEl>
                                          <p:spTgt spid="301058"/>
                                        </p:tgtEl>
                                        <p:attrNameLst>
                                          <p:attrName>ppt_w</p:attrName>
                                        </p:attrNameLst>
                                      </p:cBhvr>
                                      <p:tavLst>
                                        <p:tav tm="0">
                                          <p:val>
                                            <p:fltVal val="0.000000"/>
                                          </p:val>
                                        </p:tav>
                                        <p:tav tm="100000">
                                          <p:val>
                                            <p:strVal val="#ppt_w"/>
                                          </p:val>
                                        </p:tav>
                                      </p:tavLst>
                                    </p:anim>
                                    <p:anim calcmode="lin" valueType="num">
                                      <p:cBhvr>
                                        <p:cTn id="8" dur="500" fill="hold"/>
                                        <p:tgtEl>
                                          <p:spTgt spid="30105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301059"/>
                                        </p:tgtEl>
                                        <p:attrNameLst>
                                          <p:attrName>style.visibility</p:attrName>
                                        </p:attrNameLst>
                                      </p:cBhvr>
                                      <p:to>
                                        <p:strVal val="visible"/>
                                      </p:to>
                                    </p:set>
                                    <p:animEffect transition="in" filter="box(in)">
                                      <p:cBhvr>
                                        <p:cTn id="13" dur="500"/>
                                        <p:tgtEl>
                                          <p:spTgt spid="301059"/>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01060"/>
                                        </p:tgtEl>
                                        <p:attrNameLst>
                                          <p:attrName>style.visibility</p:attrName>
                                        </p:attrNameLst>
                                      </p:cBhvr>
                                      <p:to>
                                        <p:strVal val="visible"/>
                                      </p:to>
                                    </p:set>
                                    <p:animEffect transition="in" filter="checkerboard(across)">
                                      <p:cBhvr>
                                        <p:cTn id="18" dur="500"/>
                                        <p:tgtEl>
                                          <p:spTgt spid="30106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301061"/>
                                        </p:tgtEl>
                                        <p:attrNameLst>
                                          <p:attrName>style.visibility</p:attrName>
                                        </p:attrNameLst>
                                      </p:cBhvr>
                                      <p:to>
                                        <p:strVal val="visible"/>
                                      </p:to>
                                    </p:set>
                                    <p:anim calcmode="lin" valueType="num">
                                      <p:cBhvr additive="base">
                                        <p:cTn id="23" dur="500" fill="hold"/>
                                        <p:tgtEl>
                                          <p:spTgt spid="301061"/>
                                        </p:tgtEl>
                                        <p:attrNameLst>
                                          <p:attrName>ppt_x</p:attrName>
                                        </p:attrNameLst>
                                      </p:cBhvr>
                                      <p:tavLst>
                                        <p:tav tm="0">
                                          <p:val>
                                            <p:strVal val="1+#ppt_w/2"/>
                                          </p:val>
                                        </p:tav>
                                        <p:tav tm="100000">
                                          <p:val>
                                            <p:strVal val="#ppt_x"/>
                                          </p:val>
                                        </p:tav>
                                      </p:tavLst>
                                    </p:anim>
                                    <p:anim calcmode="lin" valueType="num">
                                      <p:cBhvr additive="base">
                                        <p:cTn id="24" dur="500" fill="hold"/>
                                        <p:tgtEl>
                                          <p:spTgt spid="301061"/>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42" fill="hold" grpId="0" nodeType="clickEffect">
                                  <p:stCondLst>
                                    <p:cond delay="0"/>
                                  </p:stCondLst>
                                  <p:childTnLst>
                                    <p:set>
                                      <p:cBhvr>
                                        <p:cTn id="28" dur="1" fill="hold">
                                          <p:stCondLst>
                                            <p:cond delay="0"/>
                                          </p:stCondLst>
                                        </p:cTn>
                                        <p:tgtEl>
                                          <p:spTgt spid="301062"/>
                                        </p:tgtEl>
                                        <p:attrNameLst>
                                          <p:attrName>style.visibility</p:attrName>
                                        </p:attrNameLst>
                                      </p:cBhvr>
                                      <p:to>
                                        <p:strVal val="visible"/>
                                      </p:to>
                                    </p:set>
                                    <p:animEffect transition="in" filter="barn(outHorizontal)">
                                      <p:cBhvr>
                                        <p:cTn id="29" dur="500"/>
                                        <p:tgtEl>
                                          <p:spTgt spid="301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8" grpId="0" bldLvl="0" animBg="1"/>
      <p:bldP spid="301059" grpId="0" bldLvl="0" animBg="1"/>
      <p:bldP spid="301060" grpId="0"/>
      <p:bldP spid="301061" grpId="0"/>
      <p:bldP spid="301062"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2082" name="菱形 302081"/>
          <p:cNvSpPr/>
          <p:nvPr/>
        </p:nvSpPr>
        <p:spPr>
          <a:xfrm>
            <a:off x="1905000" y="0"/>
            <a:ext cx="4191000" cy="1054100"/>
          </a:xfrm>
          <a:prstGeom prst="diamond">
            <a:avLst/>
          </a:prstGeom>
          <a:gradFill rotWithShape="0">
            <a:gsLst>
              <a:gs pos="0">
                <a:srgbClr val="CCFF66"/>
              </a:gs>
              <a:gs pos="50000">
                <a:schemeClr val="bg1"/>
              </a:gs>
              <a:gs pos="100000">
                <a:srgbClr val="CCFF66"/>
              </a:gs>
            </a:gsLst>
            <a:lin ang="5400000" scaled="1"/>
            <a:tileRect/>
          </a:gradFill>
          <a:ln w="9525" cap="flat" cmpd="sng">
            <a:solidFill>
              <a:schemeClr val="tx1"/>
            </a:solidFill>
            <a:prstDash val="solid"/>
            <a:miter/>
            <a:headEnd type="none" w="med" len="med"/>
            <a:tailEnd type="none" w="med" len="med"/>
          </a:ln>
        </p:spPr>
        <p:txBody>
          <a:bodyPr wrap="none" anchor="ctr" anchorCtr="0"/>
          <a:p>
            <a:pPr algn="ctr"/>
            <a:r>
              <a:rPr lang="zh-CN" altLang="en-US" sz="2800" b="1" dirty="0">
                <a:latin typeface="Times New Roman" panose="02020603050405020304" charset="0"/>
                <a:ea typeface="黑体" panose="02010609060101010101" pitchFamily="2" charset="-122"/>
              </a:rPr>
              <a:t>（二）臭氧层破坏</a:t>
            </a:r>
            <a:endParaRPr lang="zh-CN" altLang="en-US" sz="2800" b="1" dirty="0">
              <a:latin typeface="Times New Roman" panose="02020603050405020304" charset="0"/>
              <a:ea typeface="黑体" panose="02010609060101010101" pitchFamily="2" charset="-122"/>
            </a:endParaRPr>
          </a:p>
        </p:txBody>
      </p:sp>
      <p:sp>
        <p:nvSpPr>
          <p:cNvPr id="302083" name="矩形 302082"/>
          <p:cNvSpPr/>
          <p:nvPr/>
        </p:nvSpPr>
        <p:spPr>
          <a:xfrm>
            <a:off x="2133600" y="3733800"/>
            <a:ext cx="7696200" cy="2209800"/>
          </a:xfrm>
          <a:prstGeom prst="rect">
            <a:avLst/>
          </a:prstGeom>
          <a:gradFill rotWithShape="0">
            <a:gsLst>
              <a:gs pos="0">
                <a:srgbClr val="CCFF99"/>
              </a:gs>
              <a:gs pos="50000">
                <a:schemeClr val="bg1"/>
              </a:gs>
              <a:gs pos="100000">
                <a:srgbClr val="CCFF99"/>
              </a:gs>
            </a:gsLst>
            <a:lin ang="18900000" scaled="1"/>
            <a:tileRect/>
          </a:gradFill>
          <a:ln w="9525" cap="flat" cmpd="sng">
            <a:solidFill>
              <a:schemeClr val="tx1"/>
            </a:solidFill>
            <a:prstDash val="solid"/>
            <a:miter/>
            <a:headEnd type="none" w="med" len="med"/>
            <a:tailEnd type="none" w="med" len="med"/>
          </a:ln>
        </p:spPr>
        <p:txBody>
          <a:bodyPr wrap="none" anchor="ctr" anchorCtr="0"/>
          <a:p>
            <a:pPr>
              <a:lnSpc>
                <a:spcPct val="130000"/>
              </a:lnSpc>
            </a:pPr>
            <a:r>
              <a:rPr lang="zh-CN" altLang="en-US" sz="2400" b="1" dirty="0">
                <a:latin typeface="Times New Roman" panose="02020603050405020304" charset="0"/>
                <a:ea typeface="楷体_GB2312" charset="-122"/>
              </a:rPr>
              <a:t>太阳光中的紫外线辐射，紫外线辐射按照其波长的不</a:t>
            </a:r>
            <a:endParaRPr lang="zh-CN" altLang="en-US" sz="24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同，可划分为</a:t>
            </a:r>
            <a:r>
              <a:rPr lang="en-US" altLang="zh-CN" sz="2200" b="1">
                <a:latin typeface="Times New Roman" panose="02020603050405020304" charset="0"/>
                <a:ea typeface="楷体_GB2312" charset="-122"/>
              </a:rPr>
              <a:t>UV-A</a:t>
            </a:r>
            <a:r>
              <a:rPr lang="zh-CN" altLang="en-US" sz="2200" b="1">
                <a:latin typeface="Times New Roman" panose="02020603050405020304" charset="0"/>
                <a:ea typeface="楷体_GB2312" charset="-122"/>
              </a:rPr>
              <a:t>（</a:t>
            </a:r>
            <a:r>
              <a:rPr lang="en-US" altLang="zh-CN" sz="2200" b="1">
                <a:latin typeface="Times New Roman" panose="02020603050405020304" charset="0"/>
                <a:ea typeface="楷体_GB2312" charset="-122"/>
              </a:rPr>
              <a:t>315</a:t>
            </a:r>
            <a:r>
              <a:rPr lang="en-US" altLang="zh-CN" sz="2200" b="1">
                <a:latin typeface="Times New Roman" panose="02020603050405020304" charset="0"/>
              </a:rPr>
              <a:t>~</a:t>
            </a:r>
            <a:r>
              <a:rPr lang="en-US" altLang="zh-CN" sz="2200" b="1">
                <a:latin typeface="Times New Roman" panose="02020603050405020304" charset="0"/>
                <a:ea typeface="楷体_GB2312" charset="-122"/>
              </a:rPr>
              <a:t>400nm</a:t>
            </a:r>
            <a:r>
              <a:rPr lang="zh-CN" altLang="en-US" sz="2200" b="1">
                <a:latin typeface="Times New Roman" panose="02020603050405020304" charset="0"/>
                <a:ea typeface="楷体_GB2312" charset="-122"/>
              </a:rPr>
              <a:t>）</a:t>
            </a:r>
            <a:r>
              <a:rPr lang="zh-CN" altLang="en-US" sz="2400" b="1">
                <a:latin typeface="Times New Roman" panose="02020603050405020304" charset="0"/>
                <a:ea typeface="楷体_GB2312" charset="-122"/>
              </a:rPr>
              <a:t>、</a:t>
            </a:r>
            <a:r>
              <a:rPr lang="en-US" altLang="zh-CN" sz="2200" b="1">
                <a:latin typeface="Times New Roman" panose="02020603050405020304" charset="0"/>
                <a:ea typeface="楷体_GB2312" charset="-122"/>
              </a:rPr>
              <a:t>UV-B</a:t>
            </a:r>
            <a:r>
              <a:rPr lang="zh-CN" altLang="en-US" sz="2200" b="1">
                <a:latin typeface="Times New Roman" panose="02020603050405020304" charset="0"/>
                <a:ea typeface="楷体_GB2312" charset="-122"/>
              </a:rPr>
              <a:t>（</a:t>
            </a:r>
            <a:r>
              <a:rPr lang="en-US" altLang="zh-CN" sz="2200" b="1">
                <a:latin typeface="Times New Roman" panose="02020603050405020304" charset="0"/>
                <a:ea typeface="楷体_GB2312" charset="-122"/>
              </a:rPr>
              <a:t>280~315nm</a:t>
            </a:r>
            <a:r>
              <a:rPr lang="zh-CN" altLang="en-US" sz="2200" b="1">
                <a:latin typeface="Times New Roman" panose="02020603050405020304" charset="0"/>
                <a:ea typeface="楷体_GB2312" charset="-122"/>
              </a:rPr>
              <a:t>）</a:t>
            </a:r>
            <a:endParaRPr lang="zh-CN" altLang="en-US" sz="2200" b="1">
              <a:latin typeface="Times New Roman" panose="02020603050405020304" charset="0"/>
              <a:ea typeface="楷体_GB2312" charset="-122"/>
            </a:endParaRPr>
          </a:p>
          <a:p>
            <a:pPr>
              <a:lnSpc>
                <a:spcPct val="130000"/>
              </a:lnSpc>
            </a:pPr>
            <a:r>
              <a:rPr lang="zh-CN" altLang="en-US" sz="2200" b="1">
                <a:latin typeface="Times New Roman" panose="02020603050405020304" charset="0"/>
                <a:ea typeface="楷体_GB2312" charset="-122"/>
              </a:rPr>
              <a:t>和</a:t>
            </a:r>
            <a:r>
              <a:rPr lang="en-US" altLang="zh-CN" sz="2200" b="1">
                <a:latin typeface="Times New Roman" panose="02020603050405020304" charset="0"/>
                <a:ea typeface="楷体_GB2312" charset="-122"/>
              </a:rPr>
              <a:t>UV-C</a:t>
            </a:r>
            <a:r>
              <a:rPr lang="zh-CN" altLang="en-US" sz="2200" b="1">
                <a:latin typeface="Times New Roman" panose="02020603050405020304" charset="0"/>
                <a:ea typeface="楷体_GB2312" charset="-122"/>
              </a:rPr>
              <a:t>（</a:t>
            </a:r>
            <a:r>
              <a:rPr lang="en-US" altLang="zh-CN" sz="2200" b="1">
                <a:latin typeface="Times New Roman" panose="02020603050405020304" charset="0"/>
                <a:ea typeface="楷体_GB2312" charset="-122"/>
              </a:rPr>
              <a:t>280nm</a:t>
            </a:r>
            <a:r>
              <a:rPr lang="zh-CN" altLang="en-US" sz="2400" b="1" dirty="0">
                <a:latin typeface="Times New Roman" panose="02020603050405020304" charset="0"/>
                <a:ea typeface="楷体_GB2312" charset="-122"/>
              </a:rPr>
              <a:t>以下</a:t>
            </a:r>
            <a:r>
              <a:rPr lang="zh-CN" altLang="en-US" sz="2200" b="1">
                <a:latin typeface="Times New Roman" panose="02020603050405020304" charset="0"/>
                <a:ea typeface="楷体_GB2312" charset="-122"/>
              </a:rPr>
              <a:t>）</a:t>
            </a:r>
            <a:r>
              <a:rPr lang="zh-CN" altLang="en-US" sz="2400" b="1" dirty="0">
                <a:latin typeface="Times New Roman" panose="02020603050405020304" charset="0"/>
                <a:ea typeface="楷体_GB2312" charset="-122"/>
              </a:rPr>
              <a:t>三个波段，特别是</a:t>
            </a:r>
            <a:r>
              <a:rPr lang="en-US" altLang="zh-CN" sz="2200" b="1">
                <a:latin typeface="Times New Roman" panose="02020603050405020304" charset="0"/>
                <a:ea typeface="楷体_GB2312" charset="-122"/>
              </a:rPr>
              <a:t>UV-B</a:t>
            </a:r>
            <a:r>
              <a:rPr lang="zh-CN" altLang="en-US" sz="2400" b="1" dirty="0">
                <a:latin typeface="Times New Roman" panose="02020603050405020304" charset="0"/>
                <a:ea typeface="楷体_GB2312" charset="-122"/>
              </a:rPr>
              <a:t>辐射对生</a:t>
            </a:r>
            <a:endParaRPr lang="zh-CN" altLang="en-US" sz="24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物有较大的伤害。而阻挡</a:t>
            </a:r>
            <a:r>
              <a:rPr lang="en-US" altLang="zh-CN" sz="2200" b="1">
                <a:latin typeface="Times New Roman" panose="02020603050405020304" charset="0"/>
                <a:ea typeface="楷体_GB2312" charset="-122"/>
              </a:rPr>
              <a:t>UV-B</a:t>
            </a:r>
            <a:r>
              <a:rPr lang="zh-CN" altLang="en-US" sz="2200" b="1" dirty="0">
                <a:latin typeface="Times New Roman" panose="02020603050405020304" charset="0"/>
                <a:ea typeface="楷体_GB2312" charset="-122"/>
              </a:rPr>
              <a:t>辐射的就是臭氧。</a:t>
            </a:r>
            <a:r>
              <a:rPr lang="zh-CN" altLang="en-US" sz="2400" b="1" dirty="0">
                <a:latin typeface="Times New Roman" panose="02020603050405020304" charset="0"/>
                <a:ea typeface="楷体_GB2312" charset="-122"/>
              </a:rPr>
              <a:t> </a:t>
            </a:r>
            <a:endParaRPr lang="zh-CN" altLang="en-US" sz="2400" b="1" dirty="0">
              <a:latin typeface="Times New Roman" panose="02020603050405020304" charset="0"/>
              <a:ea typeface="楷体_GB2312" charset="-122"/>
            </a:endParaRPr>
          </a:p>
        </p:txBody>
      </p:sp>
      <p:sp>
        <p:nvSpPr>
          <p:cNvPr id="302084" name="矩形 302083"/>
          <p:cNvSpPr/>
          <p:nvPr/>
        </p:nvSpPr>
        <p:spPr>
          <a:xfrm>
            <a:off x="2133600" y="1752600"/>
            <a:ext cx="7543800" cy="1014730"/>
          </a:xfrm>
          <a:prstGeom prst="rect">
            <a:avLst/>
          </a:prstGeom>
          <a:solidFill>
            <a:srgbClr val="3366FF">
              <a:alpha val="50000"/>
            </a:srgbClr>
          </a:solidFill>
          <a:ln w="38100" cap="flat" cmpd="sng">
            <a:solidFill>
              <a:srgbClr val="993366"/>
            </a:solidFill>
            <a:prstDash val="solid"/>
            <a:miter/>
            <a:headEnd type="none" w="med" len="med"/>
            <a:tailEnd type="none" w="med" len="med"/>
          </a:ln>
        </p:spPr>
        <p:txBody>
          <a:bodyPr>
            <a:spAutoFit/>
          </a:bodyPr>
          <a:p>
            <a:pPr>
              <a:spcBef>
                <a:spcPct val="50000"/>
              </a:spcBef>
            </a:pPr>
            <a:r>
              <a:rPr lang="en-US" altLang="zh-CN" sz="2400" dirty="0">
                <a:latin typeface="楷体_GB2312" charset="-122"/>
                <a:ea typeface="楷体_GB2312" charset="-122"/>
              </a:rPr>
              <a:t>        </a:t>
            </a:r>
            <a:r>
              <a:rPr lang="zh-CN" altLang="en-US" sz="2400" b="1" dirty="0">
                <a:latin typeface="楷体_GB2312" charset="-122"/>
                <a:ea typeface="楷体_GB2312" charset="-122"/>
              </a:rPr>
              <a:t>太阳光组成：红外光</a:t>
            </a:r>
            <a:r>
              <a:rPr lang="en-US" altLang="zh-CN" sz="2400" b="1" dirty="0">
                <a:latin typeface="楷体_GB2312" charset="-122"/>
                <a:ea typeface="楷体_GB2312" charset="-122"/>
              </a:rPr>
              <a:t>50%</a:t>
            </a:r>
            <a:r>
              <a:rPr lang="zh-CN" altLang="en-US" sz="2400" b="1" dirty="0">
                <a:latin typeface="楷体_GB2312" charset="-122"/>
                <a:ea typeface="楷体_GB2312" charset="-122"/>
              </a:rPr>
              <a:t>；可见光</a:t>
            </a:r>
            <a:r>
              <a:rPr lang="en-US" altLang="zh-CN" sz="2400" b="1" dirty="0">
                <a:latin typeface="楷体_GB2312" charset="-122"/>
                <a:ea typeface="楷体_GB2312" charset="-122"/>
              </a:rPr>
              <a:t>40%</a:t>
            </a:r>
            <a:r>
              <a:rPr lang="zh-CN" altLang="en-US" sz="2400" b="1" dirty="0">
                <a:latin typeface="楷体_GB2312" charset="-122"/>
                <a:ea typeface="楷体_GB2312" charset="-122"/>
              </a:rPr>
              <a:t>；</a:t>
            </a:r>
            <a:endParaRPr lang="zh-CN" altLang="en-US" sz="2400" b="1" dirty="0">
              <a:latin typeface="楷体_GB2312" charset="-122"/>
              <a:ea typeface="楷体_GB2312" charset="-122"/>
            </a:endParaRPr>
          </a:p>
          <a:p>
            <a:pPr>
              <a:spcBef>
                <a:spcPct val="50000"/>
              </a:spcBef>
            </a:pPr>
            <a:r>
              <a:rPr lang="zh-CN" altLang="en-US" sz="2400" b="1" dirty="0">
                <a:latin typeface="楷体_GB2312" charset="-122"/>
                <a:ea typeface="楷体_GB2312" charset="-122"/>
              </a:rPr>
              <a:t>                    紫外光</a:t>
            </a:r>
            <a:r>
              <a:rPr lang="en-US" altLang="zh-CN" sz="2400" b="1" dirty="0">
                <a:latin typeface="楷体_GB2312" charset="-122"/>
                <a:ea typeface="楷体_GB2312" charset="-122"/>
              </a:rPr>
              <a:t>10%</a:t>
            </a:r>
            <a:r>
              <a:rPr lang="zh-CN" altLang="en-US" sz="2400" b="1" dirty="0">
                <a:latin typeface="楷体_GB2312" charset="-122"/>
                <a:ea typeface="楷体_GB2312" charset="-122"/>
              </a:rPr>
              <a:t>；其余部分</a:t>
            </a:r>
            <a:r>
              <a:rPr lang="en-US" altLang="zh-CN" sz="2400" b="1" dirty="0">
                <a:latin typeface="楷体_GB2312" charset="-122"/>
                <a:ea typeface="楷体_GB2312" charset="-122"/>
              </a:rPr>
              <a:t>1%</a:t>
            </a:r>
            <a:r>
              <a:rPr lang="zh-CN" altLang="en-US" sz="2400" b="1" dirty="0">
                <a:latin typeface="楷体_GB2312" charset="-122"/>
                <a:ea typeface="楷体_GB2312" charset="-122"/>
              </a:rPr>
              <a:t>；</a:t>
            </a:r>
            <a:endParaRPr lang="zh-CN" altLang="en-US" sz="2400" b="1" dirty="0">
              <a:latin typeface="楷体_GB2312" charset="-122"/>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302082"/>
                                        </p:tgtEl>
                                        <p:attrNameLst>
                                          <p:attrName>style.visibility</p:attrName>
                                        </p:attrNameLst>
                                      </p:cBhvr>
                                      <p:to>
                                        <p:strVal val="visible"/>
                                      </p:to>
                                    </p:set>
                                    <p:animEffect transition="in" filter="checkerboard(across)">
                                      <p:cBhvr>
                                        <p:cTn id="7" dur="500"/>
                                        <p:tgtEl>
                                          <p:spTgt spid="30208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2083"/>
                                        </p:tgtEl>
                                        <p:attrNameLst>
                                          <p:attrName>style.visibility</p:attrName>
                                        </p:attrNameLst>
                                      </p:cBhvr>
                                      <p:to>
                                        <p:strVal val="visible"/>
                                      </p:to>
                                    </p:set>
                                    <p:animEffect transition="in" filter="box(in)">
                                      <p:cBhvr>
                                        <p:cTn id="12" dur="500"/>
                                        <p:tgtEl>
                                          <p:spTgt spid="30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2" grpId="0" bldLvl="0" animBg="1"/>
      <p:bldP spid="302083" grpId="0" bldLvl="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3106" name="流程图: 终止 303105"/>
          <p:cNvSpPr/>
          <p:nvPr/>
        </p:nvSpPr>
        <p:spPr>
          <a:xfrm>
            <a:off x="1524000" y="533400"/>
            <a:ext cx="9144000" cy="5715000"/>
          </a:xfrm>
          <a:prstGeom prst="flowChartTerminator">
            <a:avLst/>
          </a:prstGeom>
          <a:gradFill rotWithShape="0">
            <a:gsLst>
              <a:gs pos="0">
                <a:srgbClr val="FFCCCC"/>
              </a:gs>
              <a:gs pos="100000">
                <a:schemeClr val="bg1"/>
              </a:gs>
            </a:gsLst>
            <a:path path="rect">
              <a:fillToRect t="100000" r="100000"/>
            </a:path>
            <a:tileRect/>
          </a:gradFill>
          <a:ln w="9525" cap="flat" cmpd="sng">
            <a:solidFill>
              <a:schemeClr val="tx1"/>
            </a:solidFill>
            <a:prstDash val="solid"/>
            <a:miter/>
            <a:headEnd type="none" w="med" len="med"/>
            <a:tailEnd type="none" w="med" len="med"/>
          </a:ln>
        </p:spPr>
        <p:txBody>
          <a:bodyPr wrap="none" anchor="ctr" anchorCtr="0"/>
          <a:p>
            <a:pPr>
              <a:lnSpc>
                <a:spcPct val="140000"/>
              </a:lnSpc>
            </a:pPr>
            <a:r>
              <a:rPr lang="en-US" altLang="zh-CN" sz="2400" b="1" dirty="0">
                <a:solidFill>
                  <a:srgbClr val="FF0066"/>
                </a:solidFill>
                <a:latin typeface="楷体_GB2312" charset="-122"/>
                <a:ea typeface="楷体_GB2312" charset="-122"/>
              </a:rPr>
              <a:t>1</a:t>
            </a:r>
            <a:r>
              <a:rPr lang="zh-CN" altLang="en-US" sz="2400" b="1" dirty="0">
                <a:solidFill>
                  <a:srgbClr val="FF0066"/>
                </a:solidFill>
                <a:latin typeface="楷体_GB2312" charset="-122"/>
                <a:ea typeface="楷体_GB2312" charset="-122"/>
              </a:rPr>
              <a:t>、英国住南极考察站的科学家法曼（</a:t>
            </a:r>
            <a:r>
              <a:rPr lang="en-US" altLang="zh-CN" sz="2400" b="1" dirty="0" err="1">
                <a:solidFill>
                  <a:srgbClr val="FF0066"/>
                </a:solidFill>
                <a:latin typeface="楷体_GB2312" charset="-122"/>
                <a:ea typeface="楷体_GB2312" charset="-122"/>
              </a:rPr>
              <a:t>Farman</a:t>
            </a:r>
            <a:r>
              <a:rPr lang="zh-CN" altLang="en-US" sz="2400" b="1">
                <a:solidFill>
                  <a:srgbClr val="FF0066"/>
                </a:solidFill>
                <a:latin typeface="楷体_GB2312" charset="-122"/>
                <a:ea typeface="楷体_GB2312" charset="-122"/>
              </a:rPr>
              <a:t>）</a:t>
            </a:r>
            <a:r>
              <a:rPr lang="zh-CN" altLang="en-US" sz="2400" b="1" dirty="0">
                <a:solidFill>
                  <a:srgbClr val="FF0066"/>
                </a:solidFill>
                <a:latin typeface="楷体_GB2312" charset="-122"/>
                <a:ea typeface="楷体_GB2312" charset="-122"/>
              </a:rPr>
              <a:t>等人报道了该</a:t>
            </a:r>
            <a:endParaRPr lang="zh-CN" altLang="en-US" sz="2400" b="1" dirty="0">
              <a:solidFill>
                <a:srgbClr val="FF0066"/>
              </a:solidFill>
              <a:latin typeface="楷体_GB2312" charset="-122"/>
              <a:ea typeface="楷体_GB2312" charset="-122"/>
            </a:endParaRPr>
          </a:p>
          <a:p>
            <a:pPr>
              <a:lnSpc>
                <a:spcPct val="140000"/>
              </a:lnSpc>
            </a:pPr>
            <a:r>
              <a:rPr lang="zh-CN" altLang="en-US" sz="2400" b="1" dirty="0">
                <a:solidFill>
                  <a:srgbClr val="FF0066"/>
                </a:solidFill>
                <a:latin typeface="楷体_GB2312" charset="-122"/>
                <a:ea typeface="楷体_GB2312" charset="-122"/>
              </a:rPr>
              <a:t>   考察站自</a:t>
            </a:r>
            <a:r>
              <a:rPr lang="en-US" altLang="zh-CN" sz="2400" b="1" dirty="0">
                <a:solidFill>
                  <a:srgbClr val="FF0066"/>
                </a:solidFill>
                <a:latin typeface="楷体_GB2312" charset="-122"/>
                <a:ea typeface="楷体_GB2312" charset="-122"/>
              </a:rPr>
              <a:t>1975</a:t>
            </a:r>
            <a:r>
              <a:rPr lang="zh-CN" altLang="en-US" sz="2400" b="1" dirty="0">
                <a:solidFill>
                  <a:srgbClr val="FF0066"/>
                </a:solidFill>
                <a:latin typeface="楷体_GB2312" charset="-122"/>
                <a:ea typeface="楷体_GB2312" charset="-122"/>
              </a:rPr>
              <a:t>年起每年早春（</a:t>
            </a:r>
            <a:r>
              <a:rPr lang="en-US" altLang="zh-CN" sz="2400" b="1" dirty="0">
                <a:solidFill>
                  <a:srgbClr val="FF0066"/>
                </a:solidFill>
                <a:latin typeface="楷体_GB2312" charset="-122"/>
                <a:ea typeface="楷体_GB2312" charset="-122"/>
              </a:rPr>
              <a:t>10</a:t>
            </a:r>
            <a:r>
              <a:rPr lang="zh-CN" altLang="en-US" sz="2400" b="1" dirty="0">
                <a:solidFill>
                  <a:srgbClr val="FF0066"/>
                </a:solidFill>
                <a:latin typeface="楷体_GB2312" charset="-122"/>
                <a:ea typeface="楷体_GB2312" charset="-122"/>
              </a:rPr>
              <a:t>月份）的臭氧观测结果，</a:t>
            </a:r>
            <a:endParaRPr lang="zh-CN" altLang="en-US" sz="2400" b="1" dirty="0">
              <a:solidFill>
                <a:srgbClr val="FF0066"/>
              </a:solidFill>
              <a:latin typeface="楷体_GB2312" charset="-122"/>
              <a:ea typeface="楷体_GB2312" charset="-122"/>
            </a:endParaRPr>
          </a:p>
          <a:p>
            <a:pPr>
              <a:lnSpc>
                <a:spcPct val="140000"/>
              </a:lnSpc>
            </a:pPr>
            <a:r>
              <a:rPr lang="zh-CN" altLang="en-US" sz="2400" b="1" dirty="0">
                <a:solidFill>
                  <a:srgbClr val="FF0066"/>
                </a:solidFill>
                <a:latin typeface="楷体_GB2312" charset="-122"/>
                <a:ea typeface="楷体_GB2312" charset="-122"/>
              </a:rPr>
              <a:t>   该地区的总臭氧在这一时期会减弱</a:t>
            </a:r>
            <a:r>
              <a:rPr lang="en-US" altLang="zh-CN" sz="2400" b="1" dirty="0">
                <a:solidFill>
                  <a:srgbClr val="FF0066"/>
                </a:solidFill>
                <a:latin typeface="楷体_GB2312" charset="-122"/>
                <a:ea typeface="楷体_GB2312" charset="-122"/>
              </a:rPr>
              <a:t>30%</a:t>
            </a:r>
            <a:r>
              <a:rPr lang="zh-CN" altLang="en-US" sz="2400" b="1" dirty="0">
                <a:solidFill>
                  <a:srgbClr val="FF0066"/>
                </a:solidFill>
                <a:latin typeface="楷体_GB2312" charset="-122"/>
                <a:ea typeface="楷体_GB2312" charset="-122"/>
              </a:rPr>
              <a:t>。</a:t>
            </a:r>
            <a:endParaRPr lang="zh-CN" altLang="en-US" sz="2400" b="1" dirty="0">
              <a:solidFill>
                <a:srgbClr val="FF0066"/>
              </a:solidFill>
              <a:latin typeface="楷体_GB2312" charset="-122"/>
              <a:ea typeface="楷体_GB2312" charset="-122"/>
            </a:endParaRPr>
          </a:p>
          <a:p>
            <a:pPr>
              <a:lnSpc>
                <a:spcPct val="140000"/>
              </a:lnSpc>
              <a:spcBef>
                <a:spcPct val="20000"/>
              </a:spcBef>
            </a:pPr>
            <a:r>
              <a:rPr lang="en-US" altLang="zh-CN" sz="2400" b="1">
                <a:solidFill>
                  <a:srgbClr val="FF0066"/>
                </a:solidFill>
                <a:latin typeface="Times New Roman" panose="02020603050405020304" charset="0"/>
                <a:ea typeface="楷体_GB2312" charset="-122"/>
              </a:rPr>
              <a:t>2</a:t>
            </a:r>
            <a:r>
              <a:rPr lang="zh-CN" altLang="en-US" sz="2400" b="1">
                <a:solidFill>
                  <a:srgbClr val="FF0066"/>
                </a:solidFill>
                <a:latin typeface="Times New Roman" panose="02020603050405020304" charset="0"/>
                <a:ea typeface="楷体_GB2312" charset="-122"/>
              </a:rPr>
              <a:t>、</a:t>
            </a:r>
            <a:r>
              <a:rPr lang="zh-CN" altLang="en-US" sz="2400" b="1" dirty="0">
                <a:solidFill>
                  <a:srgbClr val="FF0066"/>
                </a:solidFill>
                <a:latin typeface="Times New Roman" panose="02020603050405020304" charset="0"/>
                <a:ea typeface="楷体_GB2312" charset="-122"/>
              </a:rPr>
              <a:t>近几年臭氧洞的深度和面积仍在继续扩展，</a:t>
            </a:r>
            <a:r>
              <a:rPr lang="en-US" altLang="zh-CN" sz="2400" b="1" dirty="0">
                <a:solidFill>
                  <a:srgbClr val="FF0066"/>
                </a:solidFill>
                <a:latin typeface="Times New Roman" panose="02020603050405020304" charset="0"/>
                <a:ea typeface="楷体_GB2312" charset="-122"/>
              </a:rPr>
              <a:t>1998</a:t>
            </a:r>
            <a:r>
              <a:rPr lang="zh-CN" altLang="en-US" sz="2400" b="1" dirty="0">
                <a:solidFill>
                  <a:srgbClr val="FF0066"/>
                </a:solidFill>
                <a:latin typeface="Times New Roman" panose="02020603050405020304" charset="0"/>
                <a:ea typeface="楷体_GB2312" charset="-122"/>
              </a:rPr>
              <a:t>年臭氧洞</a:t>
            </a:r>
            <a:endParaRPr lang="zh-CN" altLang="en-US" sz="2400" b="1" dirty="0">
              <a:solidFill>
                <a:srgbClr val="FF0066"/>
              </a:solidFill>
              <a:latin typeface="Times New Roman" panose="02020603050405020304" charset="0"/>
              <a:ea typeface="楷体_GB2312" charset="-122"/>
            </a:endParaRPr>
          </a:p>
          <a:p>
            <a:pPr>
              <a:lnSpc>
                <a:spcPct val="140000"/>
              </a:lnSpc>
              <a:spcBef>
                <a:spcPct val="20000"/>
              </a:spcBef>
            </a:pPr>
            <a:r>
              <a:rPr lang="zh-CN" altLang="en-US" sz="2400" b="1" dirty="0">
                <a:solidFill>
                  <a:srgbClr val="FF0066"/>
                </a:solidFill>
                <a:latin typeface="Times New Roman" panose="02020603050405020304" charset="0"/>
                <a:ea typeface="楷体_GB2312" charset="-122"/>
              </a:rPr>
              <a:t>      的持续时间超过了</a:t>
            </a:r>
            <a:r>
              <a:rPr lang="en-US" altLang="zh-CN" sz="2400" b="1" dirty="0">
                <a:solidFill>
                  <a:srgbClr val="FF0066"/>
                </a:solidFill>
                <a:latin typeface="Times New Roman" panose="02020603050405020304" charset="0"/>
                <a:ea typeface="楷体_GB2312" charset="-122"/>
              </a:rPr>
              <a:t>100</a:t>
            </a:r>
            <a:r>
              <a:rPr lang="zh-CN" altLang="en-US" sz="2400" b="1" dirty="0">
                <a:solidFill>
                  <a:srgbClr val="FF0066"/>
                </a:solidFill>
                <a:latin typeface="Times New Roman" panose="02020603050405020304" charset="0"/>
                <a:ea typeface="楷体_GB2312" charset="-122"/>
              </a:rPr>
              <a:t>天，是南极臭氧洞发现以来的最长记</a:t>
            </a:r>
            <a:endParaRPr lang="zh-CN" altLang="en-US" sz="2400" b="1" dirty="0">
              <a:solidFill>
                <a:srgbClr val="FF0066"/>
              </a:solidFill>
              <a:latin typeface="Times New Roman" panose="02020603050405020304" charset="0"/>
              <a:ea typeface="楷体_GB2312" charset="-122"/>
            </a:endParaRPr>
          </a:p>
          <a:p>
            <a:pPr>
              <a:lnSpc>
                <a:spcPct val="140000"/>
              </a:lnSpc>
              <a:spcBef>
                <a:spcPct val="20000"/>
              </a:spcBef>
            </a:pPr>
            <a:r>
              <a:rPr lang="zh-CN" altLang="en-US" sz="2400" b="1" dirty="0">
                <a:solidFill>
                  <a:srgbClr val="FF0066"/>
                </a:solidFill>
                <a:latin typeface="Times New Roman" panose="02020603050405020304" charset="0"/>
                <a:ea typeface="楷体_GB2312" charset="-122"/>
              </a:rPr>
              <a:t>      录，而且臭氧洞的面积也在扩大，几乎可以相当于</a:t>
            </a:r>
            <a:r>
              <a:rPr lang="en-US" altLang="zh-CN" sz="2400" b="1" dirty="0">
                <a:solidFill>
                  <a:srgbClr val="FF0066"/>
                </a:solidFill>
                <a:latin typeface="Times New Roman" panose="02020603050405020304" charset="0"/>
                <a:ea typeface="楷体_GB2312" charset="-122"/>
              </a:rPr>
              <a:t>3</a:t>
            </a:r>
            <a:r>
              <a:rPr lang="zh-CN" altLang="en-US" sz="2400" b="1" dirty="0">
                <a:solidFill>
                  <a:srgbClr val="FF0066"/>
                </a:solidFill>
                <a:latin typeface="Times New Roman" panose="02020603050405020304" charset="0"/>
                <a:ea typeface="楷体_GB2312" charset="-122"/>
              </a:rPr>
              <a:t>个澳大</a:t>
            </a:r>
            <a:endParaRPr lang="zh-CN" altLang="en-US" sz="2400" b="1" dirty="0">
              <a:solidFill>
                <a:srgbClr val="FF0066"/>
              </a:solidFill>
              <a:latin typeface="Times New Roman" panose="02020603050405020304" charset="0"/>
              <a:ea typeface="楷体_GB2312" charset="-122"/>
            </a:endParaRPr>
          </a:p>
          <a:p>
            <a:pPr>
              <a:lnSpc>
                <a:spcPct val="140000"/>
              </a:lnSpc>
              <a:spcBef>
                <a:spcPct val="20000"/>
              </a:spcBef>
            </a:pPr>
            <a:r>
              <a:rPr lang="zh-CN" altLang="en-US" sz="2400" b="1" dirty="0">
                <a:solidFill>
                  <a:srgbClr val="FF0066"/>
                </a:solidFill>
                <a:latin typeface="Times New Roman" panose="02020603050405020304" charset="0"/>
                <a:ea typeface="楷体_GB2312" charset="-122"/>
              </a:rPr>
              <a:t>      利亚。</a:t>
            </a:r>
            <a:endParaRPr lang="zh-CN" altLang="en-US" sz="2400" b="1" dirty="0">
              <a:solidFill>
                <a:srgbClr val="FF0066"/>
              </a:solidFill>
              <a:latin typeface="Times New Roman" panose="02020603050405020304" charset="0"/>
              <a:ea typeface="楷体_GB2312" charset="-122"/>
            </a:endParaRPr>
          </a:p>
          <a:p>
            <a:pPr>
              <a:lnSpc>
                <a:spcPct val="140000"/>
              </a:lnSpc>
            </a:pPr>
            <a:r>
              <a:rPr lang="en-US" altLang="zh-CN" sz="2400" b="1" dirty="0">
                <a:solidFill>
                  <a:srgbClr val="FF0066"/>
                </a:solidFill>
                <a:latin typeface="Times New Roman" panose="02020603050405020304" charset="0"/>
                <a:ea typeface="楷体_GB2312" charset="-122"/>
              </a:rPr>
              <a:t>3</a:t>
            </a:r>
            <a:r>
              <a:rPr lang="zh-CN" altLang="en-US" sz="2400" b="1" dirty="0">
                <a:solidFill>
                  <a:srgbClr val="FF0066"/>
                </a:solidFill>
                <a:latin typeface="Times New Roman" panose="02020603050405020304" charset="0"/>
                <a:ea typeface="楷体_GB2312" charset="-122"/>
              </a:rPr>
              <a:t>、我国青藏高原上空也存在一个相对周围地区浓度</a:t>
            </a:r>
            <a:endParaRPr lang="zh-CN" altLang="en-US" sz="2400" b="1" dirty="0">
              <a:solidFill>
                <a:srgbClr val="FF0066"/>
              </a:solidFill>
              <a:latin typeface="Times New Roman" panose="02020603050405020304" charset="0"/>
              <a:ea typeface="楷体_GB2312" charset="-122"/>
            </a:endParaRPr>
          </a:p>
          <a:p>
            <a:pPr>
              <a:lnSpc>
                <a:spcPct val="140000"/>
              </a:lnSpc>
            </a:pPr>
            <a:r>
              <a:rPr lang="zh-CN" altLang="en-US" sz="2400" b="1" dirty="0">
                <a:solidFill>
                  <a:srgbClr val="FF0066"/>
                </a:solidFill>
                <a:latin typeface="Times New Roman" panose="02020603050405020304" charset="0"/>
                <a:ea typeface="楷体_GB2312" charset="-122"/>
              </a:rPr>
              <a:t>      较低的区域。</a:t>
            </a:r>
            <a:endParaRPr lang="zh-CN" altLang="en-US" sz="2400" b="1" dirty="0">
              <a:solidFill>
                <a:srgbClr val="FF0066"/>
              </a:solidFill>
              <a:latin typeface="Times New Roman" panose="02020603050405020304" charset="0"/>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03106"/>
                                        </p:tgtEl>
                                        <p:attrNameLst>
                                          <p:attrName>style.visibility</p:attrName>
                                        </p:attrNameLst>
                                      </p:cBhvr>
                                      <p:to>
                                        <p:strVal val="visible"/>
                                      </p:to>
                                    </p:set>
                                    <p:animEffect transition="in" filter="checkerboard(across)">
                                      <p:cBhvr>
                                        <p:cTn id="7" dur="500"/>
                                        <p:tgtEl>
                                          <p:spTgt spid="303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6" grpId="0" bldLvl="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4130" name="图片 304129"/>
          <p:cNvPicPr>
            <a:picLocks noChangeAspect="1"/>
          </p:cNvPicPr>
          <p:nvPr/>
        </p:nvPicPr>
        <p:blipFill>
          <a:blip r:embed="rId1"/>
          <a:stretch>
            <a:fillRect/>
          </a:stretch>
        </p:blipFill>
        <p:spPr>
          <a:xfrm>
            <a:off x="5105400" y="0"/>
            <a:ext cx="4906963" cy="6858000"/>
          </a:xfrm>
          <a:prstGeom prst="rect">
            <a:avLst/>
          </a:prstGeom>
          <a:noFill/>
          <a:ln w="9525">
            <a:noFill/>
          </a:ln>
        </p:spPr>
      </p:pic>
      <p:grpSp>
        <p:nvGrpSpPr>
          <p:cNvPr id="304131" name="组合 304130"/>
          <p:cNvGrpSpPr/>
          <p:nvPr/>
        </p:nvGrpSpPr>
        <p:grpSpPr>
          <a:xfrm>
            <a:off x="1524000" y="1295400"/>
            <a:ext cx="8763000" cy="5257800"/>
            <a:chOff x="0" y="816"/>
            <a:chExt cx="5520" cy="3312"/>
          </a:xfrm>
        </p:grpSpPr>
        <p:sp>
          <p:nvSpPr>
            <p:cNvPr id="304132" name="云形标注 304131"/>
            <p:cNvSpPr/>
            <p:nvPr/>
          </p:nvSpPr>
          <p:spPr>
            <a:xfrm>
              <a:off x="0" y="3456"/>
              <a:ext cx="2304" cy="672"/>
            </a:xfrm>
            <a:prstGeom prst="cloudCallout">
              <a:avLst>
                <a:gd name="adj1" fmla="val 69704"/>
                <a:gd name="adj2" fmla="val 296"/>
              </a:avLst>
            </a:prstGeom>
            <a:gradFill rotWithShape="0">
              <a:gsLst>
                <a:gs pos="0">
                  <a:srgbClr val="CCFF66"/>
                </a:gs>
                <a:gs pos="50000">
                  <a:schemeClr val="bg1"/>
                </a:gs>
                <a:gs pos="100000">
                  <a:srgbClr val="CCFF66"/>
                </a:gs>
              </a:gsLst>
              <a:lin ang="18900000" scaled="1"/>
              <a:tileRect/>
            </a:gradFill>
            <a:ln w="9525" cap="flat" cmpd="sng">
              <a:solidFill>
                <a:schemeClr val="tx1"/>
              </a:solidFill>
              <a:prstDash val="solid"/>
              <a:headEnd type="none" w="med" len="med"/>
              <a:tailEnd type="none" w="med" len="med"/>
            </a:ln>
          </p:spPr>
          <p:txBody>
            <a:bodyPr/>
            <a:p>
              <a:pPr algn="ctr"/>
              <a:r>
                <a:rPr lang="zh-CN" altLang="en-US" sz="2400" b="1" dirty="0">
                  <a:latin typeface="Times New Roman" panose="02020603050405020304" charset="0"/>
                  <a:ea typeface="楷体_GB2312" charset="-122"/>
                </a:rPr>
                <a:t>每升高</a:t>
              </a:r>
              <a:r>
                <a:rPr lang="en-US" altLang="zh-CN" sz="2400" b="1" dirty="0">
                  <a:latin typeface="Times New Roman" panose="02020603050405020304" charset="0"/>
                  <a:ea typeface="楷体_GB2312" charset="-122"/>
                </a:rPr>
                <a:t>100</a:t>
              </a:r>
              <a:r>
                <a:rPr lang="en-US" altLang="zh-CN" sz="2400" b="1">
                  <a:latin typeface="Times New Roman" panose="02020603050405020304" charset="0"/>
                  <a:ea typeface="楷体_GB2312" charset="-122"/>
                </a:rPr>
                <a:t>m</a:t>
              </a:r>
              <a:r>
                <a:rPr lang="zh-CN" altLang="en-US" sz="2400" b="1">
                  <a:latin typeface="Times New Roman" panose="02020603050405020304" charset="0"/>
                  <a:ea typeface="楷体_GB2312" charset="-122"/>
                </a:rPr>
                <a:t>，</a:t>
              </a:r>
              <a:r>
                <a:rPr lang="zh-CN" altLang="en-US" sz="2400" b="1" dirty="0">
                  <a:latin typeface="Times New Roman" panose="02020603050405020304" charset="0"/>
                  <a:ea typeface="楷体_GB2312" charset="-122"/>
                </a:rPr>
                <a:t>气温降低</a:t>
              </a:r>
              <a:r>
                <a:rPr lang="en-US" altLang="zh-CN" sz="2400" b="1" dirty="0">
                  <a:latin typeface="Times New Roman" panose="02020603050405020304" charset="0"/>
                </a:rPr>
                <a:t>0.65℃</a:t>
              </a:r>
              <a:r>
                <a:rPr lang="en-US" altLang="zh-CN" sz="2400" b="1" dirty="0">
                  <a:latin typeface="Times New Roman" panose="02020603050405020304" charset="0"/>
                  <a:ea typeface="楷体_GB2312" charset="-122"/>
                </a:rPr>
                <a:t> </a:t>
              </a:r>
              <a:endParaRPr lang="en-US" altLang="zh-CN" sz="2400" b="1" dirty="0">
                <a:latin typeface="Times New Roman" panose="02020603050405020304" charset="0"/>
                <a:ea typeface="楷体_GB2312" charset="-122"/>
              </a:endParaRPr>
            </a:p>
          </p:txBody>
        </p:sp>
        <p:sp>
          <p:nvSpPr>
            <p:cNvPr id="304133" name="直接连接符 304132"/>
            <p:cNvSpPr/>
            <p:nvPr/>
          </p:nvSpPr>
          <p:spPr>
            <a:xfrm>
              <a:off x="2064" y="1344"/>
              <a:ext cx="3456" cy="0"/>
            </a:xfrm>
            <a:prstGeom prst="line">
              <a:avLst/>
            </a:prstGeom>
            <a:ln w="28575" cap="flat" cmpd="sng">
              <a:solidFill>
                <a:srgbClr val="FF0000"/>
              </a:solidFill>
              <a:prstDash val="solid"/>
              <a:headEnd type="none" w="med" len="med"/>
              <a:tailEnd type="none" w="med" len="med"/>
            </a:ln>
          </p:spPr>
        </p:sp>
        <p:sp>
          <p:nvSpPr>
            <p:cNvPr id="304134" name="爆炸形 1 304133"/>
            <p:cNvSpPr/>
            <p:nvPr/>
          </p:nvSpPr>
          <p:spPr>
            <a:xfrm>
              <a:off x="3888" y="2928"/>
              <a:ext cx="624" cy="576"/>
            </a:xfrm>
            <a:prstGeom prst="irregularSeal1">
              <a:avLst/>
            </a:prstGeom>
            <a:gradFill rotWithShape="0">
              <a:gsLst>
                <a:gs pos="0">
                  <a:srgbClr val="CCFF66"/>
                </a:gs>
                <a:gs pos="100000">
                  <a:schemeClr val="bg1"/>
                </a:gs>
              </a:gsLst>
              <a:path path="rect">
                <a:fillToRect l="100000" t="100000"/>
              </a:path>
              <a:tileRect/>
            </a:gradFill>
            <a:ln w="9525" cap="flat" cmpd="sng">
              <a:solidFill>
                <a:schemeClr val="tx1"/>
              </a:solidFill>
              <a:prstDash val="solid"/>
              <a:miter/>
              <a:headEnd type="none" w="med" len="med"/>
              <a:tailEnd type="none" w="med" len="med"/>
            </a:ln>
          </p:spPr>
          <p:txBody>
            <a:bodyPr wrap="none" anchor="ctr" anchorCtr="0"/>
            <a:p>
              <a:pPr algn="ctr"/>
              <a:r>
                <a:rPr lang="en-US" altLang="zh-CN" sz="2000" b="1">
                  <a:solidFill>
                    <a:srgbClr val="FF0000"/>
                  </a:solidFill>
                  <a:latin typeface="宋体" panose="02010600030101010101" pitchFamily="2" charset="-122"/>
                </a:rPr>
                <a:t>O</a:t>
              </a:r>
              <a:r>
                <a:rPr lang="en-US" altLang="zh-CN" sz="2000" b="1" baseline="-25000">
                  <a:solidFill>
                    <a:srgbClr val="FF0000"/>
                  </a:solidFill>
                  <a:latin typeface="宋体" panose="02010600030101010101" pitchFamily="2" charset="-122"/>
                </a:rPr>
                <a:t>3</a:t>
              </a:r>
              <a:endParaRPr lang="en-US" altLang="zh-CN" sz="2400" baseline="30000">
                <a:latin typeface="Times New Roman" panose="02020603050405020304" charset="0"/>
                <a:ea typeface="楷体_GB2312" charset="-122"/>
              </a:endParaRPr>
            </a:p>
          </p:txBody>
        </p:sp>
        <p:sp>
          <p:nvSpPr>
            <p:cNvPr id="304135" name="矩形 304134"/>
            <p:cNvSpPr/>
            <p:nvPr/>
          </p:nvSpPr>
          <p:spPr>
            <a:xfrm>
              <a:off x="2688" y="816"/>
              <a:ext cx="2448" cy="288"/>
            </a:xfrm>
            <a:prstGeom prst="rect">
              <a:avLst/>
            </a:prstGeom>
            <a:gradFill rotWithShape="0">
              <a:gsLst>
                <a:gs pos="0">
                  <a:srgbClr val="FFFF00"/>
                </a:gs>
                <a:gs pos="50000">
                  <a:schemeClr val="bg1"/>
                </a:gs>
                <a:gs pos="100000">
                  <a:srgbClr val="FFFF00"/>
                </a:gs>
              </a:gsLst>
              <a:lin ang="18900000" scaled="1"/>
              <a:tileRect/>
            </a:gradFill>
            <a:ln w="9525" cap="flat" cmpd="sng">
              <a:solidFill>
                <a:schemeClr val="tx1"/>
              </a:solidFill>
              <a:prstDash val="solid"/>
              <a:miter/>
              <a:headEnd type="none" w="med" len="med"/>
              <a:tailEnd type="none" w="med" len="med"/>
            </a:ln>
            <a:effectLst>
              <a:prstShdw prst="shdw13" dist="53882" dir="13499999">
                <a:schemeClr val="bg2"/>
              </a:prstShdw>
            </a:effectLst>
          </p:spPr>
          <p:txBody>
            <a:bodyPr wrap="none" anchor="ctr" anchorCtr="0"/>
            <a:p>
              <a:pPr algn="ctr"/>
              <a:r>
                <a:rPr lang="zh-CN" altLang="en-US" sz="2000" b="1" dirty="0">
                  <a:latin typeface="Times New Roman" panose="02020603050405020304" charset="0"/>
                  <a:ea typeface="楷体_GB2312" charset="-122"/>
                </a:rPr>
                <a:t>越往上氧、氦等气体的原子态越多</a:t>
              </a:r>
              <a:endParaRPr lang="zh-CN" altLang="en-US" sz="2000" b="1" dirty="0">
                <a:latin typeface="Times New Roman" panose="02020603050405020304" charset="0"/>
                <a:ea typeface="楷体_GB2312" charset="-122"/>
              </a:endParaRPr>
            </a:p>
          </p:txBody>
        </p:sp>
        <p:sp>
          <p:nvSpPr>
            <p:cNvPr id="304136" name="云形标注 304135"/>
            <p:cNvSpPr/>
            <p:nvPr/>
          </p:nvSpPr>
          <p:spPr>
            <a:xfrm>
              <a:off x="0" y="1536"/>
              <a:ext cx="2352" cy="1056"/>
            </a:xfrm>
            <a:prstGeom prst="cloudCallout">
              <a:avLst>
                <a:gd name="adj1" fmla="val 63352"/>
                <a:gd name="adj2" fmla="val -82764"/>
              </a:avLst>
            </a:prstGeom>
            <a:gradFill rotWithShape="0">
              <a:gsLst>
                <a:gs pos="0">
                  <a:srgbClr val="CCFF66"/>
                </a:gs>
                <a:gs pos="50000">
                  <a:schemeClr val="bg1"/>
                </a:gs>
                <a:gs pos="100000">
                  <a:srgbClr val="CCFF66"/>
                </a:gs>
              </a:gsLst>
              <a:lin ang="18900000" scaled="1"/>
              <a:tileRect/>
            </a:gradFill>
            <a:ln w="9525" cap="flat" cmpd="sng">
              <a:solidFill>
                <a:schemeClr val="tx1"/>
              </a:solidFill>
              <a:prstDash val="solid"/>
              <a:headEnd type="none" w="med" len="med"/>
              <a:tailEnd type="none" w="med" len="med"/>
            </a:ln>
          </p:spPr>
          <p:txBody>
            <a:bodyPr/>
            <a:p>
              <a:pPr algn="ctr"/>
              <a:r>
                <a:rPr lang="zh-CN" altLang="en-US" sz="2400" b="1" dirty="0">
                  <a:latin typeface="Times New Roman" panose="02020603050405020304" charset="0"/>
                  <a:ea typeface="楷体_GB2312" charset="-122"/>
                </a:rPr>
                <a:t>紫外线的强烈照射，</a:t>
              </a:r>
              <a:r>
                <a:rPr lang="en-US" altLang="zh-CN" sz="2000" b="1">
                  <a:latin typeface="Times New Roman" panose="02020603050405020304" charset="0"/>
                  <a:ea typeface="楷体_GB2312" charset="-122"/>
                </a:rPr>
                <a:t>N</a:t>
              </a:r>
              <a:r>
                <a:rPr lang="en-US" altLang="zh-CN" sz="2000" b="1" baseline="-25000">
                  <a:latin typeface="Times New Roman" panose="02020603050405020304" charset="0"/>
                  <a:ea typeface="楷体_GB2312" charset="-122"/>
                </a:rPr>
                <a:t>2</a:t>
              </a:r>
              <a:r>
                <a:rPr lang="zh-CN" altLang="en-US" sz="2400" b="1">
                  <a:latin typeface="Times New Roman" panose="02020603050405020304" charset="0"/>
                  <a:ea typeface="楷体_GB2312" charset="-122"/>
                </a:rPr>
                <a:t>和</a:t>
              </a:r>
              <a:r>
                <a:rPr lang="en-US" altLang="zh-CN" sz="2000" b="1">
                  <a:latin typeface="Times New Roman" panose="02020603050405020304" charset="0"/>
                  <a:ea typeface="楷体_GB2312" charset="-122"/>
                </a:rPr>
                <a:t>O</a:t>
              </a:r>
              <a:r>
                <a:rPr lang="en-US" altLang="zh-CN" sz="2000" b="1" baseline="-25000">
                  <a:latin typeface="Times New Roman" panose="02020603050405020304" charset="0"/>
                  <a:ea typeface="楷体_GB2312" charset="-122"/>
                </a:rPr>
                <a:t>2</a:t>
              </a:r>
              <a:r>
                <a:rPr lang="zh-CN" altLang="en-US" sz="2400" b="1" dirty="0">
                  <a:latin typeface="Times New Roman" panose="02020603050405020304" charset="0"/>
                  <a:ea typeface="楷体_GB2312" charset="-122"/>
                </a:rPr>
                <a:t>产生不同程度的离解</a:t>
              </a:r>
              <a:endParaRPr lang="zh-CN" altLang="en-US" sz="2400" b="1" dirty="0">
                <a:latin typeface="Times New Roman" panose="02020603050405020304" charset="0"/>
                <a:ea typeface="楷体_GB2312" charset="-122"/>
              </a:endParaRPr>
            </a:p>
          </p:txBody>
        </p:sp>
        <p:sp>
          <p:nvSpPr>
            <p:cNvPr id="304137" name="直接连接符 304136"/>
            <p:cNvSpPr/>
            <p:nvPr/>
          </p:nvSpPr>
          <p:spPr>
            <a:xfrm>
              <a:off x="2448" y="3024"/>
              <a:ext cx="2880" cy="0"/>
            </a:xfrm>
            <a:prstGeom prst="line">
              <a:avLst/>
            </a:prstGeom>
            <a:ln w="19050" cap="flat" cmpd="sng">
              <a:solidFill>
                <a:schemeClr val="accent2"/>
              </a:solidFill>
              <a:prstDash val="solid"/>
              <a:headEnd type="none" w="med" len="med"/>
              <a:tailEnd type="none" w="med" len="med"/>
            </a:ln>
          </p:spPr>
        </p:sp>
        <p:sp>
          <p:nvSpPr>
            <p:cNvPr id="304138" name="直接连接符 304137"/>
            <p:cNvSpPr/>
            <p:nvPr/>
          </p:nvSpPr>
          <p:spPr>
            <a:xfrm>
              <a:off x="2496" y="3312"/>
              <a:ext cx="2880" cy="0"/>
            </a:xfrm>
            <a:prstGeom prst="line">
              <a:avLst/>
            </a:prstGeom>
            <a:ln w="19050" cap="flat" cmpd="sng">
              <a:solidFill>
                <a:schemeClr val="accent2"/>
              </a:solidFill>
              <a:prstDash val="solid"/>
              <a:headEnd type="none" w="med" len="med"/>
              <a:tailEnd type="none" w="med" len="med"/>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04130"/>
                                        </p:tgtEl>
                                        <p:attrNameLst>
                                          <p:attrName>style.visibility</p:attrName>
                                        </p:attrNameLst>
                                      </p:cBhvr>
                                      <p:to>
                                        <p:strVal val="visible"/>
                                      </p:to>
                                    </p:set>
                                    <p:animEffect transition="in" filter="wipe(up)">
                                      <p:cBhvr>
                                        <p:cTn id="7" dur="500"/>
                                        <p:tgtEl>
                                          <p:spTgt spid="304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5154" name="矩形 305153"/>
          <p:cNvSpPr/>
          <p:nvPr/>
        </p:nvSpPr>
        <p:spPr>
          <a:xfrm>
            <a:off x="1828800" y="685800"/>
            <a:ext cx="8534400" cy="5300345"/>
          </a:xfrm>
          <a:prstGeom prst="rect">
            <a:avLst/>
          </a:prstGeom>
          <a:solidFill>
            <a:srgbClr val="FFCCFF"/>
          </a:solidFill>
          <a:ln w="38100" cap="flat" cmpd="sng">
            <a:solidFill>
              <a:srgbClr val="800080"/>
            </a:solidFill>
            <a:prstDash val="solid"/>
            <a:miter/>
            <a:headEnd type="none" w="med" len="med"/>
            <a:tailEnd type="none" w="med" len="med"/>
          </a:ln>
        </p:spPr>
        <p:txBody>
          <a:bodyPr>
            <a:spAutoFit/>
          </a:bodyPr>
          <a:p>
            <a:pPr>
              <a:lnSpc>
                <a:spcPct val="90000"/>
              </a:lnSpc>
              <a:spcBef>
                <a:spcPct val="50000"/>
              </a:spcBef>
            </a:pPr>
            <a:r>
              <a:rPr lang="en-US" altLang="zh-CN" sz="2800" dirty="0">
                <a:latin typeface="Times New Roman" panose="02020603050405020304" charset="0"/>
              </a:rPr>
              <a:t>       </a:t>
            </a:r>
            <a:r>
              <a:rPr lang="zh-CN" altLang="en-US" sz="2800" b="1" dirty="0">
                <a:solidFill>
                  <a:srgbClr val="333399"/>
                </a:solidFill>
                <a:latin typeface="Times New Roman" panose="02020603050405020304" charset="0"/>
              </a:rPr>
              <a:t>大气中</a:t>
            </a:r>
            <a:r>
              <a:rPr lang="en-US" altLang="zh-CN" sz="2800" b="1" dirty="0">
                <a:solidFill>
                  <a:srgbClr val="333399"/>
                </a:solidFill>
                <a:latin typeface="Times New Roman" panose="02020603050405020304" charset="0"/>
              </a:rPr>
              <a:t>90%</a:t>
            </a:r>
            <a:r>
              <a:rPr lang="zh-CN" altLang="en-US" sz="2800" b="1" dirty="0">
                <a:solidFill>
                  <a:srgbClr val="333399"/>
                </a:solidFill>
                <a:latin typeface="Times New Roman" panose="02020603050405020304" charset="0"/>
              </a:rPr>
              <a:t>的臭氧存在于平流层中，它是平流层</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中最重要的化学组分，我们将这一层高浓度的臭氧称</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为“臭氧层”。</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      臭氧浓度的表示法：柱浓度法，单位用多布森来</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表示（</a:t>
            </a:r>
            <a:r>
              <a:rPr lang="en-US" altLang="zh-CN" sz="2800" b="1">
                <a:solidFill>
                  <a:srgbClr val="333399"/>
                </a:solidFill>
                <a:latin typeface="Times New Roman" panose="02020603050405020304" charset="0"/>
              </a:rPr>
              <a:t>Dobson unit,</a:t>
            </a:r>
            <a:r>
              <a:rPr lang="zh-CN" altLang="en-US" sz="2800" b="1" dirty="0">
                <a:solidFill>
                  <a:srgbClr val="333399"/>
                </a:solidFill>
                <a:latin typeface="Times New Roman" panose="02020603050405020304" charset="0"/>
              </a:rPr>
              <a:t>简称</a:t>
            </a:r>
            <a:r>
              <a:rPr lang="en-US" altLang="zh-CN" sz="2800" b="1">
                <a:solidFill>
                  <a:srgbClr val="333399"/>
                </a:solidFill>
                <a:latin typeface="Times New Roman" panose="02020603050405020304" charset="0"/>
              </a:rPr>
              <a:t>D.U.</a:t>
            </a:r>
            <a:r>
              <a:rPr lang="zh-CN" altLang="en-US" sz="2800" b="1">
                <a:solidFill>
                  <a:srgbClr val="333399"/>
                </a:solidFill>
                <a:latin typeface="Times New Roman" panose="02020603050405020304" charset="0"/>
              </a:rPr>
              <a:t>）。</a:t>
            </a:r>
            <a:endParaRPr lang="zh-CN" altLang="en-US" sz="2800" b="1">
              <a:solidFill>
                <a:srgbClr val="333399"/>
              </a:solidFill>
              <a:latin typeface="Times New Roman" panose="02020603050405020304" charset="0"/>
            </a:endParaRPr>
          </a:p>
          <a:p>
            <a:pPr>
              <a:lnSpc>
                <a:spcPct val="90000"/>
              </a:lnSpc>
              <a:spcBef>
                <a:spcPct val="50000"/>
              </a:spcBef>
            </a:pPr>
            <a:r>
              <a:rPr lang="zh-CN" altLang="en-US" sz="2800" b="1">
                <a:solidFill>
                  <a:srgbClr val="333399"/>
                </a:solidFill>
                <a:latin typeface="Times New Roman" panose="02020603050405020304" charset="0"/>
              </a:rPr>
              <a:t>       </a:t>
            </a:r>
            <a:r>
              <a:rPr lang="en-US" altLang="zh-CN" sz="2800" b="1">
                <a:solidFill>
                  <a:srgbClr val="333399"/>
                </a:solidFill>
                <a:latin typeface="Times New Roman" panose="02020603050405020304" charset="0"/>
              </a:rPr>
              <a:t>D.U.</a:t>
            </a:r>
            <a:r>
              <a:rPr lang="zh-CN" altLang="en-US" sz="2800" b="1" dirty="0">
                <a:solidFill>
                  <a:srgbClr val="333399"/>
                </a:solidFill>
                <a:latin typeface="Times New Roman" panose="02020603050405020304" charset="0"/>
              </a:rPr>
              <a:t>的含义：将</a:t>
            </a:r>
            <a:r>
              <a:rPr lang="en-US" altLang="zh-CN" sz="2800" b="1" dirty="0">
                <a:solidFill>
                  <a:srgbClr val="333399"/>
                </a:solidFill>
                <a:latin typeface="Times New Roman" panose="02020603050405020304" charset="0"/>
              </a:rPr>
              <a:t>0℃</a:t>
            </a:r>
            <a:r>
              <a:rPr lang="zh-CN" altLang="en-US" sz="2800" b="1" dirty="0">
                <a:solidFill>
                  <a:srgbClr val="333399"/>
                </a:solidFill>
                <a:latin typeface="Times New Roman" panose="02020603050405020304" charset="0"/>
              </a:rPr>
              <a:t>，一个大气压力下，</a:t>
            </a:r>
            <a:r>
              <a:rPr lang="en-US" altLang="zh-CN" sz="2800" b="1" dirty="0">
                <a:solidFill>
                  <a:srgbClr val="333399"/>
                </a:solidFill>
                <a:latin typeface="Times New Roman" panose="02020603050405020304" charset="0"/>
              </a:rPr>
              <a:t>10</a:t>
            </a:r>
            <a:r>
              <a:rPr lang="en-US" altLang="zh-CN" sz="2800" b="1" baseline="30000" dirty="0">
                <a:solidFill>
                  <a:srgbClr val="333399"/>
                </a:solidFill>
                <a:latin typeface="Times New Roman" panose="02020603050405020304" charset="0"/>
              </a:rPr>
              <a:t>-5 </a:t>
            </a:r>
            <a:r>
              <a:rPr lang="en-US" altLang="zh-CN" sz="2800" b="1">
                <a:solidFill>
                  <a:srgbClr val="333399"/>
                </a:solidFill>
                <a:latin typeface="Times New Roman" panose="02020603050405020304" charset="0"/>
              </a:rPr>
              <a:t>m</a:t>
            </a:r>
            <a:r>
              <a:rPr lang="zh-CN" altLang="en-US" sz="2800" b="1" dirty="0">
                <a:solidFill>
                  <a:srgbClr val="333399"/>
                </a:solidFill>
                <a:latin typeface="Times New Roman" panose="02020603050405020304" charset="0"/>
              </a:rPr>
              <a:t>厚</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的臭氧定义为</a:t>
            </a:r>
            <a:r>
              <a:rPr lang="en-US" altLang="zh-CN" sz="2800" b="1" dirty="0">
                <a:solidFill>
                  <a:srgbClr val="333399"/>
                </a:solidFill>
                <a:latin typeface="Times New Roman" panose="02020603050405020304" charset="0"/>
              </a:rPr>
              <a:t>1</a:t>
            </a:r>
            <a:r>
              <a:rPr lang="zh-CN" altLang="en-US" sz="2800" b="1" dirty="0">
                <a:solidFill>
                  <a:srgbClr val="333399"/>
                </a:solidFill>
                <a:latin typeface="Times New Roman" panose="02020603050405020304" charset="0"/>
              </a:rPr>
              <a:t>个</a:t>
            </a:r>
            <a:r>
              <a:rPr lang="en-US" altLang="zh-CN" sz="2800" b="1">
                <a:solidFill>
                  <a:srgbClr val="333399"/>
                </a:solidFill>
                <a:latin typeface="Times New Roman" panose="02020603050405020304" charset="0"/>
              </a:rPr>
              <a:t>Dobson </a:t>
            </a:r>
            <a:r>
              <a:rPr lang="zh-CN" altLang="en-US" sz="2800" b="1" dirty="0">
                <a:solidFill>
                  <a:srgbClr val="333399"/>
                </a:solidFill>
                <a:latin typeface="Times New Roman" panose="02020603050405020304" charset="0"/>
              </a:rPr>
              <a:t>单位。</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      臭氧洞被定义为臭氧的柱浓度小于</a:t>
            </a:r>
            <a:r>
              <a:rPr lang="en-US" altLang="zh-CN" sz="2800" b="1" dirty="0">
                <a:solidFill>
                  <a:srgbClr val="333399"/>
                </a:solidFill>
                <a:latin typeface="Times New Roman" panose="02020603050405020304" charset="0"/>
              </a:rPr>
              <a:t>200</a:t>
            </a:r>
            <a:r>
              <a:rPr lang="en-US" altLang="zh-CN" sz="2800" b="1">
                <a:solidFill>
                  <a:srgbClr val="333399"/>
                </a:solidFill>
                <a:latin typeface="Times New Roman" panose="02020603050405020304" charset="0"/>
              </a:rPr>
              <a:t>D.U.</a:t>
            </a:r>
            <a:r>
              <a:rPr lang="zh-CN" altLang="en-US" sz="2800" b="1">
                <a:solidFill>
                  <a:srgbClr val="333399"/>
                </a:solidFill>
                <a:latin typeface="Times New Roman" panose="02020603050405020304" charset="0"/>
              </a:rPr>
              <a:t>， </a:t>
            </a:r>
            <a:r>
              <a:rPr lang="zh-CN" altLang="en-US" sz="2800" b="1" dirty="0">
                <a:solidFill>
                  <a:srgbClr val="333399"/>
                </a:solidFill>
                <a:latin typeface="Times New Roman" panose="02020603050405020304" charset="0"/>
              </a:rPr>
              <a:t>即臭</a:t>
            </a:r>
            <a:endParaRPr lang="zh-CN" altLang="en-US" sz="2800" b="1" dirty="0">
              <a:solidFill>
                <a:srgbClr val="333399"/>
              </a:solidFill>
              <a:latin typeface="Times New Roman" panose="02020603050405020304" charset="0"/>
            </a:endParaRPr>
          </a:p>
          <a:p>
            <a:pPr>
              <a:lnSpc>
                <a:spcPct val="90000"/>
              </a:lnSpc>
              <a:spcBef>
                <a:spcPct val="50000"/>
              </a:spcBef>
            </a:pPr>
            <a:r>
              <a:rPr lang="zh-CN" altLang="en-US" sz="2800" b="1" dirty="0">
                <a:solidFill>
                  <a:srgbClr val="333399"/>
                </a:solidFill>
                <a:latin typeface="Times New Roman" panose="02020603050405020304" charset="0"/>
              </a:rPr>
              <a:t>氧的浓度较臭氧洞发生前减少超过</a:t>
            </a:r>
            <a:r>
              <a:rPr lang="en-US" altLang="zh-CN" sz="2800" b="1" dirty="0">
                <a:solidFill>
                  <a:srgbClr val="333399"/>
                </a:solidFill>
                <a:latin typeface="Times New Roman" panose="02020603050405020304" charset="0"/>
              </a:rPr>
              <a:t>30%</a:t>
            </a:r>
            <a:r>
              <a:rPr lang="zh-CN" altLang="en-US" sz="2800" b="1" dirty="0">
                <a:solidFill>
                  <a:srgbClr val="333399"/>
                </a:solidFill>
                <a:latin typeface="Times New Roman" panose="02020603050405020304" charset="0"/>
              </a:rPr>
              <a:t>的地区。</a:t>
            </a:r>
            <a:endParaRPr lang="zh-CN" altLang="en-US" sz="2800" b="1" dirty="0">
              <a:solidFill>
                <a:srgbClr val="333399"/>
              </a:solidFill>
              <a:latin typeface="Times New Roman" panose="0202060305040502030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6178" name="图片 306177" descr="mso1F67E"/>
          <p:cNvPicPr>
            <a:picLocks noChangeAspect="1"/>
          </p:cNvPicPr>
          <p:nvPr/>
        </p:nvPicPr>
        <p:blipFill>
          <a:blip r:embed="rId1"/>
          <a:stretch>
            <a:fillRect/>
          </a:stretch>
        </p:blipFill>
        <p:spPr>
          <a:xfrm>
            <a:off x="3810000" y="0"/>
            <a:ext cx="4981575" cy="6858000"/>
          </a:xfrm>
          <a:prstGeom prst="rect">
            <a:avLst/>
          </a:prstGeom>
          <a:noFill/>
          <a:ln w="9525">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7202" name="图片 307201" descr="mso86BB4"/>
          <p:cNvPicPr>
            <a:picLocks noChangeAspect="1"/>
          </p:cNvPicPr>
          <p:nvPr/>
        </p:nvPicPr>
        <p:blipFill>
          <a:blip r:embed="rId1"/>
          <a:stretch>
            <a:fillRect/>
          </a:stretch>
        </p:blipFill>
        <p:spPr>
          <a:xfrm>
            <a:off x="1981200" y="1219200"/>
            <a:ext cx="7993063" cy="4181475"/>
          </a:xfrm>
          <a:prstGeom prst="rect">
            <a:avLst/>
          </a:prstGeom>
          <a:noFill/>
          <a:ln w="9525">
            <a:noFill/>
          </a:ln>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08226" name="图片 308225" descr="msoAEFB0"/>
          <p:cNvPicPr>
            <a:picLocks noChangeAspect="1"/>
          </p:cNvPicPr>
          <p:nvPr/>
        </p:nvPicPr>
        <p:blipFill>
          <a:blip r:embed="rId1"/>
          <a:stretch>
            <a:fillRect/>
          </a:stretch>
        </p:blipFill>
        <p:spPr>
          <a:xfrm>
            <a:off x="2135188" y="0"/>
            <a:ext cx="7740650" cy="6686550"/>
          </a:xfrm>
          <a:prstGeom prst="rect">
            <a:avLst/>
          </a:prstGeom>
          <a:noFill/>
          <a:ln w="9525">
            <a:noFill/>
          </a:ln>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9250" name="折角形 309249"/>
          <p:cNvSpPr/>
          <p:nvPr/>
        </p:nvSpPr>
        <p:spPr>
          <a:xfrm>
            <a:off x="2133600" y="2057400"/>
            <a:ext cx="8153400" cy="4343400"/>
          </a:xfrm>
          <a:prstGeom prst="foldedCorner">
            <a:avLst>
              <a:gd name="adj" fmla="val 12500"/>
            </a:avLst>
          </a:prstGeom>
          <a:gradFill rotWithShape="0">
            <a:gsLst>
              <a:gs pos="0">
                <a:srgbClr val="FFCC99"/>
              </a:gs>
              <a:gs pos="100000">
                <a:schemeClr val="bg1"/>
              </a:gs>
            </a:gsLst>
            <a:path path="rect">
              <a:fillToRect t="100000" r="100000"/>
            </a:path>
            <a:tileRect/>
          </a:gradFill>
          <a:ln w="9525" cap="flat" cmpd="sng">
            <a:solidFill>
              <a:schemeClr val="tx1"/>
            </a:solidFill>
            <a:prstDash val="solid"/>
            <a:headEnd type="none" w="med" len="med"/>
            <a:tailEnd type="none" w="med" len="med"/>
          </a:ln>
          <a:effectLst>
            <a:prstShdw prst="shdw13" dist="53882" dir="13499999">
              <a:schemeClr val="bg2"/>
            </a:prstShdw>
          </a:effectLst>
        </p:spPr>
        <p:txBody>
          <a:bodyPr wrap="none" anchor="ctr" anchorCtr="0"/>
          <a:p>
            <a:pPr>
              <a:lnSpc>
                <a:spcPct val="130000"/>
              </a:lnSpc>
            </a:pPr>
            <a:r>
              <a:rPr lang="en-US" altLang="zh-CN" sz="2400" b="1" dirty="0">
                <a:latin typeface="Times New Roman" panose="02020603050405020304" charset="0"/>
                <a:ea typeface="楷体_GB2312" charset="-122"/>
              </a:rPr>
              <a:t>        </a:t>
            </a:r>
            <a:r>
              <a:rPr lang="zh-CN" altLang="en-US" sz="2400" b="1" dirty="0">
                <a:latin typeface="Times New Roman" panose="02020603050405020304" charset="0"/>
                <a:ea typeface="楷体_GB2312" charset="-122"/>
              </a:rPr>
              <a:t>大多数科学家认为，人类过多地使用氟氯烃类化学物质</a:t>
            </a:r>
            <a:endParaRPr lang="zh-CN" altLang="en-US" sz="24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a:t>
            </a:r>
            <a:r>
              <a:rPr lang="en-US" altLang="zh-CN" sz="2000" b="1">
                <a:latin typeface="Times New Roman" panose="02020603050405020304" charset="0"/>
                <a:ea typeface="楷体_GB2312" charset="-122"/>
              </a:rPr>
              <a:t>CFC</a:t>
            </a:r>
            <a:r>
              <a:rPr lang="en-US" altLang="zh-CN" sz="2000" b="1" baseline="-25000">
                <a:latin typeface="Times New Roman" panose="02020603050405020304" charset="0"/>
                <a:ea typeface="楷体_GB2312" charset="-122"/>
              </a:rPr>
              <a:t>S</a:t>
            </a:r>
            <a:r>
              <a:rPr lang="zh-CN" altLang="en-US" sz="2400" b="1">
                <a:latin typeface="Times New Roman" panose="02020603050405020304" charset="0"/>
                <a:ea typeface="楷体_GB2312" charset="-122"/>
              </a:rPr>
              <a:t>）</a:t>
            </a:r>
            <a:r>
              <a:rPr lang="zh-CN" altLang="en-US" sz="2400" b="1" dirty="0">
                <a:latin typeface="Times New Roman" panose="02020603050405020304" charset="0"/>
                <a:ea typeface="楷体_GB2312" charset="-122"/>
              </a:rPr>
              <a:t>是破坏臭氧层的主要原因。</a:t>
            </a:r>
            <a:endParaRPr lang="zh-CN" altLang="en-US" sz="2400" b="1" dirty="0">
              <a:latin typeface="Times New Roman" panose="02020603050405020304" charset="0"/>
              <a:ea typeface="楷体_GB2312" charset="-122"/>
            </a:endParaRPr>
          </a:p>
          <a:p>
            <a:pPr>
              <a:lnSpc>
                <a:spcPct val="130000"/>
              </a:lnSpc>
            </a:pPr>
            <a:endParaRPr lang="zh-CN" altLang="en-US" sz="16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        </a:t>
            </a:r>
            <a:r>
              <a:rPr lang="zh-CN" altLang="en-US" sz="2400" b="1" dirty="0">
                <a:solidFill>
                  <a:schemeClr val="accent2"/>
                </a:solidFill>
                <a:latin typeface="Times New Roman" panose="02020603050405020304" charset="0"/>
                <a:ea typeface="楷体_GB2312" charset="-122"/>
              </a:rPr>
              <a:t>（ </a:t>
            </a:r>
            <a:r>
              <a:rPr lang="en-US" altLang="zh-CN" sz="2000" b="1">
                <a:solidFill>
                  <a:schemeClr val="accent2"/>
                </a:solidFill>
                <a:latin typeface="Times New Roman" panose="02020603050405020304" charset="0"/>
                <a:ea typeface="楷体_GB2312" charset="-122"/>
              </a:rPr>
              <a:t>CFC</a:t>
            </a:r>
            <a:r>
              <a:rPr lang="en-US" altLang="zh-CN" sz="2000" b="1" baseline="-25000">
                <a:solidFill>
                  <a:schemeClr val="accent2"/>
                </a:solidFill>
                <a:latin typeface="Times New Roman" panose="02020603050405020304" charset="0"/>
                <a:ea typeface="楷体_GB2312" charset="-122"/>
              </a:rPr>
              <a:t>S</a:t>
            </a:r>
            <a:r>
              <a:rPr lang="en-US" altLang="zh-CN" sz="2000" b="1">
                <a:solidFill>
                  <a:schemeClr val="accent2"/>
                </a:solidFill>
                <a:latin typeface="Times New Roman" panose="02020603050405020304" charset="0"/>
                <a:ea typeface="楷体_GB2312" charset="-122"/>
              </a:rPr>
              <a:t> </a:t>
            </a:r>
            <a:r>
              <a:rPr lang="zh-CN" altLang="en-US" sz="2400" b="1" dirty="0">
                <a:solidFill>
                  <a:schemeClr val="accent2"/>
                </a:solidFill>
                <a:latin typeface="Times New Roman" panose="02020603050405020304" charset="0"/>
                <a:ea typeface="楷体_GB2312" charset="-122"/>
              </a:rPr>
              <a:t>于</a:t>
            </a:r>
            <a:r>
              <a:rPr lang="en-US" altLang="zh-CN" sz="2400" b="1" dirty="0">
                <a:solidFill>
                  <a:schemeClr val="accent2"/>
                </a:solidFill>
                <a:latin typeface="Times New Roman" panose="02020603050405020304" charset="0"/>
                <a:ea typeface="楷体_GB2312" charset="-122"/>
              </a:rPr>
              <a:t>1930</a:t>
            </a:r>
            <a:r>
              <a:rPr lang="zh-CN" altLang="en-US" sz="2400" b="1" dirty="0">
                <a:solidFill>
                  <a:schemeClr val="accent2"/>
                </a:solidFill>
                <a:latin typeface="Times New Roman" panose="02020603050405020304" charset="0"/>
                <a:ea typeface="楷体_GB2312" charset="-122"/>
              </a:rPr>
              <a:t>年由美国杜邦公司投入生产，二战后</a:t>
            </a:r>
            <a:endParaRPr lang="zh-CN" altLang="en-US" sz="2400" b="1" dirty="0">
              <a:solidFill>
                <a:schemeClr val="accent2"/>
              </a:solidFill>
              <a:latin typeface="Times New Roman" panose="02020603050405020304" charset="0"/>
              <a:ea typeface="楷体_GB2312" charset="-122"/>
            </a:endParaRPr>
          </a:p>
          <a:p>
            <a:pPr>
              <a:lnSpc>
                <a:spcPct val="130000"/>
              </a:lnSpc>
            </a:pPr>
            <a:r>
              <a:rPr lang="zh-CN" altLang="en-US" sz="2400" b="1" dirty="0">
                <a:solidFill>
                  <a:schemeClr val="accent2"/>
                </a:solidFill>
                <a:latin typeface="Times New Roman" panose="02020603050405020304" charset="0"/>
                <a:ea typeface="楷体_GB2312" charset="-122"/>
              </a:rPr>
              <a:t>开始大量使用，主要用作气溶胶、制冷剂、发泡剂等）</a:t>
            </a:r>
            <a:endParaRPr lang="zh-CN" altLang="en-US" sz="2400" b="1" dirty="0">
              <a:solidFill>
                <a:schemeClr val="accent2"/>
              </a:solidFill>
              <a:latin typeface="Times New Roman" panose="02020603050405020304" charset="0"/>
              <a:ea typeface="楷体_GB2312" charset="-122"/>
            </a:endParaRPr>
          </a:p>
          <a:p>
            <a:pPr>
              <a:lnSpc>
                <a:spcPct val="130000"/>
              </a:lnSpc>
            </a:pPr>
            <a:endParaRPr lang="zh-CN" altLang="en-US" sz="16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        臭氧层中存在着</a:t>
            </a:r>
            <a:r>
              <a:rPr lang="en-US" altLang="zh-CN" sz="2000" b="1">
                <a:latin typeface="Times New Roman" panose="02020603050405020304" charset="0"/>
                <a:ea typeface="楷体_GB2312" charset="-122"/>
              </a:rPr>
              <a:t>O</a:t>
            </a:r>
            <a:r>
              <a:rPr lang="zh-CN" altLang="en-US" sz="2000" b="1">
                <a:latin typeface="Times New Roman" panose="02020603050405020304" charset="0"/>
                <a:ea typeface="楷体_GB2312" charset="-122"/>
              </a:rPr>
              <a:t>、</a:t>
            </a:r>
            <a:r>
              <a:rPr lang="en-US" altLang="zh-CN" sz="2000" b="1">
                <a:latin typeface="Times New Roman" panose="02020603050405020304" charset="0"/>
                <a:ea typeface="楷体_GB2312" charset="-122"/>
              </a:rPr>
              <a:t>O</a:t>
            </a:r>
            <a:r>
              <a:rPr lang="en-US" altLang="zh-CN" sz="2000" b="1" baseline="-25000">
                <a:latin typeface="Times New Roman" panose="02020603050405020304" charset="0"/>
                <a:ea typeface="楷体_GB2312" charset="-122"/>
              </a:rPr>
              <a:t>2</a:t>
            </a:r>
            <a:r>
              <a:rPr lang="zh-CN" altLang="en-US" sz="2000" b="1">
                <a:latin typeface="Times New Roman" panose="02020603050405020304" charset="0"/>
                <a:ea typeface="楷体_GB2312" charset="-122"/>
              </a:rPr>
              <a:t>、</a:t>
            </a:r>
            <a:r>
              <a:rPr lang="en-US" altLang="zh-CN" sz="2000" b="1">
                <a:latin typeface="Times New Roman" panose="02020603050405020304" charset="0"/>
                <a:ea typeface="楷体_GB2312" charset="-122"/>
              </a:rPr>
              <a:t>O</a:t>
            </a:r>
            <a:r>
              <a:rPr lang="en-US" altLang="zh-CN" sz="2000" b="1" baseline="-25000">
                <a:latin typeface="Times New Roman" panose="02020603050405020304" charset="0"/>
                <a:ea typeface="楷体_GB2312" charset="-122"/>
              </a:rPr>
              <a:t>3</a:t>
            </a:r>
            <a:r>
              <a:rPr lang="zh-CN" altLang="en-US" sz="2400" b="1" dirty="0">
                <a:latin typeface="Times New Roman" panose="02020603050405020304" charset="0"/>
                <a:ea typeface="楷体_GB2312" charset="-122"/>
              </a:rPr>
              <a:t>的动态平衡，</a:t>
            </a:r>
            <a:r>
              <a:rPr lang="zh-CN" altLang="en-US" sz="2000" b="1" dirty="0">
                <a:latin typeface="Times New Roman" panose="02020603050405020304" charset="0"/>
                <a:ea typeface="楷体_GB2312" charset="-122"/>
              </a:rPr>
              <a:t> </a:t>
            </a:r>
            <a:r>
              <a:rPr lang="en-US" altLang="zh-CN" sz="2000" b="1">
                <a:latin typeface="Times New Roman" panose="02020603050405020304" charset="0"/>
                <a:ea typeface="楷体_GB2312" charset="-122"/>
              </a:rPr>
              <a:t>CFC</a:t>
            </a:r>
            <a:r>
              <a:rPr lang="en-US" altLang="zh-CN" sz="2000" b="1" baseline="-25000">
                <a:latin typeface="Times New Roman" panose="02020603050405020304" charset="0"/>
                <a:ea typeface="楷体_GB2312" charset="-122"/>
              </a:rPr>
              <a:t>S</a:t>
            </a:r>
            <a:r>
              <a:rPr lang="zh-CN" altLang="en-US" sz="2400" b="1" dirty="0">
                <a:latin typeface="Times New Roman" panose="02020603050405020304" charset="0"/>
                <a:ea typeface="楷体_GB2312" charset="-122"/>
              </a:rPr>
              <a:t>非同</a:t>
            </a:r>
            <a:endParaRPr lang="zh-CN" altLang="en-US" sz="24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寻常的稳定性使</a:t>
            </a:r>
            <a:r>
              <a:rPr lang="en-US" altLang="zh-CN" sz="2000" b="1">
                <a:latin typeface="Times New Roman" panose="02020603050405020304" charset="0"/>
                <a:ea typeface="楷体_GB2312" charset="-122"/>
              </a:rPr>
              <a:t>NO</a:t>
            </a:r>
            <a:r>
              <a:rPr lang="en-US" altLang="zh-CN" sz="2000" b="1" baseline="-25000">
                <a:latin typeface="Times New Roman" panose="02020603050405020304" charset="0"/>
                <a:ea typeface="楷体_GB2312" charset="-122"/>
              </a:rPr>
              <a:t>X</a:t>
            </a:r>
            <a:r>
              <a:rPr lang="zh-CN" altLang="en-US" sz="2000" b="1">
                <a:latin typeface="Times New Roman" panose="02020603050405020304" charset="0"/>
                <a:ea typeface="楷体_GB2312" charset="-122"/>
              </a:rPr>
              <a:t>、</a:t>
            </a:r>
            <a:r>
              <a:rPr lang="en-US" altLang="zh-CN" sz="2000" b="1" dirty="0" err="1">
                <a:latin typeface="Times New Roman" panose="02020603050405020304" charset="0"/>
                <a:ea typeface="楷体_GB2312" charset="-122"/>
              </a:rPr>
              <a:t>Cl</a:t>
            </a:r>
            <a:r>
              <a:rPr lang="zh-CN" altLang="en-US" sz="2000" b="1">
                <a:latin typeface="Times New Roman" panose="02020603050405020304" charset="0"/>
                <a:ea typeface="楷体_GB2312" charset="-122"/>
              </a:rPr>
              <a:t>、</a:t>
            </a:r>
            <a:r>
              <a:rPr lang="en-US" altLang="zh-CN" sz="2000" b="1">
                <a:latin typeface="Times New Roman" panose="02020603050405020304" charset="0"/>
                <a:ea typeface="楷体_GB2312" charset="-122"/>
              </a:rPr>
              <a:t>Br</a:t>
            </a:r>
            <a:r>
              <a:rPr lang="zh-CN" altLang="en-US" sz="2400" b="1" dirty="0">
                <a:latin typeface="Times New Roman" panose="02020603050405020304" charset="0"/>
                <a:ea typeface="楷体_GB2312" charset="-122"/>
              </a:rPr>
              <a:t>活性物质很容易在臭氧层</a:t>
            </a:r>
            <a:endParaRPr lang="zh-CN" altLang="en-US" sz="2400" b="1" dirty="0">
              <a:latin typeface="Times New Roman" panose="02020603050405020304" charset="0"/>
              <a:ea typeface="楷体_GB2312" charset="-122"/>
            </a:endParaRPr>
          </a:p>
          <a:p>
            <a:pPr>
              <a:lnSpc>
                <a:spcPct val="130000"/>
              </a:lnSpc>
            </a:pPr>
            <a:r>
              <a:rPr lang="zh-CN" altLang="en-US" sz="2400" b="1" dirty="0">
                <a:latin typeface="Times New Roman" panose="02020603050405020304" charset="0"/>
                <a:ea typeface="楷体_GB2312" charset="-122"/>
              </a:rPr>
              <a:t>中聚集，使平衡向着臭氧分解的方向转移。</a:t>
            </a:r>
            <a:endParaRPr lang="zh-CN" altLang="en-US" sz="2400" b="1" dirty="0">
              <a:latin typeface="Times New Roman" panose="02020603050405020304" charset="0"/>
              <a:ea typeface="楷体_GB2312" charset="-122"/>
            </a:endParaRPr>
          </a:p>
        </p:txBody>
      </p:sp>
      <p:sp>
        <p:nvSpPr>
          <p:cNvPr id="309251" name="前凸带形 309250"/>
          <p:cNvSpPr/>
          <p:nvPr/>
        </p:nvSpPr>
        <p:spPr>
          <a:xfrm>
            <a:off x="2743200" y="381000"/>
            <a:ext cx="6629400" cy="1143000"/>
          </a:xfrm>
          <a:prstGeom prst="ribbon">
            <a:avLst>
              <a:gd name="adj1" fmla="val 10972"/>
              <a:gd name="adj2" fmla="val 63657"/>
            </a:avLst>
          </a:prstGeom>
          <a:gradFill rotWithShape="0">
            <a:gsLst>
              <a:gs pos="0">
                <a:srgbClr val="FFFF66"/>
              </a:gs>
              <a:gs pos="100000">
                <a:schemeClr val="bg1"/>
              </a:gs>
            </a:gsLst>
            <a:path path="rect">
              <a:fillToRect l="100000" b="100000"/>
            </a:path>
            <a:tileRect/>
          </a:gradFill>
          <a:ln w="9525" cap="flat" cmpd="sng">
            <a:solidFill>
              <a:schemeClr val="tx1"/>
            </a:solidFill>
            <a:prstDash val="solid"/>
            <a:headEnd type="none" w="med" len="med"/>
            <a:tailEnd type="none" w="med" len="med"/>
          </a:ln>
          <a:effectLst>
            <a:outerShdw dist="107763" dir="2699999" algn="ctr" rotWithShape="0">
              <a:schemeClr val="bg2"/>
            </a:outerShdw>
          </a:effectLst>
        </p:spPr>
        <p:txBody>
          <a:bodyPr wrap="none" anchor="ctr" anchorCtr="0"/>
          <a:p>
            <a:pPr algn="ctr"/>
            <a:r>
              <a:rPr lang="zh-CN" altLang="en-US" sz="3200" b="1" dirty="0">
                <a:latin typeface="Times New Roman" panose="02020603050405020304" charset="0"/>
                <a:ea typeface="黑体" panose="02010609060101010101" pitchFamily="2" charset="-122"/>
              </a:rPr>
              <a:t>臭氧层破坏的原因</a:t>
            </a:r>
            <a:endParaRPr lang="zh-CN" altLang="en-US" sz="3200" b="1" dirty="0">
              <a:latin typeface="Times New Roman" panose="0202060305040502030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09251"/>
                                        </p:tgtEl>
                                        <p:attrNameLst>
                                          <p:attrName>style.visibility</p:attrName>
                                        </p:attrNameLst>
                                      </p:cBhvr>
                                      <p:to>
                                        <p:strVal val="visible"/>
                                      </p:to>
                                    </p:set>
                                    <p:animEffect transition="in" filter="blinds(horizontal)">
                                      <p:cBhvr>
                                        <p:cTn id="7" dur="500"/>
                                        <p:tgtEl>
                                          <p:spTgt spid="309251"/>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309250"/>
                                        </p:tgtEl>
                                        <p:attrNameLst>
                                          <p:attrName>style.visibility</p:attrName>
                                        </p:attrNameLst>
                                      </p:cBhvr>
                                      <p:to>
                                        <p:strVal val="visible"/>
                                      </p:to>
                                    </p:set>
                                    <p:anim calcmode="lin" valueType="num">
                                      <p:cBhvr>
                                        <p:cTn id="12" dur="500" fill="hold"/>
                                        <p:tgtEl>
                                          <p:spTgt spid="309250"/>
                                        </p:tgtEl>
                                        <p:attrNameLst>
                                          <p:attrName>ppt_w</p:attrName>
                                        </p:attrNameLst>
                                      </p:cBhvr>
                                      <p:tavLst>
                                        <p:tav tm="0">
                                          <p:val>
                                            <p:fltVal val="0.000000"/>
                                          </p:val>
                                        </p:tav>
                                        <p:tav tm="100000">
                                          <p:val>
                                            <p:strVal val="#ppt_w"/>
                                          </p:val>
                                        </p:tav>
                                      </p:tavLst>
                                    </p:anim>
                                    <p:anim calcmode="lin" valueType="num">
                                      <p:cBhvr>
                                        <p:cTn id="13" dur="500" fill="hold"/>
                                        <p:tgtEl>
                                          <p:spTgt spid="30925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50" grpId="0" bldLvl="0" animBg="1"/>
      <p:bldP spid="309251" grpId="0" bldLvl="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0274" name="前凸带形 310273"/>
          <p:cNvSpPr/>
          <p:nvPr/>
        </p:nvSpPr>
        <p:spPr>
          <a:xfrm>
            <a:off x="2424113" y="228600"/>
            <a:ext cx="7127875" cy="838200"/>
          </a:xfrm>
          <a:prstGeom prst="ribbon">
            <a:avLst>
              <a:gd name="adj1" fmla="val 10972"/>
              <a:gd name="adj2" fmla="val 63657"/>
            </a:avLst>
          </a:prstGeom>
          <a:gradFill rotWithShape="0">
            <a:gsLst>
              <a:gs pos="0">
                <a:srgbClr val="FFFF66"/>
              </a:gs>
              <a:gs pos="100000">
                <a:schemeClr val="bg1"/>
              </a:gs>
            </a:gsLst>
            <a:path path="rect">
              <a:fillToRect l="100000" b="100000"/>
            </a:path>
            <a:tileRect/>
          </a:gradFill>
          <a:ln w="9525" cap="flat" cmpd="sng">
            <a:solidFill>
              <a:schemeClr val="tx1"/>
            </a:solidFill>
            <a:prstDash val="solid"/>
            <a:headEnd type="none" w="med" len="med"/>
            <a:tailEnd type="none" w="med" len="med"/>
          </a:ln>
          <a:effectLst>
            <a:outerShdw dist="107763" dir="2699999" algn="ctr" rotWithShape="0">
              <a:schemeClr val="bg2"/>
            </a:outerShdw>
          </a:effectLst>
        </p:spPr>
        <p:txBody>
          <a:bodyPr wrap="none" anchor="ctr" anchorCtr="0"/>
          <a:p>
            <a:pPr algn="ctr"/>
            <a:r>
              <a:rPr lang="zh-CN" altLang="en-US" sz="3200" b="1" dirty="0">
                <a:latin typeface="Times New Roman" panose="02020603050405020304" charset="0"/>
                <a:ea typeface="黑体" panose="02010609060101010101" pitchFamily="2" charset="-122"/>
              </a:rPr>
              <a:t>臭氧层破坏的危害</a:t>
            </a:r>
            <a:endParaRPr lang="zh-CN" altLang="en-US" sz="3200" b="1" dirty="0">
              <a:latin typeface="Times New Roman" panose="02020603050405020304" charset="0"/>
              <a:ea typeface="黑体" panose="02010609060101010101" pitchFamily="2" charset="-122"/>
            </a:endParaRPr>
          </a:p>
        </p:txBody>
      </p:sp>
      <p:sp>
        <p:nvSpPr>
          <p:cNvPr id="310275" name="横卷形 310274"/>
          <p:cNvSpPr/>
          <p:nvPr/>
        </p:nvSpPr>
        <p:spPr>
          <a:xfrm>
            <a:off x="2209800" y="1447800"/>
            <a:ext cx="8062913" cy="1143000"/>
          </a:xfrm>
          <a:prstGeom prst="horizontalScroll">
            <a:avLst>
              <a:gd name="adj" fmla="val 21759"/>
            </a:avLst>
          </a:prstGeom>
          <a:gradFill rotWithShape="0">
            <a:gsLst>
              <a:gs pos="0">
                <a:srgbClr val="FFCC66"/>
              </a:gs>
              <a:gs pos="50000">
                <a:schemeClr val="bg1"/>
              </a:gs>
              <a:gs pos="100000">
                <a:srgbClr val="FFCC66"/>
              </a:gs>
            </a:gsLst>
            <a:lin ang="18900000" scaled="1"/>
            <a:tileRect/>
          </a:gradFill>
          <a:ln w="9525" cap="flat" cmpd="sng">
            <a:solidFill>
              <a:schemeClr val="tx1"/>
            </a:solidFill>
            <a:prstDash val="solid"/>
            <a:headEnd type="none" w="med" len="med"/>
            <a:tailEnd type="none" w="med" len="med"/>
          </a:ln>
        </p:spPr>
        <p:txBody>
          <a:bodyPr wrap="none" anchor="ctr" anchorCtr="0"/>
          <a:p>
            <a:r>
              <a:rPr lang="en-US" altLang="zh-CN" sz="2400" b="1" dirty="0">
                <a:latin typeface="Times New Roman" panose="02020603050405020304" charset="0"/>
                <a:ea typeface="楷体_GB2312" charset="-122"/>
              </a:rPr>
              <a:t>1</a:t>
            </a:r>
            <a:r>
              <a:rPr lang="zh-CN" altLang="en-US" sz="2400" b="1" dirty="0">
                <a:latin typeface="Times New Roman" panose="02020603050405020304" charset="0"/>
                <a:ea typeface="楷体_GB2312" charset="-122"/>
              </a:rPr>
              <a:t>、对人体健康的影响：破坏</a:t>
            </a:r>
            <a:r>
              <a:rPr lang="en-US" altLang="zh-CN" sz="2000" b="1">
                <a:latin typeface="Times New Roman" panose="02020603050405020304" charset="0"/>
                <a:ea typeface="楷体_GB2312" charset="-122"/>
              </a:rPr>
              <a:t>DNA</a:t>
            </a:r>
            <a:r>
              <a:rPr lang="zh-CN" altLang="en-US" sz="2400" b="1">
                <a:latin typeface="Times New Roman" panose="02020603050405020304" charset="0"/>
                <a:ea typeface="楷体_GB2312" charset="-122"/>
              </a:rPr>
              <a:t>，</a:t>
            </a:r>
            <a:r>
              <a:rPr lang="zh-CN" altLang="en-US" sz="2400" b="1" dirty="0">
                <a:latin typeface="Times New Roman" panose="02020603050405020304" charset="0"/>
                <a:ea typeface="楷体_GB2312" charset="-122"/>
              </a:rPr>
              <a:t>皮肤病，白内障等</a:t>
            </a:r>
            <a:endParaRPr lang="zh-CN" altLang="en-US" sz="2400" b="1" dirty="0">
              <a:latin typeface="Times New Roman" panose="02020603050405020304" charset="0"/>
              <a:ea typeface="楷体_GB2312" charset="-122"/>
            </a:endParaRPr>
          </a:p>
        </p:txBody>
      </p:sp>
      <p:sp>
        <p:nvSpPr>
          <p:cNvPr id="310276" name="横卷形 310275"/>
          <p:cNvSpPr/>
          <p:nvPr/>
        </p:nvSpPr>
        <p:spPr>
          <a:xfrm>
            <a:off x="2209800" y="2590800"/>
            <a:ext cx="8134350" cy="1143000"/>
          </a:xfrm>
          <a:prstGeom prst="horizontalScroll">
            <a:avLst>
              <a:gd name="adj" fmla="val 21759"/>
            </a:avLst>
          </a:prstGeom>
          <a:gradFill rotWithShape="0">
            <a:gsLst>
              <a:gs pos="0">
                <a:srgbClr val="FFCC66"/>
              </a:gs>
              <a:gs pos="50000">
                <a:schemeClr val="bg1"/>
              </a:gs>
              <a:gs pos="100000">
                <a:srgbClr val="FFCC66"/>
              </a:gs>
            </a:gsLst>
            <a:lin ang="18900000" scaled="1"/>
            <a:tileRect/>
          </a:gradFill>
          <a:ln w="9525" cap="flat" cmpd="sng">
            <a:solidFill>
              <a:schemeClr val="tx1"/>
            </a:solidFill>
            <a:prstDash val="solid"/>
            <a:headEnd type="none" w="med" len="med"/>
            <a:tailEnd type="none" w="med" len="med"/>
          </a:ln>
        </p:spPr>
        <p:txBody>
          <a:bodyPr wrap="none" anchor="ctr" anchorCtr="0"/>
          <a:p>
            <a:r>
              <a:rPr lang="en-US" altLang="zh-CN" sz="2400" b="1" dirty="0">
                <a:latin typeface="Times New Roman" panose="02020603050405020304" charset="0"/>
                <a:ea typeface="楷体_GB2312" charset="-122"/>
              </a:rPr>
              <a:t>2</a:t>
            </a:r>
            <a:r>
              <a:rPr lang="zh-CN" altLang="en-US" sz="2400" b="1" dirty="0">
                <a:latin typeface="Times New Roman" panose="02020603050405020304" charset="0"/>
                <a:ea typeface="楷体_GB2312" charset="-122"/>
              </a:rPr>
              <a:t>、对陆生植物的影响：产量和质量下降</a:t>
            </a:r>
            <a:r>
              <a:rPr lang="zh-CN" altLang="en-US" sz="2400" b="1">
                <a:latin typeface="Times New Roman" panose="02020603050405020304" charset="0"/>
                <a:ea typeface="楷体_GB2312" charset="-122"/>
              </a:rPr>
              <a:t>，</a:t>
            </a:r>
            <a:r>
              <a:rPr lang="zh-CN" altLang="en-US" sz="2400" b="1" dirty="0">
                <a:latin typeface="Times New Roman" panose="02020603050405020304" charset="0"/>
                <a:ea typeface="楷体_GB2312" charset="-122"/>
              </a:rPr>
              <a:t>间接影响</a:t>
            </a:r>
            <a:endParaRPr lang="zh-CN" altLang="en-US" sz="2400" b="1" dirty="0">
              <a:latin typeface="Times New Roman" panose="02020603050405020304" charset="0"/>
              <a:ea typeface="楷体_GB2312" charset="-122"/>
            </a:endParaRPr>
          </a:p>
        </p:txBody>
      </p:sp>
      <p:sp>
        <p:nvSpPr>
          <p:cNvPr id="310277" name="横卷形 310276"/>
          <p:cNvSpPr/>
          <p:nvPr/>
        </p:nvSpPr>
        <p:spPr>
          <a:xfrm>
            <a:off x="2209800" y="3810000"/>
            <a:ext cx="8134350" cy="1219200"/>
          </a:xfrm>
          <a:prstGeom prst="horizontalScroll">
            <a:avLst>
              <a:gd name="adj" fmla="val 21759"/>
            </a:avLst>
          </a:prstGeom>
          <a:gradFill rotWithShape="0">
            <a:gsLst>
              <a:gs pos="0">
                <a:srgbClr val="FFCC66"/>
              </a:gs>
              <a:gs pos="50000">
                <a:schemeClr val="bg1"/>
              </a:gs>
              <a:gs pos="100000">
                <a:srgbClr val="FFCC66"/>
              </a:gs>
            </a:gsLst>
            <a:lin ang="18900000" scaled="1"/>
            <a:tileRect/>
          </a:gradFill>
          <a:ln w="9525" cap="flat" cmpd="sng">
            <a:solidFill>
              <a:schemeClr val="tx1"/>
            </a:solidFill>
            <a:prstDash val="solid"/>
            <a:headEnd type="none" w="med" len="med"/>
            <a:tailEnd type="none" w="med" len="med"/>
          </a:ln>
        </p:spPr>
        <p:txBody>
          <a:bodyPr wrap="none" anchor="ctr" anchorCtr="0"/>
          <a:p>
            <a:r>
              <a:rPr lang="en-US" altLang="zh-CN" sz="2400" b="1" dirty="0">
                <a:latin typeface="Times New Roman" panose="02020603050405020304" charset="0"/>
                <a:ea typeface="楷体_GB2312" charset="-122"/>
              </a:rPr>
              <a:t>3</a:t>
            </a:r>
            <a:r>
              <a:rPr lang="zh-CN" altLang="en-US" sz="2400" b="1" dirty="0">
                <a:latin typeface="Times New Roman" panose="02020603050405020304" charset="0"/>
                <a:ea typeface="楷体_GB2312" charset="-122"/>
              </a:rPr>
              <a:t>、对材料的影响：加速老化</a:t>
            </a:r>
            <a:endParaRPr lang="zh-CN" altLang="en-US" sz="2400" b="1" dirty="0">
              <a:latin typeface="Times New Roman" panose="02020603050405020304" charset="0"/>
              <a:ea typeface="楷体_GB2312" charset="-122"/>
            </a:endParaRPr>
          </a:p>
        </p:txBody>
      </p:sp>
      <p:sp>
        <p:nvSpPr>
          <p:cNvPr id="310278" name="横卷形 310277"/>
          <p:cNvSpPr/>
          <p:nvPr/>
        </p:nvSpPr>
        <p:spPr>
          <a:xfrm>
            <a:off x="2209800" y="5029200"/>
            <a:ext cx="8207375" cy="1295400"/>
          </a:xfrm>
          <a:prstGeom prst="horizontalScroll">
            <a:avLst>
              <a:gd name="adj" fmla="val 21759"/>
            </a:avLst>
          </a:prstGeom>
          <a:gradFill rotWithShape="0">
            <a:gsLst>
              <a:gs pos="0">
                <a:srgbClr val="FFCC66"/>
              </a:gs>
              <a:gs pos="50000">
                <a:schemeClr val="bg1"/>
              </a:gs>
              <a:gs pos="100000">
                <a:srgbClr val="FFCC66"/>
              </a:gs>
            </a:gsLst>
            <a:lin ang="18900000" scaled="1"/>
            <a:tileRect/>
          </a:gradFill>
          <a:ln w="9525" cap="flat" cmpd="sng">
            <a:solidFill>
              <a:schemeClr val="tx1"/>
            </a:solidFill>
            <a:prstDash val="solid"/>
            <a:headEnd type="none" w="med" len="med"/>
            <a:tailEnd type="none" w="med" len="med"/>
          </a:ln>
        </p:spPr>
        <p:txBody>
          <a:bodyPr wrap="none" anchor="ctr" anchorCtr="0"/>
          <a:p>
            <a:r>
              <a:rPr lang="en-US" altLang="zh-CN" sz="2400" b="1" dirty="0">
                <a:latin typeface="Times New Roman" panose="02020603050405020304" charset="0"/>
                <a:ea typeface="楷体_GB2312" charset="-122"/>
              </a:rPr>
              <a:t>4</a:t>
            </a:r>
            <a:r>
              <a:rPr lang="zh-CN" altLang="en-US" sz="2400" b="1" dirty="0">
                <a:latin typeface="Times New Roman" panose="02020603050405020304" charset="0"/>
                <a:ea typeface="楷体_GB2312" charset="-122"/>
              </a:rPr>
              <a:t>、对水生生态系统的影响：降低生产力，影响幼体</a:t>
            </a:r>
            <a:endParaRPr lang="zh-CN" altLang="en-US" sz="2400" b="1" dirty="0">
              <a:latin typeface="Times New Roman" panose="02020603050405020304" charset="0"/>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10274"/>
                                        </p:tgtEl>
                                        <p:attrNameLst>
                                          <p:attrName>style.visibility</p:attrName>
                                        </p:attrNameLst>
                                      </p:cBhvr>
                                      <p:to>
                                        <p:strVal val="visible"/>
                                      </p:to>
                                    </p:set>
                                    <p:animEffect transition="in" filter="blinds(horizontal)">
                                      <p:cBhvr>
                                        <p:cTn id="7" dur="500"/>
                                        <p:tgtEl>
                                          <p:spTgt spid="31027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10275"/>
                                        </p:tgtEl>
                                        <p:attrNameLst>
                                          <p:attrName>style.visibility</p:attrName>
                                        </p:attrNameLst>
                                      </p:cBhvr>
                                      <p:to>
                                        <p:strVal val="visible"/>
                                      </p:to>
                                    </p:set>
                                    <p:animEffect transition="in" filter="box(in)">
                                      <p:cBhvr>
                                        <p:cTn id="12" dur="500"/>
                                        <p:tgtEl>
                                          <p:spTgt spid="31027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310276"/>
                                        </p:tgtEl>
                                        <p:attrNameLst>
                                          <p:attrName>style.visibility</p:attrName>
                                        </p:attrNameLst>
                                      </p:cBhvr>
                                      <p:to>
                                        <p:strVal val="visible"/>
                                      </p:to>
                                    </p:set>
                                    <p:anim calcmode="lin" valueType="num">
                                      <p:cBhvr>
                                        <p:cTn id="17" dur="500" fill="hold"/>
                                        <p:tgtEl>
                                          <p:spTgt spid="310276"/>
                                        </p:tgtEl>
                                        <p:attrNameLst>
                                          <p:attrName>ppt_w</p:attrName>
                                        </p:attrNameLst>
                                      </p:cBhvr>
                                      <p:tavLst>
                                        <p:tav tm="0">
                                          <p:val>
                                            <p:fltVal val="0.000000"/>
                                          </p:val>
                                        </p:tav>
                                        <p:tav tm="100000">
                                          <p:val>
                                            <p:strVal val="#ppt_w"/>
                                          </p:val>
                                        </p:tav>
                                      </p:tavLst>
                                    </p:anim>
                                    <p:anim calcmode="lin" valueType="num">
                                      <p:cBhvr>
                                        <p:cTn id="18" dur="500" fill="hold"/>
                                        <p:tgtEl>
                                          <p:spTgt spid="310276"/>
                                        </p:tgtEl>
                                        <p:attrNameLst>
                                          <p:attrName>ppt_h</p:attrName>
                                        </p:attrNameLst>
                                      </p:cBhvr>
                                      <p:tavLst>
                                        <p:tav tm="0">
                                          <p:val>
                                            <p:fltVal val="0.00000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3" presetClass="entr" presetSubtype="32" fill="hold" grpId="0" nodeType="clickEffect">
                                  <p:stCondLst>
                                    <p:cond delay="0"/>
                                  </p:stCondLst>
                                  <p:childTnLst>
                                    <p:set>
                                      <p:cBhvr>
                                        <p:cTn id="22" dur="1" fill="hold">
                                          <p:stCondLst>
                                            <p:cond delay="0"/>
                                          </p:stCondLst>
                                        </p:cTn>
                                        <p:tgtEl>
                                          <p:spTgt spid="310277"/>
                                        </p:tgtEl>
                                        <p:attrNameLst>
                                          <p:attrName>style.visibility</p:attrName>
                                        </p:attrNameLst>
                                      </p:cBhvr>
                                      <p:to>
                                        <p:strVal val="visible"/>
                                      </p:to>
                                    </p:set>
                                    <p:anim calcmode="lin" valueType="num">
                                      <p:cBhvr>
                                        <p:cTn id="23" dur="500" fill="hold"/>
                                        <p:tgtEl>
                                          <p:spTgt spid="310277"/>
                                        </p:tgtEl>
                                        <p:attrNameLst>
                                          <p:attrName>ppt_w</p:attrName>
                                        </p:attrNameLst>
                                      </p:cBhvr>
                                      <p:tavLst>
                                        <p:tav tm="0">
                                          <p:val>
                                            <p:strVal val="4*#ppt_w"/>
                                          </p:val>
                                        </p:tav>
                                        <p:tav tm="100000">
                                          <p:val>
                                            <p:strVal val="#ppt_w"/>
                                          </p:val>
                                        </p:tav>
                                      </p:tavLst>
                                    </p:anim>
                                    <p:anim calcmode="lin" valueType="num">
                                      <p:cBhvr>
                                        <p:cTn id="24" dur="500" fill="hold"/>
                                        <p:tgtEl>
                                          <p:spTgt spid="310277"/>
                                        </p:tgtEl>
                                        <p:attrNameLst>
                                          <p:attrName>ppt_h</p:attrName>
                                        </p:attrNameLst>
                                      </p:cBhvr>
                                      <p:tavLst>
                                        <p:tav tm="0">
                                          <p:val>
                                            <p:strVal val="4*#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grpId="0" nodeType="clickEffect">
                                  <p:stCondLst>
                                    <p:cond delay="0"/>
                                  </p:stCondLst>
                                  <p:childTnLst>
                                    <p:set>
                                      <p:cBhvr>
                                        <p:cTn id="28" dur="1" fill="hold">
                                          <p:stCondLst>
                                            <p:cond delay="0"/>
                                          </p:stCondLst>
                                        </p:cTn>
                                        <p:tgtEl>
                                          <p:spTgt spid="310278"/>
                                        </p:tgtEl>
                                        <p:attrNameLst>
                                          <p:attrName>style.visibility</p:attrName>
                                        </p:attrNameLst>
                                      </p:cBhvr>
                                      <p:to>
                                        <p:strVal val="visible"/>
                                      </p:to>
                                    </p:set>
                                    <p:anim calcmode="lin" valueType="num">
                                      <p:cBhvr>
                                        <p:cTn id="29" dur="500" fill="hold"/>
                                        <p:tgtEl>
                                          <p:spTgt spid="310278"/>
                                        </p:tgtEl>
                                        <p:attrNameLst>
                                          <p:attrName>ppt_w</p:attrName>
                                        </p:attrNameLst>
                                      </p:cBhvr>
                                      <p:tavLst>
                                        <p:tav tm="0">
                                          <p:val>
                                            <p:fltVal val="0.000000"/>
                                          </p:val>
                                        </p:tav>
                                        <p:tav tm="100000">
                                          <p:val>
                                            <p:strVal val="#ppt_w"/>
                                          </p:val>
                                        </p:tav>
                                      </p:tavLst>
                                    </p:anim>
                                    <p:anim calcmode="lin" valueType="num">
                                      <p:cBhvr>
                                        <p:cTn id="30" dur="500" fill="hold"/>
                                        <p:tgtEl>
                                          <p:spTgt spid="31027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4" grpId="0" bldLvl="0" animBg="1"/>
      <p:bldP spid="310275" grpId="0" bldLvl="0" animBg="1"/>
      <p:bldP spid="310276" grpId="0" bldLvl="0" animBg="1"/>
      <p:bldP spid="310277" grpId="0" bldLvl="0" animBg="1"/>
      <p:bldP spid="310278" grpId="0" bldLvl="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1298" name="棱台 311297"/>
          <p:cNvSpPr/>
          <p:nvPr/>
        </p:nvSpPr>
        <p:spPr>
          <a:xfrm>
            <a:off x="2057400" y="1905000"/>
            <a:ext cx="7848600" cy="4343400"/>
          </a:xfrm>
          <a:prstGeom prst="bevel">
            <a:avLst>
              <a:gd name="adj" fmla="val 2583"/>
            </a:avLst>
          </a:prstGeom>
          <a:gradFill rotWithShape="0">
            <a:gsLst>
              <a:gs pos="0">
                <a:srgbClr val="FFCC66"/>
              </a:gs>
              <a:gs pos="50000">
                <a:schemeClr val="bg1"/>
              </a:gs>
              <a:gs pos="100000">
                <a:srgbClr val="FFCC66"/>
              </a:gs>
            </a:gsLst>
            <a:lin ang="2700000" scaled="1"/>
            <a:tileRect/>
          </a:gradFill>
          <a:ln w="9525" cap="flat" cmpd="sng">
            <a:solidFill>
              <a:srgbClr val="FF6699"/>
            </a:solidFill>
            <a:prstDash val="solid"/>
            <a:miter/>
            <a:headEnd type="none" w="med" len="med"/>
            <a:tailEnd type="none" w="med" len="med"/>
          </a:ln>
        </p:spPr>
        <p:txBody>
          <a:bodyPr wrap="none" anchor="ctr" anchorCtr="0"/>
          <a:p>
            <a:pPr>
              <a:lnSpc>
                <a:spcPct val="120000"/>
              </a:lnSpc>
            </a:pPr>
            <a:r>
              <a:rPr lang="zh-CN" altLang="en-US" sz="2400" b="1" dirty="0">
                <a:solidFill>
                  <a:srgbClr val="660066"/>
                </a:solidFill>
                <a:latin typeface="Times New Roman" panose="02020603050405020304" charset="0"/>
                <a:ea typeface="楷体_GB2312" charset="-122"/>
              </a:rPr>
              <a:t>主要是控制</a:t>
            </a:r>
            <a:r>
              <a:rPr lang="en-US" altLang="zh-CN" sz="2000" b="1">
                <a:solidFill>
                  <a:srgbClr val="660066"/>
                </a:solidFill>
                <a:latin typeface="Times New Roman" panose="02020603050405020304" charset="0"/>
                <a:ea typeface="楷体_GB2312" charset="-122"/>
              </a:rPr>
              <a:t>CFC</a:t>
            </a:r>
            <a:r>
              <a:rPr lang="en-US" altLang="zh-CN" sz="2000" b="1" baseline="-25000">
                <a:solidFill>
                  <a:srgbClr val="660066"/>
                </a:solidFill>
                <a:latin typeface="Times New Roman" panose="02020603050405020304" charset="0"/>
                <a:ea typeface="楷体_GB2312" charset="-122"/>
              </a:rPr>
              <a:t>S</a:t>
            </a:r>
            <a:r>
              <a:rPr lang="zh-CN" altLang="en-US" sz="2400" b="1" dirty="0">
                <a:solidFill>
                  <a:srgbClr val="660066"/>
                </a:solidFill>
                <a:latin typeface="Times New Roman" panose="02020603050405020304" charset="0"/>
                <a:ea typeface="楷体_GB2312" charset="-122"/>
              </a:rPr>
              <a:t>的使用。</a:t>
            </a:r>
            <a:endParaRPr lang="zh-CN" altLang="en-US" sz="2400" b="1" dirty="0">
              <a:solidFill>
                <a:srgbClr val="660066"/>
              </a:solidFill>
              <a:latin typeface="Times New Roman" panose="02020603050405020304" charset="0"/>
              <a:ea typeface="楷体_GB2312" charset="-122"/>
            </a:endParaRPr>
          </a:p>
          <a:p>
            <a:pPr>
              <a:lnSpc>
                <a:spcPct val="120000"/>
              </a:lnSpc>
            </a:pPr>
            <a:endParaRPr lang="zh-CN" altLang="en-US" sz="2400" b="1" dirty="0">
              <a:solidFill>
                <a:srgbClr val="0000CC"/>
              </a:solidFill>
              <a:latin typeface="Times New Roman" panose="02020603050405020304" charset="0"/>
              <a:ea typeface="楷体_GB2312" charset="-122"/>
            </a:endParaRPr>
          </a:p>
          <a:p>
            <a:pPr>
              <a:lnSpc>
                <a:spcPct val="120000"/>
              </a:lnSpc>
            </a:pPr>
            <a:r>
              <a:rPr lang="zh-CN" altLang="en-US" sz="2400" b="1" dirty="0">
                <a:solidFill>
                  <a:srgbClr val="0000CC"/>
                </a:solidFill>
                <a:latin typeface="Times New Roman" panose="02020603050405020304" charset="0"/>
                <a:ea typeface="楷体_GB2312" charset="-122"/>
              </a:rPr>
              <a:t>目前各国都在加紧替代物品的开发，从长远看，采用</a:t>
            </a:r>
            <a:endParaRPr lang="zh-CN" altLang="en-US" sz="2400" b="1" dirty="0">
              <a:solidFill>
                <a:srgbClr val="0000CC"/>
              </a:solidFill>
              <a:latin typeface="Times New Roman" panose="02020603050405020304" charset="0"/>
              <a:ea typeface="楷体_GB2312" charset="-122"/>
            </a:endParaRPr>
          </a:p>
          <a:p>
            <a:pPr>
              <a:lnSpc>
                <a:spcPct val="120000"/>
              </a:lnSpc>
            </a:pPr>
            <a:r>
              <a:rPr lang="zh-CN" altLang="en-US" sz="2400" b="1" dirty="0">
                <a:solidFill>
                  <a:srgbClr val="0000CC"/>
                </a:solidFill>
                <a:latin typeface="Times New Roman" panose="02020603050405020304" charset="0"/>
                <a:ea typeface="楷体_GB2312" charset="-122"/>
              </a:rPr>
              <a:t>生物圈中固有的、对环境不起任何破坏作用的物质</a:t>
            </a:r>
            <a:endParaRPr lang="zh-CN" altLang="en-US" sz="2400" b="1" dirty="0">
              <a:solidFill>
                <a:srgbClr val="0000CC"/>
              </a:solidFill>
              <a:latin typeface="Times New Roman" panose="02020603050405020304" charset="0"/>
              <a:ea typeface="楷体_GB2312" charset="-122"/>
            </a:endParaRPr>
          </a:p>
          <a:p>
            <a:pPr>
              <a:lnSpc>
                <a:spcPct val="120000"/>
              </a:lnSpc>
            </a:pPr>
            <a:r>
              <a:rPr lang="zh-CN" altLang="en-US" sz="2400" b="1" dirty="0">
                <a:solidFill>
                  <a:srgbClr val="0000CC"/>
                </a:solidFill>
                <a:latin typeface="Times New Roman" panose="02020603050405020304" charset="0"/>
                <a:ea typeface="楷体_GB2312" charset="-122"/>
              </a:rPr>
              <a:t>是制冷剂发展的方向。</a:t>
            </a:r>
            <a:endParaRPr lang="zh-CN" altLang="en-US" sz="2400" b="1" dirty="0">
              <a:solidFill>
                <a:srgbClr val="0000CC"/>
              </a:solidFill>
              <a:latin typeface="Times New Roman" panose="02020603050405020304" charset="0"/>
              <a:ea typeface="楷体_GB2312" charset="-122"/>
            </a:endParaRPr>
          </a:p>
          <a:p>
            <a:pPr>
              <a:lnSpc>
                <a:spcPct val="120000"/>
              </a:lnSpc>
            </a:pPr>
            <a:endParaRPr lang="zh-CN" altLang="en-US" sz="2400" b="1" dirty="0">
              <a:solidFill>
                <a:srgbClr val="0000CC"/>
              </a:solidFill>
              <a:latin typeface="Times New Roman" panose="02020603050405020304" charset="0"/>
              <a:ea typeface="楷体_GB2312" charset="-122"/>
            </a:endParaRPr>
          </a:p>
          <a:p>
            <a:pPr>
              <a:lnSpc>
                <a:spcPct val="120000"/>
              </a:lnSpc>
            </a:pPr>
            <a:r>
              <a:rPr lang="en-US" altLang="zh-CN" sz="2400" b="1" dirty="0">
                <a:solidFill>
                  <a:srgbClr val="0000CC"/>
                </a:solidFill>
                <a:latin typeface="Times New Roman" panose="02020603050405020304" charset="0"/>
                <a:ea typeface="楷体_GB2312" charset="-122"/>
              </a:rPr>
              <a:t>1985</a:t>
            </a:r>
            <a:r>
              <a:rPr lang="zh-CN" altLang="en-US" sz="2400" b="1" dirty="0">
                <a:solidFill>
                  <a:srgbClr val="0000CC"/>
                </a:solidFill>
                <a:latin typeface="Times New Roman" panose="02020603050405020304" charset="0"/>
                <a:ea typeface="楷体_GB2312" charset="-122"/>
              </a:rPr>
              <a:t>年</a:t>
            </a:r>
            <a:r>
              <a:rPr lang="en-US" altLang="zh-CN" sz="2400" b="1" dirty="0">
                <a:solidFill>
                  <a:srgbClr val="0000CC"/>
                </a:solidFill>
                <a:latin typeface="Times New Roman" panose="02020603050405020304" charset="0"/>
                <a:ea typeface="楷体_GB2312" charset="-122"/>
              </a:rPr>
              <a:t>《</a:t>
            </a:r>
            <a:r>
              <a:rPr lang="zh-CN" altLang="en-US" sz="2400" b="1" dirty="0">
                <a:solidFill>
                  <a:srgbClr val="0000CC"/>
                </a:solidFill>
                <a:latin typeface="Times New Roman" panose="02020603050405020304" charset="0"/>
                <a:ea typeface="楷体_GB2312" charset="-122"/>
              </a:rPr>
              <a:t>保护臭氧层维也纳公约</a:t>
            </a:r>
            <a:r>
              <a:rPr lang="en-US" altLang="zh-CN" sz="2400" b="1" dirty="0">
                <a:solidFill>
                  <a:srgbClr val="0000CC"/>
                </a:solidFill>
                <a:latin typeface="Times New Roman" panose="02020603050405020304" charset="0"/>
                <a:ea typeface="楷体_GB2312" charset="-122"/>
              </a:rPr>
              <a:t>》</a:t>
            </a:r>
            <a:endParaRPr lang="en-US" altLang="zh-CN" sz="2400" b="1" dirty="0">
              <a:solidFill>
                <a:srgbClr val="0000CC"/>
              </a:solidFill>
              <a:latin typeface="Times New Roman" panose="02020603050405020304" charset="0"/>
              <a:ea typeface="楷体_GB2312" charset="-122"/>
            </a:endParaRPr>
          </a:p>
          <a:p>
            <a:pPr>
              <a:lnSpc>
                <a:spcPct val="120000"/>
              </a:lnSpc>
            </a:pPr>
            <a:r>
              <a:rPr lang="en-US" altLang="zh-CN" sz="2400" b="1" dirty="0">
                <a:solidFill>
                  <a:srgbClr val="0000CC"/>
                </a:solidFill>
                <a:latin typeface="Times New Roman" panose="02020603050405020304" charset="0"/>
                <a:ea typeface="楷体_GB2312" charset="-122"/>
              </a:rPr>
              <a:t>1987</a:t>
            </a:r>
            <a:r>
              <a:rPr lang="zh-CN" altLang="en-US" sz="2400" b="1" dirty="0">
                <a:solidFill>
                  <a:srgbClr val="0000CC"/>
                </a:solidFill>
                <a:latin typeface="Times New Roman" panose="02020603050405020304" charset="0"/>
                <a:ea typeface="楷体_GB2312" charset="-122"/>
              </a:rPr>
              <a:t>年</a:t>
            </a:r>
            <a:r>
              <a:rPr lang="en-US" altLang="zh-CN" sz="2400" b="1" dirty="0">
                <a:solidFill>
                  <a:srgbClr val="0000CC"/>
                </a:solidFill>
                <a:latin typeface="Times New Roman" panose="02020603050405020304" charset="0"/>
                <a:ea typeface="楷体_GB2312" charset="-122"/>
              </a:rPr>
              <a:t>《</a:t>
            </a:r>
            <a:r>
              <a:rPr lang="zh-CN" altLang="en-US" sz="2400" b="1" dirty="0">
                <a:solidFill>
                  <a:srgbClr val="0000CC"/>
                </a:solidFill>
                <a:latin typeface="Times New Roman" panose="02020603050405020304" charset="0"/>
                <a:ea typeface="楷体_GB2312" charset="-122"/>
              </a:rPr>
              <a:t>关于消耗臭氧层物质的蒙特利尔议定书</a:t>
            </a:r>
            <a:r>
              <a:rPr lang="en-US" altLang="zh-CN" sz="2400" b="1" dirty="0">
                <a:solidFill>
                  <a:srgbClr val="0000CC"/>
                </a:solidFill>
                <a:latin typeface="Times New Roman" panose="02020603050405020304" charset="0"/>
                <a:ea typeface="楷体_GB2312" charset="-122"/>
              </a:rPr>
              <a:t>》</a:t>
            </a:r>
            <a:endParaRPr lang="en-US" altLang="zh-CN" sz="2400" b="1" dirty="0">
              <a:solidFill>
                <a:srgbClr val="0000CC"/>
              </a:solidFill>
              <a:latin typeface="Times New Roman" panose="02020603050405020304" charset="0"/>
              <a:ea typeface="楷体_GB2312" charset="-122"/>
            </a:endParaRPr>
          </a:p>
          <a:p>
            <a:pPr>
              <a:lnSpc>
                <a:spcPct val="120000"/>
              </a:lnSpc>
            </a:pPr>
            <a:r>
              <a:rPr lang="en-US" altLang="zh-CN" sz="2400" b="1" dirty="0">
                <a:solidFill>
                  <a:srgbClr val="0000CC"/>
                </a:solidFill>
                <a:latin typeface="Times New Roman" panose="02020603050405020304" charset="0"/>
                <a:ea typeface="楷体_GB2312" charset="-122"/>
              </a:rPr>
              <a:t>1999</a:t>
            </a:r>
            <a:r>
              <a:rPr lang="zh-CN" altLang="en-US" sz="2400" b="1" dirty="0">
                <a:solidFill>
                  <a:srgbClr val="0000CC"/>
                </a:solidFill>
                <a:latin typeface="Times New Roman" panose="02020603050405020304" charset="0"/>
                <a:ea typeface="楷体_GB2312" charset="-122"/>
              </a:rPr>
              <a:t>年</a:t>
            </a:r>
            <a:r>
              <a:rPr lang="en-US" altLang="zh-CN" sz="2400" b="1" dirty="0">
                <a:solidFill>
                  <a:srgbClr val="0000CC"/>
                </a:solidFill>
                <a:latin typeface="Times New Roman" panose="02020603050405020304" charset="0"/>
                <a:ea typeface="楷体_GB2312" charset="-122"/>
              </a:rPr>
              <a:t>11</a:t>
            </a:r>
            <a:r>
              <a:rPr lang="zh-CN" altLang="en-US" sz="2400" b="1" dirty="0">
                <a:solidFill>
                  <a:srgbClr val="0000CC"/>
                </a:solidFill>
                <a:latin typeface="Times New Roman" panose="02020603050405020304" charset="0"/>
                <a:ea typeface="楷体_GB2312" charset="-122"/>
              </a:rPr>
              <a:t>月</a:t>
            </a:r>
            <a:r>
              <a:rPr lang="en-US" altLang="zh-CN" sz="2400" b="1" dirty="0">
                <a:solidFill>
                  <a:srgbClr val="0000CC"/>
                </a:solidFill>
                <a:latin typeface="Times New Roman" panose="02020603050405020304" charset="0"/>
                <a:ea typeface="楷体_GB2312" charset="-122"/>
              </a:rPr>
              <a:t>29</a:t>
            </a:r>
            <a:r>
              <a:rPr lang="zh-CN" altLang="en-US" sz="2400" b="1" dirty="0">
                <a:solidFill>
                  <a:srgbClr val="0000CC"/>
                </a:solidFill>
                <a:latin typeface="Times New Roman" panose="02020603050405020304" charset="0"/>
                <a:ea typeface="楷体_GB2312" charset="-122"/>
              </a:rPr>
              <a:t>日</a:t>
            </a:r>
            <a:r>
              <a:rPr lang="en-US" altLang="zh-CN" sz="2400" b="1" dirty="0">
                <a:solidFill>
                  <a:srgbClr val="0000CC"/>
                </a:solidFill>
                <a:latin typeface="Times New Roman" panose="02020603050405020304" charset="0"/>
                <a:ea typeface="楷体_GB2312" charset="-122"/>
              </a:rPr>
              <a:t>《</a:t>
            </a:r>
            <a:r>
              <a:rPr lang="zh-CN" altLang="en-US" sz="2400" b="1" dirty="0">
                <a:solidFill>
                  <a:srgbClr val="0000CC"/>
                </a:solidFill>
                <a:latin typeface="Times New Roman" panose="02020603050405020304" charset="0"/>
                <a:ea typeface="楷体_GB2312" charset="-122"/>
              </a:rPr>
              <a:t>北京宣言</a:t>
            </a:r>
            <a:r>
              <a:rPr lang="en-US" altLang="zh-CN" sz="2400" b="1" dirty="0">
                <a:solidFill>
                  <a:srgbClr val="0000CC"/>
                </a:solidFill>
                <a:latin typeface="Times New Roman" panose="02020603050405020304" charset="0"/>
                <a:ea typeface="楷体_GB2312" charset="-122"/>
              </a:rPr>
              <a:t>》</a:t>
            </a:r>
            <a:endParaRPr lang="en-US" altLang="zh-CN" sz="2400" b="1" dirty="0">
              <a:solidFill>
                <a:srgbClr val="0000CC"/>
              </a:solidFill>
              <a:latin typeface="Times New Roman" panose="02020603050405020304" charset="0"/>
              <a:ea typeface="楷体_GB2312" charset="-122"/>
            </a:endParaRPr>
          </a:p>
        </p:txBody>
      </p:sp>
      <p:sp>
        <p:nvSpPr>
          <p:cNvPr id="311299" name="横卷形 311298"/>
          <p:cNvSpPr/>
          <p:nvPr/>
        </p:nvSpPr>
        <p:spPr>
          <a:xfrm>
            <a:off x="4114800" y="381000"/>
            <a:ext cx="3886200" cy="1066800"/>
          </a:xfrm>
          <a:prstGeom prst="horizontalScroll">
            <a:avLst>
              <a:gd name="adj" fmla="val 12500"/>
            </a:avLst>
          </a:prstGeom>
          <a:gradFill rotWithShape="0">
            <a:gsLst>
              <a:gs pos="0">
                <a:schemeClr val="accent1"/>
              </a:gs>
              <a:gs pos="100000">
                <a:schemeClr val="bg1"/>
              </a:gs>
            </a:gsLst>
            <a:lin ang="5400000" scaled="1"/>
            <a:tileRect/>
          </a:gradFill>
          <a:ln w="9525" cap="flat" cmpd="sng">
            <a:solidFill>
              <a:schemeClr val="tx1"/>
            </a:solidFill>
            <a:prstDash val="solid"/>
            <a:headEnd type="none" w="med" len="med"/>
            <a:tailEnd type="none" w="med" len="med"/>
          </a:ln>
          <a:effectLst>
            <a:prstShdw prst="shdw13" dist="53882" dir="13499999">
              <a:schemeClr val="bg2"/>
            </a:prstShdw>
          </a:effectLst>
        </p:spPr>
        <p:txBody>
          <a:bodyPr wrap="none" anchor="ctr" anchorCtr="0"/>
          <a:p>
            <a:pPr algn="ctr"/>
            <a:r>
              <a:rPr lang="zh-CN" altLang="en-US" sz="3200" b="1" dirty="0">
                <a:latin typeface="Times New Roman" panose="02020603050405020304" charset="0"/>
                <a:ea typeface="黑体" panose="02010609060101010101" pitchFamily="2" charset="-122"/>
              </a:rPr>
              <a:t>臭氧层的保护</a:t>
            </a:r>
            <a:endParaRPr lang="zh-CN" altLang="en-US" sz="3200" baseline="30000" dirty="0">
              <a:latin typeface="Times New Roman" panose="02020603050405020304" charset="0"/>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311299"/>
                                        </p:tgtEl>
                                        <p:attrNameLst>
                                          <p:attrName>style.visibility</p:attrName>
                                        </p:attrNameLst>
                                      </p:cBhvr>
                                      <p:to>
                                        <p:strVal val="visible"/>
                                      </p:to>
                                    </p:set>
                                    <p:animEffect transition="in" filter="box(in)">
                                      <p:cBhvr>
                                        <p:cTn id="7" dur="500"/>
                                        <p:tgtEl>
                                          <p:spTgt spid="31129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311298"/>
                                        </p:tgtEl>
                                        <p:attrNameLst>
                                          <p:attrName>style.visibility</p:attrName>
                                        </p:attrNameLst>
                                      </p:cBhvr>
                                      <p:to>
                                        <p:strVal val="visible"/>
                                      </p:to>
                                    </p:set>
                                    <p:animEffect transition="in" filter="strips(downLeft)">
                                      <p:cBhvr>
                                        <p:cTn id="12" dur="500"/>
                                        <p:tgtEl>
                                          <p:spTgt spid="311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1298" grpId="0" bldLvl="0" animBg="1"/>
      <p:bldP spid="311299" grpId="0" bldLvl="0" animBg="1"/>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13346" name="组合 313345"/>
          <p:cNvGrpSpPr/>
          <p:nvPr/>
        </p:nvGrpSpPr>
        <p:grpSpPr>
          <a:xfrm>
            <a:off x="2590800" y="228600"/>
            <a:ext cx="3276600" cy="762000"/>
            <a:chOff x="1584" y="1728"/>
            <a:chExt cx="2064" cy="480"/>
          </a:xfrm>
        </p:grpSpPr>
        <p:sp>
          <p:nvSpPr>
            <p:cNvPr id="313347" name="椭圆 313346"/>
            <p:cNvSpPr/>
            <p:nvPr/>
          </p:nvSpPr>
          <p:spPr>
            <a:xfrm>
              <a:off x="1584" y="1728"/>
              <a:ext cx="2064" cy="480"/>
            </a:xfrm>
            <a:prstGeom prst="ellipse">
              <a:avLst/>
            </a:prstGeom>
            <a:solidFill>
              <a:schemeClr val="accent1">
                <a:alpha val="50000"/>
              </a:schemeClr>
            </a:solidFill>
            <a:ln w="9525" cap="flat" cmpd="sng">
              <a:solidFill>
                <a:schemeClr val="tx1"/>
              </a:solidFill>
              <a:prstDash val="solid"/>
              <a:headEnd type="none" w="med" len="med"/>
              <a:tailEnd type="none" w="med" len="med"/>
            </a:ln>
          </p:spPr>
          <p:txBody>
            <a:bodyPr/>
            <a:p>
              <a:endParaRPr lang="zh-CN" altLang="en-US"/>
            </a:p>
          </p:txBody>
        </p:sp>
        <p:sp>
          <p:nvSpPr>
            <p:cNvPr id="313348" name="矩形 313347"/>
            <p:cNvSpPr/>
            <p:nvPr/>
          </p:nvSpPr>
          <p:spPr>
            <a:xfrm>
              <a:off x="2016" y="1794"/>
              <a:ext cx="1243" cy="406"/>
            </a:xfrm>
            <a:prstGeom prst="rect">
              <a:avLst/>
            </a:prstGeom>
            <a:noFill/>
            <a:ln w="9525">
              <a:noFill/>
            </a:ln>
          </p:spPr>
          <p:txBody>
            <a:bodyPr wrap="none" anchor="t" anchorCtr="0">
              <a:spAutoFit/>
            </a:bodyPr>
            <a:p>
              <a:pPr>
                <a:spcBef>
                  <a:spcPct val="20000"/>
                </a:spcBef>
              </a:pPr>
              <a:r>
                <a:rPr lang="en-US" altLang="zh-CN" sz="3600" b="1" dirty="0">
                  <a:solidFill>
                    <a:srgbClr val="660066"/>
                  </a:solidFill>
                  <a:latin typeface="Times New Roman" panose="02020603050405020304" charset="0"/>
                </a:rPr>
                <a:t>(</a:t>
              </a:r>
              <a:r>
                <a:rPr lang="zh-CN" altLang="en-US" sz="3600" b="1" dirty="0">
                  <a:solidFill>
                    <a:srgbClr val="660066"/>
                  </a:solidFill>
                  <a:latin typeface="Times New Roman" panose="02020603050405020304" charset="0"/>
                </a:rPr>
                <a:t>三</a:t>
              </a:r>
              <a:r>
                <a:rPr lang="en-US" altLang="zh-CN" sz="3600" b="1" dirty="0">
                  <a:solidFill>
                    <a:srgbClr val="660066"/>
                  </a:solidFill>
                  <a:latin typeface="Times New Roman" panose="02020603050405020304" charset="0"/>
                </a:rPr>
                <a:t>) </a:t>
              </a:r>
              <a:r>
                <a:rPr lang="zh-CN" altLang="en-US" sz="3600" b="1" dirty="0">
                  <a:solidFill>
                    <a:srgbClr val="660066"/>
                  </a:solidFill>
                  <a:latin typeface="Times New Roman" panose="02020603050405020304" charset="0"/>
                </a:rPr>
                <a:t>酸雨</a:t>
              </a:r>
              <a:endParaRPr lang="zh-CN" altLang="en-US" sz="3600" b="1" dirty="0">
                <a:solidFill>
                  <a:srgbClr val="660066"/>
                </a:solidFill>
                <a:latin typeface="Times New Roman" panose="02020603050405020304" charset="0"/>
              </a:endParaRPr>
            </a:p>
          </p:txBody>
        </p:sp>
      </p:grpSp>
      <p:sp>
        <p:nvSpPr>
          <p:cNvPr id="313349" name="折角形 313348"/>
          <p:cNvSpPr/>
          <p:nvPr/>
        </p:nvSpPr>
        <p:spPr>
          <a:xfrm>
            <a:off x="2057400" y="1295400"/>
            <a:ext cx="8077200" cy="4953000"/>
          </a:xfrm>
          <a:prstGeom prst="foldedCorner">
            <a:avLst>
              <a:gd name="adj" fmla="val 12500"/>
            </a:avLst>
          </a:prstGeom>
          <a:pattFill prst="pct40">
            <a:fgClr>
              <a:schemeClr val="accent1"/>
            </a:fgClr>
            <a:bgClr>
              <a:schemeClr val="bg1"/>
            </a:bgClr>
          </a:pattFill>
          <a:ln w="9525" cap="flat" cmpd="sng">
            <a:solidFill>
              <a:schemeClr val="tx1"/>
            </a:solidFill>
            <a:prstDash val="solid"/>
            <a:headEnd type="none" w="med" len="med"/>
            <a:tailEnd type="none" w="med" len="med"/>
          </a:ln>
        </p:spPr>
        <p:txBody>
          <a:bodyPr wrap="none" anchor="ctr" anchorCtr="0"/>
          <a:p>
            <a:pPr>
              <a:lnSpc>
                <a:spcPct val="160000"/>
              </a:lnSpc>
            </a:pPr>
            <a:r>
              <a:rPr lang="en-US" altLang="zh-CN" sz="2800" b="1" dirty="0">
                <a:latin typeface="Times New Roman" panose="02020603050405020304" charset="0"/>
                <a:ea typeface="楷体_GB2312" charset="-122"/>
              </a:rPr>
              <a:t>         </a:t>
            </a:r>
            <a:r>
              <a:rPr lang="zh-CN" altLang="en-US" sz="2800" b="1" dirty="0">
                <a:latin typeface="Times New Roman" panose="02020603050405020304" charset="0"/>
                <a:ea typeface="楷体_GB2312" charset="-122"/>
              </a:rPr>
              <a:t>它是</a:t>
            </a:r>
            <a:r>
              <a:rPr lang="zh-CN" altLang="en-US" sz="2800" dirty="0">
                <a:latin typeface="Times New Roman" panose="02020603050405020304" charset="0"/>
              </a:rPr>
              <a:t>。</a:t>
            </a:r>
            <a:r>
              <a:rPr lang="zh-CN" altLang="en-US" sz="2800" b="1" dirty="0">
                <a:latin typeface="Times New Roman" panose="02020603050405020304" charset="0"/>
                <a:ea typeface="楷体_GB2312" charset="-122"/>
              </a:rPr>
              <a:t>指大气中的酸通过降水（如雨、雾、</a:t>
            </a:r>
            <a:endParaRPr lang="zh-CN" altLang="en-US" sz="2800" b="1" dirty="0">
              <a:latin typeface="Times New Roman" panose="02020603050405020304" charset="0"/>
              <a:ea typeface="楷体_GB2312" charset="-122"/>
            </a:endParaRPr>
          </a:p>
          <a:p>
            <a:pPr>
              <a:lnSpc>
                <a:spcPct val="160000"/>
              </a:lnSpc>
            </a:pPr>
            <a:r>
              <a:rPr lang="zh-CN" altLang="en-US" sz="2800" b="1" dirty="0">
                <a:latin typeface="Times New Roman" panose="02020603050405020304" charset="0"/>
                <a:ea typeface="楷体_GB2312" charset="-122"/>
              </a:rPr>
              <a:t>雪）迁移到地表，或在含酸气团气流的作用下</a:t>
            </a:r>
            <a:endParaRPr lang="zh-CN" altLang="en-US" sz="2800" b="1" dirty="0">
              <a:latin typeface="Times New Roman" panose="02020603050405020304" charset="0"/>
              <a:ea typeface="楷体_GB2312" charset="-122"/>
            </a:endParaRPr>
          </a:p>
          <a:p>
            <a:pPr>
              <a:lnSpc>
                <a:spcPct val="160000"/>
              </a:lnSpc>
            </a:pPr>
            <a:r>
              <a:rPr lang="zh-CN" altLang="en-US" sz="2800" b="1" dirty="0">
                <a:latin typeface="Times New Roman" panose="02020603050405020304" charset="0"/>
                <a:ea typeface="楷体_GB2312" charset="-122"/>
              </a:rPr>
              <a:t>直接迁移到地表。引起酸沉降的主要物质是人为</a:t>
            </a:r>
            <a:endParaRPr lang="zh-CN" altLang="en-US" sz="2800" b="1" dirty="0">
              <a:latin typeface="Times New Roman" panose="02020603050405020304" charset="0"/>
              <a:ea typeface="楷体_GB2312" charset="-122"/>
            </a:endParaRPr>
          </a:p>
          <a:p>
            <a:pPr>
              <a:lnSpc>
                <a:spcPct val="160000"/>
              </a:lnSpc>
            </a:pPr>
            <a:r>
              <a:rPr lang="zh-CN" altLang="en-US" sz="2800" b="1" dirty="0">
                <a:latin typeface="Times New Roman" panose="02020603050405020304" charset="0"/>
                <a:ea typeface="楷体_GB2312" charset="-122"/>
              </a:rPr>
              <a:t>和天然排放的</a:t>
            </a:r>
            <a:r>
              <a:rPr lang="en-US" altLang="zh-CN" sz="2400" b="1">
                <a:latin typeface="Times New Roman" panose="02020603050405020304" charset="0"/>
                <a:ea typeface="楷体_GB2312" charset="-122"/>
              </a:rPr>
              <a:t>SO</a:t>
            </a:r>
            <a:r>
              <a:rPr lang="en-US" altLang="zh-CN" sz="2400" b="1" baseline="-30000">
                <a:latin typeface="Times New Roman" panose="02020603050405020304" charset="0"/>
                <a:ea typeface="楷体_GB2312" charset="-122"/>
              </a:rPr>
              <a:t>X</a:t>
            </a:r>
            <a:r>
              <a:rPr lang="zh-CN" altLang="en-US" sz="2400" b="1">
                <a:latin typeface="Times New Roman" panose="02020603050405020304" charset="0"/>
                <a:ea typeface="楷体_GB2312" charset="-122"/>
              </a:rPr>
              <a:t>（</a:t>
            </a:r>
            <a:r>
              <a:rPr lang="en-US" altLang="zh-CN" sz="2400" b="1">
                <a:latin typeface="Times New Roman" panose="02020603050405020304" charset="0"/>
                <a:ea typeface="楷体_GB2312" charset="-122"/>
              </a:rPr>
              <a:t>SO</a:t>
            </a:r>
            <a:r>
              <a:rPr lang="en-US" altLang="zh-CN" sz="2400" b="1" baseline="-30000">
                <a:latin typeface="Times New Roman" panose="02020603050405020304" charset="0"/>
                <a:ea typeface="楷体_GB2312" charset="-122"/>
              </a:rPr>
              <a:t>2</a:t>
            </a:r>
            <a:r>
              <a:rPr lang="zh-CN" altLang="en-US" sz="2400" b="1">
                <a:latin typeface="Times New Roman" panose="02020603050405020304" charset="0"/>
                <a:ea typeface="楷体_GB2312" charset="-122"/>
              </a:rPr>
              <a:t>和</a:t>
            </a:r>
            <a:r>
              <a:rPr lang="en-US" altLang="zh-CN" sz="2400" b="1">
                <a:latin typeface="Times New Roman" panose="02020603050405020304" charset="0"/>
                <a:ea typeface="楷体_GB2312" charset="-122"/>
              </a:rPr>
              <a:t>SO</a:t>
            </a:r>
            <a:r>
              <a:rPr lang="en-US" altLang="zh-CN" sz="2400" b="1" baseline="-30000">
                <a:latin typeface="Times New Roman" panose="02020603050405020304" charset="0"/>
                <a:ea typeface="楷体_GB2312" charset="-122"/>
              </a:rPr>
              <a:t>3</a:t>
            </a:r>
            <a:r>
              <a:rPr lang="zh-CN" altLang="en-US" sz="2400" b="1">
                <a:latin typeface="Times New Roman" panose="02020603050405020304" charset="0"/>
                <a:ea typeface="楷体_GB2312" charset="-122"/>
              </a:rPr>
              <a:t>）</a:t>
            </a:r>
            <a:r>
              <a:rPr lang="zh-CN" altLang="en-US" sz="2800" b="1">
                <a:latin typeface="Times New Roman" panose="02020603050405020304" charset="0"/>
                <a:ea typeface="楷体_GB2312" charset="-122"/>
              </a:rPr>
              <a:t>和</a:t>
            </a:r>
            <a:r>
              <a:rPr lang="en-US" altLang="zh-CN" sz="2400" b="1">
                <a:latin typeface="Times New Roman" panose="02020603050405020304" charset="0"/>
                <a:ea typeface="楷体_GB2312" charset="-122"/>
              </a:rPr>
              <a:t>NO</a:t>
            </a:r>
            <a:r>
              <a:rPr lang="en-US" altLang="zh-CN" sz="2400" b="1" baseline="-30000">
                <a:latin typeface="Times New Roman" panose="02020603050405020304" charset="0"/>
                <a:ea typeface="楷体_GB2312" charset="-122"/>
              </a:rPr>
              <a:t>X</a:t>
            </a:r>
            <a:r>
              <a:rPr lang="zh-CN" altLang="en-US" sz="2400" b="1">
                <a:latin typeface="Times New Roman" panose="02020603050405020304" charset="0"/>
                <a:ea typeface="楷体_GB2312" charset="-122"/>
              </a:rPr>
              <a:t>（</a:t>
            </a:r>
            <a:r>
              <a:rPr lang="en-US" altLang="zh-CN" sz="2400" b="1">
                <a:latin typeface="Times New Roman" panose="02020603050405020304" charset="0"/>
                <a:ea typeface="楷体_GB2312" charset="-122"/>
              </a:rPr>
              <a:t>NO</a:t>
            </a:r>
            <a:r>
              <a:rPr lang="zh-CN" altLang="en-US" sz="2400" b="1">
                <a:latin typeface="Times New Roman" panose="02020603050405020304" charset="0"/>
                <a:ea typeface="楷体_GB2312" charset="-122"/>
              </a:rPr>
              <a:t>和</a:t>
            </a:r>
            <a:r>
              <a:rPr lang="en-US" altLang="zh-CN" sz="2400" b="1">
                <a:latin typeface="Times New Roman" panose="02020603050405020304" charset="0"/>
                <a:ea typeface="楷体_GB2312" charset="-122"/>
              </a:rPr>
              <a:t>NO</a:t>
            </a:r>
            <a:r>
              <a:rPr lang="en-US" altLang="zh-CN" sz="2400" b="1" baseline="-30000">
                <a:latin typeface="Times New Roman" panose="02020603050405020304" charset="0"/>
                <a:ea typeface="楷体_GB2312" charset="-122"/>
              </a:rPr>
              <a:t>2</a:t>
            </a:r>
            <a:r>
              <a:rPr lang="zh-CN" altLang="en-US" sz="2400" b="1">
                <a:latin typeface="Times New Roman" panose="02020603050405020304" charset="0"/>
                <a:ea typeface="楷体_GB2312" charset="-122"/>
              </a:rPr>
              <a:t>）</a:t>
            </a:r>
            <a:r>
              <a:rPr lang="zh-CN" altLang="en-US" sz="2800" b="1">
                <a:latin typeface="Times New Roman" panose="02020603050405020304" charset="0"/>
                <a:ea typeface="楷体_GB2312" charset="-122"/>
              </a:rPr>
              <a:t> ，</a:t>
            </a:r>
            <a:endParaRPr lang="zh-CN" altLang="en-US" sz="2800" b="1">
              <a:latin typeface="Times New Roman" panose="02020603050405020304" charset="0"/>
              <a:ea typeface="楷体_GB2312" charset="-122"/>
            </a:endParaRPr>
          </a:p>
          <a:p>
            <a:pPr>
              <a:lnSpc>
                <a:spcPct val="160000"/>
              </a:lnSpc>
            </a:pPr>
            <a:r>
              <a:rPr lang="zh-CN" altLang="en-US" sz="2800" b="1" dirty="0">
                <a:latin typeface="Times New Roman" panose="02020603050405020304" charset="0"/>
                <a:ea typeface="楷体_GB2312" charset="-122"/>
              </a:rPr>
              <a:t>其天然源一般是全球分布的，而人为排放的</a:t>
            </a:r>
            <a:r>
              <a:rPr lang="en-US" altLang="zh-CN" sz="2400" b="1">
                <a:latin typeface="Times New Roman" panose="02020603050405020304" charset="0"/>
                <a:ea typeface="楷体_GB2312" charset="-122"/>
              </a:rPr>
              <a:t>SO</a:t>
            </a:r>
            <a:r>
              <a:rPr lang="en-US" altLang="zh-CN" sz="2400" b="1" baseline="-25000">
                <a:latin typeface="Times New Roman" panose="02020603050405020304" charset="0"/>
                <a:ea typeface="楷体_GB2312" charset="-122"/>
              </a:rPr>
              <a:t>X</a:t>
            </a:r>
            <a:endParaRPr lang="en-US" altLang="zh-CN" sz="2400" b="1" baseline="-25000">
              <a:latin typeface="Times New Roman" panose="02020603050405020304" charset="0"/>
              <a:ea typeface="楷体_GB2312" charset="-122"/>
            </a:endParaRPr>
          </a:p>
          <a:p>
            <a:pPr>
              <a:lnSpc>
                <a:spcPct val="160000"/>
              </a:lnSpc>
            </a:pPr>
            <a:r>
              <a:rPr lang="zh-CN" altLang="en-US" sz="2800" b="1">
                <a:latin typeface="Times New Roman" panose="02020603050405020304" charset="0"/>
                <a:ea typeface="楷体_GB2312" charset="-122"/>
              </a:rPr>
              <a:t>和</a:t>
            </a:r>
            <a:r>
              <a:rPr lang="en-US" altLang="zh-CN" sz="2400" b="1">
                <a:latin typeface="Times New Roman" panose="02020603050405020304" charset="0"/>
                <a:ea typeface="楷体_GB2312" charset="-122"/>
              </a:rPr>
              <a:t>NO</a:t>
            </a:r>
            <a:r>
              <a:rPr lang="en-US" altLang="zh-CN" sz="2400" b="1" baseline="-25000">
                <a:latin typeface="Times New Roman" panose="02020603050405020304" charset="0"/>
                <a:ea typeface="楷体_GB2312" charset="-122"/>
              </a:rPr>
              <a:t>X</a:t>
            </a:r>
            <a:r>
              <a:rPr lang="zh-CN" altLang="en-US" sz="2800" b="1" dirty="0">
                <a:latin typeface="Times New Roman" panose="02020603050405020304" charset="0"/>
                <a:ea typeface="楷体_GB2312" charset="-122"/>
              </a:rPr>
              <a:t>则具有地区性分布的特点。</a:t>
            </a:r>
            <a:endParaRPr lang="zh-CN" altLang="en-US" sz="2800" b="1" dirty="0">
              <a:latin typeface="Times New Roman" panose="02020603050405020304" charset="0"/>
              <a:ea typeface="楷体_GB2312" charset="-122"/>
            </a:endParaRPr>
          </a:p>
          <a:p>
            <a:pPr>
              <a:lnSpc>
                <a:spcPct val="160000"/>
              </a:lnSpc>
            </a:pPr>
            <a:r>
              <a:rPr lang="zh-CN" altLang="en-US" sz="2800" b="1" dirty="0">
                <a:latin typeface="Times New Roman" panose="02020603050405020304" charset="0"/>
                <a:ea typeface="楷体_GB2312" charset="-122"/>
              </a:rPr>
              <a:t>         降水的</a:t>
            </a:r>
            <a:r>
              <a:rPr lang="en-US" altLang="zh-CN" sz="2800" b="1">
                <a:latin typeface="Times New Roman" panose="02020603050405020304" charset="0"/>
                <a:ea typeface="楷体_GB2312" charset="-122"/>
              </a:rPr>
              <a:t>pH </a:t>
            </a:r>
            <a:r>
              <a:rPr lang="zh-CN" altLang="en-US" sz="2800" b="1" dirty="0">
                <a:latin typeface="Times New Roman" panose="02020603050405020304" charset="0"/>
                <a:ea typeface="楷体_GB2312" charset="-122"/>
              </a:rPr>
              <a:t>小于</a:t>
            </a:r>
            <a:r>
              <a:rPr lang="en-US" altLang="zh-CN" sz="2800" b="1" dirty="0">
                <a:latin typeface="Times New Roman" panose="02020603050405020304" charset="0"/>
                <a:ea typeface="楷体_GB2312" charset="-122"/>
              </a:rPr>
              <a:t>5.6         </a:t>
            </a:r>
            <a:endParaRPr lang="en-US" altLang="zh-CN" sz="2800" b="1" dirty="0">
              <a:latin typeface="Times New Roman" panose="02020603050405020304" charset="0"/>
              <a:ea typeface="楷体_GB231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0"/>
                                  </p:stCondLst>
                                  <p:childTnLst>
                                    <p:set>
                                      <p:cBhvr>
                                        <p:cTn id="6" dur="1" fill="hold">
                                          <p:stCondLst>
                                            <p:cond delay="0"/>
                                          </p:stCondLst>
                                        </p:cTn>
                                        <p:tgtEl>
                                          <p:spTgt spid="313349"/>
                                        </p:tgtEl>
                                        <p:attrNameLst>
                                          <p:attrName>style.visibility</p:attrName>
                                        </p:attrNameLst>
                                      </p:cBhvr>
                                      <p:to>
                                        <p:strVal val="visible"/>
                                      </p:to>
                                    </p:set>
                                    <p:animEffect transition="in" filter="barn(outHorizontal)">
                                      <p:cBhvr>
                                        <p:cTn id="7" dur="500"/>
                                        <p:tgtEl>
                                          <p:spTgt spid="313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9" grpId="0" bldLvl="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4370" name="图片 314369"/>
          <p:cNvPicPr>
            <a:picLocks noChangeAspect="1"/>
          </p:cNvPicPr>
          <p:nvPr/>
        </p:nvPicPr>
        <p:blipFill>
          <a:blip r:embed="rId1"/>
          <a:stretch>
            <a:fillRect/>
          </a:stretch>
        </p:blipFill>
        <p:spPr>
          <a:xfrm>
            <a:off x="1524000" y="838200"/>
            <a:ext cx="9144000" cy="5105400"/>
          </a:xfrm>
          <a:prstGeom prst="rect">
            <a:avLst/>
          </a:prstGeom>
          <a:noFill/>
          <a:ln w="9525">
            <a:noFill/>
          </a:ln>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5394" name="图片 315393"/>
          <p:cNvPicPr>
            <a:picLocks noChangeAspect="1"/>
          </p:cNvPicPr>
          <p:nvPr/>
        </p:nvPicPr>
        <p:blipFill>
          <a:blip r:embed="rId1"/>
          <a:stretch>
            <a:fillRect/>
          </a:stretch>
        </p:blipFill>
        <p:spPr>
          <a:xfrm>
            <a:off x="1524000" y="0"/>
            <a:ext cx="8839200" cy="6629400"/>
          </a:xfrm>
          <a:prstGeom prst="rect">
            <a:avLst/>
          </a:prstGeom>
          <a:noFill/>
          <a:ln w="9525">
            <a:noFill/>
          </a:ln>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6418" name="矩形 316417"/>
          <p:cNvSpPr/>
          <p:nvPr/>
        </p:nvSpPr>
        <p:spPr>
          <a:xfrm>
            <a:off x="2743200" y="2057400"/>
            <a:ext cx="6934200" cy="2306955"/>
          </a:xfrm>
          <a:prstGeom prst="rect">
            <a:avLst/>
          </a:prstGeom>
          <a:solidFill>
            <a:srgbClr val="FFFF99">
              <a:alpha val="50000"/>
            </a:srgbClr>
          </a:solidFill>
          <a:ln w="38100" cap="flat" cmpd="sng">
            <a:solidFill>
              <a:srgbClr val="993366"/>
            </a:solidFill>
            <a:prstDash val="solid"/>
            <a:miter/>
            <a:headEnd type="none" w="med" len="med"/>
            <a:tailEnd type="none" w="med" len="med"/>
          </a:ln>
        </p:spPr>
        <p:txBody>
          <a:bodyPr>
            <a:spAutoFit/>
          </a:bodyPr>
          <a:p>
            <a:pPr>
              <a:spcBef>
                <a:spcPct val="50000"/>
              </a:spcBef>
            </a:pPr>
            <a:r>
              <a:rPr lang="en-US" altLang="zh-CN" sz="3600" b="1" dirty="0">
                <a:solidFill>
                  <a:srgbClr val="0000CC"/>
                </a:solidFill>
                <a:latin typeface="Times New Roman" panose="02020603050405020304" charset="0"/>
              </a:rPr>
              <a:t>    </a:t>
            </a:r>
            <a:r>
              <a:rPr lang="zh-CN" altLang="en-US" sz="3600" b="1" dirty="0">
                <a:solidFill>
                  <a:srgbClr val="0000CC"/>
                </a:solidFill>
                <a:latin typeface="Times New Roman" panose="02020603050405020304" charset="0"/>
              </a:rPr>
              <a:t>（</a:t>
            </a:r>
            <a:r>
              <a:rPr lang="en-US" altLang="zh-CN" sz="3600" b="1" dirty="0">
                <a:solidFill>
                  <a:srgbClr val="0000CC"/>
                </a:solidFill>
                <a:latin typeface="Times New Roman" panose="02020603050405020304" charset="0"/>
              </a:rPr>
              <a:t>1</a:t>
            </a:r>
            <a:r>
              <a:rPr lang="zh-CN" altLang="en-US" sz="3600" b="1" dirty="0">
                <a:solidFill>
                  <a:srgbClr val="0000CC"/>
                </a:solidFill>
                <a:latin typeface="Times New Roman" panose="02020603050405020304" charset="0"/>
              </a:rPr>
              <a:t>）对水生态系统的影响</a:t>
            </a:r>
            <a:endParaRPr lang="zh-CN" altLang="en-US" sz="3600" b="1" dirty="0">
              <a:solidFill>
                <a:srgbClr val="0000CC"/>
              </a:solidFill>
              <a:latin typeface="Times New Roman" panose="02020603050405020304" charset="0"/>
            </a:endParaRPr>
          </a:p>
          <a:p>
            <a:pPr>
              <a:spcBef>
                <a:spcPct val="50000"/>
              </a:spcBef>
            </a:pPr>
            <a:r>
              <a:rPr lang="zh-CN" altLang="en-US" sz="3600" b="1" dirty="0">
                <a:solidFill>
                  <a:srgbClr val="0000CC"/>
                </a:solidFill>
                <a:latin typeface="Times New Roman" panose="02020603050405020304" charset="0"/>
              </a:rPr>
              <a:t>    （</a:t>
            </a:r>
            <a:r>
              <a:rPr lang="en-US" altLang="zh-CN" sz="3600" b="1" dirty="0">
                <a:solidFill>
                  <a:srgbClr val="0000CC"/>
                </a:solidFill>
                <a:latin typeface="Times New Roman" panose="02020603050405020304" charset="0"/>
              </a:rPr>
              <a:t>2</a:t>
            </a:r>
            <a:r>
              <a:rPr lang="zh-CN" altLang="en-US" sz="3600" b="1" dirty="0">
                <a:solidFill>
                  <a:srgbClr val="0000CC"/>
                </a:solidFill>
                <a:latin typeface="Times New Roman" panose="02020603050405020304" charset="0"/>
              </a:rPr>
              <a:t>）导致土壤酸化</a:t>
            </a:r>
            <a:endParaRPr lang="zh-CN" altLang="en-US" sz="3600" b="1" dirty="0">
              <a:solidFill>
                <a:srgbClr val="0000CC"/>
              </a:solidFill>
              <a:latin typeface="Times New Roman" panose="02020603050405020304" charset="0"/>
            </a:endParaRPr>
          </a:p>
          <a:p>
            <a:pPr>
              <a:spcBef>
                <a:spcPct val="50000"/>
              </a:spcBef>
            </a:pPr>
            <a:r>
              <a:rPr lang="zh-CN" altLang="en-US" sz="3600" b="1" dirty="0">
                <a:solidFill>
                  <a:srgbClr val="0000CC"/>
                </a:solidFill>
                <a:latin typeface="Times New Roman" panose="02020603050405020304" charset="0"/>
              </a:rPr>
              <a:t>    （</a:t>
            </a:r>
            <a:r>
              <a:rPr lang="en-US" altLang="zh-CN" sz="3600" b="1" dirty="0">
                <a:solidFill>
                  <a:srgbClr val="0000CC"/>
                </a:solidFill>
                <a:latin typeface="Times New Roman" panose="02020603050405020304" charset="0"/>
              </a:rPr>
              <a:t>3</a:t>
            </a:r>
            <a:r>
              <a:rPr lang="zh-CN" altLang="en-US" sz="3600" b="1" dirty="0">
                <a:solidFill>
                  <a:srgbClr val="0000CC"/>
                </a:solidFill>
                <a:latin typeface="Times New Roman" panose="02020603050405020304" charset="0"/>
              </a:rPr>
              <a:t>） 腐蚀建筑物及名胜古迹</a:t>
            </a:r>
            <a:endParaRPr lang="zh-CN" altLang="en-US" sz="3600" b="1" dirty="0">
              <a:solidFill>
                <a:srgbClr val="0000CC"/>
              </a:solidFill>
              <a:latin typeface="Times New Roman" panose="02020603050405020304" charset="0"/>
            </a:endParaRPr>
          </a:p>
        </p:txBody>
      </p:sp>
      <p:sp>
        <p:nvSpPr>
          <p:cNvPr id="316419" name="椭圆 316418"/>
          <p:cNvSpPr/>
          <p:nvPr/>
        </p:nvSpPr>
        <p:spPr>
          <a:xfrm>
            <a:off x="2971800" y="381000"/>
            <a:ext cx="4572000" cy="762000"/>
          </a:xfrm>
          <a:prstGeom prst="ellipse">
            <a:avLst/>
          </a:prstGeom>
          <a:solidFill>
            <a:schemeClr val="accent1">
              <a:alpha val="50000"/>
            </a:schemeClr>
          </a:solidFill>
          <a:ln w="9525" cap="flat" cmpd="sng">
            <a:solidFill>
              <a:schemeClr val="tx1"/>
            </a:solidFill>
            <a:prstDash val="solid"/>
            <a:headEnd type="none" w="med" len="med"/>
            <a:tailEnd type="none" w="med" len="med"/>
          </a:ln>
        </p:spPr>
        <p:txBody>
          <a:bodyPr wrap="none" anchor="ctr" anchorCtr="0"/>
          <a:p>
            <a:pPr algn="ctr"/>
            <a:r>
              <a:rPr lang="zh-CN" altLang="en-US" sz="3600" b="1" dirty="0">
                <a:solidFill>
                  <a:srgbClr val="0000CC"/>
                </a:solidFill>
                <a:latin typeface="Times New Roman" panose="02020603050405020304" charset="0"/>
              </a:rPr>
              <a:t>酸雨的危害</a:t>
            </a:r>
            <a:endParaRPr lang="zh-CN" altLang="en-US" sz="3600" b="1" dirty="0">
              <a:solidFill>
                <a:srgbClr val="0000CC"/>
              </a:solidFill>
              <a:latin typeface="Times New Roman" panose="02020603050405020304" charset="0"/>
            </a:endParaRPr>
          </a:p>
        </p:txBody>
      </p:sp>
      <p:sp>
        <p:nvSpPr>
          <p:cNvPr id="316420" name="左弧形箭头 316419"/>
          <p:cNvSpPr/>
          <p:nvPr/>
        </p:nvSpPr>
        <p:spPr>
          <a:xfrm>
            <a:off x="4876800" y="1143000"/>
            <a:ext cx="533400" cy="914400"/>
          </a:xfrm>
          <a:prstGeom prst="curvedRightArrow">
            <a:avLst>
              <a:gd name="adj1" fmla="val 34285"/>
              <a:gd name="adj2" fmla="val 68571"/>
              <a:gd name="adj3" fmla="val 33333"/>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7442" name="图片 317441"/>
          <p:cNvPicPr>
            <a:picLocks noChangeAspect="1"/>
          </p:cNvPicPr>
          <p:nvPr/>
        </p:nvPicPr>
        <p:blipFill>
          <a:blip r:embed="rId1"/>
          <a:stretch>
            <a:fillRect/>
          </a:stretch>
        </p:blipFill>
        <p:spPr>
          <a:xfrm>
            <a:off x="2514600" y="1219200"/>
            <a:ext cx="6705600" cy="4548188"/>
          </a:xfrm>
          <a:prstGeom prst="rect">
            <a:avLst/>
          </a:prstGeom>
          <a:noFill/>
          <a:ln w="9525">
            <a:noFill/>
          </a:ln>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8466" name="图片 318465"/>
          <p:cNvPicPr>
            <a:picLocks noChangeAspect="1"/>
          </p:cNvPicPr>
          <p:nvPr/>
        </p:nvPicPr>
        <p:blipFill>
          <a:blip r:embed="rId1"/>
          <a:stretch>
            <a:fillRect/>
          </a:stretch>
        </p:blipFill>
        <p:spPr>
          <a:xfrm>
            <a:off x="2209800" y="685800"/>
            <a:ext cx="7924800" cy="5943600"/>
          </a:xfrm>
          <a:prstGeom prst="rect">
            <a:avLst/>
          </a:prstGeom>
          <a:noFill/>
          <a:ln w="9525">
            <a:noFill/>
          </a:ln>
        </p:spPr>
      </p:pic>
      <p:sp>
        <p:nvSpPr>
          <p:cNvPr id="318467" name="矩形 318466"/>
          <p:cNvSpPr/>
          <p:nvPr/>
        </p:nvSpPr>
        <p:spPr>
          <a:xfrm>
            <a:off x="3886200" y="0"/>
            <a:ext cx="4094480" cy="521970"/>
          </a:xfrm>
          <a:prstGeom prst="rect">
            <a:avLst/>
          </a:prstGeom>
          <a:noFill/>
          <a:ln w="9525">
            <a:noFill/>
          </a:ln>
        </p:spPr>
        <p:txBody>
          <a:bodyPr wrap="none" anchor="t" anchorCtr="0">
            <a:spAutoFit/>
          </a:bodyPr>
          <a:p>
            <a:pPr>
              <a:spcBef>
                <a:spcPct val="20000"/>
              </a:spcBef>
            </a:pPr>
            <a:r>
              <a:rPr lang="zh-CN" altLang="en-US" sz="2800" b="1" dirty="0">
                <a:solidFill>
                  <a:srgbClr val="008080"/>
                </a:solidFill>
                <a:latin typeface="宋体" panose="02010600030101010101" pitchFamily="2" charset="-122"/>
              </a:rPr>
              <a:t>峨眉山冷杉受酸雨的影响</a:t>
            </a:r>
            <a:endParaRPr lang="zh-CN" altLang="en-US" sz="2800" b="1" dirty="0">
              <a:solidFill>
                <a:srgbClr val="008080"/>
              </a:solidFill>
              <a:latin typeface="宋体" panose="02010600030101010101" pitchFamily="2" charset="-122"/>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9490" name="图片 319489"/>
          <p:cNvPicPr>
            <a:picLocks noChangeAspect="1"/>
          </p:cNvPicPr>
          <p:nvPr/>
        </p:nvPicPr>
        <p:blipFill>
          <a:blip r:embed="rId1"/>
          <a:stretch>
            <a:fillRect/>
          </a:stretch>
        </p:blipFill>
        <p:spPr>
          <a:xfrm>
            <a:off x="1524000" y="1219200"/>
            <a:ext cx="9144000" cy="5378450"/>
          </a:xfrm>
          <a:prstGeom prst="rect">
            <a:avLst/>
          </a:prstGeom>
          <a:noFill/>
          <a:ln w="9525">
            <a:noFill/>
          </a:ln>
        </p:spPr>
      </p:pic>
      <p:sp>
        <p:nvSpPr>
          <p:cNvPr id="319491" name="矩形 319490"/>
          <p:cNvSpPr/>
          <p:nvPr/>
        </p:nvSpPr>
        <p:spPr>
          <a:xfrm>
            <a:off x="4419600" y="381000"/>
            <a:ext cx="3840480" cy="645160"/>
          </a:xfrm>
          <a:prstGeom prst="rect">
            <a:avLst/>
          </a:prstGeom>
          <a:noFill/>
          <a:ln w="9525">
            <a:noFill/>
          </a:ln>
        </p:spPr>
        <p:txBody>
          <a:bodyPr wrap="none" anchor="t" anchorCtr="0">
            <a:spAutoFit/>
          </a:bodyPr>
          <a:p>
            <a:r>
              <a:rPr lang="zh-CN" altLang="en-US" sz="3600" b="1" dirty="0">
                <a:solidFill>
                  <a:srgbClr val="006666"/>
                </a:solidFill>
                <a:latin typeface="Times New Roman" panose="02020603050405020304" charset="0"/>
              </a:rPr>
              <a:t>受酸雨破坏的树林</a:t>
            </a:r>
            <a:endParaRPr lang="zh-CN" altLang="en-US" sz="3600" b="1" dirty="0">
              <a:solidFill>
                <a:srgbClr val="006666"/>
              </a:solidFill>
              <a:latin typeface="Times New Roman" panose="0202060305040502030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charset="0"/>
            </a:endParaRPr>
          </a:p>
        </p:txBody>
      </p:sp>
      <p:sp>
        <p:nvSpPr>
          <p:cNvPr id="320514" name="文本占位符 320513"/>
          <p:cNvSpPr>
            <a:spLocks noGrp="1" noRot="1"/>
          </p:cNvSpPr>
          <p:nvPr>
            <p:ph type="body" idx="1"/>
          </p:nvPr>
        </p:nvSpPr>
        <p:spPr>
          <a:xfrm>
            <a:off x="1524000" y="1143000"/>
            <a:ext cx="8153400" cy="5715000"/>
          </a:xfrm>
        </p:spPr>
        <p:txBody>
          <a:bodyPr/>
          <a:p>
            <a:pPr>
              <a:buNone/>
            </a:pPr>
            <a:r>
              <a:rPr lang="en-US" altLang="zh-CN"/>
              <a:t>     </a:t>
            </a:r>
            <a:r>
              <a:rPr lang="en-US" altLang="zh-CN" dirty="0"/>
              <a:t> 1992</a:t>
            </a:r>
            <a:r>
              <a:rPr lang="zh-CN" altLang="en-US" dirty="0"/>
              <a:t>年</a:t>
            </a:r>
            <a:r>
              <a:rPr lang="en-US" altLang="zh-CN" dirty="0"/>
              <a:t>6</a:t>
            </a:r>
            <a:r>
              <a:rPr lang="zh-CN" altLang="en-US" dirty="0"/>
              <a:t>月在巴西召开的联合国环境与发</a:t>
            </a:r>
            <a:endParaRPr lang="zh-CN" altLang="en-US" dirty="0"/>
          </a:p>
          <a:p>
            <a:pPr>
              <a:buNone/>
            </a:pPr>
            <a:r>
              <a:rPr lang="zh-CN" altLang="en-US" dirty="0"/>
              <a:t>展大会上，通过了</a:t>
            </a:r>
            <a:r>
              <a:rPr lang="en-US" altLang="zh-CN" dirty="0"/>
              <a:t>《</a:t>
            </a:r>
            <a:r>
              <a:rPr lang="zh-CN" altLang="en-US" dirty="0"/>
              <a:t>生物多样性公约</a:t>
            </a:r>
            <a:r>
              <a:rPr lang="en-US" altLang="zh-CN" dirty="0"/>
              <a:t>》</a:t>
            </a:r>
            <a:r>
              <a:rPr lang="zh-CN" altLang="en-US" dirty="0"/>
              <a:t>。</a:t>
            </a:r>
            <a:endParaRPr lang="zh-CN" altLang="en-US" dirty="0"/>
          </a:p>
          <a:p>
            <a:pPr>
              <a:buNone/>
            </a:pPr>
            <a:r>
              <a:rPr lang="zh-CN" altLang="en-US" dirty="0"/>
              <a:t>      </a:t>
            </a:r>
            <a:r>
              <a:rPr lang="en-US" altLang="zh-CN" dirty="0"/>
              <a:t>1994</a:t>
            </a:r>
            <a:r>
              <a:rPr lang="zh-CN" altLang="en-US" dirty="0"/>
              <a:t>年，中国发布了</a:t>
            </a:r>
            <a:r>
              <a:rPr lang="en-US" altLang="zh-CN" dirty="0"/>
              <a:t>《</a:t>
            </a:r>
            <a:r>
              <a:rPr lang="zh-CN" altLang="en-US" dirty="0"/>
              <a:t>中国生物多样性</a:t>
            </a:r>
            <a:endParaRPr lang="zh-CN" altLang="en-US" dirty="0"/>
          </a:p>
          <a:p>
            <a:pPr>
              <a:buNone/>
            </a:pPr>
            <a:r>
              <a:rPr lang="zh-CN" altLang="en-US" dirty="0"/>
              <a:t>保护行动计划</a:t>
            </a:r>
            <a:r>
              <a:rPr lang="en-US" altLang="zh-CN" dirty="0"/>
              <a:t>》</a:t>
            </a:r>
            <a:r>
              <a:rPr lang="zh-CN" altLang="en-US" dirty="0"/>
              <a:t>。</a:t>
            </a:r>
            <a:endParaRPr lang="zh-CN" altLang="en-US"/>
          </a:p>
        </p:txBody>
      </p:sp>
      <p:sp>
        <p:nvSpPr>
          <p:cNvPr id="320515" name="文本框 320514"/>
          <p:cNvSpPr txBox="1"/>
          <p:nvPr/>
        </p:nvSpPr>
        <p:spPr>
          <a:xfrm>
            <a:off x="2362200" y="233045"/>
            <a:ext cx="7086600" cy="706755"/>
          </a:xfrm>
          <a:prstGeom prst="rect">
            <a:avLst/>
          </a:prstGeom>
          <a:gradFill rotWithShape="0">
            <a:gsLst>
              <a:gs pos="0">
                <a:srgbClr val="CC99FF">
                  <a:gamma/>
                  <a:shade val="46275"/>
                  <a:invGamma/>
                </a:srgbClr>
              </a:gs>
              <a:gs pos="50000">
                <a:srgbClr val="CC99FF"/>
              </a:gs>
              <a:gs pos="100000">
                <a:srgbClr val="CC99FF">
                  <a:gamma/>
                  <a:shade val="46275"/>
                  <a:invGamma/>
                </a:srgbClr>
              </a:gs>
            </a:gsLst>
            <a:lin ang="5400000" scaled="1"/>
            <a:tileRect/>
          </a:gradFill>
          <a:ln w="9525" cap="flat" cmpd="sng">
            <a:solidFill>
              <a:schemeClr val="tx1"/>
            </a:solidFill>
            <a:prstDash val="solid"/>
            <a:miter/>
            <a:headEnd type="none" w="med" len="med"/>
            <a:tailEnd type="none" w="med" len="med"/>
          </a:ln>
        </p:spPr>
        <p:txBody>
          <a:bodyPr anchor="b" anchorCtr="0">
            <a:spAutoFit/>
          </a:bodyPr>
          <a:p>
            <a:pPr algn="ctr">
              <a:spcBef>
                <a:spcPct val="50000"/>
              </a:spcBef>
            </a:pPr>
            <a:r>
              <a:rPr lang="en-US" altLang="zh-CN" sz="4000" dirty="0">
                <a:solidFill>
                  <a:schemeClr val="tx2"/>
                </a:solidFill>
                <a:latin typeface="宋体" panose="02010600030101010101" pitchFamily="2" charset="-122"/>
              </a:rPr>
              <a:t>(</a:t>
            </a:r>
            <a:r>
              <a:rPr lang="zh-CN" altLang="en-US" sz="4000" dirty="0">
                <a:solidFill>
                  <a:schemeClr val="tx2"/>
                </a:solidFill>
                <a:latin typeface="宋体" panose="02010600030101010101" pitchFamily="2" charset="-122"/>
              </a:rPr>
              <a:t>四</a:t>
            </a:r>
            <a:r>
              <a:rPr lang="en-US" altLang="zh-CN" sz="4000" dirty="0">
                <a:solidFill>
                  <a:schemeClr val="tx2"/>
                </a:solidFill>
                <a:latin typeface="宋体" panose="02010600030101010101" pitchFamily="2" charset="-122"/>
              </a:rPr>
              <a:t>)</a:t>
            </a:r>
            <a:r>
              <a:rPr lang="en-US" altLang="zh-CN" sz="4000" dirty="0">
                <a:solidFill>
                  <a:schemeClr val="tx2"/>
                </a:solidFill>
                <a:latin typeface="Arial Black" panose="020B0A04020102020204" pitchFamily="34" charset="0"/>
              </a:rPr>
              <a:t> </a:t>
            </a:r>
            <a:r>
              <a:rPr lang="zh-CN" altLang="en-US" sz="4000" dirty="0">
                <a:solidFill>
                  <a:schemeClr val="tx2"/>
                </a:solidFill>
                <a:latin typeface="Arial Black" panose="020B0A04020102020204" pitchFamily="34" charset="0"/>
              </a:rPr>
              <a:t>生物多样性锐减</a:t>
            </a:r>
            <a:endParaRPr lang="zh-CN" altLang="en-US" sz="4000" dirty="0">
              <a:solidFill>
                <a:schemeClr val="tx2"/>
              </a:solidFill>
              <a:latin typeface="Arial Black" panose="020B0A04020102020204" pitchFamily="34" charset="0"/>
            </a:endParaRPr>
          </a:p>
        </p:txBody>
      </p:sp>
      <p:sp>
        <p:nvSpPr>
          <p:cNvPr id="320516" name="立方体 320515"/>
          <p:cNvSpPr/>
          <p:nvPr/>
        </p:nvSpPr>
        <p:spPr>
          <a:xfrm>
            <a:off x="2667000" y="457200"/>
            <a:ext cx="6781800" cy="1066800"/>
          </a:xfrm>
          <a:prstGeom prst="cube">
            <a:avLst>
              <a:gd name="adj" fmla="val 25000"/>
            </a:avLst>
          </a:prstGeom>
          <a:noFill/>
          <a:ln w="9525">
            <a:noFill/>
          </a:ln>
        </p:spPr>
        <p:txBody>
          <a:bodyPr/>
          <a:p>
            <a:endParaRPr lang="zh-CN" altLang="en-US"/>
          </a:p>
        </p:txBody>
      </p:sp>
      <p:sp>
        <p:nvSpPr>
          <p:cNvPr id="4" name="文本框 3"/>
          <p:cNvSpPr txBox="1"/>
          <p:nvPr/>
        </p:nvSpPr>
        <p:spPr>
          <a:xfrm>
            <a:off x="1285240" y="3106420"/>
            <a:ext cx="10069195" cy="1316355"/>
          </a:xfrm>
          <a:prstGeom prst="rect">
            <a:avLst/>
          </a:prstGeom>
          <a:noFill/>
        </p:spPr>
        <p:txBody>
          <a:bodyPr wrap="square" rtlCol="0" anchor="t">
            <a:noAutofit/>
          </a:bodyPr>
          <a:p>
            <a:r>
              <a:rPr lang="zh-CN" altLang="en-US" sz="2800"/>
              <a:t>　2021年10月，《生物多样性公约》缔约方大会第十五次会议第一阶段会议在中国昆明举办。</a:t>
            </a:r>
            <a:endParaRPr lang="zh-CN" altLang="en-US" sz="2800"/>
          </a:p>
        </p:txBody>
      </p:sp>
      <p:sp>
        <p:nvSpPr>
          <p:cNvPr id="5" name="文本框 4"/>
          <p:cNvSpPr txBox="1"/>
          <p:nvPr/>
        </p:nvSpPr>
        <p:spPr>
          <a:xfrm>
            <a:off x="2362200" y="4422775"/>
            <a:ext cx="6096000" cy="1383665"/>
          </a:xfrm>
          <a:prstGeom prst="rect">
            <a:avLst/>
          </a:prstGeom>
          <a:noFill/>
        </p:spPr>
        <p:txBody>
          <a:bodyPr wrap="square" rtlCol="0" anchor="t">
            <a:spAutoFit/>
          </a:bodyPr>
          <a:p>
            <a:r>
              <a:rPr lang="zh-CN" altLang="en-US" sz="2800"/>
              <a:t>2022年12月19日，在蒙特利尔联合国生物多样性大会通过了2030年的4项目标和23项指标！</a:t>
            </a:r>
            <a:endParaRPr lang="zh-CN" altLang="en-US" sz="2800"/>
          </a:p>
        </p:txBody>
      </p:sp>
    </p:spTree>
  </p:cSld>
  <p:clrMapOvr>
    <a:masterClrMapping/>
  </p:clrMapOvr>
  <p:transition spd="med">
    <p:pull dir="lu"/>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日期占位符 1"/>
          <p:cNvSpPr/>
          <p:nvPr>
            <p:ph type="dt" sz="half" idx="10"/>
          </p:nvPr>
        </p:nvSpPr>
        <p:spPr/>
        <p:txBody>
          <a:bodyPr/>
          <a:p>
            <a:pPr lvl="0"/>
            <a:fld id="{BB962C8B-B14F-4D97-AF65-F5344CB8AC3E}" type="datetime1">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charset="0"/>
            </a:endParaRPr>
          </a:p>
        </p:txBody>
      </p:sp>
      <p:sp>
        <p:nvSpPr>
          <p:cNvPr id="3" name="灯片编号占位符 2"/>
          <p:cNvSpPr/>
          <p:nvPr>
            <p:ph type="sldNum" sz="quarter" idx="12"/>
          </p:nvPr>
        </p:nvSpPr>
        <p:spPr/>
        <p:txBody>
          <a:bodyPr/>
          <a:p>
            <a:pPr lvl="0"/>
            <a:fld id="{9A0DB2DC-4C9A-4742-B13C-FB6460FD3503}" type="slidenum">
              <a:rPr lang="zh-CN" altLang="en-US" dirty="0">
                <a:effectLst>
                  <a:outerShdw blurRad="38100" dist="38100" dir="2700000">
                    <a:srgbClr val="C0C0C0"/>
                  </a:outerShdw>
                </a:effectLst>
              </a:rPr>
            </a:fld>
            <a:endParaRPr lang="zh-CN" altLang="en-US" dirty="0">
              <a:effectLst>
                <a:outerShdw blurRad="38100" dist="38100" dir="2700000">
                  <a:srgbClr val="C0C0C0"/>
                </a:outerShdw>
              </a:effectLst>
              <a:latin typeface="Times New Roman" panose="02020603050405020304" charset="0"/>
            </a:endParaRPr>
          </a:p>
        </p:txBody>
      </p:sp>
      <p:sp>
        <p:nvSpPr>
          <p:cNvPr id="321538" name="内容占位符 321537"/>
          <p:cNvSpPr>
            <a:spLocks noGrp="1" noRot="1"/>
          </p:cNvSpPr>
          <p:nvPr>
            <p:ph idx="4294967295"/>
          </p:nvPr>
        </p:nvSpPr>
        <p:spPr>
          <a:xfrm>
            <a:off x="1524000" y="0"/>
            <a:ext cx="8382000" cy="6858000"/>
          </a:xfrm>
        </p:spPr>
        <p:txBody>
          <a:bodyPr/>
          <a:p>
            <a:pPr>
              <a:buNone/>
            </a:pPr>
            <a:r>
              <a:rPr lang="en-US" altLang="zh-CN"/>
              <a:t>       </a:t>
            </a:r>
            <a:r>
              <a:rPr lang="en-US" altLang="zh-CN" dirty="0"/>
              <a:t>             </a:t>
            </a:r>
            <a:r>
              <a:rPr lang="en-US" altLang="zh-CN" sz="3600" dirty="0"/>
              <a:t>(</a:t>
            </a:r>
            <a:r>
              <a:rPr lang="zh-CN" altLang="en-US" sz="3600" dirty="0">
                <a:latin typeface="宋体" panose="02010600030101010101" pitchFamily="2" charset="-122"/>
              </a:rPr>
              <a:t>五</a:t>
            </a:r>
            <a:r>
              <a:rPr lang="en-US" altLang="zh-CN" sz="3600" dirty="0"/>
              <a:t>)  </a:t>
            </a:r>
            <a:r>
              <a:rPr lang="zh-CN" altLang="en-US" sz="3600" dirty="0"/>
              <a:t>海洋污染</a:t>
            </a:r>
            <a:endParaRPr lang="zh-CN" altLang="en-US" sz="3600" dirty="0"/>
          </a:p>
          <a:p>
            <a:pPr>
              <a:buNone/>
            </a:pPr>
            <a:r>
              <a:rPr lang="zh-CN" altLang="en-US" sz="3600" dirty="0"/>
              <a:t>      </a:t>
            </a:r>
            <a:r>
              <a:rPr lang="zh-CN" altLang="en-US" sz="2800" dirty="0"/>
              <a:t>一、石油烃污染</a:t>
            </a:r>
            <a:endParaRPr lang="zh-CN" altLang="en-US" sz="2800" dirty="0"/>
          </a:p>
          <a:p>
            <a:pPr>
              <a:buNone/>
            </a:pPr>
            <a:r>
              <a:rPr lang="zh-CN" altLang="en-US" sz="2800" dirty="0"/>
              <a:t>        二、近海海域赤潮</a:t>
            </a:r>
            <a:endParaRPr lang="zh-CN" altLang="en-US" sz="2800" dirty="0"/>
          </a:p>
          <a:p>
            <a:pPr>
              <a:buNone/>
            </a:pPr>
            <a:r>
              <a:rPr lang="zh-CN" altLang="en-US" sz="2800" dirty="0"/>
              <a:t>        三、污染海洋的新罪犯</a:t>
            </a:r>
            <a:r>
              <a:rPr lang="en-US" altLang="zh-CN" sz="2800">
                <a:latin typeface="Arial" panose="020B0604020202020204" pitchFamily="34" charset="0"/>
              </a:rPr>
              <a:t>—</a:t>
            </a:r>
            <a:r>
              <a:rPr lang="zh-CN" altLang="en-US" sz="2800" dirty="0"/>
              <a:t>有机锡</a:t>
            </a:r>
            <a:endParaRPr lang="zh-CN" altLang="en-US" sz="2800" dirty="0"/>
          </a:p>
          <a:p>
            <a:pPr>
              <a:buNone/>
            </a:pPr>
            <a:r>
              <a:rPr lang="zh-CN" altLang="en-US" sz="2800" dirty="0"/>
              <a:t>        </a:t>
            </a:r>
            <a:r>
              <a:rPr lang="en-US" altLang="zh-CN" sz="2800"/>
              <a:t>1</a:t>
            </a:r>
            <a:r>
              <a:rPr lang="zh-CN" altLang="en-US" sz="2800" dirty="0"/>
              <a:t>、三丁酯锡（</a:t>
            </a:r>
            <a:r>
              <a:rPr lang="en-US" altLang="zh-CN" sz="2800"/>
              <a:t>TBT</a:t>
            </a:r>
            <a:r>
              <a:rPr lang="zh-CN" altLang="en-US" sz="2800"/>
              <a:t>）</a:t>
            </a:r>
            <a:r>
              <a:rPr lang="zh-CN" altLang="en-US" sz="2800" dirty="0"/>
              <a:t>的毒性， </a:t>
            </a:r>
            <a:r>
              <a:rPr lang="en-US" altLang="zh-CN" sz="2800"/>
              <a:t>TBT</a:t>
            </a:r>
            <a:r>
              <a:rPr lang="zh-CN" altLang="en-US" sz="2800" dirty="0"/>
              <a:t>具有突出的</a:t>
            </a:r>
            <a:endParaRPr lang="zh-CN" altLang="en-US" sz="2800" dirty="0"/>
          </a:p>
          <a:p>
            <a:pPr>
              <a:buNone/>
            </a:pPr>
            <a:r>
              <a:rPr lang="zh-CN" altLang="en-US" sz="2800" dirty="0"/>
              <a:t>“灭杀生物能力”。</a:t>
            </a:r>
            <a:endParaRPr lang="zh-CN" altLang="en-US" sz="2800" dirty="0"/>
          </a:p>
          <a:p>
            <a:pPr>
              <a:buNone/>
            </a:pPr>
            <a:r>
              <a:rPr lang="zh-CN" altLang="en-US" sz="2800" dirty="0"/>
              <a:t>       </a:t>
            </a:r>
            <a:r>
              <a:rPr lang="en-US" altLang="zh-CN" sz="2800"/>
              <a:t>2</a:t>
            </a:r>
            <a:r>
              <a:rPr lang="zh-CN" altLang="en-US" sz="2800" dirty="0"/>
              <a:t>、三丁酯锡（</a:t>
            </a:r>
            <a:r>
              <a:rPr lang="en-US" altLang="zh-CN" sz="2800"/>
              <a:t>TBT</a:t>
            </a:r>
            <a:r>
              <a:rPr lang="zh-CN" altLang="en-US" sz="2800"/>
              <a:t>）</a:t>
            </a:r>
            <a:r>
              <a:rPr lang="zh-CN" altLang="en-US" sz="2800" dirty="0"/>
              <a:t>流入海洋的途径</a:t>
            </a:r>
            <a:endParaRPr lang="zh-CN" altLang="en-US" sz="2800" dirty="0"/>
          </a:p>
          <a:p>
            <a:pPr>
              <a:buNone/>
            </a:pPr>
            <a:r>
              <a:rPr lang="zh-CN" altLang="en-US" sz="2800" dirty="0"/>
              <a:t>四、微塑料</a:t>
            </a:r>
            <a:endParaRPr lang="zh-CN" altLang="en-US" sz="2800" dirty="0"/>
          </a:p>
        </p:txBody>
      </p:sp>
    </p:spTree>
  </p:cSld>
  <p:clrMapOvr>
    <a:masterClrMapping/>
  </p:clrMapOvr>
  <p:transition spd="med">
    <p:pull dir="lu"/>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p:nvPr>
        </p:nvSpPr>
        <p:spPr/>
        <p:txBody>
          <a:bodyPr/>
          <a:p>
            <a:r>
              <a:rPr lang="zh-CN" altLang="en-US"/>
              <a:t>持久性有机污染物（Persistent Organic Pollutants，简称POPs）</a:t>
            </a:r>
            <a:endParaRPr lang="zh-CN" altLang="en-US"/>
          </a:p>
          <a:p>
            <a:r>
              <a:rPr lang="zh-CN" altLang="en-US"/>
              <a:t>指人类合成的能持久存在于环境中、通过生物食物链（网）累积、并对人类健康造成有害影响的化学物质。它具备四种特性：高毒性、持久性、生物积累性、远距离迁移性，而对位于生物链顶端的人类来说，这些毒性比之最初放大了七万倍以上。</a:t>
            </a:r>
            <a:endParaRPr lang="zh-CN" altLang="en-US"/>
          </a:p>
          <a:p>
            <a:r>
              <a:rPr lang="zh-CN" altLang="en-US"/>
              <a:t>国际上广泛关注的新污染物有四大类：一是持久性有机污染物，二是内分泌干扰物，三是抗生素，四是微塑料，在被排放到环境中后，被界定为新污染物。</a:t>
            </a:r>
            <a:endParaRPr lang="zh-CN" altLang="en-US"/>
          </a:p>
        </p:txBody>
      </p:sp>
    </p:spTree>
  </p:cSld>
  <p:clrMapOvr>
    <a:masterClrMapping/>
  </p:clrMapOvr>
  <p:transition/>
</p:sld>
</file>

<file path=ppt/tags/tag1.xml><?xml version="1.0" encoding="utf-8"?>
<p:tagLst xmlns:p="http://schemas.openxmlformats.org/presentationml/2006/main">
  <p:tag name="KSO_WM_UNIT_PLACING_PICTURE_USER_VIEWPORT" val="{&quot;height&quot;:3197,&quot;width&quot;:9600}"/>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UNIT_PLACING_PICTURE_USER_VIEWPORT" val="{&quot;height&quot;:6855,&quot;width&quot;:9600}"/>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COMMONDATA" val="eyJoZGlkIjoiYWJhMDYyZGJkOWRmMWRlMzMzOGFhOTAxZDQ2MzdmYzYifQ=="/>
  <p:tag name="KSO_WPP_MARK_KEY" val="8ecae39f-25bf-49ad-93db-defbec82dfc0"/>
  <p:tag name="commondata" val="eyJoZGlkIjoiM2MxMDVjZGE4ZWJkZmM5YjgzNTMyMzA3ODMyZTc2ZWE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22310</Words>
  <Application>WPS 演示</Application>
  <PresentationFormat>宽屏</PresentationFormat>
  <Paragraphs>1948</Paragraphs>
  <Slides>155</Slides>
  <Notes>0</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155</vt:i4>
      </vt:variant>
    </vt:vector>
  </HeadingPairs>
  <TitlesOfParts>
    <vt:vector size="177" baseType="lpstr">
      <vt:lpstr>Arial</vt:lpstr>
      <vt:lpstr>宋体</vt:lpstr>
      <vt:lpstr>Wingdings</vt:lpstr>
      <vt:lpstr>Verdana</vt:lpstr>
      <vt:lpstr>楷体_GB2312</vt:lpstr>
      <vt:lpstr>新宋体</vt:lpstr>
      <vt:lpstr>Times New Roman</vt:lpstr>
      <vt:lpstr>微软雅黑</vt:lpstr>
      <vt:lpstr>Calibri</vt:lpstr>
      <vt:lpstr>Arial Unicode MS</vt:lpstr>
      <vt:lpstr>隶书</vt:lpstr>
      <vt:lpstr>MicrosoftYaHei</vt:lpstr>
      <vt:lpstr>Tahoma</vt:lpstr>
      <vt:lpstr>Arial Unicode MS</vt:lpstr>
      <vt:lpstr>华文行楷</vt:lpstr>
      <vt:lpstr>黑体</vt:lpstr>
      <vt:lpstr>Arial Black</vt:lpstr>
      <vt:lpstr>Segoe Print</vt:lpstr>
      <vt:lpstr>Office 主题</vt:lpstr>
      <vt:lpstr>Paint.Picture</vt:lpstr>
      <vt:lpstr>Paint.Picture</vt:lpstr>
      <vt:lpstr>Paint.Picture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COD计算</vt:lpstr>
      <vt:lpstr>PowerPoint 演示文稿</vt:lpstr>
      <vt:lpstr>PowerPoint 演示文稿</vt:lpstr>
      <vt:lpstr>PowerPoint 演示文稿</vt:lpstr>
      <vt:lpstr>PowerPoint 演示文稿</vt:lpstr>
      <vt:lpstr>PowerPoint 演示文稿</vt:lpstr>
      <vt:lpstr> 表示耗氧有机物指标</vt:lpstr>
      <vt:lpstr>PowerPoint 演示文稿</vt:lpstr>
      <vt:lpstr>PowerPoint 演示文稿</vt:lpstr>
      <vt:lpstr>PowerPoint 演示文稿</vt:lpstr>
      <vt:lpstr>PowerPoint 演示文稿</vt:lpstr>
      <vt:lpstr>PowerPoint 演示文稿</vt:lpstr>
      <vt:lpstr>PowerPoint 演示文稿</vt:lpstr>
      <vt:lpstr>微塑料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2、大气污染源的分类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1、（COx）主要是一氧化碳和二氧化碳</vt:lpstr>
      <vt:lpstr>PowerPoint 演示文稿</vt:lpstr>
      <vt:lpstr>PowerPoint 演示文稿</vt:lpstr>
      <vt:lpstr>6、光化学烟雾——洛杉矶烟雾(二次污染物）</vt:lpstr>
      <vt:lpstr>3、碳氢化合物（CxHy）</vt:lpstr>
      <vt:lpstr>PowerPoint 演示文稿</vt:lpstr>
      <vt:lpstr>4、硫氧化合物（SOx）</vt:lpstr>
      <vt:lpstr>伦敦空气污染事件</vt:lpstr>
      <vt:lpstr>PowerPoint 演示文稿</vt:lpstr>
      <vt:lpstr>PowerPoint 演示文稿</vt:lpstr>
      <vt:lpstr>PowerPoint 演示文稿</vt:lpstr>
      <vt:lpstr>霾，也称灰霾（烟霞），是指原因不明的因大量烟、尘等微粒悬浮而形成的浑浊现象。霾的核心物质是空气中悬浮的灰尘颗粒，气象学上称为气溶胶颗粒。</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2、再使用原则((reusing)，要求制造产品和包装容器能够以初始的形式被反复使用。再使用原则要求抵制当今世界一次性用品的泛滥，生产者应该将制品及其包装当作一种日常生活器具来设计，使其像餐具和背包一样可以被再三使用。再使用原则还要求制造商应该尽量延长产品的使用期，而不是非常快地更新换代。</vt:lpstr>
      <vt:lpstr> </vt:lpstr>
      <vt:lpstr>PowerPoint 演示文稿</vt:lpstr>
      <vt:lpstr>危险废物的危害</vt:lpstr>
      <vt:lpstr>PowerPoint 演示文稿</vt:lpstr>
      <vt:lpstr>一、噪声污染</vt:lpstr>
      <vt:lpstr>噪声的主要特征 </vt:lpstr>
      <vt:lpstr>噪声源及其分类 </vt:lpstr>
      <vt:lpstr>PowerPoint 演示文稿</vt:lpstr>
      <vt:lpstr>PowerPoint 演示文稿</vt:lpstr>
      <vt:lpstr>PowerPoint 演示文稿</vt:lpstr>
      <vt:lpstr>《城市区域噪声标准》中规定的城市五类区域的环境噪声最高限值</vt:lpstr>
      <vt:lpstr>PowerPoint 演示文稿</vt:lpstr>
      <vt:lpstr>噪声对人体的危害</vt:lpstr>
      <vt:lpstr>PowerPoint 演示文稿</vt:lpstr>
      <vt:lpstr>PowerPoint 演示文稿</vt:lpstr>
      <vt:lpstr>PowerPoint 演示文稿</vt:lpstr>
      <vt:lpstr>PowerPoint 演示文稿</vt:lpstr>
      <vt:lpstr>噪声污染的控制 </vt:lpstr>
      <vt:lpstr>PowerPoint 演示文稿</vt:lpstr>
      <vt:lpstr>PowerPoint 演示文稿</vt:lpstr>
      <vt:lpstr>PowerPoint 演示文稿</vt:lpstr>
      <vt:lpstr>PowerPoint 演示文稿</vt:lpstr>
      <vt:lpstr>PowerPoint 演示文稿</vt:lpstr>
      <vt:lpstr>二、电磁辐射污染 </vt:lpstr>
      <vt:lpstr>电磁辐射的影响与危害 </vt:lpstr>
      <vt:lpstr>PowerPoint 演示文稿</vt:lpstr>
      <vt:lpstr>PowerPoint 演示文稿</vt:lpstr>
      <vt:lpstr>三、热污染 </vt:lpstr>
      <vt:lpstr>引起热污染的原因 </vt:lpstr>
      <vt:lpstr>PowerPoint 演示文稿</vt:lpstr>
      <vt:lpstr>四、光污染 </vt:lpstr>
      <vt:lpstr>光污染及其危害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顾晶雯</dc:creator>
  <cp:lastModifiedBy>虺.悭臾</cp:lastModifiedBy>
  <cp:revision>63</cp:revision>
  <dcterms:created xsi:type="dcterms:W3CDTF">2023-02-15T12:24:00Z</dcterms:created>
  <dcterms:modified xsi:type="dcterms:W3CDTF">2025-02-23T12:54:21Z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197D0D9F114842C79A431D5E14AC4D46</vt:lpwstr>
  </property>
  <property fmtid="{D5CDD505-2E9C-101B-9397-08002B2CF9AE}" pid="3" name="KSOProductBuildVer">
    <vt:lpwstr>2052-12.1.0.19770</vt:lpwstr>
  </property>
</Properties>
</file>