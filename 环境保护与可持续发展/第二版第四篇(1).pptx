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316" r:id="rId38"/>
    <p:sldId id="317" r:id="rId39"/>
    <p:sldId id="323" r:id="rId40"/>
    <p:sldId id="318" r:id="rId41"/>
    <p:sldId id="319" r:id="rId42"/>
    <p:sldId id="320" r:id="rId43"/>
    <p:sldId id="321" r:id="rId44"/>
    <p:sldId id="322" r:id="rId45"/>
  </p:sldIdLst>
  <p:sldSz cx="12192000" cy="6858000"/>
  <p:notesSz cx="6858000" cy="9144000"/>
  <p:custDataLst>
    <p:tags r:id="rId4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gs" Target="tags/tag1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3627755" y="20955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第十五章</a:t>
            </a:r>
            <a:r>
              <a:rPr lang="en-US" altLang="zh-CN"/>
              <a:t> </a:t>
            </a:r>
            <a:r>
              <a:rPr lang="zh-CN"/>
              <a:t>环境伦理观的产生及主要内容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标题 6145"/>
          <p:cNvSpPr>
            <a:spLocks noGrp="1"/>
          </p:cNvSpPr>
          <p:nvPr>
            <p:ph type="title"/>
          </p:nvPr>
        </p:nvSpPr>
        <p:spPr>
          <a:xfrm>
            <a:off x="2208213" y="1484313"/>
            <a:ext cx="7772400" cy="1143000"/>
          </a:xfrm>
        </p:spPr>
        <p:txBody>
          <a:bodyPr anchor="ctr" anchorCtr="0"/>
          <a:p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第一节 环境伦理观的由来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6147" name="文本占位符 6146"/>
          <p:cNvSpPr>
            <a:spLocks noGrp="1"/>
          </p:cNvSpPr>
          <p:nvPr>
            <p:ph type="body" idx="1"/>
          </p:nvPr>
        </p:nvSpPr>
        <p:spPr>
          <a:xfrm>
            <a:off x="2419350" y="3249613"/>
            <a:ext cx="7558088" cy="2054225"/>
          </a:xfrm>
          <a:solidFill>
            <a:srgbClr val="66FF33">
              <a:alpha val="34000"/>
            </a:srgbClr>
          </a:solidFill>
        </p:spPr>
        <p:txBody>
          <a:bodyPr>
            <a:normAutofit lnSpcReduction="10000"/>
          </a:bodyPr>
          <a:p>
            <a:pPr>
              <a:buNone/>
            </a:pPr>
            <a:r>
              <a:rPr lang="zh-CN" altLang="en-US" b="1" dirty="0">
                <a:effectLst>
                  <a:outerShdw blurRad="38100" dist="38100" dir="2700000">
                    <a:srgbClr val="FFFFFF"/>
                  </a:outerShdw>
                </a:effectLst>
              </a:rPr>
              <a:t>一</a:t>
            </a:r>
            <a:r>
              <a:rPr lang="en-US" altLang="zh-CN" b="1">
                <a:effectLst>
                  <a:outerShdw blurRad="38100" dist="38100" dir="2700000">
                    <a:srgbClr val="FFFFFF"/>
                  </a:outerShdw>
                </a:effectLst>
              </a:rPr>
              <a:t>.</a:t>
            </a:r>
            <a:r>
              <a:rPr lang="zh-CN" altLang="en-US" b="1" dirty="0">
                <a:effectLst>
                  <a:outerShdw blurRad="38100" dist="38100" dir="2700000">
                    <a:srgbClr val="FFFFFF"/>
                  </a:outerShdw>
                </a:effectLst>
              </a:rPr>
              <a:t>人类与环境的关系分析</a:t>
            </a:r>
            <a:endParaRPr lang="zh-CN" altLang="en-US" b="1" dirty="0">
              <a:effectLst>
                <a:outerShdw blurRad="38100" dist="38100" dir="2700000">
                  <a:srgbClr val="FFFFFF"/>
                </a:outerShdw>
              </a:effectLst>
            </a:endParaRPr>
          </a:p>
          <a:p>
            <a:pPr>
              <a:buNone/>
            </a:pPr>
            <a:r>
              <a:rPr lang="zh-CN" altLang="en-US" b="1" dirty="0">
                <a:effectLst>
                  <a:outerShdw blurRad="38100" dist="38100" dir="2700000">
                    <a:srgbClr val="FFFFFF"/>
                  </a:outerShdw>
                </a:effectLst>
              </a:rPr>
              <a:t>二</a:t>
            </a:r>
            <a:r>
              <a:rPr lang="en-US" altLang="zh-CN" b="1">
                <a:effectLst>
                  <a:outerShdw blurRad="38100" dist="38100" dir="2700000">
                    <a:srgbClr val="FFFFFF"/>
                  </a:outerShdw>
                </a:effectLst>
              </a:rPr>
              <a:t>.</a:t>
            </a:r>
            <a:r>
              <a:rPr lang="zh-CN" altLang="en-US" b="1" dirty="0">
                <a:effectLst>
                  <a:outerShdw blurRad="38100" dist="38100" dir="2700000">
                    <a:srgbClr val="FFFFFF"/>
                  </a:outerShdw>
                </a:effectLst>
              </a:rPr>
              <a:t>古今中外人类对自然态度的变化</a:t>
            </a:r>
            <a:endParaRPr lang="zh-CN" altLang="en-US" b="1" dirty="0">
              <a:effectLst>
                <a:outerShdw blurRad="38100" dist="38100" dir="2700000">
                  <a:srgbClr val="FFFFFF"/>
                </a:outerShdw>
              </a:effectLst>
            </a:endParaRPr>
          </a:p>
          <a:p>
            <a:pPr>
              <a:buNone/>
            </a:pPr>
            <a:r>
              <a:rPr lang="zh-CN" altLang="en-US" b="1" dirty="0">
                <a:effectLst>
                  <a:outerShdw blurRad="38100" dist="38100" dir="2700000">
                    <a:srgbClr val="FFFFFF"/>
                  </a:outerShdw>
                </a:effectLst>
              </a:rPr>
              <a:t>三</a:t>
            </a:r>
            <a:r>
              <a:rPr lang="en-US" altLang="zh-CN" b="1">
                <a:effectLst>
                  <a:outerShdw blurRad="38100" dist="38100" dir="2700000">
                    <a:srgbClr val="FFFFFF"/>
                  </a:outerShdw>
                </a:effectLst>
              </a:rPr>
              <a:t>.</a:t>
            </a:r>
            <a:r>
              <a:rPr lang="zh-CN" altLang="en-US" b="1" dirty="0">
                <a:effectLst>
                  <a:outerShdw blurRad="38100" dist="38100" dir="2700000">
                    <a:srgbClr val="FFFFFF"/>
                  </a:outerShdw>
                </a:effectLst>
              </a:rPr>
              <a:t>协调人类与环境的关系是时代的需要</a:t>
            </a:r>
            <a:endParaRPr lang="zh-CN" altLang="en-US" b="1" dirty="0">
              <a:effectLst>
                <a:outerShdw blurRad="38100" dist="38100" dir="2700000">
                  <a:srgbClr val="FFFFFF"/>
                </a:outerShdw>
              </a:effectLst>
            </a:endParaRPr>
          </a:p>
          <a:p>
            <a:pPr>
              <a:buNone/>
            </a:pPr>
            <a:r>
              <a:rPr lang="zh-CN" altLang="en-US" b="1" dirty="0">
                <a:effectLst>
                  <a:outerShdw blurRad="38100" dist="38100" dir="2700000">
                    <a:srgbClr val="FFFFFF"/>
                  </a:outerShdw>
                </a:effectLst>
              </a:rPr>
              <a:t>四</a:t>
            </a:r>
            <a:r>
              <a:rPr lang="en-US" altLang="zh-CN" b="1">
                <a:effectLst>
                  <a:outerShdw blurRad="38100" dist="38100" dir="2700000">
                    <a:srgbClr val="FFFFFF"/>
                  </a:outerShdw>
                </a:effectLst>
              </a:rPr>
              <a:t>.</a:t>
            </a:r>
            <a:r>
              <a:rPr lang="zh-CN" altLang="en-US" b="1" dirty="0">
                <a:effectLst>
                  <a:outerShdw blurRad="38100" dist="38100" dir="2700000">
                    <a:srgbClr val="FFFFFF"/>
                  </a:outerShdw>
                </a:effectLst>
              </a:rPr>
              <a:t>环境伦理观的产生</a:t>
            </a:r>
            <a:endParaRPr lang="zh-CN" altLang="en-US" b="1" dirty="0">
              <a:effectLst>
                <a:outerShdw blurRad="38100" dist="38100" dir="2700000">
                  <a:srgbClr val="FFFFFF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7169"/>
          <p:cNvSpPr>
            <a:spLocks noGrp="1"/>
          </p:cNvSpPr>
          <p:nvPr>
            <p:ph type="title"/>
          </p:nvPr>
        </p:nvSpPr>
        <p:spPr>
          <a:xfrm>
            <a:off x="2063750" y="549275"/>
            <a:ext cx="7772400" cy="1143000"/>
          </a:xfrm>
        </p:spPr>
        <p:txBody>
          <a:bodyPr anchor="ctr" anchorCtr="0"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一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.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人类与环境的关系分析</a:t>
            </a:r>
            <a:endParaRPr lang="zh-CN" altLang="en-US" sz="3200" b="1" dirty="0"/>
          </a:p>
        </p:txBody>
      </p:sp>
      <p:sp>
        <p:nvSpPr>
          <p:cNvPr id="7171" name="文本占位符 7170"/>
          <p:cNvSpPr>
            <a:spLocks noGrp="1"/>
          </p:cNvSpPr>
          <p:nvPr>
            <p:ph type="body" idx="1"/>
          </p:nvPr>
        </p:nvSpPr>
        <p:spPr>
          <a:xfrm>
            <a:off x="1847850" y="1700213"/>
            <a:ext cx="8540750" cy="2754312"/>
          </a:xfrm>
        </p:spPr>
        <p:txBody>
          <a:bodyPr>
            <a:normAutofit fontScale="90000"/>
          </a:bodyPr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研究人与环境的关系，要关心的主要问题是如何防止自然环境的破坏。因此，环境问题的治理首先要从提高人类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自身的素质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做起。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    在人与自然环境的关系中，一方面是自然环境决定人，这是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人的自然化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，另一方面是人决定自然，这是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自然的人化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。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1" name="文本占位符 37890"/>
          <p:cNvSpPr>
            <a:spLocks noGrp="1"/>
          </p:cNvSpPr>
          <p:nvPr>
            <p:ph type="body" idx="1"/>
          </p:nvPr>
        </p:nvSpPr>
        <p:spPr>
          <a:xfrm>
            <a:off x="1774825" y="1052513"/>
            <a:ext cx="8540750" cy="2755900"/>
          </a:xfrm>
        </p:spPr>
        <p:txBody>
          <a:bodyPr/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人类在自然界中占有特殊位置。人类改变自然的活动主要表现在两个方面的对立：第一，人的意识与自然界的对立。第二，人的自然力（包括人控制的自然力）与自然界的对立。 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1524000" y="692150"/>
            <a:ext cx="8820150" cy="1143000"/>
          </a:xfrm>
        </p:spPr>
        <p:txBody>
          <a:bodyPr anchor="ctr" anchorCtr="0"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二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.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古今中外人类对自然态度的变化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2001838" y="2503488"/>
            <a:ext cx="8118475" cy="3109912"/>
          </a:xfrm>
        </p:spPr>
        <p:txBody>
          <a:bodyPr/>
          <a:p>
            <a:pPr>
              <a:lnSpc>
                <a:spcPct val="120000"/>
              </a:lnSpc>
            </a:pP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按照人类与自然打交道的方式，人类经历了三种社会形态：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渔猎社会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农业社会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工业社会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，而目前正向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信息社会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迈进。渔猎社会的人类只能现成的从自然界里获取食物。在农业社会，人们聚地而居，而且耕种成为人们主要的食物来源，人们对土地异常崇拜。</a:t>
            </a:r>
            <a:endParaRPr lang="zh-CN" altLang="en-US" sz="2400" b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5" name="文本占位符 38914"/>
          <p:cNvSpPr>
            <a:spLocks noGrp="1"/>
          </p:cNvSpPr>
          <p:nvPr>
            <p:ph type="body" idx="1"/>
          </p:nvPr>
        </p:nvSpPr>
        <p:spPr>
          <a:xfrm>
            <a:off x="2063750" y="1052513"/>
            <a:ext cx="8208963" cy="3455987"/>
          </a:xfrm>
        </p:spPr>
        <p:txBody>
          <a:bodyPr/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总体来说，农业文明中的人类强调的不是与自然的对立，而是如何与自然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协调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好关系以及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适应自然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。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18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世纪，英国率先发生了工业革命，接着，工业化的浪潮迅速蔓延到全球，人类进入了工业文明时代。 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9217"/>
          <p:cNvSpPr>
            <a:spLocks noGrp="1"/>
          </p:cNvSpPr>
          <p:nvPr>
            <p:ph type="title"/>
          </p:nvPr>
        </p:nvSpPr>
        <p:spPr>
          <a:xfrm>
            <a:off x="2351088" y="549275"/>
            <a:ext cx="7772400" cy="1143000"/>
          </a:xfrm>
        </p:spPr>
        <p:txBody>
          <a:bodyPr anchor="ctr" anchorCtr="0"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三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.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协调人类与环境的关系是时代的需要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9219" name="文本占位符 9218"/>
          <p:cNvSpPr>
            <a:spLocks noGrp="1"/>
          </p:cNvSpPr>
          <p:nvPr>
            <p:ph type="body" idx="1"/>
          </p:nvPr>
        </p:nvSpPr>
        <p:spPr>
          <a:xfrm>
            <a:off x="1774825" y="1989138"/>
            <a:ext cx="8642350" cy="3024187"/>
          </a:xfrm>
        </p:spPr>
        <p:txBody>
          <a:bodyPr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工业文明时代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，人类倚仗其发达的科学技术和社会生产力，在利用自然资源和自然环境方面取得了重大进展，社会物质产品也空前地丰富。但是，由于这种经济活动是以对自然界的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无情榨取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为代价的，这种对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自然不负责任的。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9" name="文本占位符 39938"/>
          <p:cNvSpPr>
            <a:spLocks noGrp="1"/>
          </p:cNvSpPr>
          <p:nvPr>
            <p:ph type="body" idx="1"/>
          </p:nvPr>
        </p:nvSpPr>
        <p:spPr>
          <a:xfrm>
            <a:off x="2135188" y="1484313"/>
            <a:ext cx="7772400" cy="2736850"/>
          </a:xfrm>
        </p:spPr>
        <p:txBody>
          <a:bodyPr>
            <a:normAutofit lnSpcReduction="20000"/>
          </a:bodyPr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已经产生了严重的环境问题，这就是：大气“温室效应”的加剧；地球上臭氧层遭破坏；大面积的酸雨；有毒化学品的危害；固体废弃物的增加；土壤侵蚀；森林锐减；沙漠化严重；水资源短缺；水环境污染；等等。</a:t>
            </a:r>
            <a:b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</a:b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120000"/>
              </a:lnSpc>
            </a:pPr>
            <a:endParaRPr lang="zh-CN" altLang="en-US" sz="2800" dirty="0"/>
          </a:p>
        </p:txBody>
      </p:sp>
    </p:spTree>
  </p:cSld>
  <p:clrMapOvr>
    <a:masterClrMapping/>
  </p:clrMapOvr>
  <p:transition spd="med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文本占位符 10241"/>
          <p:cNvSpPr>
            <a:spLocks noGrp="1"/>
          </p:cNvSpPr>
          <p:nvPr>
            <p:ph type="body" idx="1"/>
          </p:nvPr>
        </p:nvSpPr>
        <p:spPr>
          <a:xfrm>
            <a:off x="1832610" y="1090295"/>
            <a:ext cx="7727315" cy="3802380"/>
          </a:xfrm>
        </p:spPr>
        <p:txBody>
          <a:bodyPr>
            <a:noAutofit/>
          </a:bodyPr>
          <a:p>
            <a:pPr>
              <a:lnSpc>
                <a:spcPct val="120000"/>
              </a:lnSpc>
            </a:pP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</a:rPr>
              <a:t>今天全球性的生态环境问题，从根本上说，是由于人类在发展经济和科学技术的过程中，没有能正确地处理好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人类活动</a:t>
            </a: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</a:rPr>
              <a:t>与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自然生态</a:t>
            </a: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</a:rPr>
              <a:t>的关系问题而导致的。因此，需要创建一种新的人类文明方式，这种方式可以称之为“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生态文明</a:t>
            </a: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</a:rPr>
              <a:t>”。</a:t>
            </a:r>
            <a:endParaRPr lang="zh-CN" altLang="en-US" b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3" name="文本占位符 40962"/>
          <p:cNvSpPr>
            <a:spLocks noGrp="1"/>
          </p:cNvSpPr>
          <p:nvPr>
            <p:ph type="body" idx="1"/>
          </p:nvPr>
        </p:nvSpPr>
        <p:spPr>
          <a:xfrm>
            <a:off x="2208213" y="1268413"/>
            <a:ext cx="7772400" cy="3600450"/>
          </a:xfrm>
        </p:spPr>
        <p:txBody>
          <a:bodyPr/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新的生态文明的最大特点，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是要求人类重建人与自然和谐统一的关系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。新的生态文明关于人与自然关系的观点，既克服了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人类中心主意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的片面性，同时又肯定了人类伟大的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能动作用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，对人类在自然中的地位和作用给予了明智而合理的规定</a:t>
            </a:r>
            <a:r>
              <a:rPr lang="zh-CN" altLang="en-US" sz="2800" dirty="0">
                <a:solidFill>
                  <a:schemeClr val="bg1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</a:rPr>
              <a:t>。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</p:spTree>
  </p:cSld>
  <p:clrMapOvr>
    <a:masterClrMapping/>
  </p:clrMapOvr>
  <p:transition spd="med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1265"/>
          <p:cNvSpPr>
            <a:spLocks noGrp="1"/>
          </p:cNvSpPr>
          <p:nvPr>
            <p:ph type="title"/>
          </p:nvPr>
        </p:nvSpPr>
        <p:spPr>
          <a:xfrm>
            <a:off x="2063750" y="476250"/>
            <a:ext cx="7772400" cy="1143000"/>
          </a:xfrm>
        </p:spPr>
        <p:txBody>
          <a:bodyPr anchor="ctr" anchorCtr="0"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四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.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环境伦理观的产生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11267" name="文本占位符 11266"/>
          <p:cNvSpPr>
            <a:spLocks noGrp="1"/>
          </p:cNvSpPr>
          <p:nvPr>
            <p:ph type="body" idx="1"/>
          </p:nvPr>
        </p:nvSpPr>
        <p:spPr>
          <a:xfrm>
            <a:off x="1919288" y="1844675"/>
            <a:ext cx="8497887" cy="4114800"/>
          </a:xfrm>
        </p:spPr>
        <p:txBody>
          <a:bodyPr/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环境伦理是指人对自然的伦理。它涉及人类在处理与自然之间的关系时，何者为正当、合理的行为，以及人类对于自然界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负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有什么样的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义务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等问题。比较有代表性的观点如下：</a:t>
            </a:r>
            <a:b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</a:b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1.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生命中心主义 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   2.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地球整体主义 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   3.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代际均等的环境伦理观 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7" name="文本占位符 67586"/>
          <p:cNvSpPr>
            <a:spLocks noGrp="1"/>
          </p:cNvSpPr>
          <p:nvPr>
            <p:ph type="body" idx="1"/>
          </p:nvPr>
        </p:nvSpPr>
        <p:spPr>
          <a:xfrm>
            <a:off x="1847850" y="981075"/>
            <a:ext cx="8540750" cy="5407025"/>
          </a:xfrm>
        </p:spPr>
        <p:txBody>
          <a:bodyPr/>
          <a:p>
            <a:pPr marL="609600" indent="-609600">
              <a:lnSpc>
                <a:spcPct val="120000"/>
              </a:lnSpc>
              <a:buNone/>
            </a:pPr>
            <a:r>
              <a:rPr lang="en-US" altLang="zh-CN" sz="2400" b="1">
                <a:solidFill>
                  <a:srgbClr val="FF0000"/>
                </a:solidFill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</a:rPr>
              <a:t>、生命中心主义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持这种观点的人认为，不仅</a:t>
            </a:r>
            <a:r>
              <a:rPr lang="zh-CN" altLang="en-US" sz="2400" b="1" dirty="0">
                <a:solidFill>
                  <a:srgbClr val="FF0000"/>
                </a:solidFill>
              </a:rPr>
              <a:t>动物</a:t>
            </a:r>
            <a:r>
              <a:rPr lang="zh-CN" altLang="en-US" sz="2400" b="1" dirty="0"/>
              <a:t>有“权利”，而且包括</a:t>
            </a:r>
            <a:r>
              <a:rPr lang="zh-CN" altLang="en-US" sz="2400" b="1" dirty="0">
                <a:solidFill>
                  <a:srgbClr val="FF0000"/>
                </a:solidFill>
              </a:rPr>
              <a:t>植物在内的所有生命体</a:t>
            </a:r>
            <a:r>
              <a:rPr lang="zh-CN" altLang="en-US" sz="2400" b="1" dirty="0"/>
              <a:t>都有其自身的“</a:t>
            </a:r>
            <a:r>
              <a:rPr lang="zh-CN" altLang="en-US" sz="2400" b="1" dirty="0">
                <a:solidFill>
                  <a:srgbClr val="FF0000"/>
                </a:solidFill>
              </a:rPr>
              <a:t>固有的价值</a:t>
            </a:r>
            <a:r>
              <a:rPr lang="zh-CN" altLang="en-US" sz="2400" b="1" dirty="0"/>
              <a:t>”。因此，都应当受到同等的的尊重。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生命中心主义的代表人物之一</a:t>
            </a:r>
            <a:r>
              <a:rPr lang="en-US" altLang="zh-CN" sz="2400" b="1"/>
              <a:t>P.W.</a:t>
            </a:r>
            <a:r>
              <a:rPr lang="zh-CN" altLang="en-US" sz="2400" b="1" dirty="0">
                <a:solidFill>
                  <a:srgbClr val="FF0000"/>
                </a:solidFill>
              </a:rPr>
              <a:t>泰勒</a:t>
            </a:r>
            <a:r>
              <a:rPr lang="zh-CN" altLang="en-US" sz="2400" b="1" dirty="0"/>
              <a:t>在</a:t>
            </a:r>
            <a:r>
              <a:rPr lang="en-US" altLang="zh-CN" sz="2400" b="1"/>
              <a:t>《</a:t>
            </a:r>
            <a:r>
              <a:rPr lang="zh-CN" altLang="en-US" sz="2400" b="1" dirty="0"/>
              <a:t>尊重自然</a:t>
            </a:r>
            <a:r>
              <a:rPr lang="en-US" altLang="zh-CN" sz="2400" b="1"/>
              <a:t>》</a:t>
            </a:r>
            <a:r>
              <a:rPr lang="zh-CN" altLang="en-US" sz="2400" b="1" dirty="0"/>
              <a:t>一书中写到：采取尊重自然的态度，就是把地球自然生态系统中的野生动物看作是具有固有价值的东西。根据他的意见，所谓“</a:t>
            </a:r>
            <a:r>
              <a:rPr lang="zh-CN" altLang="en-US" sz="2400" b="1" dirty="0">
                <a:solidFill>
                  <a:srgbClr val="FF0000"/>
                </a:solidFill>
              </a:rPr>
              <a:t>尊重自然</a:t>
            </a:r>
            <a:r>
              <a:rPr lang="zh-CN" altLang="en-US" sz="2400" b="1" dirty="0"/>
              <a:t>”就是尊重“</a:t>
            </a:r>
            <a:r>
              <a:rPr lang="zh-CN" altLang="en-US" sz="2400" b="1" dirty="0">
                <a:solidFill>
                  <a:srgbClr val="FF0000"/>
                </a:solidFill>
              </a:rPr>
              <a:t>作为整体的生物共同体</a:t>
            </a:r>
            <a:r>
              <a:rPr lang="zh-CN" altLang="en-US" sz="2400" b="1" dirty="0"/>
              <a:t>”，而尊重“生物共同体”就是承认构成共同体的每个动植物的</a:t>
            </a:r>
            <a:r>
              <a:rPr lang="zh-CN" altLang="en-US" sz="2400" b="1" dirty="0">
                <a:solidFill>
                  <a:srgbClr val="FF0000"/>
                </a:solidFill>
              </a:rPr>
              <a:t>“固有的价值”。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9" name="文本占位符 70658"/>
          <p:cNvSpPr>
            <a:spLocks noGrp="1"/>
          </p:cNvSpPr>
          <p:nvPr>
            <p:ph type="body" idx="1"/>
          </p:nvPr>
        </p:nvSpPr>
        <p:spPr>
          <a:xfrm>
            <a:off x="1847850" y="1196975"/>
            <a:ext cx="8540750" cy="4498975"/>
          </a:xfrm>
        </p:spPr>
        <p:txBody>
          <a:bodyPr/>
          <a:p>
            <a:pPr>
              <a:lnSpc>
                <a:spcPct val="120000"/>
              </a:lnSpc>
              <a:buNone/>
            </a:pPr>
            <a:r>
              <a:rPr lang="zh-CN" altLang="en-US" sz="2400" b="1" dirty="0"/>
              <a:t>提出生命中心主义的环境伦理观，其</a:t>
            </a:r>
            <a:r>
              <a:rPr lang="zh-CN" altLang="en-US" sz="2400" b="1" dirty="0">
                <a:solidFill>
                  <a:srgbClr val="FF0000"/>
                </a:solidFill>
              </a:rPr>
              <a:t>目的</a:t>
            </a:r>
            <a:r>
              <a:rPr lang="zh-CN" altLang="en-US" sz="2400" b="1" dirty="0"/>
              <a:t>是为了保护野生的动植物，避免被人类伤害。</a:t>
            </a:r>
            <a:endParaRPr lang="zh-CN" altLang="en-US" sz="2400" b="1" dirty="0"/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/>
              <a:t>由于</a:t>
            </a:r>
            <a:r>
              <a:rPr lang="zh-CN" altLang="en-US" sz="2400" b="1" dirty="0">
                <a:solidFill>
                  <a:srgbClr val="FF0000"/>
                </a:solidFill>
              </a:rPr>
              <a:t>人类</a:t>
            </a:r>
            <a:r>
              <a:rPr lang="zh-CN" altLang="en-US" sz="2400" b="1" dirty="0"/>
              <a:t>在组成社会、进行生产和发展文化的过程中，已经具备了其他生物无与伦比的</a:t>
            </a:r>
            <a:r>
              <a:rPr lang="zh-CN" altLang="en-US" sz="2400" b="1" dirty="0">
                <a:solidFill>
                  <a:srgbClr val="FF0000"/>
                </a:solidFill>
              </a:rPr>
              <a:t>力量和优势</a:t>
            </a:r>
            <a:r>
              <a:rPr lang="zh-CN" altLang="en-US" sz="2400" b="1" dirty="0"/>
              <a:t>，因此，只有从价值观上肯定</a:t>
            </a:r>
            <a:r>
              <a:rPr lang="zh-CN" altLang="en-US" sz="2400" b="1" dirty="0">
                <a:solidFill>
                  <a:srgbClr val="0000FF"/>
                </a:solidFill>
              </a:rPr>
              <a:t>野生动植物</a:t>
            </a:r>
            <a:r>
              <a:rPr lang="zh-CN" altLang="en-US" sz="2400" b="1" dirty="0"/>
              <a:t>也像人一样具有它不可剥夺的“</a:t>
            </a:r>
            <a:r>
              <a:rPr lang="zh-CN" altLang="en-US" sz="2400" b="1" dirty="0">
                <a:solidFill>
                  <a:srgbClr val="FF0000"/>
                </a:solidFill>
              </a:rPr>
              <a:t>权利</a:t>
            </a:r>
            <a:r>
              <a:rPr lang="zh-CN" altLang="en-US" sz="2400" b="1" dirty="0"/>
              <a:t>”和“</a:t>
            </a:r>
            <a:r>
              <a:rPr lang="zh-CN" altLang="en-US" sz="2400" b="1" dirty="0">
                <a:solidFill>
                  <a:srgbClr val="FF0000"/>
                </a:solidFill>
              </a:rPr>
              <a:t>价值</a:t>
            </a:r>
            <a:r>
              <a:rPr lang="zh-CN" altLang="en-US" sz="2400" b="1" dirty="0"/>
              <a:t>”，才能避免人类对自然生物的进一步伤害，并使人类承担起对自然的伦理责任。</a:t>
            </a:r>
            <a:endParaRPr lang="zh-CN" altLang="en-US" sz="2400" b="1" dirty="0"/>
          </a:p>
          <a:p>
            <a:pPr>
              <a:lnSpc>
                <a:spcPct val="120000"/>
              </a:lnSpc>
            </a:pPr>
            <a:endParaRPr lang="zh-CN" altLang="en-US" sz="2400" dirty="0"/>
          </a:p>
        </p:txBody>
      </p:sp>
    </p:spTree>
  </p:cSld>
  <p:clrMapOvr>
    <a:masterClrMapping/>
  </p:clrMapOvr>
  <p:transition spd="med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1" name="文本占位符 68610"/>
          <p:cNvSpPr>
            <a:spLocks noGrp="1"/>
          </p:cNvSpPr>
          <p:nvPr>
            <p:ph type="body" idx="1"/>
          </p:nvPr>
        </p:nvSpPr>
        <p:spPr>
          <a:xfrm>
            <a:off x="1774825" y="765175"/>
            <a:ext cx="8540750" cy="4968875"/>
          </a:xfrm>
        </p:spPr>
        <p:txBody>
          <a:bodyPr/>
          <a:p>
            <a:pPr marL="609600" indent="-609600">
              <a:lnSpc>
                <a:spcPct val="120000"/>
              </a:lnSpc>
              <a:buNone/>
            </a:pPr>
            <a:r>
              <a:rPr lang="en-US" altLang="zh-CN" sz="2400" b="1">
                <a:solidFill>
                  <a:srgbClr val="FF0000"/>
                </a:solidFill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</a:rPr>
              <a:t>、地球整体主义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有人主张不仅生命体具有内在的价值，包括</a:t>
            </a:r>
            <a:r>
              <a:rPr lang="zh-CN" altLang="en-US" sz="2400" b="1" dirty="0">
                <a:solidFill>
                  <a:srgbClr val="FF0000"/>
                </a:solidFill>
              </a:rPr>
              <a:t>土地</a:t>
            </a:r>
            <a:r>
              <a:rPr lang="zh-CN" altLang="en-US" sz="2400" b="1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岩石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solidFill>
                  <a:srgbClr val="FF0000"/>
                </a:solidFill>
              </a:rPr>
              <a:t>自然景观</a:t>
            </a:r>
            <a:r>
              <a:rPr lang="zh-CN" altLang="en-US" sz="2400" b="1" dirty="0"/>
              <a:t>在内的整个自然界都有其“</a:t>
            </a:r>
            <a:r>
              <a:rPr lang="zh-CN" altLang="en-US" sz="2400" b="1" dirty="0">
                <a:solidFill>
                  <a:srgbClr val="FF0000"/>
                </a:solidFill>
              </a:rPr>
              <a:t>固有的价值</a:t>
            </a:r>
            <a:r>
              <a:rPr lang="zh-CN" altLang="en-US" sz="2400" b="1" dirty="0"/>
              <a:t>”和“</a:t>
            </a:r>
            <a:r>
              <a:rPr lang="zh-CN" altLang="en-US" sz="2400" b="1" dirty="0">
                <a:solidFill>
                  <a:srgbClr val="FF0000"/>
                </a:solidFill>
              </a:rPr>
              <a:t>权利</a:t>
            </a:r>
            <a:r>
              <a:rPr lang="zh-CN" altLang="en-US" sz="2400" b="1" dirty="0"/>
              <a:t>”。这一主张的代表人物之一是提出“</a:t>
            </a:r>
            <a:r>
              <a:rPr lang="zh-CN" altLang="en-US" sz="2400" b="1" dirty="0">
                <a:solidFill>
                  <a:srgbClr val="FF0000"/>
                </a:solidFill>
              </a:rPr>
              <a:t>大地伦理</a:t>
            </a:r>
            <a:r>
              <a:rPr lang="zh-CN" altLang="en-US" sz="2400" b="1" dirty="0"/>
              <a:t>”并被视为环境伦理学先驱的李奥波德。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李奥波德所说的“大地伦理”是指“</a:t>
            </a:r>
            <a:r>
              <a:rPr lang="zh-CN" altLang="en-US" sz="2400" b="1" dirty="0">
                <a:solidFill>
                  <a:srgbClr val="FF0000"/>
                </a:solidFill>
              </a:rPr>
              <a:t>规范人与大地以及人与依存于大地的动植物之间关系的伦理规则</a:t>
            </a:r>
            <a:r>
              <a:rPr lang="zh-CN" altLang="en-US" sz="2400" b="1" dirty="0"/>
              <a:t>”，其基本主张是要将人“从大地这一共同体的</a:t>
            </a:r>
            <a:r>
              <a:rPr lang="zh-CN" altLang="en-US" sz="2400" b="1" dirty="0">
                <a:solidFill>
                  <a:srgbClr val="FF0000"/>
                </a:solidFill>
              </a:rPr>
              <a:t>征服者</a:t>
            </a:r>
            <a:r>
              <a:rPr lang="zh-CN" altLang="en-US" sz="2400" b="1" dirty="0"/>
              <a:t>转变成为这一共同体的</a:t>
            </a:r>
            <a:r>
              <a:rPr lang="zh-CN" altLang="en-US" sz="2400" b="1" dirty="0">
                <a:solidFill>
                  <a:srgbClr val="FF0000"/>
                </a:solidFill>
              </a:rPr>
              <a:t>平凡一员</a:t>
            </a:r>
            <a:r>
              <a:rPr lang="zh-CN" altLang="en-US" sz="2400" b="1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一个构成要素</a:t>
            </a:r>
            <a:r>
              <a:rPr lang="zh-CN" altLang="en-US" sz="2400" b="1" dirty="0"/>
              <a:t>”。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3" name="文本占位符 71682"/>
          <p:cNvSpPr>
            <a:spLocks noGrp="1"/>
          </p:cNvSpPr>
          <p:nvPr>
            <p:ph type="body" idx="1"/>
          </p:nvPr>
        </p:nvSpPr>
        <p:spPr>
          <a:xfrm>
            <a:off x="1847850" y="1052513"/>
            <a:ext cx="8540750" cy="5472112"/>
          </a:xfrm>
        </p:spPr>
        <p:txBody>
          <a:bodyPr/>
          <a:p>
            <a:pPr>
              <a:lnSpc>
                <a:spcPct val="120000"/>
              </a:lnSpc>
              <a:buNone/>
            </a:pPr>
            <a:r>
              <a:rPr lang="zh-CN" altLang="en-US" sz="2400" b="1" dirty="0"/>
              <a:t>这一“</a:t>
            </a:r>
            <a:r>
              <a:rPr lang="zh-CN" altLang="en-US" sz="2400" b="1" dirty="0">
                <a:solidFill>
                  <a:srgbClr val="0000FF"/>
                </a:solidFill>
              </a:rPr>
              <a:t>大地伦理</a:t>
            </a:r>
            <a:r>
              <a:rPr lang="zh-CN" altLang="en-US" sz="2400" b="1" dirty="0"/>
              <a:t>”的特征是将“</a:t>
            </a:r>
            <a:r>
              <a:rPr lang="zh-CN" altLang="en-US" sz="2400" b="1" dirty="0">
                <a:solidFill>
                  <a:srgbClr val="0000FF"/>
                </a:solidFill>
              </a:rPr>
              <a:t>共同体</a:t>
            </a:r>
            <a:r>
              <a:rPr lang="zh-CN" altLang="en-US" sz="2400" b="1" dirty="0"/>
              <a:t>”的概念从以往伦理学所研究的</a:t>
            </a:r>
            <a:r>
              <a:rPr lang="zh-CN" altLang="en-US" sz="2400" b="1" dirty="0">
                <a:solidFill>
                  <a:srgbClr val="FF0000"/>
                </a:solidFill>
              </a:rPr>
              <a:t>人类社会共同体</a:t>
            </a:r>
            <a:r>
              <a:rPr lang="zh-CN" altLang="en-US" sz="2400" b="1" dirty="0"/>
              <a:t>的关系扩展到了</a:t>
            </a:r>
            <a:r>
              <a:rPr lang="zh-CN" altLang="en-US" sz="2400" b="1" dirty="0">
                <a:solidFill>
                  <a:srgbClr val="FF0000"/>
                </a:solidFill>
              </a:rPr>
              <a:t>大地</a:t>
            </a:r>
            <a:r>
              <a:rPr lang="zh-CN" altLang="en-US" sz="2400" b="1" dirty="0"/>
              <a:t>。这里“大地”</a:t>
            </a:r>
            <a:r>
              <a:rPr lang="zh-CN" altLang="en-US" sz="2400" b="1" dirty="0">
                <a:solidFill>
                  <a:srgbClr val="FF0000"/>
                </a:solidFill>
              </a:rPr>
              <a:t>包括土壤、水、植物、动物等，其实是整个自然生态系统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/>
              <a:t>李奥波德在</a:t>
            </a:r>
            <a:r>
              <a:rPr lang="en-US" altLang="zh-CN" sz="2400" b="1"/>
              <a:t>1949</a:t>
            </a:r>
            <a:r>
              <a:rPr lang="zh-CN" altLang="en-US" sz="2400" b="1" dirty="0"/>
              <a:t>年出版的</a:t>
            </a:r>
            <a:r>
              <a:rPr lang="en-US" altLang="zh-CN" sz="2400" b="1"/>
              <a:t>《</a:t>
            </a:r>
            <a:r>
              <a:rPr lang="zh-CN" altLang="en-US" sz="2400" b="1" dirty="0"/>
              <a:t>大地伦理学</a:t>
            </a:r>
            <a:r>
              <a:rPr lang="en-US" altLang="zh-CN" sz="2400" b="1"/>
              <a:t>》</a:t>
            </a:r>
            <a:r>
              <a:rPr lang="zh-CN" altLang="en-US" sz="2400" b="1" dirty="0"/>
              <a:t>中正式提出，所有一切万物，均有其内在的生命价值，均应看成和人一样，得到尊重。</a:t>
            </a:r>
            <a:endParaRPr lang="zh-CN" altLang="en-US" sz="2400" b="1" dirty="0"/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/>
              <a:t>李奥波德强调大地并不是</a:t>
            </a:r>
            <a:r>
              <a:rPr lang="zh-CN" altLang="en-US" sz="2400" b="1" dirty="0">
                <a:solidFill>
                  <a:srgbClr val="FF0000"/>
                </a:solidFill>
              </a:rPr>
              <a:t>一项商品</a:t>
            </a:r>
            <a:r>
              <a:rPr lang="zh-CN" altLang="en-US" sz="2400" b="1" dirty="0"/>
              <a:t>，而是与人共存的一个“</a:t>
            </a:r>
            <a:r>
              <a:rPr lang="zh-CN" altLang="en-US" sz="2400" b="1" dirty="0">
                <a:solidFill>
                  <a:srgbClr val="FF0000"/>
                </a:solidFill>
              </a:rPr>
              <a:t>社区”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/>
              <a:t>李奥波德指出：“我们从前虐待大地，是因为将其视为属于我们的一项商品。当我们认清大地是我们属于它的一种社区，我们才可能对其开始尊重与爱护。 ”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endParaRPr lang="zh-CN" altLang="en-US" sz="2400" dirty="0"/>
          </a:p>
        </p:txBody>
      </p:sp>
    </p:spTree>
  </p:cSld>
  <p:clrMapOvr>
    <a:masterClrMapping/>
  </p:clrMapOvr>
  <p:transition spd="med"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5" name="文本占位符 69634"/>
          <p:cNvSpPr>
            <a:spLocks noGrp="1"/>
          </p:cNvSpPr>
          <p:nvPr>
            <p:ph type="body" idx="1"/>
          </p:nvPr>
        </p:nvSpPr>
        <p:spPr>
          <a:xfrm>
            <a:off x="1847850" y="765175"/>
            <a:ext cx="8540750" cy="5256213"/>
          </a:xfrm>
        </p:spPr>
        <p:txBody>
          <a:bodyPr/>
          <a:p>
            <a:pPr marL="609600" indent="-609600">
              <a:lnSpc>
                <a:spcPct val="120000"/>
              </a:lnSpc>
              <a:buNone/>
            </a:pPr>
            <a:r>
              <a:rPr lang="en-US" altLang="zh-CN" sz="2400" b="1">
                <a:solidFill>
                  <a:srgbClr val="FF0000"/>
                </a:solidFill>
              </a:rPr>
              <a:t>3</a:t>
            </a:r>
            <a:r>
              <a:rPr lang="zh-CN" altLang="en-US" sz="2400" b="1" dirty="0">
                <a:solidFill>
                  <a:srgbClr val="FF0000"/>
                </a:solidFill>
              </a:rPr>
              <a:t>、代际均等的环境伦理观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    这种环境伦理考虑环境问题的出发点是：我们对自然界的道德义务，最终都源于我们</a:t>
            </a:r>
            <a:r>
              <a:rPr lang="zh-CN" altLang="en-US" sz="2400" b="1" dirty="0">
                <a:solidFill>
                  <a:srgbClr val="FF0000"/>
                </a:solidFill>
              </a:rPr>
              <a:t>人类各成员相互间所应承担的义务</a:t>
            </a:r>
            <a:r>
              <a:rPr lang="zh-CN" altLang="en-US" sz="2400" b="1" dirty="0"/>
              <a:t>。但是，这一伦理观不同于传统的伦理观之处，是它把人类各成员间的平等关系从“</a:t>
            </a:r>
            <a:r>
              <a:rPr lang="zh-CN" altLang="en-US" sz="2400" b="1" dirty="0">
                <a:solidFill>
                  <a:srgbClr val="FF0000"/>
                </a:solidFill>
              </a:rPr>
              <a:t>代内</a:t>
            </a:r>
            <a:r>
              <a:rPr lang="zh-CN" altLang="en-US" sz="2400" b="1" dirty="0"/>
              <a:t>”扩展到“</a:t>
            </a:r>
            <a:r>
              <a:rPr lang="zh-CN" altLang="en-US" sz="2400" b="1" dirty="0">
                <a:solidFill>
                  <a:srgbClr val="FF0000"/>
                </a:solidFill>
              </a:rPr>
              <a:t>代际</a:t>
            </a:r>
            <a:r>
              <a:rPr lang="zh-CN" altLang="en-US" sz="2400" b="1" dirty="0"/>
              <a:t>”，认为在享有自然资源与拥有良好的环境上，我们的子孙后代与我们当代人具有同等的权利。因此，我们有义务保护自然资源，使我们的</a:t>
            </a:r>
            <a:r>
              <a:rPr lang="zh-CN" altLang="en-US" sz="2400" b="1" dirty="0">
                <a:solidFill>
                  <a:srgbClr val="FF0000"/>
                </a:solidFill>
              </a:rPr>
              <a:t>后代能够与我们一样</a:t>
            </a:r>
            <a:r>
              <a:rPr lang="zh-CN" altLang="en-US" sz="2400" b="1" dirty="0"/>
              <a:t>均等地享受他们应该得到的源自于这些自然资源的收益 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2289"/>
          <p:cNvSpPr>
            <a:spLocks noGrp="1"/>
          </p:cNvSpPr>
          <p:nvPr>
            <p:ph type="title"/>
          </p:nvPr>
        </p:nvSpPr>
        <p:spPr>
          <a:xfrm>
            <a:off x="2208213" y="1268413"/>
            <a:ext cx="7772400" cy="1143000"/>
          </a:xfrm>
        </p:spPr>
        <p:txBody>
          <a:bodyPr anchor="ctr" anchorCtr="0"/>
          <a:p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第二节 环境伦理学的主要内容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12291" name="文本占位符 12290"/>
          <p:cNvSpPr>
            <a:spLocks noGrp="1"/>
          </p:cNvSpPr>
          <p:nvPr>
            <p:ph type="body" idx="1"/>
          </p:nvPr>
        </p:nvSpPr>
        <p:spPr>
          <a:xfrm>
            <a:off x="3667125" y="2814638"/>
            <a:ext cx="4954588" cy="1700212"/>
          </a:xfrm>
        </p:spPr>
        <p:txBody>
          <a:bodyPr>
            <a:normAutofit lnSpcReduction="10000"/>
          </a:bodyPr>
          <a:p>
            <a:pPr>
              <a:lnSpc>
                <a:spcPct val="80000"/>
              </a:lnSpc>
              <a:buNone/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一</a:t>
            </a: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尊重与善待自然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二</a:t>
            </a: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关心个人并关心人类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三</a:t>
            </a: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着眼当前并思虑未来</a:t>
            </a:r>
            <a:b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</a:b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>
          <a:xfrm>
            <a:off x="2135188" y="620713"/>
            <a:ext cx="7772400" cy="1143000"/>
          </a:xfrm>
        </p:spPr>
        <p:txBody>
          <a:bodyPr anchor="ctr" anchorCtr="0"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一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尊重与善待自然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13315" name="文本占位符 13314"/>
          <p:cNvSpPr>
            <a:spLocks noGrp="1"/>
          </p:cNvSpPr>
          <p:nvPr>
            <p:ph type="body" idx="1"/>
          </p:nvPr>
        </p:nvSpPr>
        <p:spPr>
          <a:xfrm>
            <a:off x="1919288" y="1916113"/>
            <a:ext cx="8497887" cy="3817937"/>
          </a:xfrm>
        </p:spPr>
        <p:txBody>
          <a:bodyPr/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从地球生态系统的进化来看待自然，可以发现，地球作为一高级的自组织结构形式是有其内在的价值的。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对地球这一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内在价值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的充分肯定，并不是说要否定地球生态系统对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人类的工具性价值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。对自然生态价值的认识与承认导致了人类对它的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责任和义务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。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7" name="文本占位符 41986"/>
          <p:cNvSpPr>
            <a:spLocks noGrp="1"/>
          </p:cNvSpPr>
          <p:nvPr>
            <p:ph type="body" idx="1"/>
          </p:nvPr>
        </p:nvSpPr>
        <p:spPr>
          <a:xfrm>
            <a:off x="2351088" y="1557338"/>
            <a:ext cx="7200900" cy="2362200"/>
          </a:xfrm>
        </p:spPr>
        <p:txBody>
          <a:bodyPr/>
          <a:p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</a:rPr>
              <a:t>具体来说，我们必须做到一下几点：</a:t>
            </a:r>
            <a:endParaRPr lang="zh-CN" altLang="en-US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buNone/>
            </a:pPr>
            <a:r>
              <a:rPr lang="en-US" altLang="zh-CN" b="1">
                <a:effectLst>
                  <a:outerShdw blurRad="38100" dist="38100" dir="2700000">
                    <a:srgbClr val="C0C0C0"/>
                  </a:outerShdw>
                </a:effectLst>
              </a:rPr>
              <a:t>     1.</a:t>
            </a: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</a:rPr>
              <a:t>尊重地球上一切生命物种 </a:t>
            </a:r>
            <a:endParaRPr lang="zh-CN" altLang="en-US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buNone/>
            </a:pPr>
            <a:r>
              <a:rPr lang="en-US" altLang="zh-CN" b="1">
                <a:effectLst>
                  <a:outerShdw blurRad="38100" dist="38100" dir="2700000">
                    <a:srgbClr val="C0C0C0"/>
                  </a:outerShdw>
                </a:effectLst>
              </a:rPr>
              <a:t>     2.</a:t>
            </a: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</a:rPr>
              <a:t>尊重自然生态的和谐与稳定 </a:t>
            </a:r>
            <a:endParaRPr lang="zh-CN" altLang="en-US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buNone/>
            </a:pPr>
            <a:r>
              <a:rPr lang="en-US" altLang="zh-CN" b="1">
                <a:effectLst>
                  <a:outerShdw blurRad="38100" dist="38100" dir="2700000">
                    <a:srgbClr val="C0C0C0"/>
                  </a:outerShdw>
                </a:effectLst>
              </a:rPr>
              <a:t>     3.</a:t>
            </a: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</a:rPr>
              <a:t>顺应自然生活 </a:t>
            </a:r>
            <a:endParaRPr lang="zh-CN" altLang="en-US" b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7" name="文本占位符 52226"/>
          <p:cNvSpPr>
            <a:spLocks noGrp="1"/>
          </p:cNvSpPr>
          <p:nvPr>
            <p:ph type="body" idx="1"/>
          </p:nvPr>
        </p:nvSpPr>
        <p:spPr>
          <a:xfrm>
            <a:off x="1847850" y="981075"/>
            <a:ext cx="8540750" cy="4321175"/>
          </a:xfrm>
        </p:spPr>
        <p:txBody>
          <a:bodyPr/>
          <a:p>
            <a:pPr marL="609600" indent="-609600">
              <a:lnSpc>
                <a:spcPct val="120000"/>
              </a:lnSpc>
              <a:buNone/>
            </a:pPr>
            <a:r>
              <a:rPr lang="en-US" altLang="zh-CN" b="1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、尊重地球上一切生命物种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b="1" dirty="0"/>
              <a:t> </a:t>
            </a:r>
            <a:r>
              <a:rPr lang="zh-CN" altLang="en-US" sz="2400" b="1" dirty="0"/>
              <a:t>地球生态系统中的所有</a:t>
            </a:r>
            <a:r>
              <a:rPr lang="zh-CN" altLang="en-US" sz="2400" b="1" dirty="0">
                <a:solidFill>
                  <a:srgbClr val="FF0000"/>
                </a:solidFill>
              </a:rPr>
              <a:t>生命物种</a:t>
            </a:r>
            <a:r>
              <a:rPr lang="zh-CN" altLang="en-US" sz="2400" b="1" dirty="0"/>
              <a:t>都参与了生态进化的过程，并且具有它们</a:t>
            </a:r>
            <a:r>
              <a:rPr lang="zh-CN" altLang="en-US" sz="2400" b="1" dirty="0">
                <a:solidFill>
                  <a:srgbClr val="FF0000"/>
                </a:solidFill>
              </a:rPr>
              <a:t>适合环境的优越性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solidFill>
                  <a:srgbClr val="FF0000"/>
                </a:solidFill>
              </a:rPr>
              <a:t>追求自己生存</a:t>
            </a:r>
            <a:r>
              <a:rPr lang="zh-CN" altLang="en-US" sz="2400" b="1" dirty="0"/>
              <a:t>的目的性；它们在生态价值方面是平等的。因此，人类应该平等地对待它们，尊重它们的自然生存权利。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人类应该</a:t>
            </a:r>
            <a:r>
              <a:rPr lang="zh-CN" altLang="en-US" sz="2400" b="1" dirty="0">
                <a:solidFill>
                  <a:srgbClr val="FF0000"/>
                </a:solidFill>
              </a:rPr>
              <a:t>放弃</a:t>
            </a:r>
            <a:r>
              <a:rPr lang="zh-CN" altLang="en-US" sz="2400" b="1" dirty="0"/>
              <a:t>自以为</a:t>
            </a:r>
            <a:r>
              <a:rPr lang="zh-CN" altLang="en-US" sz="2400" b="1" dirty="0">
                <a:solidFill>
                  <a:srgbClr val="FF0000"/>
                </a:solidFill>
              </a:rPr>
              <a:t>高于或优于</a:t>
            </a:r>
            <a:r>
              <a:rPr lang="zh-CN" altLang="en-US" sz="2400" b="1" dirty="0"/>
              <a:t>其他生物而“</a:t>
            </a:r>
            <a:r>
              <a:rPr lang="zh-CN" altLang="en-US" sz="2400" b="1" dirty="0">
                <a:solidFill>
                  <a:srgbClr val="FF0000"/>
                </a:solidFill>
              </a:rPr>
              <a:t>鄙视</a:t>
            </a:r>
            <a:r>
              <a:rPr lang="zh-CN" altLang="en-US" sz="2400" b="1" dirty="0"/>
              <a:t>”较“低”等生物的看法。相反，人类作为自然进化中最为</a:t>
            </a:r>
            <a:r>
              <a:rPr lang="zh-CN" altLang="en-US" sz="2400" b="1" dirty="0">
                <a:solidFill>
                  <a:srgbClr val="FF0000"/>
                </a:solidFill>
              </a:rPr>
              <a:t>晚出</a:t>
            </a:r>
            <a:r>
              <a:rPr lang="zh-CN" altLang="en-US" sz="2400" b="1" dirty="0"/>
              <a:t>的成员，</a:t>
            </a:r>
            <a:r>
              <a:rPr lang="zh-CN" altLang="en-US" sz="2400" b="1" dirty="0">
                <a:solidFill>
                  <a:srgbClr val="FF0000"/>
                </a:solidFill>
              </a:rPr>
              <a:t>其优越性</a:t>
            </a:r>
            <a:r>
              <a:rPr lang="zh-CN" altLang="en-US" sz="2400" b="1" dirty="0"/>
              <a:t>是建立在其具有道德与文化之上的。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7" name="文本占位符 72706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lnSpc>
                <a:spcPct val="120000"/>
              </a:lnSpc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人类</a:t>
            </a:r>
            <a:r>
              <a:rPr lang="zh-CN" altLang="en-US" sz="2800" b="1" dirty="0"/>
              <a:t>特有的这种道德与文化能力，不仅意味着人类是自然生态系统中迄今为止</a:t>
            </a:r>
            <a:r>
              <a:rPr lang="zh-CN" altLang="en-US" sz="2800" b="1" dirty="0">
                <a:solidFill>
                  <a:srgbClr val="FF0000"/>
                </a:solidFill>
              </a:rPr>
              <a:t>能力最强</a:t>
            </a:r>
            <a:r>
              <a:rPr lang="zh-CN" altLang="en-US" sz="2800" b="1" dirty="0"/>
              <a:t>的生命形式，同时也是评价性能力发展得最好的生命形式。</a:t>
            </a:r>
            <a:endParaRPr lang="zh-CN" altLang="en-US" sz="2800" b="1" dirty="0"/>
          </a:p>
          <a:p>
            <a:pPr>
              <a:lnSpc>
                <a:spcPct val="120000"/>
              </a:lnSpc>
              <a:buNone/>
            </a:pPr>
            <a:r>
              <a:rPr lang="zh-CN" altLang="en-US" sz="2800" b="1" dirty="0"/>
              <a:t>从环境伦理来看，人类的伦理道德意识不只表现在</a:t>
            </a:r>
            <a:r>
              <a:rPr lang="zh-CN" altLang="en-US" sz="2800" b="1" dirty="0">
                <a:solidFill>
                  <a:srgbClr val="FF0000"/>
                </a:solidFill>
              </a:rPr>
              <a:t>爱同类</a:t>
            </a:r>
            <a:r>
              <a:rPr lang="zh-CN" altLang="en-US" sz="2800" b="1" dirty="0"/>
              <a:t>，还表现在平等地对待</a:t>
            </a:r>
            <a:r>
              <a:rPr lang="zh-CN" altLang="en-US" sz="2800" b="1" dirty="0">
                <a:solidFill>
                  <a:srgbClr val="FF0000"/>
                </a:solidFill>
              </a:rPr>
              <a:t>众生万物</a:t>
            </a:r>
            <a:r>
              <a:rPr lang="zh-CN" altLang="en-US" sz="2800" b="1" dirty="0"/>
              <a:t>和</a:t>
            </a:r>
            <a:r>
              <a:rPr lang="zh-CN" altLang="en-US" sz="2800" b="1" dirty="0">
                <a:solidFill>
                  <a:srgbClr val="FF0000"/>
                </a:solidFill>
              </a:rPr>
              <a:t>尊重它们</a:t>
            </a:r>
            <a:r>
              <a:rPr lang="zh-CN" altLang="en-US" sz="2800" b="1" dirty="0"/>
              <a:t>的自然生命权利。</a:t>
            </a:r>
            <a:endParaRPr lang="zh-CN" altLang="en-US" sz="2800" b="1" dirty="0"/>
          </a:p>
          <a:p>
            <a:endParaRPr lang="zh-CN" altLang="en-US" sz="2800" dirty="0"/>
          </a:p>
        </p:txBody>
      </p:sp>
    </p:spTree>
  </p:cSld>
  <p:clrMapOvr>
    <a:masterClrMapping/>
  </p:clrMapOvr>
  <p:transition spd="med"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1" name="文本占位符 53250"/>
          <p:cNvSpPr>
            <a:spLocks noGrp="1"/>
          </p:cNvSpPr>
          <p:nvPr>
            <p:ph type="body" idx="1"/>
          </p:nvPr>
        </p:nvSpPr>
        <p:spPr>
          <a:xfrm>
            <a:off x="1774825" y="836613"/>
            <a:ext cx="8540750" cy="4498975"/>
          </a:xfrm>
        </p:spPr>
        <p:txBody>
          <a:bodyPr/>
          <a:p>
            <a:pPr marL="609600" indent="-609600">
              <a:lnSpc>
                <a:spcPct val="120000"/>
              </a:lnSpc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、尊重自然生态的和谐与稳定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地球生态系统是一个交融互摄、互相依存的系统。在整个自然界中，无论海洋、陆地和空中的动植物，乃至各种无机物，均为地球这一“整体生命”不可分割的部分。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作为自组织系统，地球虽然有其遭受破坏后</a:t>
            </a:r>
            <a:r>
              <a:rPr lang="zh-CN" altLang="en-US" sz="2400" b="1" dirty="0">
                <a:solidFill>
                  <a:srgbClr val="0000FF"/>
                </a:solidFill>
              </a:rPr>
              <a:t>自我修复</a:t>
            </a:r>
            <a:r>
              <a:rPr lang="zh-CN" altLang="en-US" sz="2400" b="1" dirty="0"/>
              <a:t>的能力，但它对外来破坏力的</a:t>
            </a:r>
            <a:r>
              <a:rPr lang="zh-CN" altLang="en-US" sz="2400" b="1" dirty="0">
                <a:solidFill>
                  <a:srgbClr val="FF0000"/>
                </a:solidFill>
              </a:rPr>
              <a:t>忍受</a:t>
            </a:r>
            <a:r>
              <a:rPr lang="zh-CN" altLang="en-US" sz="2400" b="1" dirty="0"/>
              <a:t>终究是</a:t>
            </a:r>
            <a:r>
              <a:rPr lang="zh-CN" altLang="en-US" sz="2400" b="1" dirty="0">
                <a:solidFill>
                  <a:srgbClr val="FF0000"/>
                </a:solidFill>
              </a:rPr>
              <a:t>有极限</a:t>
            </a:r>
            <a:r>
              <a:rPr lang="zh-CN" altLang="en-US" sz="2400" b="1" dirty="0"/>
              <a:t>的。对地球生态系统中任何部分的破坏一旦超出其忍受值，便会环环相扣，</a:t>
            </a:r>
            <a:r>
              <a:rPr lang="zh-CN" altLang="en-US" sz="2400" b="1" dirty="0">
                <a:solidFill>
                  <a:srgbClr val="FF0000"/>
                </a:solidFill>
              </a:rPr>
              <a:t>危及整个地球生态</a:t>
            </a:r>
            <a:r>
              <a:rPr lang="zh-CN" altLang="en-US" sz="2400" b="1" dirty="0"/>
              <a:t>，并最终祸及包括人类在内的所有生命体的生存和发展。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5" name="文本占位符 54274"/>
          <p:cNvSpPr>
            <a:spLocks noGrp="1"/>
          </p:cNvSpPr>
          <p:nvPr>
            <p:ph type="body" idx="1"/>
          </p:nvPr>
        </p:nvSpPr>
        <p:spPr>
          <a:xfrm>
            <a:off x="1774825" y="981075"/>
            <a:ext cx="8540750" cy="4498975"/>
          </a:xfrm>
        </p:spPr>
        <p:txBody>
          <a:bodyPr/>
          <a:p>
            <a:pPr marL="609600" indent="-609600">
              <a:lnSpc>
                <a:spcPct val="120000"/>
              </a:lnSpc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</a:rPr>
              <a:t>、顺应自然的生活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顺应自然的生活不是指人类要</a:t>
            </a:r>
            <a:r>
              <a:rPr lang="zh-CN" altLang="en-US" sz="2400" b="1" dirty="0">
                <a:solidFill>
                  <a:srgbClr val="FF0000"/>
                </a:solidFill>
              </a:rPr>
              <a:t>放弃</a:t>
            </a:r>
            <a:r>
              <a:rPr lang="zh-CN" altLang="en-US" sz="2400" b="1" dirty="0"/>
              <a:t>自己改造和利用自然的</a:t>
            </a:r>
            <a:r>
              <a:rPr lang="zh-CN" altLang="en-US" sz="2400" b="1" dirty="0">
                <a:solidFill>
                  <a:srgbClr val="FF0000"/>
                </a:solidFill>
              </a:rPr>
              <a:t>一切努力</a:t>
            </a:r>
            <a:r>
              <a:rPr lang="zh-CN" altLang="en-US" sz="2400" b="1" dirty="0"/>
              <a:t>，而返回到生产力极不发达的远古原始人的生活中去，而是说，人类应该从自然中学习到生活的智慧，过一种有利于</a:t>
            </a:r>
            <a:r>
              <a:rPr lang="zh-CN" altLang="en-US" sz="2400" b="1" dirty="0">
                <a:solidFill>
                  <a:srgbClr val="FF0000"/>
                </a:solidFill>
              </a:rPr>
              <a:t>环境保护和生态平衡的生活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所谓顺应自然的生活，就 要从自然生态的角度出发，将人类的生存利益与生态利益的关系进行协调。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如下</a:t>
            </a:r>
            <a:r>
              <a:rPr lang="zh-CN" altLang="en-US" sz="2400" b="1" dirty="0">
                <a:solidFill>
                  <a:srgbClr val="FF0000"/>
                </a:solidFill>
              </a:rPr>
              <a:t>几条原则是一种顺应自然的生活所必须遵循的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9" name="文本占位符 55298"/>
          <p:cNvSpPr>
            <a:spLocks noGrp="1"/>
          </p:cNvSpPr>
          <p:nvPr>
            <p:ph type="body" idx="1"/>
          </p:nvPr>
        </p:nvSpPr>
        <p:spPr>
          <a:xfrm>
            <a:off x="1774825" y="981075"/>
            <a:ext cx="8540750" cy="4968875"/>
          </a:xfrm>
        </p:spPr>
        <p:txBody>
          <a:bodyPr/>
          <a:p>
            <a:pPr marL="609600" indent="-609600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（</a:t>
            </a:r>
            <a:r>
              <a:rPr lang="en-US" altLang="zh-CN" b="1">
                <a:solidFill>
                  <a:srgbClr val="0000FF"/>
                </a:solidFill>
              </a:rPr>
              <a:t>1</a:t>
            </a:r>
            <a:r>
              <a:rPr lang="zh-CN" altLang="en-US" b="1" dirty="0">
                <a:solidFill>
                  <a:srgbClr val="0000FF"/>
                </a:solidFill>
              </a:rPr>
              <a:t>）最小伤害性原则：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    这一原则从保护生态价值与生态资源出发，要求在</a:t>
            </a:r>
            <a:r>
              <a:rPr lang="zh-CN" altLang="en-US" sz="2400" b="1" dirty="0">
                <a:solidFill>
                  <a:srgbClr val="0000FF"/>
                </a:solidFill>
              </a:rPr>
              <a:t>人类利益</a:t>
            </a:r>
            <a:r>
              <a:rPr lang="zh-CN" altLang="en-US" sz="2400" b="1" dirty="0"/>
              <a:t>与</a:t>
            </a:r>
            <a:r>
              <a:rPr lang="zh-CN" altLang="en-US" sz="2400" b="1" dirty="0">
                <a:solidFill>
                  <a:srgbClr val="0000FF"/>
                </a:solidFill>
              </a:rPr>
              <a:t>生态利益</a:t>
            </a:r>
            <a:r>
              <a:rPr lang="zh-CN" altLang="en-US" sz="2400" b="1" dirty="0"/>
              <a:t>发生冲突时，采取对自然生态的</a:t>
            </a:r>
            <a:r>
              <a:rPr lang="zh-CN" altLang="en-US" sz="2400" b="1" dirty="0">
                <a:solidFill>
                  <a:srgbClr val="FF0000"/>
                </a:solidFill>
              </a:rPr>
              <a:t>伤害减至最低限度</a:t>
            </a:r>
            <a:r>
              <a:rPr lang="zh-CN" altLang="en-US" sz="2400" b="1" dirty="0"/>
              <a:t>的做法。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 例如，人类在与各种野生动物或有机体</a:t>
            </a:r>
            <a:r>
              <a:rPr lang="zh-CN" altLang="en-US" sz="2400" b="1" dirty="0">
                <a:solidFill>
                  <a:srgbClr val="FF0000"/>
                </a:solidFill>
              </a:rPr>
              <a:t>相遇</a:t>
            </a:r>
            <a:r>
              <a:rPr lang="zh-CN" altLang="en-US" sz="2400" b="1" dirty="0"/>
              <a:t>时，只有当自己遭受和可能遭受以这些生物体和有机体的伤害或侵袭时，基于</a:t>
            </a:r>
            <a:r>
              <a:rPr lang="zh-CN" altLang="en-US" sz="2400" b="1" dirty="0">
                <a:solidFill>
                  <a:srgbClr val="FF0000"/>
                </a:solidFill>
              </a:rPr>
              <a:t>自卫的行为才被允许</a:t>
            </a:r>
            <a:r>
              <a:rPr lang="zh-CN" altLang="en-US" sz="2400" b="1" dirty="0"/>
              <a:t>；而那些</a:t>
            </a:r>
            <a:r>
              <a:rPr lang="zh-CN" altLang="en-US" sz="2400" b="1" dirty="0">
                <a:solidFill>
                  <a:srgbClr val="FF0000"/>
                </a:solidFill>
              </a:rPr>
              <a:t>主动</a:t>
            </a:r>
            <a:r>
              <a:rPr lang="zh-CN" altLang="en-US" sz="2400" b="1" dirty="0"/>
              <a:t>伤害生物体和有意招来伤害的行为则不符合此原则。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3" name="文本占位符 56322"/>
          <p:cNvSpPr>
            <a:spLocks noGrp="1"/>
          </p:cNvSpPr>
          <p:nvPr>
            <p:ph type="body" idx="1"/>
          </p:nvPr>
        </p:nvSpPr>
        <p:spPr>
          <a:xfrm>
            <a:off x="1847850" y="765175"/>
            <a:ext cx="8540750" cy="5256213"/>
          </a:xfrm>
        </p:spPr>
        <p:txBody>
          <a:bodyPr/>
          <a:p>
            <a:pPr marL="609600" indent="-609600">
              <a:lnSpc>
                <a:spcPct val="120000"/>
              </a:lnSpc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（</a:t>
            </a:r>
            <a:r>
              <a:rPr lang="en-US" altLang="zh-CN" sz="2800" b="1">
                <a:solidFill>
                  <a:srgbClr val="0000FF"/>
                </a:solidFill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</a:rPr>
              <a:t>）比例性原则：</a:t>
            </a:r>
            <a:endParaRPr lang="zh-CN" altLang="en-US" sz="2800" b="1" dirty="0">
              <a:solidFill>
                <a:srgbClr val="0000FF"/>
              </a:solidFill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所有生物体的利益，包括人类利益在内，都可以区分为</a:t>
            </a:r>
            <a:r>
              <a:rPr lang="zh-CN" altLang="en-US" sz="2400" b="1" dirty="0">
                <a:solidFill>
                  <a:srgbClr val="FF0000"/>
                </a:solidFill>
              </a:rPr>
              <a:t>基本利益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solidFill>
                  <a:srgbClr val="FF0000"/>
                </a:solidFill>
              </a:rPr>
              <a:t>非基本利益</a:t>
            </a:r>
            <a:r>
              <a:rPr lang="zh-CN" altLang="en-US" sz="2400" b="1" dirty="0"/>
              <a:t>。前者关系到生物体的生存，而后者却不是生存所必需的。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比例性原则要求人类利益与野生植物利益发生</a:t>
            </a:r>
            <a:r>
              <a:rPr lang="zh-CN" altLang="en-US" sz="2400" b="1" dirty="0">
                <a:solidFill>
                  <a:srgbClr val="FF0000"/>
                </a:solidFill>
              </a:rPr>
              <a:t>冲突</a:t>
            </a:r>
            <a:r>
              <a:rPr lang="zh-CN" altLang="en-US" sz="2400" b="1" dirty="0"/>
              <a:t>时，</a:t>
            </a:r>
            <a:r>
              <a:rPr lang="zh-CN" altLang="en-US" sz="2400" b="1" dirty="0">
                <a:solidFill>
                  <a:srgbClr val="FF0000"/>
                </a:solidFill>
              </a:rPr>
              <a:t>对基本利益的考虑应</a:t>
            </a:r>
            <a:r>
              <a:rPr lang="zh-CN" altLang="en-US" sz="2400" b="1" dirty="0"/>
              <a:t>大于</a:t>
            </a:r>
            <a:r>
              <a:rPr lang="zh-CN" altLang="en-US" sz="2400" b="1" dirty="0">
                <a:solidFill>
                  <a:srgbClr val="FF0000"/>
                </a:solidFill>
              </a:rPr>
              <a:t>对非基本利益的考虑</a:t>
            </a:r>
            <a:r>
              <a:rPr lang="zh-CN" altLang="en-US" sz="2400" b="1" dirty="0"/>
              <a:t>。从这一原则出发，</a:t>
            </a:r>
            <a:r>
              <a:rPr lang="zh-CN" altLang="en-US" sz="2400" b="1" dirty="0">
                <a:solidFill>
                  <a:srgbClr val="0000FF"/>
                </a:solidFill>
              </a:rPr>
              <a:t>人类</a:t>
            </a:r>
            <a:r>
              <a:rPr lang="zh-CN" altLang="en-US" sz="2400" b="1" dirty="0"/>
              <a:t>的许多非基本利益应该让位于</a:t>
            </a:r>
            <a:r>
              <a:rPr lang="zh-CN" altLang="en-US" sz="2400" b="1" dirty="0">
                <a:solidFill>
                  <a:srgbClr val="0000FF"/>
                </a:solidFill>
              </a:rPr>
              <a:t>野生动植物</a:t>
            </a:r>
            <a:r>
              <a:rPr lang="zh-CN" altLang="en-US" sz="2400" b="1" dirty="0"/>
              <a:t>的基本利益。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例如，在</a:t>
            </a:r>
            <a:r>
              <a:rPr lang="zh-CN" altLang="en-US" sz="2400" b="1" dirty="0">
                <a:solidFill>
                  <a:srgbClr val="0000FF"/>
                </a:solidFill>
              </a:rPr>
              <a:t>拓荒</a:t>
            </a:r>
            <a:r>
              <a:rPr lang="zh-CN" altLang="en-US" sz="2400" b="1" dirty="0"/>
              <a:t>时代，人类曾经为了生存的需要而不得不猎取兽皮，这与当</a:t>
            </a:r>
            <a:r>
              <a:rPr lang="zh-CN" altLang="en-US" sz="2400" b="1" dirty="0">
                <a:solidFill>
                  <a:srgbClr val="0000FF"/>
                </a:solidFill>
              </a:rPr>
              <a:t>今社会</a:t>
            </a:r>
            <a:r>
              <a:rPr lang="zh-CN" altLang="en-US" sz="2400" b="1" dirty="0"/>
              <a:t>一些人纯粹为了显示豪华高贵而穿着兽皮服装，其利益要求的层次是不一样的。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7" name="文本占位符 57346"/>
          <p:cNvSpPr>
            <a:spLocks noGrp="1"/>
          </p:cNvSpPr>
          <p:nvPr>
            <p:ph type="body" idx="1"/>
          </p:nvPr>
        </p:nvSpPr>
        <p:spPr>
          <a:xfrm>
            <a:off x="1774825" y="908050"/>
            <a:ext cx="8540750" cy="5329238"/>
          </a:xfrm>
        </p:spPr>
        <p:txBody>
          <a:bodyPr>
            <a:normAutofit lnSpcReduction="10000"/>
          </a:bodyPr>
          <a:p>
            <a:pPr marL="609600" indent="-609600">
              <a:lnSpc>
                <a:spcPct val="120000"/>
              </a:lnSpc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（</a:t>
            </a:r>
            <a:r>
              <a:rPr lang="en-US" altLang="zh-CN" sz="2800" b="1">
                <a:solidFill>
                  <a:srgbClr val="0000FF"/>
                </a:solidFill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</a:rPr>
              <a:t>）分配公正原则：</a:t>
            </a:r>
            <a:endParaRPr lang="zh-CN" altLang="en-US" sz="2800" b="1" dirty="0">
              <a:solidFill>
                <a:srgbClr val="0000FF"/>
              </a:solidFill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在人类与自然生物的关系中，有时会遇到</a:t>
            </a:r>
            <a:r>
              <a:rPr lang="zh-CN" altLang="en-US" sz="2400" b="1" dirty="0">
                <a:solidFill>
                  <a:srgbClr val="FF0000"/>
                </a:solidFill>
              </a:rPr>
              <a:t>基本利益相冲突</a:t>
            </a:r>
            <a:r>
              <a:rPr lang="zh-CN" altLang="en-US" sz="2400" b="1" dirty="0"/>
              <a:t>的情形。就是说，冲突的双方都是为着维持自己的基本生存，而发生自然资源占有的争执。这时候，</a:t>
            </a:r>
            <a:r>
              <a:rPr lang="zh-CN" altLang="en-US" sz="2400" b="1" dirty="0">
                <a:solidFill>
                  <a:srgbClr val="FF0000"/>
                </a:solidFill>
              </a:rPr>
              <a:t>依据分配公正原则</a:t>
            </a:r>
            <a:r>
              <a:rPr lang="zh-CN" altLang="en-US" sz="2400" b="1" dirty="0"/>
              <a:t>，双方都需要的自然适用资源必须共享。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例如，人类有时因</a:t>
            </a:r>
            <a:r>
              <a:rPr lang="zh-CN" altLang="en-US" sz="2400" b="1" dirty="0">
                <a:solidFill>
                  <a:srgbClr val="FF0000"/>
                </a:solidFill>
              </a:rPr>
              <a:t>开垦和经济</a:t>
            </a:r>
            <a:r>
              <a:rPr lang="zh-CN" altLang="en-US" sz="2400" b="1" dirty="0"/>
              <a:t>的需要不断缩小</a:t>
            </a:r>
            <a:r>
              <a:rPr lang="zh-CN" altLang="en-US" sz="2400" b="1" dirty="0">
                <a:solidFill>
                  <a:srgbClr val="FF0000"/>
                </a:solidFill>
              </a:rPr>
              <a:t>野生动植物活动的范围</a:t>
            </a:r>
            <a:r>
              <a:rPr lang="zh-CN" altLang="en-US" sz="2400" b="1" dirty="0"/>
              <a:t>，但无论如何我们又不能让野生动植物全部消失。如</a:t>
            </a:r>
            <a:r>
              <a:rPr lang="zh-CN" altLang="en-US" sz="2400" b="1" dirty="0">
                <a:solidFill>
                  <a:srgbClr val="0000FF"/>
                </a:solidFill>
              </a:rPr>
              <a:t>划分</a:t>
            </a:r>
            <a:r>
              <a:rPr lang="zh-CN" altLang="en-US" sz="2400" b="1" dirty="0"/>
              <a:t>永久性野生动植物保护区，实行轮作、轮耕和轮猎等。这样，人类只是消费了野生动物和自然资源的一部分，野生动植物至少还有一片不受人类干扰的生存环境和活动空间。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1" name="文本占位符 58370"/>
          <p:cNvSpPr>
            <a:spLocks noGrp="1"/>
          </p:cNvSpPr>
          <p:nvPr>
            <p:ph type="body" idx="1"/>
          </p:nvPr>
        </p:nvSpPr>
        <p:spPr>
          <a:xfrm>
            <a:off x="1774825" y="1052513"/>
            <a:ext cx="8540750" cy="5184775"/>
          </a:xfrm>
        </p:spPr>
        <p:txBody>
          <a:bodyPr/>
          <a:p>
            <a:pPr marL="609600" indent="-609600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（</a:t>
            </a:r>
            <a:r>
              <a:rPr lang="en-US" altLang="zh-CN" b="1">
                <a:solidFill>
                  <a:srgbClr val="0000FF"/>
                </a:solidFill>
              </a:rPr>
              <a:t>4</a:t>
            </a:r>
            <a:r>
              <a:rPr lang="zh-CN" altLang="en-US" b="1" dirty="0">
                <a:solidFill>
                  <a:srgbClr val="0000FF"/>
                </a:solidFill>
              </a:rPr>
              <a:t>）公正补偿原则：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 在人类谋求基本需要和发展</a:t>
            </a:r>
            <a:r>
              <a:rPr lang="zh-CN" altLang="en-US" sz="2400" b="1" dirty="0">
                <a:solidFill>
                  <a:srgbClr val="FF0000"/>
                </a:solidFill>
              </a:rPr>
              <a:t>经济的活动</a:t>
            </a:r>
            <a:r>
              <a:rPr lang="zh-CN" altLang="en-US" sz="2400" b="1" dirty="0"/>
              <a:t>中，不可避免地给自然野地和野生动植物造成很大</a:t>
            </a:r>
            <a:r>
              <a:rPr lang="zh-CN" altLang="en-US" sz="2400" b="1" dirty="0">
                <a:solidFill>
                  <a:srgbClr val="FF0000"/>
                </a:solidFill>
              </a:rPr>
              <a:t>危害</a:t>
            </a:r>
            <a:r>
              <a:rPr lang="zh-CN" altLang="en-US" sz="2400" b="1" dirty="0"/>
              <a:t>。这时候，根据公正补偿原则，人类应当对自然生态的破坏进行</a:t>
            </a:r>
            <a:r>
              <a:rPr lang="zh-CN" altLang="en-US" sz="2400" b="1" dirty="0">
                <a:solidFill>
                  <a:srgbClr val="FF0000"/>
                </a:solidFill>
              </a:rPr>
              <a:t>补偿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例如，人们由于发展经济曾经</a:t>
            </a:r>
            <a:r>
              <a:rPr lang="zh-CN" altLang="en-US" sz="2400" b="1" dirty="0">
                <a:solidFill>
                  <a:srgbClr val="0000FF"/>
                </a:solidFill>
              </a:rPr>
              <a:t>毁</a:t>
            </a:r>
            <a:r>
              <a:rPr lang="zh-CN" altLang="en-US" sz="2400" b="1" dirty="0"/>
              <a:t>掉了大片的</a:t>
            </a:r>
            <a:r>
              <a:rPr lang="zh-CN" altLang="en-US" sz="2400" b="1" dirty="0">
                <a:solidFill>
                  <a:srgbClr val="0000FF"/>
                </a:solidFill>
              </a:rPr>
              <a:t>森</a:t>
            </a:r>
            <a:r>
              <a:rPr lang="zh-CN" altLang="en-US" sz="2400" b="1" dirty="0"/>
              <a:t>林，从保护和维持自然生态平衡出发，必须大力</a:t>
            </a:r>
            <a:r>
              <a:rPr lang="zh-CN" altLang="en-US" sz="2400" b="1" dirty="0">
                <a:solidFill>
                  <a:srgbClr val="0000FF"/>
                </a:solidFill>
              </a:rPr>
              <a:t>植树</a:t>
            </a:r>
            <a:r>
              <a:rPr lang="zh-CN" altLang="en-US" sz="2400" b="1" dirty="0"/>
              <a:t>造林。这条原则尤其适应于我们对濒危物种的保护和处理办法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2063750" y="765175"/>
            <a:ext cx="7772400" cy="1143000"/>
          </a:xfrm>
        </p:spPr>
        <p:txBody>
          <a:bodyPr anchor="ctr" anchorCtr="0"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二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关心个人并关心人类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14339" name="文本占位符 14338"/>
          <p:cNvSpPr>
            <a:spLocks noGrp="1"/>
          </p:cNvSpPr>
          <p:nvPr>
            <p:ph type="body" idx="1"/>
          </p:nvPr>
        </p:nvSpPr>
        <p:spPr>
          <a:xfrm>
            <a:off x="1774825" y="1989138"/>
            <a:ext cx="8642350" cy="4319587"/>
          </a:xfrm>
        </p:spPr>
        <p:txBody>
          <a:bodyPr/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环境伦理包括两个方面的问题：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伦理立场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伦理规范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问题。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前者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牵涉到看待自然环境的一整套思维模式、思想方法和思想观念，它更多地指整体人类对待自然的根本态度；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后者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则是人们在自然交往中必须遵从和奉行的行为准则。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1" name="文本占位符 43010"/>
          <p:cNvSpPr>
            <a:spLocks noGrp="1"/>
          </p:cNvSpPr>
          <p:nvPr>
            <p:ph type="body" idx="1"/>
          </p:nvPr>
        </p:nvSpPr>
        <p:spPr>
          <a:xfrm>
            <a:off x="2495550" y="1052513"/>
            <a:ext cx="7489825" cy="4248150"/>
          </a:xfrm>
        </p:spPr>
        <p:txBody>
          <a:bodyPr/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为此，它要求我们确立如下原则，作为在环境问题上处理人与人之间关系的行为准则。</a:t>
            </a:r>
            <a:b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</a:b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1.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正义原则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    </a:t>
            </a: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2.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公正原则 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    3.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权利平衡原则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    </a:t>
            </a: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4.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合作原则 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9" name="文本占位符 60418"/>
          <p:cNvSpPr>
            <a:spLocks noGrp="1"/>
          </p:cNvSpPr>
          <p:nvPr>
            <p:ph type="body" idx="1"/>
          </p:nvPr>
        </p:nvSpPr>
        <p:spPr>
          <a:xfrm>
            <a:off x="1992313" y="1052513"/>
            <a:ext cx="8229600" cy="3886200"/>
          </a:xfrm>
        </p:spPr>
        <p:txBody>
          <a:bodyPr/>
          <a:p>
            <a:pPr marL="609600" indent="-609600">
              <a:lnSpc>
                <a:spcPct val="120000"/>
              </a:lnSpc>
              <a:buNone/>
            </a:pPr>
            <a:r>
              <a:rPr lang="en-US" altLang="zh-CN" b="1">
                <a:solidFill>
                  <a:srgbClr val="0000FF"/>
                </a:solidFill>
              </a:rPr>
              <a:t>1</a:t>
            </a:r>
            <a:r>
              <a:rPr lang="zh-CN" altLang="en-US" b="1" dirty="0">
                <a:solidFill>
                  <a:srgbClr val="0000FF"/>
                </a:solidFill>
              </a:rPr>
              <a:t>、正义原则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800" b="1" dirty="0"/>
              <a:t>按照环境伦理，任何向自然界</a:t>
            </a:r>
            <a:r>
              <a:rPr lang="zh-CN" altLang="en-US" sz="2800" b="1" dirty="0">
                <a:solidFill>
                  <a:srgbClr val="FF0000"/>
                </a:solidFill>
              </a:rPr>
              <a:t>排</a:t>
            </a:r>
            <a:r>
              <a:rPr lang="zh-CN" altLang="en-US" sz="2800" b="1" dirty="0"/>
              <a:t>放</a:t>
            </a:r>
            <a:r>
              <a:rPr lang="zh-CN" altLang="en-US" sz="2800" b="1" dirty="0">
                <a:solidFill>
                  <a:srgbClr val="FF0000"/>
                </a:solidFill>
              </a:rPr>
              <a:t>污</a:t>
            </a:r>
            <a:r>
              <a:rPr lang="zh-CN" altLang="en-US" sz="2800" b="1" dirty="0"/>
              <a:t>染物以及肆意破坏自然环境的行为都是</a:t>
            </a:r>
            <a:r>
              <a:rPr lang="zh-CN" altLang="en-US" sz="2800" b="1" dirty="0">
                <a:solidFill>
                  <a:srgbClr val="FF0000"/>
                </a:solidFill>
              </a:rPr>
              <a:t>非正义</a:t>
            </a:r>
            <a:r>
              <a:rPr lang="zh-CN" altLang="en-US" sz="2800" b="1" dirty="0"/>
              <a:t>的，应该受到社会舆论的谴责；而任何有利于环境保护与生态价值维护的行为都是</a:t>
            </a:r>
            <a:r>
              <a:rPr lang="zh-CN" altLang="en-US" sz="2800" b="1" dirty="0">
                <a:solidFill>
                  <a:srgbClr val="FF0000"/>
                </a:solidFill>
              </a:rPr>
              <a:t>正义</a:t>
            </a:r>
            <a:r>
              <a:rPr lang="zh-CN" altLang="en-US" sz="2800" b="1" dirty="0"/>
              <a:t>的，应该得到社会舆论的褒扬。</a:t>
            </a:r>
            <a:endParaRPr lang="zh-CN" altLang="en-US" sz="2800" b="1" dirty="0"/>
          </a:p>
        </p:txBody>
      </p:sp>
    </p:spTree>
  </p:cSld>
  <p:clrMapOvr>
    <a:masterClrMapping/>
  </p:clrMapOvr>
  <p:transition spd="med"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3" name="文本占位符 61442"/>
          <p:cNvSpPr>
            <a:spLocks noGrp="1"/>
          </p:cNvSpPr>
          <p:nvPr>
            <p:ph type="body" idx="1"/>
          </p:nvPr>
        </p:nvSpPr>
        <p:spPr>
          <a:xfrm>
            <a:off x="1919288" y="836613"/>
            <a:ext cx="8540750" cy="5256212"/>
          </a:xfrm>
        </p:spPr>
        <p:txBody>
          <a:bodyPr/>
          <a:p>
            <a:pPr marL="609600" indent="-609600">
              <a:lnSpc>
                <a:spcPct val="120000"/>
              </a:lnSpc>
              <a:buNone/>
            </a:pPr>
            <a:r>
              <a:rPr lang="en-US" altLang="zh-CN" b="1">
                <a:solidFill>
                  <a:srgbClr val="0000FF"/>
                </a:solidFill>
              </a:rPr>
              <a:t>2</a:t>
            </a:r>
            <a:r>
              <a:rPr lang="zh-CN" altLang="en-US" b="1" dirty="0">
                <a:solidFill>
                  <a:srgbClr val="0000FF"/>
                </a:solidFill>
              </a:rPr>
              <a:t>、公正原则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在人类的经济活动中，破坏和造成环境污染的情况时有发生。例如，当某个企业采取</a:t>
            </a:r>
            <a:r>
              <a:rPr lang="zh-CN" altLang="en-US" sz="2400" b="1" dirty="0">
                <a:solidFill>
                  <a:srgbClr val="FF0000"/>
                </a:solidFill>
              </a:rPr>
              <a:t>简陋的工艺</a:t>
            </a:r>
            <a:r>
              <a:rPr lang="zh-CN" altLang="en-US" sz="2400" b="1" dirty="0"/>
              <a:t>生产产品，导致环境污染，这种行为不仅侵犯了社会公众的利益，而且对于其他采取</a:t>
            </a:r>
            <a:r>
              <a:rPr lang="zh-CN" altLang="en-US" sz="2400" b="1" dirty="0">
                <a:solidFill>
                  <a:srgbClr val="FF0000"/>
                </a:solidFill>
              </a:rPr>
              <a:t>先进</a:t>
            </a:r>
            <a:r>
              <a:rPr lang="zh-CN" altLang="en-US" sz="2400" b="1" dirty="0"/>
              <a:t>环保技术而避免或减少环境污染的企业来说是</a:t>
            </a:r>
            <a:r>
              <a:rPr lang="zh-CN" altLang="en-US" sz="2400" b="1" dirty="0">
                <a:solidFill>
                  <a:srgbClr val="0000FF"/>
                </a:solidFill>
              </a:rPr>
              <a:t>不公正的</a:t>
            </a:r>
            <a:r>
              <a:rPr lang="zh-CN" altLang="en-US" sz="2400" b="1" dirty="0"/>
              <a:t>。这时公正原则要求我们在治理环境和处理环境纠纷时</a:t>
            </a:r>
            <a:r>
              <a:rPr lang="zh-CN" altLang="en-US" sz="2400" b="1" dirty="0">
                <a:solidFill>
                  <a:srgbClr val="FF0000"/>
                </a:solidFill>
              </a:rPr>
              <a:t>维持公道</a:t>
            </a:r>
            <a:r>
              <a:rPr lang="zh-CN" altLang="en-US" sz="2400" b="1" dirty="0"/>
              <a:t>。公正的做法是由污染环境的企业承担责任并</a:t>
            </a:r>
            <a:r>
              <a:rPr lang="zh-CN" altLang="en-US" sz="2400" b="1" dirty="0">
                <a:solidFill>
                  <a:srgbClr val="FF0000"/>
                </a:solidFill>
              </a:rPr>
              <a:t>赔偿环境造成的损失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7" name="文本占位符 62466"/>
          <p:cNvSpPr>
            <a:spLocks noGrp="1"/>
          </p:cNvSpPr>
          <p:nvPr>
            <p:ph type="body" idx="1"/>
          </p:nvPr>
        </p:nvSpPr>
        <p:spPr>
          <a:xfrm>
            <a:off x="1774825" y="981075"/>
            <a:ext cx="8540750" cy="4498975"/>
          </a:xfrm>
        </p:spPr>
        <p:txBody>
          <a:bodyPr/>
          <a:p>
            <a:pPr marL="609600" indent="-609600">
              <a:lnSpc>
                <a:spcPct val="120000"/>
              </a:lnSpc>
              <a:buNone/>
            </a:pPr>
            <a:r>
              <a:rPr lang="en-US" altLang="zh-CN" b="1">
                <a:solidFill>
                  <a:srgbClr val="0000FF"/>
                </a:solidFill>
              </a:rPr>
              <a:t>3</a:t>
            </a:r>
            <a:r>
              <a:rPr lang="zh-CN" altLang="en-US" b="1" dirty="0">
                <a:solidFill>
                  <a:srgbClr val="0000FF"/>
                </a:solidFill>
              </a:rPr>
              <a:t>、权利平等原则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这里的平等是指在自然环境与自然资源使用上的平等。由于地球上的环境资源是有限的，对于有限的资源，一些人消费多了，另一些人就消费少了。因此，在环境资源的</a:t>
            </a:r>
            <a:r>
              <a:rPr lang="zh-CN" altLang="en-US" sz="2400" b="1" dirty="0">
                <a:solidFill>
                  <a:srgbClr val="FF0000"/>
                </a:solidFill>
              </a:rPr>
              <a:t>使用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solidFill>
                  <a:srgbClr val="FF0000"/>
                </a:solidFill>
              </a:rPr>
              <a:t>消耗</a:t>
            </a:r>
            <a:r>
              <a:rPr lang="zh-CN" altLang="en-US" sz="2400" b="1" dirty="0"/>
              <a:t>上要讲究权利的平等。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权利平等原则不仅适用于人与人之间、企业与企业之间，而且适用于地区与地区、国与国之间。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1" name="文本占位符 63490"/>
          <p:cNvSpPr>
            <a:spLocks noGrp="1"/>
          </p:cNvSpPr>
          <p:nvPr>
            <p:ph type="body" idx="1"/>
          </p:nvPr>
        </p:nvSpPr>
        <p:spPr>
          <a:xfrm>
            <a:off x="1825625" y="981075"/>
            <a:ext cx="8540750" cy="5472113"/>
          </a:xfrm>
        </p:spPr>
        <p:txBody>
          <a:bodyPr>
            <a:normAutofit lnSpcReduction="10000"/>
          </a:bodyPr>
          <a:p>
            <a:pPr marL="609600" indent="-609600">
              <a:lnSpc>
                <a:spcPct val="120000"/>
              </a:lnSpc>
              <a:buNone/>
            </a:pPr>
            <a:r>
              <a:rPr lang="en-US" altLang="zh-CN" sz="2800" b="1">
                <a:solidFill>
                  <a:srgbClr val="0000FF"/>
                </a:solidFill>
              </a:rPr>
              <a:t>4</a:t>
            </a:r>
            <a:r>
              <a:rPr lang="zh-CN" altLang="en-US" sz="2800" b="1" dirty="0">
                <a:solidFill>
                  <a:srgbClr val="0000FF"/>
                </a:solidFill>
              </a:rPr>
              <a:t>、合作原则</a:t>
            </a:r>
            <a:endParaRPr lang="zh-CN" altLang="en-US" sz="2800" b="1" dirty="0">
              <a:solidFill>
                <a:srgbClr val="0000FF"/>
              </a:solidFill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事实告诉我们</a:t>
            </a:r>
            <a:r>
              <a:rPr lang="zh-CN" altLang="en-US" sz="2400" b="1" dirty="0">
                <a:solidFill>
                  <a:srgbClr val="FF0000"/>
                </a:solidFill>
              </a:rPr>
              <a:t>生态危机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solidFill>
                  <a:srgbClr val="FF0000"/>
                </a:solidFill>
              </a:rPr>
              <a:t>环境灾难</a:t>
            </a:r>
            <a:r>
              <a:rPr lang="zh-CN" altLang="en-US" sz="2400" b="1" dirty="0"/>
              <a:t>是</a:t>
            </a:r>
            <a:r>
              <a:rPr lang="zh-CN" altLang="en-US" sz="2400" b="1" dirty="0">
                <a:solidFill>
                  <a:srgbClr val="FF0000"/>
                </a:solidFill>
              </a:rPr>
              <a:t>没有地域边界</a:t>
            </a:r>
            <a:r>
              <a:rPr lang="zh-CN" altLang="en-US" sz="2400" b="1" dirty="0"/>
              <a:t>的；在环境问题上，全球是一个整体，命运相联，休戚与共。一旦全球性的生态破坏出现，任何地区和国家都将蒙受其害；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全球环境问题具有</a:t>
            </a:r>
            <a:r>
              <a:rPr lang="zh-CN" altLang="en-US" sz="2400" b="1" dirty="0">
                <a:solidFill>
                  <a:srgbClr val="FF0000"/>
                </a:solidFill>
              </a:rPr>
              <a:t>扩散性、持续性</a:t>
            </a:r>
            <a:r>
              <a:rPr lang="zh-CN" altLang="en-US" sz="2400" b="1" dirty="0"/>
              <a:t>的特点，任何一个国家和地区要在这个问题上单独采取行动，其效果甚微，甚至无能为力。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反过来，任何国家也无法因为其本国的生态技术和环境技术高超，就能避免其他地区的生态破坏给它带来的危害。因此，在环境的保护和治理问题上，</a:t>
            </a:r>
            <a:r>
              <a:rPr lang="zh-CN" altLang="en-US" sz="2400" b="1" dirty="0">
                <a:solidFill>
                  <a:srgbClr val="0000FF"/>
                </a:solidFill>
              </a:rPr>
              <a:t>地区与地区、国与国</a:t>
            </a:r>
            <a:r>
              <a:rPr lang="zh-CN" altLang="en-US" sz="2400" b="1" dirty="0"/>
              <a:t>之间要进行充分的合作。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5361"/>
          <p:cNvSpPr>
            <a:spLocks noGrp="1"/>
          </p:cNvSpPr>
          <p:nvPr>
            <p:ph type="title"/>
          </p:nvPr>
        </p:nvSpPr>
        <p:spPr>
          <a:xfrm>
            <a:off x="2135188" y="620713"/>
            <a:ext cx="7772400" cy="1143000"/>
          </a:xfrm>
        </p:spPr>
        <p:txBody>
          <a:bodyPr anchor="ctr" anchorCtr="0"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三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着眼当前并思虑未来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15363" name="文本占位符 15362"/>
          <p:cNvSpPr>
            <a:spLocks noGrp="1"/>
          </p:cNvSpPr>
          <p:nvPr>
            <p:ph type="body" idx="1"/>
          </p:nvPr>
        </p:nvSpPr>
        <p:spPr>
          <a:xfrm>
            <a:off x="1774825" y="1916113"/>
            <a:ext cx="8713788" cy="4321175"/>
          </a:xfrm>
        </p:spPr>
        <p:txBody>
          <a:bodyPr/>
          <a:p>
            <a:pPr>
              <a:lnSpc>
                <a:spcPct val="120000"/>
              </a:lnSpc>
            </a:pP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在环境伦理中，人类与子孙后代的关系问题之所以突出，是因为环境问题直接牵涉到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当代人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与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后代人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的利益，如何从自然生态的价值与种族繁衍的角度来看待环境问题，在处理环境问题时取得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个体利益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与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种族利益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的平衡，是环境伦理应该面对的重要问题。环境问题在涉及后代人的利益时，如下几条准则是必须加以考虑的。</a:t>
            </a:r>
            <a:endParaRPr lang="zh-CN" altLang="en-US" sz="24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120000"/>
              </a:lnSpc>
              <a:buNone/>
            </a:pPr>
            <a:b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</a:b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</a:rPr>
              <a:t>1.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责任原则</a:t>
            </a: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</a:rPr>
              <a:t>;  2.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节约原则</a:t>
            </a: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</a:rPr>
              <a:t>;  3.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慎行原则 </a:t>
            </a:r>
            <a:endParaRPr lang="zh-CN" altLang="en-US" sz="2400" b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5" name="文本占位符 64514"/>
          <p:cNvSpPr>
            <a:spLocks noGrp="1"/>
          </p:cNvSpPr>
          <p:nvPr>
            <p:ph type="body" idx="1"/>
          </p:nvPr>
        </p:nvSpPr>
        <p:spPr>
          <a:xfrm>
            <a:off x="1774825" y="1125538"/>
            <a:ext cx="8540750" cy="4498975"/>
          </a:xfrm>
        </p:spPr>
        <p:txBody>
          <a:bodyPr/>
          <a:p>
            <a:pPr marL="609600" indent="-609600">
              <a:lnSpc>
                <a:spcPct val="120000"/>
              </a:lnSpc>
              <a:buNone/>
            </a:pPr>
            <a:r>
              <a:rPr lang="en-US" altLang="zh-CN" b="1">
                <a:solidFill>
                  <a:srgbClr val="0000FF"/>
                </a:solidFill>
              </a:rPr>
              <a:t>1</a:t>
            </a:r>
            <a:r>
              <a:rPr lang="zh-CN" altLang="en-US" b="1" dirty="0">
                <a:solidFill>
                  <a:srgbClr val="0000FF"/>
                </a:solidFill>
              </a:rPr>
              <a:t>、责任原则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这里的责任不是指人类对自然界的责任，也不是指个人对社区及人类的责任，而</a:t>
            </a:r>
            <a:r>
              <a:rPr lang="zh-CN" altLang="en-US" sz="2400" b="1" dirty="0">
                <a:solidFill>
                  <a:srgbClr val="0000FF"/>
                </a:solidFill>
              </a:rPr>
              <a:t>专指当代人</a:t>
            </a:r>
            <a:r>
              <a:rPr lang="zh-CN" altLang="en-US" sz="2400" b="1" dirty="0">
                <a:solidFill>
                  <a:srgbClr val="FF0000"/>
                </a:solidFill>
              </a:rPr>
              <a:t>对</a:t>
            </a:r>
            <a:r>
              <a:rPr lang="zh-CN" altLang="en-US" sz="2400" b="1" dirty="0">
                <a:solidFill>
                  <a:srgbClr val="0000FF"/>
                </a:solidFill>
              </a:rPr>
              <a:t>后代人</a:t>
            </a:r>
            <a:r>
              <a:rPr lang="zh-CN" altLang="en-US" sz="2400" b="1" dirty="0">
                <a:solidFill>
                  <a:srgbClr val="FF0000"/>
                </a:solidFill>
              </a:rPr>
              <a:t>的责任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环境伦理强调：</a:t>
            </a:r>
            <a:r>
              <a:rPr lang="zh-CN" altLang="en-US" sz="2400" b="1" dirty="0">
                <a:solidFill>
                  <a:srgbClr val="FF0000"/>
                </a:solidFill>
              </a:rPr>
              <a:t>环境权</a:t>
            </a:r>
            <a:r>
              <a:rPr lang="zh-CN" altLang="en-US" sz="2400" b="1" dirty="0"/>
              <a:t>不仅适用于当代人类，而且适用子孙后代。因此，如何确保</a:t>
            </a:r>
            <a:r>
              <a:rPr lang="zh-CN" altLang="en-US" sz="2400" b="1" dirty="0">
                <a:solidFill>
                  <a:srgbClr val="0000FF"/>
                </a:solidFill>
              </a:rPr>
              <a:t>子孙后代</a:t>
            </a:r>
            <a:r>
              <a:rPr lang="zh-CN" altLang="en-US" sz="2400" b="1" dirty="0"/>
              <a:t>用一个合适的生存环境与空间，是当代人责无旁贷的义务和责任。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9" name="文本占位符 65538"/>
          <p:cNvSpPr>
            <a:spLocks noGrp="1"/>
          </p:cNvSpPr>
          <p:nvPr>
            <p:ph type="body" idx="1"/>
          </p:nvPr>
        </p:nvSpPr>
        <p:spPr>
          <a:xfrm>
            <a:off x="1774825" y="1268413"/>
            <a:ext cx="8540750" cy="4498975"/>
          </a:xfrm>
        </p:spPr>
        <p:txBody>
          <a:bodyPr/>
          <a:p>
            <a:pPr marL="609600" indent="-609600">
              <a:lnSpc>
                <a:spcPct val="120000"/>
              </a:lnSpc>
              <a:buNone/>
            </a:pPr>
            <a:r>
              <a:rPr lang="en-US" altLang="zh-CN" b="1">
                <a:solidFill>
                  <a:srgbClr val="0000FF"/>
                </a:solidFill>
              </a:rPr>
              <a:t>2</a:t>
            </a:r>
            <a:r>
              <a:rPr lang="zh-CN" altLang="en-US" b="1" dirty="0">
                <a:solidFill>
                  <a:srgbClr val="0000FF"/>
                </a:solidFill>
              </a:rPr>
              <a:t>、节约原则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从</a:t>
            </a:r>
            <a:r>
              <a:rPr lang="zh-CN" altLang="en-US" sz="2400" b="1" dirty="0">
                <a:solidFill>
                  <a:srgbClr val="FF0000"/>
                </a:solidFill>
              </a:rPr>
              <a:t>子孙后代的利益</a:t>
            </a:r>
            <a:r>
              <a:rPr lang="zh-CN" altLang="en-US" sz="2400" b="1" dirty="0"/>
              <a:t>考虑，人类不仅要保护和维持自然生态的平衡，而且要</a:t>
            </a:r>
            <a:r>
              <a:rPr lang="zh-CN" altLang="en-US" sz="2400" b="1" dirty="0">
                <a:solidFill>
                  <a:srgbClr val="FF0000"/>
                </a:solidFill>
              </a:rPr>
              <a:t>节约</a:t>
            </a:r>
            <a:r>
              <a:rPr lang="zh-CN" altLang="en-US" sz="2400" b="1" dirty="0"/>
              <a:t>地使用地球上的自然资源。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地球上可供人类利用和开发的</a:t>
            </a:r>
            <a:r>
              <a:rPr lang="zh-CN" altLang="en-US" sz="2400" b="1" dirty="0">
                <a:solidFill>
                  <a:srgbClr val="FF0000"/>
                </a:solidFill>
              </a:rPr>
              <a:t>资源是有极限</a:t>
            </a:r>
            <a:r>
              <a:rPr lang="zh-CN" altLang="en-US" sz="2400" b="1" dirty="0"/>
              <a:t>的，所以人类在自然资源的利用和开发上，要为</a:t>
            </a:r>
            <a:r>
              <a:rPr lang="zh-CN" altLang="en-US" sz="2400" b="1" dirty="0">
                <a:solidFill>
                  <a:srgbClr val="FF0000"/>
                </a:solidFill>
              </a:rPr>
              <a:t>后代人着想</a:t>
            </a:r>
            <a:r>
              <a:rPr lang="zh-CN" altLang="en-US" sz="2400" b="1" dirty="0"/>
              <a:t>，这需要我们在自然环境和自然资源的利用上奉行节约原则。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3" name="文本占位符 66562"/>
          <p:cNvSpPr>
            <a:spLocks noGrp="1"/>
          </p:cNvSpPr>
          <p:nvPr>
            <p:ph type="body" idx="1"/>
          </p:nvPr>
        </p:nvSpPr>
        <p:spPr>
          <a:xfrm>
            <a:off x="1847850" y="908050"/>
            <a:ext cx="8540750" cy="5472113"/>
          </a:xfrm>
        </p:spPr>
        <p:txBody>
          <a:bodyPr/>
          <a:p>
            <a:pPr marL="609600" indent="-609600">
              <a:lnSpc>
                <a:spcPct val="120000"/>
              </a:lnSpc>
              <a:buNone/>
            </a:pPr>
            <a:r>
              <a:rPr lang="en-US" altLang="zh-CN" sz="2400" b="1">
                <a:solidFill>
                  <a:srgbClr val="0000FF"/>
                </a:solidFill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</a:rPr>
              <a:t>、慎行原则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人为改变和利用自然行为的后果有时</a:t>
            </a:r>
            <a:r>
              <a:rPr lang="zh-CN" altLang="en-US" sz="2400" b="1" dirty="0">
                <a:solidFill>
                  <a:srgbClr val="FF0000"/>
                </a:solidFill>
              </a:rPr>
              <a:t>不是显然易见</a:t>
            </a:r>
            <a:r>
              <a:rPr lang="zh-CN" altLang="en-US" sz="2400" b="1" dirty="0"/>
              <a:t>的，而且这些后果有时可能对</a:t>
            </a:r>
            <a:r>
              <a:rPr lang="zh-CN" altLang="en-US" sz="2400" b="1" dirty="0">
                <a:solidFill>
                  <a:srgbClr val="0000FF"/>
                </a:solidFill>
              </a:rPr>
              <a:t>当代人有利</a:t>
            </a:r>
            <a:r>
              <a:rPr lang="zh-CN" altLang="en-US" sz="2400" b="1" dirty="0"/>
              <a:t>，</a:t>
            </a:r>
            <a:r>
              <a:rPr lang="zh-CN" altLang="en-US" sz="2400" b="1" dirty="0">
                <a:solidFill>
                  <a:srgbClr val="0000FF"/>
                </a:solidFill>
              </a:rPr>
              <a:t>给后代人</a:t>
            </a:r>
            <a:r>
              <a:rPr lang="zh-CN" altLang="en-US" sz="2400" b="1" dirty="0">
                <a:solidFill>
                  <a:srgbClr val="FF0000"/>
                </a:solidFill>
              </a:rPr>
              <a:t>却会带来长远的不利影响</a:t>
            </a:r>
            <a:r>
              <a:rPr lang="zh-CN" altLang="en-US" sz="2400" b="1" dirty="0"/>
              <a:t>。这样，就要求我们在与自然打交道时采取慎行原则。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当我们采取一项改变和改造自然的计划时，一定要顾及到它的</a:t>
            </a:r>
            <a:r>
              <a:rPr lang="zh-CN" altLang="en-US" sz="2400" b="1" dirty="0">
                <a:solidFill>
                  <a:srgbClr val="FF0000"/>
                </a:solidFill>
              </a:rPr>
              <a:t>长远的生态后果</a:t>
            </a:r>
            <a:r>
              <a:rPr lang="zh-CN" altLang="en-US" sz="2400" b="1" dirty="0"/>
              <a:t>，防止给后代人造成损害。人类在这方面已经有过失误的教训。</a:t>
            </a:r>
            <a:endParaRPr lang="zh-CN" altLang="en-US" sz="2400" b="1" dirty="0"/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b="1" dirty="0"/>
              <a:t>例如，为了提高农作物单位面积的产量，我们大量地施用无机化肥，其代价是土地的日益贫瘠。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3627755" y="20955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第十六章</a:t>
            </a:r>
            <a:r>
              <a:rPr lang="en-US" altLang="zh-CN"/>
              <a:t> </a:t>
            </a:r>
            <a:r>
              <a:rPr lang="zh-CN"/>
              <a:t>环境伦理观与人类行为方式</a:t>
            </a:r>
            <a:endParaRPr lang="zh-C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>
          <a:xfrm>
            <a:off x="1992630" y="1196975"/>
            <a:ext cx="8742045" cy="1143000"/>
          </a:xfrm>
        </p:spPr>
        <p:txBody>
          <a:bodyPr anchor="ctr" anchorCtr="0">
            <a:normAutofit fontScale="90000"/>
          </a:bodyPr>
          <a:p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第十六章 环境伦理观与人类行为方式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16387" name="文本占位符 16386"/>
          <p:cNvSpPr>
            <a:spLocks noGrp="1"/>
          </p:cNvSpPr>
          <p:nvPr>
            <p:ph type="body" idx="1"/>
          </p:nvPr>
        </p:nvSpPr>
        <p:spPr>
          <a:xfrm>
            <a:off x="2835275" y="3124200"/>
            <a:ext cx="5870575" cy="1700213"/>
          </a:xfrm>
        </p:spPr>
        <p:txBody>
          <a:bodyPr>
            <a:normAutofit fontScale="90000" lnSpcReduction="20000"/>
          </a:bodyPr>
          <a:p>
            <a:pPr>
              <a:buNone/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一</a:t>
            </a: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环境保护政策中的环境伦理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buNone/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二</a:t>
            </a: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企业行为中的环境伦理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buNone/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三</a:t>
            </a: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个人行为中的环境伦理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buNone/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四</a:t>
            </a: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环境伦理观对发展观的影响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2135188" y="549275"/>
            <a:ext cx="7772400" cy="1143000"/>
          </a:xfrm>
        </p:spPr>
        <p:txBody>
          <a:bodyPr anchor="ctr" anchorCtr="0"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一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.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环境保护政策中的环境伦理</a:t>
            </a:r>
            <a:endParaRPr lang="zh-CN" altLang="en-US" sz="3200" dirty="0"/>
          </a:p>
        </p:txBody>
      </p:sp>
      <p:sp>
        <p:nvSpPr>
          <p:cNvPr id="17411" name="文本占位符 17410"/>
          <p:cNvSpPr>
            <a:spLocks noGrp="1"/>
          </p:cNvSpPr>
          <p:nvPr>
            <p:ph type="body" idx="1"/>
          </p:nvPr>
        </p:nvSpPr>
        <p:spPr>
          <a:xfrm>
            <a:off x="2208213" y="1628775"/>
            <a:ext cx="7766050" cy="3108325"/>
          </a:xfrm>
        </p:spPr>
        <p:txBody>
          <a:bodyPr>
            <a:normAutofit fontScale="90000" lnSpcReduction="20000"/>
          </a:bodyPr>
          <a:p>
            <a:pPr>
              <a:lnSpc>
                <a:spcPct val="120000"/>
              </a:lnSpc>
            </a:pP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不少环境政策的制定是民间环境组织推动的结果</a:t>
            </a:r>
            <a:endParaRPr lang="zh-CN" altLang="en-US" sz="24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 国家环境政策与法律需要每个公民的遵守</a:t>
            </a:r>
            <a:endParaRPr lang="zh-CN" altLang="en-US" sz="24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</a:rPr>
              <a:t>“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稳定性</a:t>
            </a: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</a:rPr>
              <a:t>”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在长期进化的淘汰压力下被保存下来</a:t>
            </a: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</a:rPr>
              <a:t>,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是生态价值中最核心的价值</a:t>
            </a:r>
            <a:endParaRPr lang="zh-CN" altLang="en-US" sz="24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国家作为自然生态价值的</a:t>
            </a: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</a:rPr>
              <a:t>”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受托人</a:t>
            </a: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</a:rPr>
              <a:t>”,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应制定有利于生态价值保存的环境政策</a:t>
            </a: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</a:rPr>
              <a:t>,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同时对经济政策进行调整</a:t>
            </a:r>
            <a:endParaRPr lang="zh-CN" altLang="en-US" sz="24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从长尺度考虑</a:t>
            </a: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</a:rPr>
              <a:t>,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生态环境效应重于经济效益</a:t>
            </a:r>
            <a:endParaRPr lang="en-US" altLang="zh-CN" sz="2400" b="1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8433"/>
          <p:cNvSpPr>
            <a:spLocks noGrp="1"/>
          </p:cNvSpPr>
          <p:nvPr>
            <p:ph type="title"/>
          </p:nvPr>
        </p:nvSpPr>
        <p:spPr>
          <a:xfrm>
            <a:off x="1919288" y="549275"/>
            <a:ext cx="7489825" cy="854075"/>
          </a:xfrm>
        </p:spPr>
        <p:txBody>
          <a:bodyPr anchor="ctr" anchorCtr="0"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二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.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企业行为中的环境伦理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18435" name="文本占位符 18434"/>
          <p:cNvSpPr>
            <a:spLocks noGrp="1"/>
          </p:cNvSpPr>
          <p:nvPr>
            <p:ph type="body" idx="1"/>
          </p:nvPr>
        </p:nvSpPr>
        <p:spPr>
          <a:xfrm>
            <a:off x="1847850" y="1341438"/>
            <a:ext cx="8424863" cy="5040312"/>
          </a:xfrm>
        </p:spPr>
        <p:txBody>
          <a:bodyPr/>
          <a:p>
            <a:pPr marL="533400" indent="-533400"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企业应优先考虑环保行为准则。</a:t>
            </a:r>
            <a:b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</a:b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 marL="533400" indent="-533400">
              <a:lnSpc>
                <a:spcPct val="120000"/>
              </a:lnSpc>
              <a:buNone/>
            </a:pP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1.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视生态系统为有效率的经济系统而加以尊重 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 marL="533400" indent="-533400">
              <a:lnSpc>
                <a:spcPct val="120000"/>
              </a:lnSpc>
              <a:buNone/>
            </a:pP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2.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谨慎对待罕见和脆弱的环境 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 marL="533400" indent="-533400">
              <a:lnSpc>
                <a:spcPct val="120000"/>
              </a:lnSpc>
              <a:buNone/>
            </a:pP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3.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尊重生命 </a:t>
            </a: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: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动物实验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 marL="533400" indent="-533400">
              <a:lnSpc>
                <a:spcPct val="120000"/>
              </a:lnSpc>
              <a:buNone/>
            </a:pP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4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尊重物种</a:t>
            </a: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: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物种的消亡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 marL="533400" indent="-533400">
              <a:lnSpc>
                <a:spcPct val="120000"/>
              </a:lnSpc>
              <a:buNone/>
            </a:pP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5.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尊重自然 </a:t>
            </a: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: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尊重所有的生物群落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 marL="533400" indent="-533400">
              <a:lnSpc>
                <a:spcPct val="120000"/>
              </a:lnSpc>
              <a:buNone/>
            </a:pP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6.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爱地球如爱己 </a:t>
            </a: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</a:rPr>
              <a:t> 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19457"/>
          <p:cNvSpPr>
            <a:spLocks noGrp="1"/>
          </p:cNvSpPr>
          <p:nvPr>
            <p:ph type="title"/>
          </p:nvPr>
        </p:nvSpPr>
        <p:spPr>
          <a:xfrm>
            <a:off x="2279650" y="692150"/>
            <a:ext cx="7772400" cy="792163"/>
          </a:xfrm>
        </p:spPr>
        <p:txBody>
          <a:bodyPr anchor="ctr" anchorCtr="0"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三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.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个人行为中的环境伦</a:t>
            </a:r>
            <a:endParaRPr lang="zh-CN" altLang="en-US" sz="3200" dirty="0"/>
          </a:p>
        </p:txBody>
      </p:sp>
      <p:sp>
        <p:nvSpPr>
          <p:cNvPr id="19459" name="文本占位符 19458"/>
          <p:cNvSpPr>
            <a:spLocks noGrp="1"/>
          </p:cNvSpPr>
          <p:nvPr>
            <p:ph type="body" idx="1"/>
          </p:nvPr>
        </p:nvSpPr>
        <p:spPr>
          <a:xfrm>
            <a:off x="1774825" y="1773238"/>
            <a:ext cx="8642350" cy="2735262"/>
          </a:xfrm>
        </p:spPr>
        <p:txBody>
          <a:bodyPr/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有意于环境的生活方式的实行，可以从我们每个人身边小事做起。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比如说，从易拉罐、牛奶盒、旧报纸杂志等可利用资源的回收开始，到随手关掉电源等。 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20481"/>
          <p:cNvSpPr>
            <a:spLocks noGrp="1"/>
          </p:cNvSpPr>
          <p:nvPr>
            <p:ph type="title"/>
          </p:nvPr>
        </p:nvSpPr>
        <p:spPr>
          <a:xfrm>
            <a:off x="2424113" y="908050"/>
            <a:ext cx="7772400" cy="720725"/>
          </a:xfrm>
        </p:spPr>
        <p:txBody>
          <a:bodyPr anchor="ctr" anchorCtr="0"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四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.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环境伦理观对发展观的影响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20483" name="文本占位符 20482"/>
          <p:cNvSpPr>
            <a:spLocks noGrp="1"/>
          </p:cNvSpPr>
          <p:nvPr>
            <p:ph type="body" idx="1"/>
          </p:nvPr>
        </p:nvSpPr>
        <p:spPr>
          <a:xfrm>
            <a:off x="1774825" y="1844675"/>
            <a:ext cx="8675688" cy="3455988"/>
          </a:xfrm>
        </p:spPr>
        <p:txBody>
          <a:bodyPr/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环境伦理观告诉我们：不仅地球的资源是有限的，而且以牺牲环境质量为代价追求经济增长，到头来遭受惩罚的还是人类自己。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传统的工业文明追求经济的高增长和高效率，而环境伦理观则主张“可持续发展观”。 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</p:sld>
</file>

<file path=ppt/tags/tag1.xml><?xml version="1.0" encoding="utf-8"?>
<p:tagLst xmlns:p="http://schemas.openxmlformats.org/presentationml/2006/main">
  <p:tag name="COMMONDATA" val="eyJoZGlkIjoiYWJhMDYyZGJkOWRmMWRlMzMzOGFhOTAxZDQ2MzdmYzYifQ=="/>
  <p:tag name="KSO_WPP_MARK_KEY" val="a0ba3267-1d73-49b1-ab9d-3a9cb5478edc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5702</Words>
  <Application>WPS 演示</Application>
  <PresentationFormat>宽屏</PresentationFormat>
  <Paragraphs>192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PowerPoint 演示文稿</vt:lpstr>
      <vt:lpstr>第一节 环境伦理观的由来</vt:lpstr>
      <vt:lpstr>一.人类与环境的关系分析</vt:lpstr>
      <vt:lpstr>PowerPoint 演示文稿</vt:lpstr>
      <vt:lpstr>二.古今中外人类对自然态度的变化</vt:lpstr>
      <vt:lpstr>PowerPoint 演示文稿</vt:lpstr>
      <vt:lpstr>三.协调人类与环境的关系是时代的需要</vt:lpstr>
      <vt:lpstr>PowerPoint 演示文稿</vt:lpstr>
      <vt:lpstr>PowerPoint 演示文稿</vt:lpstr>
      <vt:lpstr>PowerPoint 演示文稿</vt:lpstr>
      <vt:lpstr>四.环境伦理观的产生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第二节 环境伦理学的主要内容</vt:lpstr>
      <vt:lpstr>一. 尊重与善待自然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二. 关心个人并关心人类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三. 着眼当前并思虑未来</vt:lpstr>
      <vt:lpstr>PowerPoint 演示文稿</vt:lpstr>
      <vt:lpstr>PowerPoint 演示文稿</vt:lpstr>
      <vt:lpstr>PowerPoint 演示文稿</vt:lpstr>
      <vt:lpstr>PowerPoint 演示文稿</vt:lpstr>
      <vt:lpstr>第十六章 环境伦理观与人类行为方式</vt:lpstr>
      <vt:lpstr>一.环境保护政策中的环境伦理</vt:lpstr>
      <vt:lpstr>二.企业行为中的环境伦理</vt:lpstr>
      <vt:lpstr>三.个人行为中的环境伦</vt:lpstr>
      <vt:lpstr>四.环境伦理观对发展观的影响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顾晶雯</dc:creator>
  <cp:lastModifiedBy>李克勋</cp:lastModifiedBy>
  <cp:revision>4</cp:revision>
  <dcterms:created xsi:type="dcterms:W3CDTF">2023-02-15T14:25:00Z</dcterms:created>
  <dcterms:modified xsi:type="dcterms:W3CDTF">2023-03-26T02:16:24Z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8622D4668B1E4E9E9481F4791DFA3608</vt:lpwstr>
  </property>
  <property fmtid="{D5CDD505-2E9C-101B-9397-08002B2CF9AE}" pid="3" name="KSOProductBuildVer">
    <vt:lpwstr>2052-11.1.0.12980</vt:lpwstr>
  </property>
</Properties>
</file>