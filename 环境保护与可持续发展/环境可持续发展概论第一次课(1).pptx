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png" ContentType="image/png"/>
  <Default Extension="gif" ContentType="image/gif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3"/>
    <p:sldId id="271" r:id="rId4"/>
    <p:sldId id="272" r:id="rId5"/>
    <p:sldId id="273" r:id="rId6"/>
    <p:sldId id="353" r:id="rId7"/>
    <p:sldId id="461" r:id="rId8"/>
    <p:sldId id="462" r:id="rId9"/>
    <p:sldId id="274" r:id="rId10"/>
    <p:sldId id="463" r:id="rId11"/>
    <p:sldId id="275" r:id="rId12"/>
    <p:sldId id="276" r:id="rId13"/>
    <p:sldId id="407" r:id="rId14"/>
    <p:sldId id="408" r:id="rId15"/>
    <p:sldId id="409" r:id="rId16"/>
    <p:sldId id="277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410" r:id="rId29"/>
    <p:sldId id="268" r:id="rId30"/>
    <p:sldId id="317" r:id="rId31"/>
    <p:sldId id="269" r:id="rId32"/>
    <p:sldId id="278" r:id="rId33"/>
    <p:sldId id="279" r:id="rId34"/>
    <p:sldId id="318" r:id="rId35"/>
    <p:sldId id="281" r:id="rId36"/>
    <p:sldId id="283" r:id="rId37"/>
    <p:sldId id="280" r:id="rId38"/>
    <p:sldId id="282" r:id="rId39"/>
    <p:sldId id="319" r:id="rId40"/>
    <p:sldId id="284" r:id="rId41"/>
    <p:sldId id="285" r:id="rId42"/>
    <p:sldId id="320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21" r:id="rId62"/>
    <p:sldId id="322" r:id="rId63"/>
    <p:sldId id="323" r:id="rId64"/>
    <p:sldId id="324" r:id="rId65"/>
    <p:sldId id="325" r:id="rId66"/>
    <p:sldId id="406" r:id="rId67"/>
  </p:sldIdLst>
  <p:sldSz cx="12192000" cy="6858000"/>
  <p:notesSz cx="6858000" cy="9144000"/>
  <p:custDataLst>
    <p:tags r:id="rId7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7"/>
        <p:guide pos="382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1" Type="http://schemas.openxmlformats.org/officeDocument/2006/relationships/tags" Target="tags/tag93.xml"/><Relationship Id="rId70" Type="http://schemas.openxmlformats.org/officeDocument/2006/relationships/tableStyles" Target="tableStyles.xml"/><Relationship Id="rId7" Type="http://schemas.openxmlformats.org/officeDocument/2006/relationships/slide" Target="slides/slide5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tags" Target="../tags/tag64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jpeg"/><Relationship Id="rId1" Type="http://schemas.openxmlformats.org/officeDocument/2006/relationships/tags" Target="../tags/tag6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0.jpe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image" Target="../media/image23.jpe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.xml"/><Relationship Id="rId5" Type="http://schemas.openxmlformats.org/officeDocument/2006/relationships/image" Target="../media/image27.GIF"/><Relationship Id="rId4" Type="http://schemas.openxmlformats.org/officeDocument/2006/relationships/tags" Target="../tags/tag68.xml"/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tags" Target="../tags/tag6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8.wmf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tags" Target="../tags/tag6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1.jpeg"/><Relationship Id="rId1" Type="http://schemas.openxmlformats.org/officeDocument/2006/relationships/tags" Target="../tags/tag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4.jpeg"/><Relationship Id="rId1" Type="http://schemas.openxmlformats.org/officeDocument/2006/relationships/tags" Target="../tags/tag7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6.png"/><Relationship Id="rId1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38.jpeg"/><Relationship Id="rId3" Type="http://schemas.openxmlformats.org/officeDocument/2006/relationships/tags" Target="../tags/tag73.xml"/><Relationship Id="rId2" Type="http://schemas.openxmlformats.org/officeDocument/2006/relationships/image" Target="../media/image37.wmf"/><Relationship Id="rId1" Type="http://schemas.openxmlformats.org/officeDocument/2006/relationships/tags" Target="../tags/tag7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3" Type="http://schemas.openxmlformats.org/officeDocument/2006/relationships/tags" Target="../tags/tag75.xml"/><Relationship Id="rId2" Type="http://schemas.openxmlformats.org/officeDocument/2006/relationships/image" Target="../media/image39.jpeg"/><Relationship Id="rId1" Type="http://schemas.openxmlformats.org/officeDocument/2006/relationships/tags" Target="../tags/tag7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46.emf"/><Relationship Id="rId2" Type="http://schemas.openxmlformats.org/officeDocument/2006/relationships/oleObject" Target="../embeddings/oleObject1.bin"/><Relationship Id="rId1" Type="http://schemas.openxmlformats.org/officeDocument/2006/relationships/tags" Target="../tags/tag76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.jpeg"/><Relationship Id="rId4" Type="http://schemas.openxmlformats.org/officeDocument/2006/relationships/tags" Target="../tags/tag78.xml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tags" Target="../tags/tag7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image" Target="../media/image49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3.jpeg"/><Relationship Id="rId3" Type="http://schemas.openxmlformats.org/officeDocument/2006/relationships/tags" Target="../tags/tag80.xml"/><Relationship Id="rId2" Type="http://schemas.openxmlformats.org/officeDocument/2006/relationships/image" Target="../media/image52.jpeg"/><Relationship Id="rId1" Type="http://schemas.openxmlformats.org/officeDocument/2006/relationships/tags" Target="../tags/tag79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6.jpeg"/><Relationship Id="rId4" Type="http://schemas.openxmlformats.org/officeDocument/2006/relationships/tags" Target="../tags/tag82.xml"/><Relationship Id="rId3" Type="http://schemas.openxmlformats.org/officeDocument/2006/relationships/image" Target="../media/image55.png"/><Relationship Id="rId2" Type="http://schemas.openxmlformats.org/officeDocument/2006/relationships/tags" Target="../tags/tag81.xml"/><Relationship Id="rId1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jpeg"/><Relationship Id="rId1" Type="http://schemas.openxmlformats.org/officeDocument/2006/relationships/tags" Target="../tags/tag83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0.png"/><Relationship Id="rId3" Type="http://schemas.openxmlformats.org/officeDocument/2006/relationships/tags" Target="../tags/tag85.xml"/><Relationship Id="rId2" Type="http://schemas.openxmlformats.org/officeDocument/2006/relationships/image" Target="../media/image59.jpeg"/><Relationship Id="rId1" Type="http://schemas.openxmlformats.org/officeDocument/2006/relationships/tags" Target="../tags/tag8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0.xml"/><Relationship Id="rId3" Type="http://schemas.openxmlformats.org/officeDocument/2006/relationships/audio" Target="../media/audio1.wav"/><Relationship Id="rId2" Type="http://schemas.openxmlformats.org/officeDocument/2006/relationships/image" Target="../media/image65.wmf"/><Relationship Id="rId1" Type="http://schemas.openxmlformats.org/officeDocument/2006/relationships/oleObject" Target="../embeddings/oleObject2.bin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6.GI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0.jpeg"/><Relationship Id="rId1" Type="http://schemas.openxmlformats.org/officeDocument/2006/relationships/image" Target="../media/image69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1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2.png"/><Relationship Id="rId1" Type="http://schemas.openxmlformats.org/officeDocument/2006/relationships/tags" Target="../tags/tag86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7.jpeg"/><Relationship Id="rId6" Type="http://schemas.openxmlformats.org/officeDocument/2006/relationships/image" Target="../media/image76.jpeg"/><Relationship Id="rId5" Type="http://schemas.openxmlformats.org/officeDocument/2006/relationships/image" Target="../media/image75.jpeg"/><Relationship Id="rId4" Type="http://schemas.openxmlformats.org/officeDocument/2006/relationships/tags" Target="../tags/tag88.xml"/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tags" Target="../tags/tag87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0.jpeg"/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tags" Target="../tags/tag89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1.jpeg"/><Relationship Id="rId1" Type="http://schemas.openxmlformats.org/officeDocument/2006/relationships/tags" Target="../tags/tag90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6.jpeg"/><Relationship Id="rId6" Type="http://schemas.openxmlformats.org/officeDocument/2006/relationships/image" Target="../media/image85.jpeg"/><Relationship Id="rId5" Type="http://schemas.openxmlformats.org/officeDocument/2006/relationships/image" Target="../media/image84.jpeg"/><Relationship Id="rId4" Type="http://schemas.openxmlformats.org/officeDocument/2006/relationships/image" Target="../media/image83.jpeg"/><Relationship Id="rId3" Type="http://schemas.openxmlformats.org/officeDocument/2006/relationships/tags" Target="../tags/tag92.xml"/><Relationship Id="rId2" Type="http://schemas.openxmlformats.org/officeDocument/2006/relationships/image" Target="../media/image82.jpeg"/><Relationship Id="rId1" Type="http://schemas.openxmlformats.org/officeDocument/2006/relationships/tags" Target="../tags/tag9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2274" name="内容占位符 182273"/>
          <p:cNvSpPr>
            <a:spLocks noGrp="1" noRot="1"/>
          </p:cNvSpPr>
          <p:nvPr>
            <p:ph idx="4294967295"/>
          </p:nvPr>
        </p:nvSpPr>
        <p:spPr>
          <a:xfrm>
            <a:off x="1822450" y="1751330"/>
            <a:ext cx="8540750" cy="2675890"/>
          </a:xfrm>
        </p:spPr>
        <p:txBody>
          <a:bodyPr>
            <a:normAutofit lnSpcReduction="10000"/>
          </a:bodyPr>
          <a:p>
            <a:pPr algn="ctr">
              <a:lnSpc>
                <a:spcPct val="90000"/>
              </a:lnSpc>
              <a:spcBef>
                <a:spcPct val="50000"/>
              </a:spcBef>
              <a:buClrTx/>
              <a:buFontTx/>
              <a:buNone/>
            </a:pPr>
            <a:r>
              <a:rPr lang="zh-CN" altLang="en-US" sz="6000" dirty="0">
                <a:solidFill>
                  <a:schemeClr val="tx2"/>
                </a:solidFill>
                <a:latin typeface="华文隶书" pitchFamily="2" charset="-122"/>
                <a:ea typeface="华文隶书" pitchFamily="2" charset="-122"/>
              </a:rPr>
              <a:t>环境保护与可持续发展</a:t>
            </a:r>
            <a:endParaRPr lang="zh-CN" altLang="en-US" sz="4000" dirty="0">
              <a:solidFill>
                <a:schemeClr val="tx2"/>
              </a:solidFill>
              <a:effectLst/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ClrTx/>
              <a:buFontTx/>
              <a:buNone/>
            </a:pPr>
            <a:r>
              <a:rPr lang="zh-CN" altLang="en-US" sz="3600" dirty="0">
                <a:solidFill>
                  <a:schemeClr val="tx2"/>
                </a:solidFill>
                <a:latin typeface="Times New Roman" panose="02020603050405020304" pitchFamily="18" charset="0"/>
                <a:ea typeface="华文楷体" pitchFamily="2" charset="-122"/>
              </a:rPr>
              <a:t>                    钱  易  唐孝炎 主编</a:t>
            </a:r>
            <a:endParaRPr lang="zh-CN" altLang="en-US" sz="3600" dirty="0">
              <a:solidFill>
                <a:schemeClr val="tx2"/>
              </a:solidFill>
              <a:latin typeface="Times New Roman" panose="02020603050405020304" pitchFamily="18" charset="0"/>
              <a:ea typeface="华文楷体" pitchFamily="2" charset="-122"/>
            </a:endParaRPr>
          </a:p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高等教育出版社</a:t>
            </a:r>
            <a:endParaRPr lang="zh-CN" altLang="en-US" sz="3600">
              <a:solidFill>
                <a:schemeClr val="tx2"/>
              </a:solidFill>
              <a:latin typeface="Times New Roman" panose="02020603050405020304" pitchFamily="18" charset="0"/>
              <a:ea typeface="华文楷体" pitchFamily="2" charset="-122"/>
            </a:endParaRPr>
          </a:p>
        </p:txBody>
      </p:sp>
      <p:grpSp>
        <p:nvGrpSpPr>
          <p:cNvPr id="182275" name="组合 182274"/>
          <p:cNvGrpSpPr/>
          <p:nvPr/>
        </p:nvGrpSpPr>
        <p:grpSpPr>
          <a:xfrm>
            <a:off x="2063750" y="836613"/>
            <a:ext cx="7467600" cy="914400"/>
            <a:chOff x="240" y="480"/>
            <a:chExt cx="4704" cy="576"/>
          </a:xfrm>
        </p:grpSpPr>
        <p:grpSp>
          <p:nvGrpSpPr>
            <p:cNvPr id="182276" name="组合 182275"/>
            <p:cNvGrpSpPr/>
            <p:nvPr/>
          </p:nvGrpSpPr>
          <p:grpSpPr>
            <a:xfrm>
              <a:off x="240" y="576"/>
              <a:ext cx="816" cy="480"/>
              <a:chOff x="0" y="240"/>
              <a:chExt cx="816" cy="480"/>
            </a:xfrm>
          </p:grpSpPr>
          <p:sp>
            <p:nvSpPr>
              <p:cNvPr id="182277" name="矩形 182276"/>
              <p:cNvSpPr/>
              <p:nvPr/>
            </p:nvSpPr>
            <p:spPr>
              <a:xfrm>
                <a:off x="288" y="240"/>
                <a:ext cx="336" cy="336"/>
              </a:xfrm>
              <a:prstGeom prst="rect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FF6600">
                      <a:gamma/>
                      <a:tint val="66667"/>
                      <a:invGamma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2278" name="矩形 182277"/>
              <p:cNvSpPr/>
              <p:nvPr/>
            </p:nvSpPr>
            <p:spPr>
              <a:xfrm>
                <a:off x="384" y="432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FF">
                      <a:gamma/>
                      <a:tint val="57647"/>
                      <a:invGamma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2279" name="矩形 182278"/>
              <p:cNvSpPr/>
              <p:nvPr/>
            </p:nvSpPr>
            <p:spPr>
              <a:xfrm>
                <a:off x="0" y="384"/>
                <a:ext cx="480" cy="288"/>
              </a:xfrm>
              <a:prstGeom prst="rect">
                <a:avLst/>
              </a:prstGeom>
              <a:gradFill rotWithShape="0">
                <a:gsLst>
                  <a:gs pos="0">
                    <a:srgbClr val="FF3300">
                      <a:gamma/>
                      <a:tint val="63529"/>
                      <a:invGamma/>
                    </a:srgbClr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82280" name="直接连接符 182279"/>
            <p:cNvSpPr/>
            <p:nvPr/>
          </p:nvSpPr>
          <p:spPr>
            <a:xfrm>
              <a:off x="720" y="480"/>
              <a:ext cx="0" cy="57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182281" name="直接连接符 182280"/>
            <p:cNvSpPr/>
            <p:nvPr/>
          </p:nvSpPr>
          <p:spPr>
            <a:xfrm>
              <a:off x="624" y="960"/>
              <a:ext cx="4320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sp>
        <p:nvSpPr>
          <p:cNvPr id="182282" name="矩形 182281"/>
          <p:cNvSpPr/>
          <p:nvPr/>
        </p:nvSpPr>
        <p:spPr>
          <a:xfrm>
            <a:off x="3951605" y="616585"/>
            <a:ext cx="46208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</a:pPr>
            <a:r>
              <a:rPr lang="zh-CN" sz="4800" b="1" i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人工智能学院</a:t>
            </a:r>
            <a:r>
              <a:rPr lang="en-US" altLang="zh-CN" sz="4800" b="1" i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 </a:t>
            </a:r>
            <a:endParaRPr lang="en-US" altLang="zh-CN" sz="4800" b="1" i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22" name="标题 512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602865" y="4579620"/>
            <a:ext cx="7620000" cy="188595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2075" tIns="46038" rIns="92075" bIns="46038" anchor="ctr" anchorCtr="0"/>
          <a:p>
            <a:pPr defTabSz="914400">
              <a:buSzTx/>
              <a:buFontTx/>
              <a:buNone/>
            </a:pPr>
            <a:r>
              <a:rPr lang="en-US" altLang="zh-CN" sz="4800" b="0" kern="1200" baseline="0" dirty="0"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zh-CN" altLang="en-US" sz="4000" kern="1200" spc="0" baseline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计划学时：16      </a:t>
            </a:r>
            <a:br>
              <a:rPr lang="zh-CN" altLang="en-US" sz="4000" kern="1200" spc="0" baseline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</a:br>
            <a:r>
              <a:rPr lang="zh-CN" altLang="en-US" sz="4000" kern="1200" spc="0" baseline="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楷体_GB2312" pitchFamily="49" charset="-122"/>
                <a:cs typeface="+mn-cs"/>
              </a:rPr>
              <a:t>      主讲教师：李克勋</a:t>
            </a:r>
            <a:endParaRPr lang="zh-CN" altLang="en-US" sz="4000" b="0" kern="1200" spc="0" baseline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quarter" idx="2"/>
          </p:nvPr>
        </p:nvSpPr>
        <p:spPr/>
        <p:txBody>
          <a:bodyPr/>
          <a:p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4"/>
          </p:nvPr>
        </p:nvSpPr>
        <p:spPr/>
        <p:txBody>
          <a:bodyPr/>
          <a:p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5125" name="矩形 5124"/>
          <p:cNvSpPr/>
          <p:nvPr/>
        </p:nvSpPr>
        <p:spPr>
          <a:xfrm>
            <a:off x="1752600" y="1676400"/>
            <a:ext cx="8763000" cy="40309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buClr>
                <a:schemeClr val="folHlink"/>
              </a:buClr>
              <a:buFont typeface="Wingdings" panose="05000000000000000000" pitchFamily="2" charset="2"/>
            </a:pP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   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主要参考书：</a:t>
            </a:r>
            <a:endParaRPr lang="zh-CN" altLang="en-US" sz="4000" b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>
              <a:lnSpc>
                <a:spcPct val="130000"/>
              </a:lnSpc>
              <a:buClr>
                <a:srgbClr val="FF3300"/>
              </a:buClr>
              <a:buFont typeface="Wingdings" panose="05000000000000000000" pitchFamily="2" charset="2"/>
              <a:buChar char="Ø"/>
            </a:pP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环境学  左玉辉 编著</a:t>
            </a:r>
            <a:b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《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高等教育出版社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》</a:t>
            </a:r>
            <a:endParaRPr lang="en-US" altLang="zh-CN" sz="4000" b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楷体_GB2312" pitchFamily="49" charset="-122"/>
              </a:rPr>
              <a:t>、环境学导论    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何强等 编著</a:t>
            </a:r>
            <a:b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</a:b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    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《</a:t>
            </a:r>
            <a:r>
              <a:rPr lang="zh-CN" altLang="en-US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清华大学出版社</a:t>
            </a:r>
            <a:r>
              <a:rPr lang="en-US" altLang="zh-CN" sz="4000" b="1" dirty="0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宋体" panose="02010600030101010101" pitchFamily="2" charset="-122"/>
                <a:ea typeface="楷体_GB2312" pitchFamily="49" charset="-122"/>
              </a:rPr>
              <a:t>》</a:t>
            </a:r>
            <a:endParaRPr lang="en-US" altLang="zh-CN" sz="4000" b="1" dirty="0">
              <a:solidFill>
                <a:schemeClr val="tx2"/>
              </a:solidFill>
              <a:effectLst>
                <a:outerShdw blurRad="38100" dist="38100" dir="2700000">
                  <a:srgbClr val="C0C0C0"/>
                </a:outerShdw>
              </a:effectLst>
              <a:latin typeface="宋体" panose="02010600030101010101" pitchFamily="2" charset="-122"/>
              <a:ea typeface="楷体_GB2312" pitchFamily="49" charset="-122"/>
            </a:endParaRPr>
          </a:p>
        </p:txBody>
      </p:sp>
      <p:sp>
        <p:nvSpPr>
          <p:cNvPr id="4" name="标题 3"/>
          <p:cNvSpPr/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3298" name="内容占位符 183297"/>
          <p:cNvSpPr>
            <a:spLocks noGrp="1" noRot="1"/>
          </p:cNvSpPr>
          <p:nvPr>
            <p:ph idx="4294967295"/>
          </p:nvPr>
        </p:nvSpPr>
        <p:spPr>
          <a:xfrm>
            <a:off x="1981200" y="244475"/>
            <a:ext cx="8388350" cy="5851525"/>
          </a:xfrm>
        </p:spPr>
        <p:txBody>
          <a:bodyPr>
            <a:normAutofit lnSpcReduction="20000"/>
          </a:bodyPr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相关网站： 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、中国可持续发展信息网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（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www.</a:t>
            </a:r>
            <a:r>
              <a:rPr lang="en-US" altLang="zh-CN" sz="40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sdinfo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.net.</a:t>
            </a:r>
            <a:r>
              <a:rPr lang="en-US" altLang="zh-CN" sz="40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cn</a:t>
            </a: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endParaRPr lang="zh-CN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中国环保网（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www.</a:t>
            </a:r>
            <a:r>
              <a:rPr lang="en-US" altLang="zh-CN" sz="40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ep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.net.</a:t>
            </a:r>
            <a:r>
              <a:rPr lang="en-US" altLang="zh-CN" sz="40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cn</a:t>
            </a: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endParaRPr lang="zh-CN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绿色中华环境保护网</a:t>
            </a:r>
            <a:endParaRPr lang="zh-CN" altLang="en-US" sz="40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40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（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www.</a:t>
            </a:r>
            <a:r>
              <a:rPr lang="en-US" altLang="zh-CN" sz="40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grchina</a:t>
            </a:r>
            <a:r>
              <a:rPr lang="en-US" altLang="zh-CN" sz="4000" b="1">
                <a:solidFill>
                  <a:schemeClr val="tx2"/>
                </a:solidFill>
                <a:latin typeface="Times New Roman" panose="02020603050405020304" pitchFamily="18" charset="0"/>
              </a:rPr>
              <a:t>.net</a:t>
            </a:r>
            <a:r>
              <a:rPr lang="zh-CN" altLang="en-US" sz="4000" b="1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endParaRPr lang="zh-CN" altLang="en-US" sz="4000" b="1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4322" name="内容占位符 184321"/>
          <p:cNvSpPr>
            <a:spLocks noGrp="1" noRot="1"/>
          </p:cNvSpPr>
          <p:nvPr>
            <p:ph idx="4294967295"/>
          </p:nvPr>
        </p:nvSpPr>
        <p:spPr>
          <a:xfrm>
            <a:off x="1524000" y="0"/>
            <a:ext cx="9144000" cy="6858000"/>
          </a:xfrm>
        </p:spPr>
        <p:txBody>
          <a:bodyPr>
            <a:normAutofit fontScale="90000"/>
          </a:bodyPr>
          <a:p>
            <a:r>
              <a:rPr lang="zh-CN" altLang="en-US" b="1" dirty="0"/>
              <a:t>课程介绍：</a:t>
            </a:r>
            <a:endParaRPr lang="zh-CN" altLang="en-US" b="1" dirty="0"/>
          </a:p>
          <a:p>
            <a:pPr algn="just"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由于科学技术的不断进步，世界经济的迅猛发展，人类社会发生了翻天覆地的变化，许多先人的梦想已经或正在逐步变成现实。这是很令人欢欣鼓舞的。但人类在</a:t>
            </a:r>
            <a:r>
              <a:rPr lang="en-US" altLang="zh-CN" sz="2800" b="1" dirty="0">
                <a:latin typeface="宋体" panose="02010600030101010101" pitchFamily="2" charset="-122"/>
              </a:rPr>
              <a:t>20</a:t>
            </a:r>
            <a:r>
              <a:rPr lang="zh-CN" altLang="en-US" sz="2800" b="1" dirty="0">
                <a:latin typeface="宋体" panose="02010600030101010101" pitchFamily="2" charset="-122"/>
              </a:rPr>
              <a:t>世纪中叶开始了一场新的觉醒，那就是对环境问题的认识。残酷的现实告诉人们，人类经济水平的提高和物质享受的增加，在很大程度上是以牺牲环境与资源换取得来。环境污染、生态破坏、资源短缺、酸雨蔓延、全球气候变化、臭氧层出现空洞</a:t>
            </a:r>
            <a:r>
              <a:rPr lang="zh-CN" altLang="en-US" sz="2800" b="1" dirty="0">
                <a:latin typeface="宋体" panose="02010600030101010101" pitchFamily="2" charset="-122"/>
              </a:rPr>
              <a:t>等，正是由于人类在发展中对自然环境采取了不公正、不友好的态度和做法的结果。而环境与资源作为人类生存和发展的基础保障，正通过上述种种问题对人类进行着报复。可以毫不夸张地说，人类正遭受着严重环境问题的威胁和危害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zh-CN" altLang="en-US"/>
              <a:t>想想我们周边发生的事情：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30860" y="1333500"/>
            <a:ext cx="5715000" cy="381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6245225" y="1333500"/>
            <a:ext cx="5335905" cy="3854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381000" y="1386205"/>
            <a:ext cx="5715000" cy="457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4"/>
          <a:stretch>
            <a:fillRect/>
          </a:stretch>
        </p:blipFill>
        <p:spPr>
          <a:xfrm>
            <a:off x="6491605" y="1177290"/>
            <a:ext cx="5874385" cy="4121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5"/>
          <a:stretch>
            <a:fillRect/>
          </a:stretch>
        </p:blipFill>
        <p:spPr>
          <a:xfrm>
            <a:off x="6491605" y="1445895"/>
            <a:ext cx="5654040" cy="47288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6"/>
          <a:stretch>
            <a:fillRect/>
          </a:stretch>
        </p:blipFill>
        <p:spPr>
          <a:xfrm>
            <a:off x="283845" y="470535"/>
            <a:ext cx="8128000" cy="608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/>
        </p:nvPicPr>
        <p:blipFill>
          <a:blip r:embed="rId7"/>
          <a:stretch>
            <a:fillRect/>
          </a:stretch>
        </p:blipFill>
        <p:spPr>
          <a:xfrm>
            <a:off x="1558723" y="1386138"/>
            <a:ext cx="10077855" cy="48832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/>
        </p:nvPicPr>
        <p:blipFill>
          <a:blip r:embed="rId8"/>
          <a:stretch>
            <a:fillRect/>
          </a:stretch>
        </p:blipFill>
        <p:spPr>
          <a:xfrm>
            <a:off x="2337562" y="-190499"/>
            <a:ext cx="7135876" cy="685799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-60960" y="635"/>
            <a:ext cx="12252960" cy="6778625"/>
          </a:xfrm>
        </p:spPr>
        <p:txBody>
          <a:bodyPr>
            <a:noAutofit/>
          </a:bodyPr>
          <a:p>
            <a:r>
              <a:rPr lang="zh-CN" altLang="en-US" sz="2400"/>
              <a:t>全球气温上升的幅度通常以工业革命前（约</a:t>
            </a:r>
            <a:r>
              <a:rPr lang="en-US" altLang="zh-CN" sz="2400"/>
              <a:t>1850-1900</a:t>
            </a:r>
            <a:r>
              <a:rPr lang="zh-CN" altLang="en-US" sz="2400"/>
              <a:t>年）为基准进行衡量。根据科学界的共识，截至</a:t>
            </a:r>
            <a:r>
              <a:rPr lang="en-US" altLang="zh-CN" sz="2400"/>
              <a:t>2023</a:t>
            </a:r>
            <a:r>
              <a:rPr lang="zh-CN" altLang="en-US" sz="2400"/>
              <a:t>年：</a:t>
            </a:r>
            <a:r>
              <a:rPr lang="en-US" altLang="zh-CN" sz="2400"/>
              <a:t>1. </a:t>
            </a:r>
            <a:r>
              <a:rPr lang="zh-CN" altLang="en-US" sz="2400"/>
              <a:t>当前升温幅度全球平均气温上升约</a:t>
            </a:r>
            <a:r>
              <a:rPr lang="en-US" altLang="zh-CN" sz="2400"/>
              <a:t>1.1</a:t>
            </a:r>
            <a:r>
              <a:rPr lang="" altLang="en-US" sz="2400"/>
              <a:t>°</a:t>
            </a:r>
            <a:r>
              <a:rPr lang="en-US" altLang="zh-CN" sz="2400"/>
              <a:t>C–1.3</a:t>
            </a:r>
            <a:r>
              <a:rPr lang="" altLang="en-US" sz="2400"/>
              <a:t>°</a:t>
            </a:r>
            <a:r>
              <a:rPr lang="en-US" altLang="zh-CN" sz="2400"/>
              <a:t>CIPCC</a:t>
            </a:r>
            <a:r>
              <a:rPr lang="zh-CN" altLang="en-US" sz="2400"/>
              <a:t>（联合国政府间气候变化专门委员会）：</a:t>
            </a:r>
            <a:r>
              <a:rPr lang="en-US" altLang="zh-CN" sz="2400"/>
              <a:t>2023</a:t>
            </a:r>
            <a:r>
              <a:rPr lang="zh-CN" altLang="en-US" sz="2400"/>
              <a:t>年数据：由于</a:t>
            </a:r>
            <a:r>
              <a:rPr lang="en-US" altLang="zh-CN" sz="2400"/>
              <a:t>2023</a:t>
            </a:r>
            <a:r>
              <a:rPr lang="zh-CN" altLang="en-US" sz="2400"/>
              <a:t>年成为有记录以来最热年份（全球平均气温较工业化前高约</a:t>
            </a:r>
            <a:r>
              <a:rPr lang="en-US" altLang="zh-CN" sz="2400"/>
              <a:t> 1.4</a:t>
            </a:r>
            <a:r>
              <a:rPr lang="" altLang="en-US" sz="2400"/>
              <a:t>°</a:t>
            </a:r>
            <a:r>
              <a:rPr lang="en-US" altLang="zh-CN" sz="2400"/>
              <a:t>C–1.5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），当前实际升温可能已接近</a:t>
            </a:r>
            <a:r>
              <a:rPr lang="en-US" altLang="zh-CN" sz="2400"/>
              <a:t> 1.3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。</a:t>
            </a:r>
            <a:endParaRPr lang="zh-CN" altLang="en-US" sz="2400"/>
          </a:p>
          <a:p>
            <a:r>
              <a:rPr lang="en-US" altLang="zh-CN" sz="2400"/>
              <a:t>2. </a:t>
            </a:r>
            <a:r>
              <a:rPr lang="zh-CN" altLang="en-US" sz="2400"/>
              <a:t>区域差异：北极地区升温速度最快：升温幅度达</a:t>
            </a:r>
            <a:r>
              <a:rPr lang="en-US" altLang="zh-CN" sz="2400"/>
              <a:t> 3</a:t>
            </a:r>
            <a:r>
              <a:rPr lang="" altLang="en-US" sz="2400"/>
              <a:t>°</a:t>
            </a:r>
            <a:r>
              <a:rPr lang="en-US" altLang="zh-CN" sz="2400"/>
              <a:t>C–4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（是全球平均的</a:t>
            </a:r>
            <a:r>
              <a:rPr lang="en-US" altLang="zh-CN" sz="2400"/>
              <a:t>2-3</a:t>
            </a:r>
            <a:r>
              <a:rPr lang="zh-CN" altLang="en-US" sz="2400"/>
              <a:t>倍），导致冰川融化、永久冻土解冻。陆地升温快于海洋：陆地平均升温约</a:t>
            </a:r>
            <a:r>
              <a:rPr lang="en-US" altLang="zh-CN" sz="2400"/>
              <a:t> 1.6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，海洋升温约</a:t>
            </a:r>
            <a:r>
              <a:rPr lang="en-US" altLang="zh-CN" sz="2400"/>
              <a:t> 0.9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（因海水热容量大）。极端天气频发：热浪、干旱、暴雨等事件频率和强度显著增加。</a:t>
            </a:r>
            <a:endParaRPr lang="zh-CN" altLang="en-US" sz="2400"/>
          </a:p>
          <a:p>
            <a:r>
              <a:rPr lang="en-US" altLang="zh-CN" sz="2400"/>
              <a:t>3. </a:t>
            </a:r>
            <a:r>
              <a:rPr lang="zh-CN" altLang="en-US" sz="2400"/>
              <a:t>升温速度加快：过去</a:t>
            </a:r>
            <a:r>
              <a:rPr lang="en-US" altLang="zh-CN" sz="2400"/>
              <a:t>50</a:t>
            </a:r>
            <a:r>
              <a:rPr lang="zh-CN" altLang="en-US" sz="2400"/>
              <a:t>年升温加速：</a:t>
            </a:r>
            <a:r>
              <a:rPr lang="en-US" altLang="zh-CN" sz="2400"/>
              <a:t>1970</a:t>
            </a:r>
            <a:r>
              <a:rPr lang="zh-CN" altLang="en-US" sz="2400"/>
              <a:t>年代后，每十年升温约</a:t>
            </a:r>
            <a:r>
              <a:rPr lang="en-US" altLang="zh-CN" sz="2400"/>
              <a:t> 0.2</a:t>
            </a:r>
            <a:r>
              <a:rPr lang="" altLang="en-US" sz="2400"/>
              <a:t>°</a:t>
            </a:r>
            <a:r>
              <a:rPr lang="en-US" altLang="zh-CN" sz="2400"/>
              <a:t>C</a:t>
            </a:r>
            <a:r>
              <a:rPr lang="zh-CN" altLang="en-US" sz="2400"/>
              <a:t>，主要因人类活动（化石燃料燃烧、毁林等）导致温室气体浓度飙升。</a:t>
            </a:r>
            <a:endParaRPr lang="zh-CN" altLang="en-US" sz="2400"/>
          </a:p>
          <a:p>
            <a:r>
              <a:rPr lang="en-US" altLang="zh-CN" sz="2400"/>
              <a:t>2023</a:t>
            </a:r>
            <a:r>
              <a:rPr lang="zh-CN" altLang="en-US" sz="2400"/>
              <a:t>年突破性高温：全球月均气温多次打破历史纪录，</a:t>
            </a:r>
            <a:r>
              <a:rPr lang="en-US" altLang="zh-CN" sz="2400"/>
              <a:t>7</a:t>
            </a:r>
            <a:r>
              <a:rPr lang="zh-CN" altLang="en-US" sz="2400"/>
              <a:t>月成为</a:t>
            </a:r>
            <a:r>
              <a:rPr lang="en-US" altLang="zh-CN" sz="2400"/>
              <a:t>12.5</a:t>
            </a:r>
            <a:r>
              <a:rPr lang="zh-CN" altLang="en-US" sz="2400"/>
              <a:t>万年来最热月份（欧盟气候机构数据）。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p>
            <a:r>
              <a:rPr lang="en-US" altLang="zh-CN" sz="2400">
                <a:sym typeface="+mn-ea"/>
              </a:rPr>
              <a:t>4. </a:t>
            </a:r>
            <a:r>
              <a:rPr lang="zh-CN" altLang="en-US" sz="2400">
                <a:sym typeface="+mn-ea"/>
              </a:rPr>
              <a:t>未来预测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当前排放路径：若温室气体排放不显著减少，到</a:t>
            </a:r>
            <a:r>
              <a:rPr lang="en-US" altLang="zh-CN" sz="2400">
                <a:sym typeface="+mn-ea"/>
              </a:rPr>
              <a:t>2100</a:t>
            </a:r>
            <a:r>
              <a:rPr lang="zh-CN" altLang="en-US" sz="2400">
                <a:sym typeface="+mn-ea"/>
              </a:rPr>
              <a:t>年全球可能升温</a:t>
            </a:r>
            <a:r>
              <a:rPr lang="en-US" altLang="zh-CN" sz="2400">
                <a:sym typeface="+mn-ea"/>
              </a:rPr>
              <a:t> 2.4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C–4.4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IPCC</a:t>
            </a:r>
            <a:r>
              <a:rPr lang="zh-CN" altLang="en-US" sz="2400">
                <a:sym typeface="+mn-ea"/>
              </a:rPr>
              <a:t>预测）。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巴黎协定目标：力争将升温控制在</a:t>
            </a:r>
            <a:r>
              <a:rPr lang="en-US" altLang="zh-CN" sz="2400">
                <a:sym typeface="+mn-ea"/>
              </a:rPr>
              <a:t> 1.5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以内，但实现难度极大（需</a:t>
            </a:r>
            <a:r>
              <a:rPr lang="en-US" altLang="zh-CN" sz="2400">
                <a:sym typeface="+mn-ea"/>
              </a:rPr>
              <a:t>2030</a:t>
            </a:r>
            <a:r>
              <a:rPr lang="zh-CN" altLang="en-US" sz="2400">
                <a:sym typeface="+mn-ea"/>
              </a:rPr>
              <a:t>年前减排</a:t>
            </a:r>
            <a:r>
              <a:rPr lang="en-US" altLang="zh-CN" sz="2400">
                <a:sym typeface="+mn-ea"/>
              </a:rPr>
              <a:t>45%</a:t>
            </a:r>
            <a:r>
              <a:rPr lang="zh-CN" altLang="en-US" sz="2400">
                <a:sym typeface="+mn-ea"/>
              </a:rPr>
              <a:t>）。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生态：珊瑚白化、物种灭绝加速。人类：粮食减产、水资源短缺、海平面上升威胁沿海城市。经济：极端天气每年造成数千亿美元损失。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总结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全球气温已上升约</a:t>
            </a:r>
            <a:r>
              <a:rPr lang="en-US" altLang="zh-CN" sz="2400">
                <a:sym typeface="+mn-ea"/>
              </a:rPr>
              <a:t> 1.1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C–1.3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（</a:t>
            </a:r>
            <a:r>
              <a:rPr lang="en-US" altLang="zh-CN" sz="2400">
                <a:sym typeface="+mn-ea"/>
              </a:rPr>
              <a:t>2023</a:t>
            </a:r>
            <a:r>
              <a:rPr lang="zh-CN" altLang="en-US" sz="2400">
                <a:sym typeface="+mn-ea"/>
              </a:rPr>
              <a:t>年局部时段接近</a:t>
            </a:r>
            <a:r>
              <a:rPr lang="en-US" altLang="zh-CN" sz="2400">
                <a:sym typeface="+mn-ea"/>
              </a:rPr>
              <a:t>1.5</a:t>
            </a:r>
            <a:r>
              <a:rPr lang="en-US" altLang="en-US" sz="2400">
                <a:sym typeface="+mn-ea"/>
              </a:rPr>
              <a:t>°</a:t>
            </a:r>
            <a:r>
              <a:rPr lang="en-US" altLang="zh-CN" sz="2400">
                <a:sym typeface="+mn-ea"/>
              </a:rPr>
              <a:t>C</a:t>
            </a:r>
            <a:r>
              <a:rPr lang="zh-CN" altLang="en-US" sz="2400">
                <a:sym typeface="+mn-ea"/>
              </a:rPr>
              <a:t>），且仍在加速。这一变化看似微小，但对地球系统的影响深远，亟需全球协同减排以控制风险。</a:t>
            </a:r>
            <a:endParaRPr lang="zh-CN" altLang="en-US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5346" name="内容占位符 185345"/>
          <p:cNvSpPr>
            <a:spLocks noGrp="1" noRot="1"/>
          </p:cNvSpPr>
          <p:nvPr>
            <p:ph idx="4294967295"/>
          </p:nvPr>
        </p:nvSpPr>
        <p:spPr>
          <a:xfrm>
            <a:off x="172720" y="0"/>
            <a:ext cx="12019280" cy="6857365"/>
          </a:xfrm>
        </p:spPr>
        <p:txBody>
          <a:bodyPr>
            <a:normAutofit/>
          </a:bodyPr>
          <a:p>
            <a:pPr algn="just">
              <a:buNone/>
            </a:pP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这种</a:t>
            </a:r>
            <a:r>
              <a:rPr lang="zh-CN" altLang="en-US" sz="2800" b="1" dirty="0">
                <a:latin typeface="宋体" panose="02010600030101010101" pitchFamily="2" charset="-122"/>
              </a:rPr>
              <a:t>威胁和危害关系到当今人类的健康、生存与发展，更危及地球的命运和人类的前途。中国生产的发展、人口的增加，使环境问题十分突出，其影响已超出了中国。因此，不但引起了国内的高度重视，也引起了国际上的关注。环境保护与可持续发展是当今人类所面临的重要问题，也是中国的基本国策。只有当其基本思想和概念为人类都了解和掌握时，人类才能保护好环境，并保证自身的持续发展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</a:rPr>
              <a:t>    为了保护环境走可持续发展的道路，起根本作用也是最迫切需要的，是全人类的觉醒和一致行动。从高层的决策人物到普通的老百姓，从工、农、商、学、兵各行业到政治、法律、经济、文化、科技各界，无一例外地与环境问题密切相关，并对环境保护起重要作用。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670502" y="86360"/>
            <a:ext cx="101740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86370" name="内容占位符 186369"/>
          <p:cNvSpPr>
            <a:spLocks noGrp="1" noRot="1"/>
          </p:cNvSpPr>
          <p:nvPr>
            <p:ph idx="4294967295"/>
          </p:nvPr>
        </p:nvSpPr>
        <p:spPr>
          <a:xfrm>
            <a:off x="109855" y="371475"/>
            <a:ext cx="3456940" cy="5851525"/>
          </a:xfrm>
        </p:spPr>
        <p:txBody>
          <a:bodyPr/>
          <a:p>
            <a:pPr>
              <a:buNone/>
            </a:pP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尤</a:t>
            </a:r>
            <a:r>
              <a:rPr lang="zh-CN" altLang="en-US" sz="2800" b="1" dirty="0">
                <a:latin typeface="宋体" panose="02010600030101010101" pitchFamily="2" charset="-122"/>
              </a:rPr>
              <a:t>其是青年的下一代，他们将是未来世界的主人，他们的意识、伦理、知识、信念，都将极大程度地决定世界的未来。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472815" y="181610"/>
            <a:ext cx="4747895" cy="58508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2750" b="11849"/>
          <a:stretch>
            <a:fillRect/>
          </a:stretch>
        </p:blipFill>
        <p:spPr>
          <a:xfrm>
            <a:off x="8135620" y="371475"/>
            <a:ext cx="3686175" cy="6000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8105" y="231775"/>
            <a:ext cx="11499215" cy="705485"/>
          </a:xfrm>
        </p:spPr>
        <p:txBody>
          <a:bodyPr/>
          <a:p>
            <a:r>
              <a:rPr lang="zh-CN" altLang="en-US"/>
              <a:t>影视作品</a:t>
            </a:r>
            <a:endParaRPr lang="zh-CN" altLang="en-US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2069375" y="127000"/>
            <a:ext cx="4898571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19455" y="59690"/>
            <a:ext cx="6345555" cy="68808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4"/>
          <a:stretch>
            <a:fillRect/>
          </a:stretch>
        </p:blipFill>
        <p:spPr>
          <a:xfrm>
            <a:off x="7064974" y="127000"/>
            <a:ext cx="4935292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5"/>
          <a:stretch>
            <a:fillRect/>
          </a:stretch>
        </p:blipFill>
        <p:spPr>
          <a:xfrm>
            <a:off x="4128135" y="60325"/>
            <a:ext cx="4857115" cy="69799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"/>
          </p:nvPr>
        </p:nvSpPr>
        <p:spPr/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rcRect b="27075"/>
          <a:stretch>
            <a:fillRect/>
          </a:stretch>
        </p:blipFill>
        <p:spPr>
          <a:xfrm>
            <a:off x="1029335" y="0"/>
            <a:ext cx="9546590" cy="6656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>
          <a:xfrm>
            <a:off x="306705" y="1555115"/>
            <a:ext cx="11755120" cy="4756785"/>
          </a:xfrm>
        </p:spPr>
        <p:txBody>
          <a:bodyPr>
            <a:noAutofit/>
          </a:bodyPr>
          <a:p>
            <a:r>
              <a:rPr lang="zh-CN" altLang="en-US" sz="2400"/>
              <a:t>党的十八大报告将生态文明建设纳入党的行动纲领，中国特色社会主义事业“五位一体”总体布局引人注目。“美丽中国”成为生态文明建设的远景目标。</a:t>
            </a:r>
            <a:endParaRPr lang="zh-CN" altLang="en-US" sz="2400"/>
          </a:p>
          <a:p>
            <a:r>
              <a:rPr lang="zh-CN" altLang="en-US" sz="2400"/>
              <a:t>党的十八大以来，以习近平同志为核心的党中央高度重视生态文明建设，提出了一系列新理念新思想新战略，党关于生态文明建设的思想不断丰富和完善。</a:t>
            </a:r>
            <a:endParaRPr lang="zh-CN" altLang="en-US" sz="2400"/>
          </a:p>
          <a:p>
            <a:r>
              <a:rPr lang="zh-CN" altLang="en-US" sz="2400"/>
              <a:t>党的十九大报告提出，必须树立和践行绿水青山就是金山银山的理念，坚持节约资源和保护环境的基本国策。党的十九大通过的《中国共产党章程（修正案）》，再次强化“增强绿水青山就是金山银山的意识”。</a:t>
            </a:r>
            <a:endParaRPr lang="zh-CN" altLang="en-US" sz="2400"/>
          </a:p>
          <a:p>
            <a:r>
              <a:rPr lang="zh-CN" altLang="en-US" sz="2400"/>
              <a:t>2018年3月11日，第十三届全国人民代表大会第一次会议通过《中华人民共和国宪法修正案》，将生态文明正式写入国家根本法，实现了党的主张、国家意志、人民意愿的高度统一。</a:t>
            </a:r>
            <a:endParaRPr lang="zh-CN" altLang="en-US" sz="24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生态文明建设发展脉络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>
          <a:xfrm>
            <a:off x="608330" y="1313815"/>
            <a:ext cx="10969625" cy="1223645"/>
          </a:xfrm>
        </p:spPr>
        <p:txBody>
          <a:bodyPr>
            <a:noAutofit/>
          </a:bodyPr>
          <a:p>
            <a:r>
              <a:rPr lang="zh-CN" altLang="en-US" sz="2400"/>
              <a:t>2020年9月22日，国家主席习近平在第七十五届联合国大会上宣布，中国力争 2030年前二氧化碳排放达到峰值，努力争取 2060年前实现碳中和目标。</a:t>
            </a:r>
            <a:endParaRPr lang="zh-CN" altLang="en-US" sz="24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“</a:t>
            </a:r>
            <a:r>
              <a:rPr lang="zh-CN" altLang="en-US"/>
              <a:t>双碳</a:t>
            </a:r>
            <a:r>
              <a:rPr lang="en-US" altLang="zh-CN"/>
              <a:t>”</a:t>
            </a:r>
            <a:r>
              <a:rPr lang="zh-CN" altLang="en-US"/>
              <a:t>即碳达峰碳中和</a:t>
            </a:r>
            <a:endParaRPr lang="zh-CN" altLang="en-US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2315455"/>
            <a:ext cx="12192000" cy="43949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>
          <a:xfrm>
            <a:off x="863600" y="1624965"/>
            <a:ext cx="11103610" cy="4893945"/>
          </a:xfrm>
        </p:spPr>
        <p:txBody>
          <a:bodyPr>
            <a:noAutofit/>
          </a:bodyPr>
          <a:p>
            <a:r>
              <a:rPr lang="zh-CN" altLang="en-US" sz="2800"/>
              <a:t>自然资源：指天然存在的物质，是生产的原料来源和布局场所，包括土地资源、矿产资源、水资源、生物资源等，可以分为不可再生资源和可再生资源。</a:t>
            </a:r>
            <a:endParaRPr lang="zh-CN" altLang="en-US" sz="2800"/>
          </a:p>
          <a:p>
            <a:r>
              <a:rPr lang="zh-CN" altLang="en-US" sz="2800"/>
              <a:t>自然资源的重要性：人类生存和发展的必要条件。</a:t>
            </a:r>
            <a:endParaRPr lang="zh-CN" altLang="en-US" sz="2800"/>
          </a:p>
          <a:p>
            <a:r>
              <a:rPr lang="zh-CN" altLang="en-US" sz="2800"/>
              <a:t>自然资源的三大属性：</a:t>
            </a:r>
            <a:endParaRPr lang="zh-CN" altLang="en-US" sz="2800"/>
          </a:p>
          <a:p>
            <a:r>
              <a:rPr lang="en-US" altLang="zh-CN" sz="2800"/>
              <a:t>1</a:t>
            </a:r>
            <a:r>
              <a:rPr lang="zh-CN" altLang="en-US" sz="2800"/>
              <a:t>、稀缺性：</a:t>
            </a:r>
            <a:endParaRPr lang="zh-CN" altLang="en-US" sz="2800"/>
          </a:p>
          <a:p>
            <a:r>
              <a:rPr lang="en-US" altLang="zh-CN" sz="2800"/>
              <a:t>2</a:t>
            </a:r>
            <a:r>
              <a:rPr lang="zh-CN" altLang="en-US" sz="2800"/>
              <a:t>、</a:t>
            </a:r>
            <a:r>
              <a:rPr lang="zh-CN" altLang="en-US" sz="2800">
                <a:solidFill>
                  <a:srgbClr val="FF0000"/>
                </a:solidFill>
              </a:rPr>
              <a:t>整体性</a:t>
            </a:r>
            <a:r>
              <a:rPr lang="zh-CN" altLang="en-US" sz="2800"/>
              <a:t>：</a:t>
            </a:r>
            <a:endParaRPr lang="zh-CN" altLang="en-US" sz="2800"/>
          </a:p>
          <a:p>
            <a:r>
              <a:rPr lang="en-US" altLang="zh-CN" sz="2800"/>
              <a:t>3</a:t>
            </a:r>
            <a:r>
              <a:rPr lang="zh-CN" altLang="en-US" sz="2800"/>
              <a:t>、地域性。</a:t>
            </a:r>
            <a:endParaRPr lang="zh-CN" altLang="en-US" sz="280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第一章  资源短缺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79554" name="内容占位符 279553"/>
          <p:cNvSpPr>
            <a:spLocks noGrp="1" noRot="1"/>
          </p:cNvSpPr>
          <p:nvPr>
            <p:ph idx="4294967295"/>
          </p:nvPr>
        </p:nvSpPr>
        <p:spPr>
          <a:xfrm>
            <a:off x="-635" y="0"/>
            <a:ext cx="8877935" cy="7086600"/>
          </a:xfrm>
        </p:spPr>
        <p:txBody>
          <a:bodyPr>
            <a:normAutofit fontScale="90000"/>
          </a:bodyPr>
          <a:p>
            <a:pPr lvl="1">
              <a:buNone/>
            </a:pPr>
            <a:r>
              <a:rPr lang="en-US" altLang="zh-CN" sz="4000" dirty="0"/>
              <a:t>          </a:t>
            </a:r>
            <a:endParaRPr lang="en-US" altLang="zh-CN" sz="4000" dirty="0"/>
          </a:p>
          <a:p>
            <a:pPr lvl="1">
              <a:buNone/>
            </a:pPr>
            <a:r>
              <a:rPr lang="en-US" altLang="zh-CN" sz="4000" dirty="0"/>
              <a:t>          </a:t>
            </a:r>
            <a:r>
              <a:rPr lang="zh-CN" altLang="en-US" sz="4000" dirty="0"/>
              <a:t>第</a:t>
            </a:r>
            <a:r>
              <a:rPr lang="zh-CN" altLang="en-US" sz="4000" dirty="0"/>
              <a:t>一章  资源短缺</a:t>
            </a:r>
            <a:endParaRPr lang="zh-CN" altLang="en-US" sz="4000" dirty="0"/>
          </a:p>
          <a:p>
            <a:pPr lvl="1">
              <a:buNone/>
            </a:pPr>
            <a:r>
              <a:rPr lang="zh-CN" altLang="en-US" sz="3200" dirty="0"/>
              <a:t>                   第一节 水资源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一、全球淡水资源短缺形势分析</a:t>
            </a:r>
            <a:endParaRPr lang="zh-CN" altLang="en-US" sz="3200" dirty="0"/>
          </a:p>
          <a:p>
            <a:pPr lvl="1">
              <a:buNone/>
            </a:pPr>
            <a:r>
              <a:rPr lang="en-US" altLang="zh-CN" sz="3200"/>
              <a:t>1</a:t>
            </a:r>
            <a:r>
              <a:rPr lang="zh-CN" altLang="en-US" sz="3200" dirty="0"/>
              <a:t>、水资源问题的提出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       </a:t>
            </a:r>
            <a:r>
              <a:rPr lang="en-US" altLang="zh-CN" sz="3200"/>
              <a:t>1997</a:t>
            </a:r>
            <a:r>
              <a:rPr lang="zh-CN" altLang="en-US" sz="3200"/>
              <a:t>年</a:t>
            </a:r>
            <a:r>
              <a:rPr lang="en-US" altLang="zh-CN" sz="3200"/>
              <a:t>6</a:t>
            </a:r>
            <a:r>
              <a:rPr lang="zh-CN" altLang="en-US" sz="3200" dirty="0"/>
              <a:t>月，在纽约召开的联合国第二次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全球环境首脑会议首次提出了水资源的问提，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并警告：“地区性水危机可能预示着全球性危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机的到来”。</a:t>
            </a:r>
            <a:endParaRPr lang="zh-CN" altLang="en-US" sz="3200" dirty="0"/>
          </a:p>
          <a:p>
            <a:pPr lvl="1">
              <a:buNone/>
            </a:pPr>
            <a:r>
              <a:rPr lang="en-US" altLang="zh-CN" sz="3200"/>
              <a:t>2</a:t>
            </a:r>
            <a:r>
              <a:rPr lang="zh-CN" altLang="en-US" sz="3200" dirty="0"/>
              <a:t>、地球上水量的分布</a:t>
            </a:r>
            <a:endParaRPr lang="zh-CN" altLang="en-US" sz="3200" dirty="0"/>
          </a:p>
          <a:p>
            <a:pPr lvl="1">
              <a:buNone/>
            </a:pPr>
            <a:r>
              <a:rPr lang="zh-CN" altLang="en-US" sz="3200" dirty="0"/>
              <a:t>       整个地球水量：</a:t>
            </a:r>
            <a:r>
              <a:rPr lang="en-US" altLang="zh-CN" sz="3200"/>
              <a:t>13.6</a:t>
            </a:r>
            <a:r>
              <a:rPr lang="zh-CN" altLang="en-US" sz="3200"/>
              <a:t>亿</a:t>
            </a:r>
            <a:r>
              <a:rPr lang="en-US" altLang="zh-CN" sz="3200"/>
              <a:t>Km</a:t>
            </a:r>
            <a:r>
              <a:rPr lang="en-US" altLang="zh-CN" sz="3200" baseline="30000"/>
              <a:t>3 </a:t>
            </a:r>
            <a:r>
              <a:rPr lang="en-US" altLang="zh-CN" sz="3200"/>
              <a:t>       </a:t>
            </a:r>
            <a:endParaRPr lang="en-US" altLang="zh-CN" sz="3200"/>
          </a:p>
        </p:txBody>
      </p:sp>
      <p:grpSp>
        <p:nvGrpSpPr>
          <p:cNvPr id="279555" name="组合 279554"/>
          <p:cNvGrpSpPr/>
          <p:nvPr/>
        </p:nvGrpSpPr>
        <p:grpSpPr>
          <a:xfrm>
            <a:off x="1449070" y="194310"/>
            <a:ext cx="5638800" cy="408305"/>
            <a:chOff x="0" y="288"/>
            <a:chExt cx="4176" cy="576"/>
          </a:xfrm>
        </p:grpSpPr>
        <p:grpSp>
          <p:nvGrpSpPr>
            <p:cNvPr id="279556" name="组合 279555"/>
            <p:cNvGrpSpPr/>
            <p:nvPr/>
          </p:nvGrpSpPr>
          <p:grpSpPr>
            <a:xfrm>
              <a:off x="0" y="384"/>
              <a:ext cx="816" cy="480"/>
              <a:chOff x="0" y="240"/>
              <a:chExt cx="816" cy="480"/>
            </a:xfrm>
          </p:grpSpPr>
          <p:sp>
            <p:nvSpPr>
              <p:cNvPr id="279557" name="矩形 279556"/>
              <p:cNvSpPr/>
              <p:nvPr/>
            </p:nvSpPr>
            <p:spPr>
              <a:xfrm>
                <a:off x="288" y="240"/>
                <a:ext cx="336" cy="336"/>
              </a:xfrm>
              <a:prstGeom prst="rect">
                <a:avLst/>
              </a:prstGeom>
              <a:gradFill rotWithShape="0">
                <a:gsLst>
                  <a:gs pos="0">
                    <a:srgbClr val="FF6600"/>
                  </a:gs>
                  <a:gs pos="100000">
                    <a:srgbClr val="FF6600">
                      <a:gamma/>
                      <a:tint val="66667"/>
                      <a:invGamma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9558" name="矩形 279557"/>
              <p:cNvSpPr/>
              <p:nvPr/>
            </p:nvSpPr>
            <p:spPr>
              <a:xfrm>
                <a:off x="384" y="432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0000FF"/>
                  </a:gs>
                  <a:gs pos="100000">
                    <a:srgbClr val="0000FF">
                      <a:gamma/>
                      <a:tint val="57647"/>
                      <a:invGamma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79559" name="矩形 279558"/>
              <p:cNvSpPr/>
              <p:nvPr/>
            </p:nvSpPr>
            <p:spPr>
              <a:xfrm>
                <a:off x="0" y="384"/>
                <a:ext cx="480" cy="288"/>
              </a:xfrm>
              <a:prstGeom prst="rect">
                <a:avLst/>
              </a:prstGeom>
              <a:gradFill rotWithShape="0">
                <a:gsLst>
                  <a:gs pos="0">
                    <a:srgbClr val="FF3300">
                      <a:gamma/>
                      <a:tint val="63529"/>
                      <a:invGamma/>
                    </a:srgbClr>
                  </a:gs>
                  <a:gs pos="100000">
                    <a:srgbClr val="FF3300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279560" name="直接连接符 279559"/>
            <p:cNvSpPr/>
            <p:nvPr/>
          </p:nvSpPr>
          <p:spPr>
            <a:xfrm>
              <a:off x="480" y="288"/>
              <a:ext cx="0" cy="57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279561" name="直接连接符 279560"/>
            <p:cNvSpPr/>
            <p:nvPr/>
          </p:nvSpPr>
          <p:spPr>
            <a:xfrm>
              <a:off x="384" y="768"/>
              <a:ext cx="3792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292340" y="509270"/>
            <a:ext cx="4643755" cy="23393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0578" name="内容占位符 280577"/>
          <p:cNvSpPr>
            <a:spLocks noGrp="1" noRot="1"/>
          </p:cNvSpPr>
          <p:nvPr>
            <p:ph idx="4294967295"/>
          </p:nvPr>
        </p:nvSpPr>
        <p:spPr>
          <a:xfrm>
            <a:off x="221615" y="78105"/>
            <a:ext cx="8229600" cy="6858000"/>
          </a:xfrm>
        </p:spPr>
        <p:txBody>
          <a:bodyPr/>
          <a:p>
            <a:pPr lvl="1">
              <a:buNone/>
            </a:pPr>
            <a:r>
              <a:rPr lang="zh-CN" altLang="en-US" sz="3200" dirty="0"/>
              <a:t>海水：</a:t>
            </a:r>
            <a:r>
              <a:rPr lang="en-US" altLang="zh-CN" sz="3200"/>
              <a:t>97.3%</a:t>
            </a:r>
            <a:r>
              <a:rPr lang="zh-CN" altLang="en-US" sz="3200" dirty="0"/>
              <a:t>；淡水：</a:t>
            </a:r>
            <a:r>
              <a:rPr lang="en-US" altLang="zh-CN" sz="3200"/>
              <a:t>2.7%</a:t>
            </a:r>
            <a:r>
              <a:rPr lang="zh-CN" altLang="en-US" sz="3200" dirty="0"/>
              <a:t>；可开发利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用的淡水资源储量约为</a:t>
            </a:r>
            <a:r>
              <a:rPr lang="en-US" altLang="zh-CN"/>
              <a:t>400Km</a:t>
            </a:r>
            <a:r>
              <a:rPr lang="en-US" altLang="zh-CN" baseline="30000"/>
              <a:t>3 </a:t>
            </a:r>
            <a:r>
              <a:rPr lang="en-US" altLang="zh-CN"/>
              <a:t>,</a:t>
            </a:r>
            <a:r>
              <a:rPr lang="zh-CN" altLang="en-US" dirty="0"/>
              <a:t>占全球总量的</a:t>
            </a:r>
            <a:r>
              <a:rPr lang="en-US" altLang="zh-CN"/>
              <a:t>0.3%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3</a:t>
            </a:r>
            <a:r>
              <a:rPr lang="zh-CN" altLang="en-US" dirty="0"/>
              <a:t>、水资源短缺问题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中东地区水资源短缺严重，主要表现在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大流量江河湖泊；地下水属不可再生型；年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降雨量不足</a:t>
            </a:r>
            <a:r>
              <a:rPr lang="en-US" altLang="zh-CN"/>
              <a:t>160mm</a:t>
            </a:r>
            <a:r>
              <a:rPr lang="zh-CN" altLang="en-US"/>
              <a:t>。</a:t>
            </a:r>
            <a:endParaRPr lang="zh-CN" altLang="en-US"/>
          </a:p>
          <a:p>
            <a:pPr>
              <a:buNone/>
            </a:pPr>
            <a:r>
              <a:rPr lang="zh-CN" altLang="en-US"/>
              <a:t>       </a:t>
            </a: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zh-CN" altLang="en-US" dirty="0"/>
              <a:t>水资源引发的国际争端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二、中国水资源短缺形势分析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中国人均水资源只相当于世界人均水资源占有量的</a:t>
            </a:r>
            <a:r>
              <a:rPr lang="en-US" altLang="zh-CN"/>
              <a:t>1/4</a:t>
            </a:r>
            <a:r>
              <a:rPr lang="zh-CN" altLang="en-US" dirty="0"/>
              <a:t>，居世界第</a:t>
            </a:r>
            <a:r>
              <a:rPr lang="en-US" altLang="zh-CN"/>
              <a:t>110</a:t>
            </a:r>
            <a:r>
              <a:rPr lang="zh-CN" altLang="en-US" dirty="0"/>
              <a:t>位。</a:t>
            </a:r>
            <a:endParaRPr lang="zh-CN" altLang="en-US" dirty="0"/>
          </a:p>
          <a:p>
            <a:pPr>
              <a:buNone/>
            </a:pPr>
            <a:r>
              <a:rPr lang="en-US" altLang="zh-CN"/>
              <a:t>1</a:t>
            </a:r>
            <a:r>
              <a:rPr lang="zh-CN" altLang="en-US"/>
              <a:t>、农业缺水</a:t>
            </a:r>
            <a:endParaRPr lang="zh-CN" altLang="en-US"/>
          </a:p>
        </p:txBody>
      </p:sp>
      <p:pic>
        <p:nvPicPr>
          <p:cNvPr id="113" name="图片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7120573" y="955040"/>
            <a:ext cx="5172075" cy="3238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/>
        </p:nvPicPr>
        <p:blipFill>
          <a:blip r:embed="rId2"/>
          <a:stretch>
            <a:fillRect/>
          </a:stretch>
        </p:blipFill>
        <p:spPr>
          <a:xfrm>
            <a:off x="3676650" y="1386205"/>
            <a:ext cx="8515350" cy="5067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1602" name="内容占位符 281601"/>
          <p:cNvSpPr>
            <a:spLocks noGrp="1" noRot="1"/>
          </p:cNvSpPr>
          <p:nvPr>
            <p:ph idx="4294967295"/>
          </p:nvPr>
        </p:nvSpPr>
        <p:spPr>
          <a:xfrm>
            <a:off x="213360" y="0"/>
            <a:ext cx="9768840" cy="6858000"/>
          </a:xfrm>
        </p:spPr>
        <p:txBody>
          <a:bodyPr/>
          <a:p>
            <a:pPr>
              <a:buNone/>
            </a:pPr>
            <a:r>
              <a:rPr lang="en-US" altLang="zh-CN" dirty="0"/>
              <a:t>     </a:t>
            </a:r>
            <a:r>
              <a:rPr lang="en-US" altLang="zh-CN"/>
              <a:t>2</a:t>
            </a:r>
            <a:r>
              <a:rPr lang="zh-CN" altLang="en-US" dirty="0"/>
              <a:t>、水资源分布不均：胡焕庸线：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1935年胡焕庸先生用手工画图发现的“爱辉-腾冲线”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</a:t>
            </a:r>
            <a:r>
              <a:rPr lang="en-US" altLang="zh-CN"/>
              <a:t>3</a:t>
            </a:r>
            <a:r>
              <a:rPr lang="zh-CN" altLang="en-US" dirty="0"/>
              <a:t>、城市缺水严重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据</a:t>
            </a:r>
            <a:r>
              <a:rPr lang="en-US" altLang="zh-CN"/>
              <a:t>1994</a:t>
            </a:r>
            <a:r>
              <a:rPr lang="zh-CN" altLang="en-US" dirty="0"/>
              <a:t>年统计，全国</a:t>
            </a:r>
            <a:r>
              <a:rPr lang="en-US" altLang="zh-CN"/>
              <a:t>600</a:t>
            </a:r>
            <a:r>
              <a:rPr lang="zh-CN" altLang="en-US" dirty="0"/>
              <a:t>多个城市中，缺水城市已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达</a:t>
            </a:r>
            <a:r>
              <a:rPr lang="en-US" altLang="zh-CN"/>
              <a:t>300</a:t>
            </a:r>
            <a:r>
              <a:rPr lang="zh-CN" altLang="en-US" dirty="0"/>
              <a:t>多个。其中严重缺水的城市有</a:t>
            </a:r>
            <a:r>
              <a:rPr lang="en-US" altLang="zh-CN"/>
              <a:t>114</a:t>
            </a:r>
            <a:r>
              <a:rPr lang="zh-CN" altLang="en-US" dirty="0"/>
              <a:t>个。</a:t>
            </a:r>
            <a:endParaRPr lang="zh-CN" altLang="en-US" dirty="0"/>
          </a:p>
          <a:p>
            <a:pPr>
              <a:buNone/>
            </a:pPr>
            <a:r>
              <a:rPr lang="zh-CN" altLang="en-US" sz="2000" dirty="0"/>
              <a:t>表</a:t>
            </a:r>
            <a:r>
              <a:rPr lang="en-US" altLang="zh-CN" sz="2000"/>
              <a:t>4-1 </a:t>
            </a:r>
            <a:r>
              <a:rPr lang="zh-CN" altLang="en-US" sz="2000" dirty="0"/>
              <a:t>全国重点城市水资源供需和缺水量表</a:t>
            </a:r>
            <a:endParaRPr lang="zh-CN" altLang="en-US" sz="2000" dirty="0"/>
          </a:p>
          <a:p>
            <a:pPr>
              <a:buNone/>
            </a:pPr>
            <a:r>
              <a:rPr lang="zh-CN" altLang="en-US" sz="2000" dirty="0"/>
              <a:t>  单位：</a:t>
            </a:r>
            <a:r>
              <a:rPr lang="en-US" altLang="zh-CN" sz="2000"/>
              <a:t>10</a:t>
            </a:r>
            <a:r>
              <a:rPr lang="en-US" altLang="zh-CN" sz="2000" baseline="30000"/>
              <a:t>8</a:t>
            </a:r>
            <a:r>
              <a:rPr lang="en-US" altLang="zh-CN" sz="2000"/>
              <a:t> m</a:t>
            </a:r>
            <a:r>
              <a:rPr lang="en-US" altLang="zh-CN" sz="2000" baseline="30000"/>
              <a:t>3</a:t>
            </a:r>
            <a:r>
              <a:rPr lang="en-US" altLang="zh-CN" sz="2000"/>
              <a:t> </a:t>
            </a:r>
            <a:endParaRPr lang="en-US" altLang="zh-CN" sz="2000"/>
          </a:p>
          <a:p>
            <a:pPr>
              <a:buNone/>
            </a:pPr>
            <a:endParaRPr lang="en-US" altLang="zh-CN" sz="2000"/>
          </a:p>
        </p:txBody>
      </p:sp>
      <p:graphicFrame>
        <p:nvGraphicFramePr>
          <p:cNvPr id="281603" name="表格 281602"/>
          <p:cNvGraphicFramePr/>
          <p:nvPr>
            <p:custDataLst>
              <p:tags r:id="rId1"/>
            </p:custDataLst>
          </p:nvPr>
        </p:nvGraphicFramePr>
        <p:xfrm>
          <a:off x="69850" y="3616325"/>
          <a:ext cx="6934200" cy="2936875"/>
        </p:xfrm>
        <a:graphic>
          <a:graphicData uri="http://schemas.openxmlformats.org/drawingml/2006/table">
            <a:tbl>
              <a:tblPr/>
              <a:tblGrid>
                <a:gridCol w="1524000"/>
                <a:gridCol w="1752600"/>
                <a:gridCol w="1924050"/>
                <a:gridCol w="1733550"/>
              </a:tblGrid>
              <a:tr h="4206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分区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2000</a:t>
                      </a:r>
                      <a:r>
                        <a:rPr lang="zh-CN" altLang="en-US" sz="2000" dirty="0"/>
                        <a:t>供水量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2000</a:t>
                      </a:r>
                      <a:r>
                        <a:rPr lang="zh-CN" altLang="en-US" sz="2000" dirty="0"/>
                        <a:t>需水量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2000</a:t>
                      </a:r>
                      <a:r>
                        <a:rPr lang="zh-CN" altLang="en-US" sz="2000" dirty="0"/>
                        <a:t>缺水量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2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全国总计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208.57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462.28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253.71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8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东北区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33.19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69.29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36.10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10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华北区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52.27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107.23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54.96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西北区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13.56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32.37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18.81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西南区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17.16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40.42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23.26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0687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zh-CN" altLang="en-US" sz="2000" dirty="0"/>
                        <a:t>东南区</a:t>
                      </a:r>
                      <a:endParaRPr lang="zh-CN" altLang="en-US" sz="200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92.39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212.97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80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24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1800" b="0" i="0" u="none" kern="1200" baseline="0">
                          <a:solidFill>
                            <a:schemeClr val="tx1"/>
                          </a:solidFill>
                          <a:effectLst>
                            <a:outerShdw blurRad="38100" dist="38100" dir="2700000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</a:lstStyle>
                    <a:p>
                      <a:pPr marL="0" lvl="0" indent="0" algn="ctr" fontAlgn="ctr">
                        <a:buNone/>
                      </a:pPr>
                      <a:r>
                        <a:rPr lang="en-US" altLang="zh-CN" sz="2000"/>
                        <a:t>120.58</a:t>
                      </a:r>
                      <a:endParaRPr lang="zh-CN" altLang="en-US" sz="200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14" name="图片 113"/>
          <p:cNvPicPr/>
          <p:nvPr/>
        </p:nvPicPr>
        <p:blipFill>
          <a:blip r:embed="rId2"/>
          <a:stretch>
            <a:fillRect/>
          </a:stretch>
        </p:blipFill>
        <p:spPr>
          <a:xfrm>
            <a:off x="7004050" y="0"/>
            <a:ext cx="5086350" cy="41351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5" name="图片 114"/>
          <p:cNvPicPr/>
          <p:nvPr/>
        </p:nvPicPr>
        <p:blipFill>
          <a:blip r:embed="rId3"/>
          <a:stretch>
            <a:fillRect/>
          </a:stretch>
        </p:blipFill>
        <p:spPr>
          <a:xfrm>
            <a:off x="7228523" y="3894455"/>
            <a:ext cx="5114925" cy="3238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2626" name="文本占位符 282625"/>
          <p:cNvSpPr>
            <a:spLocks noGrp="1" noRot="1"/>
          </p:cNvSpPr>
          <p:nvPr>
            <p:ph type="body" idx="1"/>
          </p:nvPr>
        </p:nvSpPr>
        <p:spPr>
          <a:xfrm>
            <a:off x="464820" y="0"/>
            <a:ext cx="8305800" cy="1737995"/>
          </a:xfrm>
        </p:spPr>
        <p:txBody>
          <a:bodyPr>
            <a:normAutofit lnSpcReduction="20000"/>
          </a:bodyPr>
          <a:p>
            <a:pPr>
              <a:buNone/>
            </a:pPr>
            <a:r>
              <a:rPr lang="en-US" altLang="zh-CN" sz="2800" dirty="0">
                <a:latin typeface="宋体" panose="02010600030101010101" pitchFamily="2" charset="-122"/>
              </a:rPr>
              <a:t>    </a:t>
            </a:r>
            <a:r>
              <a:rPr lang="zh-CN" altLang="en-US" dirty="0">
                <a:latin typeface="宋体" panose="02010600030101010101" pitchFamily="2" charset="-122"/>
              </a:rPr>
              <a:t>国土资源部</a:t>
            </a:r>
            <a:r>
              <a:rPr lang="en-US" altLang="zh-CN">
                <a:latin typeface="宋体" panose="02010600030101010101" pitchFamily="2" charset="-122"/>
              </a:rPr>
              <a:t>2003</a:t>
            </a:r>
            <a:r>
              <a:rPr lang="zh-CN" altLang="en-US">
                <a:latin typeface="宋体" panose="02010600030101010101" pitchFamily="2" charset="-122"/>
              </a:rPr>
              <a:t>年</a:t>
            </a:r>
            <a:r>
              <a:rPr lang="en-US" altLang="zh-CN">
                <a:latin typeface="宋体" panose="02010600030101010101" pitchFamily="2" charset="-122"/>
              </a:rPr>
              <a:t>10</a:t>
            </a:r>
            <a:r>
              <a:rPr lang="zh-CN" altLang="en-US">
                <a:latin typeface="宋体" panose="02010600030101010101" pitchFamily="2" charset="-122"/>
              </a:rPr>
              <a:t>月</a:t>
            </a:r>
            <a:r>
              <a:rPr lang="en-US" altLang="zh-CN">
                <a:latin typeface="宋体" panose="02010600030101010101" pitchFamily="2" charset="-122"/>
              </a:rPr>
              <a:t>30</a:t>
            </a:r>
            <a:r>
              <a:rPr lang="zh-CN" altLang="en-US" dirty="0">
                <a:latin typeface="宋体" panose="02010600030101010101" pitchFamily="2" charset="-122"/>
              </a:rPr>
              <a:t>日公布的新一轮全国地下水资源评价显示，目前全国形成的地下水降落漏斗已有</a:t>
            </a:r>
            <a:r>
              <a:rPr lang="en-US" altLang="zh-CN">
                <a:latin typeface="宋体" panose="02010600030101010101" pitchFamily="2" charset="-122"/>
              </a:rPr>
              <a:t>100</a:t>
            </a:r>
            <a:r>
              <a:rPr lang="zh-CN" altLang="en-US" dirty="0">
                <a:latin typeface="宋体" panose="02010600030101010101" pitchFamily="2" charset="-122"/>
              </a:rPr>
              <a:t>多个面积达</a:t>
            </a:r>
            <a:r>
              <a:rPr lang="en-US" altLang="zh-CN">
                <a:latin typeface="宋体" panose="02010600030101010101" pitchFamily="2" charset="-122"/>
              </a:rPr>
              <a:t>15</a:t>
            </a:r>
            <a:r>
              <a:rPr lang="zh-CN" altLang="en-US" dirty="0">
                <a:latin typeface="宋体" panose="02010600030101010101" pitchFamily="2" charset="-122"/>
              </a:rPr>
              <a:t>万平方公里。勘测结果表明，目前华北平原深层地下水已形成跨越</a:t>
            </a:r>
            <a:r>
              <a:rPr lang="zh-CN" altLang="en-US" dirty="0"/>
              <a:t>冀、京、津、鲁的区域地下水降落漏斗，有近</a:t>
            </a:r>
            <a:r>
              <a:rPr lang="en-US" altLang="zh-CN"/>
              <a:t>7</a:t>
            </a:r>
            <a:r>
              <a:rPr lang="zh-CN" altLang="en-US" dirty="0"/>
              <a:t>万平方公里面积的地下水位低于海平面。</a:t>
            </a:r>
            <a:endParaRPr lang="zh-CN" altLang="en-US" dirty="0"/>
          </a:p>
          <a:p>
            <a:pPr>
              <a:buNone/>
            </a:pPr>
            <a:endParaRPr lang="zh-CN" altLang="en-US"/>
          </a:p>
        </p:txBody>
      </p:sp>
      <p:pic>
        <p:nvPicPr>
          <p:cNvPr id="107" name="图片 106"/>
          <p:cNvPicPr/>
          <p:nvPr/>
        </p:nvPicPr>
        <p:blipFill>
          <a:blip r:embed="rId1"/>
          <a:stretch>
            <a:fillRect/>
          </a:stretch>
        </p:blipFill>
        <p:spPr>
          <a:xfrm>
            <a:off x="5207000" y="1737995"/>
            <a:ext cx="6985000" cy="4660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" name="图片 111"/>
          <p:cNvPicPr/>
          <p:nvPr/>
        </p:nvPicPr>
        <p:blipFill>
          <a:blip r:embed="rId2"/>
          <a:stretch>
            <a:fillRect/>
          </a:stretch>
        </p:blipFill>
        <p:spPr>
          <a:xfrm>
            <a:off x="521970" y="1591310"/>
            <a:ext cx="4231640" cy="50399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3650" name="内容占位符 283649"/>
          <p:cNvSpPr>
            <a:spLocks noGrp="1" noRot="1"/>
          </p:cNvSpPr>
          <p:nvPr>
            <p:ph idx="4294967295"/>
          </p:nvPr>
        </p:nvSpPr>
        <p:spPr>
          <a:xfrm>
            <a:off x="0" y="0"/>
            <a:ext cx="8763000" cy="6858000"/>
          </a:xfrm>
        </p:spPr>
        <p:txBody>
          <a:bodyPr/>
          <a:p>
            <a:pPr>
              <a:buNone/>
            </a:pPr>
            <a:r>
              <a:rPr lang="en-US" altLang="zh-CN" dirty="0"/>
              <a:t>    </a:t>
            </a:r>
            <a:r>
              <a:rPr lang="zh-CN" altLang="en-US" dirty="0">
                <a:sym typeface="+mn-ea"/>
              </a:rPr>
              <a:t>缺水的两种类型：资源型缺水以及水质型缺水。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         </a:t>
            </a:r>
            <a:r>
              <a:rPr lang="zh-CN" altLang="en-US" sz="3600" dirty="0"/>
              <a:t>第二节 土地资源</a:t>
            </a:r>
            <a:endParaRPr lang="zh-CN" altLang="en-US" sz="3600" dirty="0"/>
          </a:p>
          <a:p>
            <a:pPr>
              <a:buNone/>
            </a:pPr>
            <a:r>
              <a:rPr lang="zh-CN" altLang="en-US" dirty="0"/>
              <a:t>一、世界土地资源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1</a:t>
            </a:r>
            <a:r>
              <a:rPr lang="zh-CN" altLang="en-US" dirty="0"/>
              <a:t>、陆地面积：</a:t>
            </a:r>
            <a:r>
              <a:rPr lang="en-US" altLang="zh-CN"/>
              <a:t>13300×10</a:t>
            </a:r>
            <a:r>
              <a:rPr lang="en-US" altLang="zh-CN" baseline="30000"/>
              <a:t>4</a:t>
            </a:r>
            <a:r>
              <a:rPr lang="en-US" altLang="zh-CN"/>
              <a:t> Km</a:t>
            </a:r>
            <a:r>
              <a:rPr lang="en-US" altLang="zh-CN" baseline="30000"/>
              <a:t>2</a:t>
            </a:r>
            <a:r>
              <a:rPr lang="en-US" altLang="zh-CN"/>
              <a:t> </a:t>
            </a:r>
            <a:endParaRPr lang="en-US" altLang="zh-CN"/>
          </a:p>
          <a:p>
            <a:pPr>
              <a:buNone/>
            </a:pPr>
            <a:r>
              <a:rPr lang="en-US" altLang="zh-CN"/>
              <a:t>            </a:t>
            </a:r>
            <a:r>
              <a:rPr lang="zh-CN" altLang="en-US" dirty="0"/>
              <a:t>人口：</a:t>
            </a:r>
            <a:r>
              <a:rPr lang="en-US" altLang="zh-CN"/>
              <a:t>1900</a:t>
            </a:r>
            <a:r>
              <a:rPr lang="zh-CN" altLang="en-US"/>
              <a:t>年</a:t>
            </a:r>
            <a:r>
              <a:rPr lang="en-US" altLang="zh-CN"/>
              <a:t>16</a:t>
            </a:r>
            <a:r>
              <a:rPr lang="zh-CN" altLang="en-US" dirty="0"/>
              <a:t>亿；人均耕地：</a:t>
            </a:r>
            <a:r>
              <a:rPr lang="en-US" altLang="zh-CN"/>
              <a:t>10hm</a:t>
            </a:r>
            <a:r>
              <a:rPr lang="en-US" altLang="zh-CN" baseline="30000"/>
              <a:t>2</a:t>
            </a:r>
            <a:endParaRPr lang="en-US" altLang="zh-CN"/>
          </a:p>
          <a:p>
            <a:pPr>
              <a:buNone/>
            </a:pPr>
            <a:r>
              <a:rPr lang="en-US" altLang="zh-CN"/>
              <a:t>                       1987</a:t>
            </a:r>
            <a:r>
              <a:rPr lang="zh-CN" altLang="en-US"/>
              <a:t>年</a:t>
            </a:r>
            <a:r>
              <a:rPr lang="en-US" altLang="zh-CN"/>
              <a:t>50</a:t>
            </a:r>
            <a:r>
              <a:rPr lang="zh-CN" altLang="en-US" dirty="0"/>
              <a:t>亿；人均耕地：</a:t>
            </a:r>
            <a:r>
              <a:rPr lang="en-US" altLang="zh-CN"/>
              <a:t>3hm</a:t>
            </a:r>
            <a:r>
              <a:rPr lang="en-US" altLang="zh-CN" baseline="30000"/>
              <a:t>2</a:t>
            </a:r>
            <a:endParaRPr lang="en-US" altLang="zh-CN" baseline="30000"/>
          </a:p>
          <a:p>
            <a:pPr>
              <a:buNone/>
            </a:pPr>
            <a:r>
              <a:rPr lang="en-US" altLang="zh-CN" baseline="30000"/>
              <a:t>                     </a:t>
            </a:r>
            <a:r>
              <a:rPr lang="en-US" altLang="zh-CN"/>
              <a:t> </a:t>
            </a:r>
            <a:r>
              <a:rPr lang="en-US"/>
              <a:t>2015</a:t>
            </a:r>
            <a:r>
              <a:rPr lang="zh-CN" altLang="en-US"/>
              <a:t>年</a:t>
            </a:r>
            <a:r>
              <a:rPr lang="en-US" altLang="zh-CN">
                <a:latin typeface="宋体" panose="02010600030101010101" pitchFamily="2" charset="-122"/>
              </a:rPr>
              <a:t>60</a:t>
            </a:r>
            <a:r>
              <a:rPr lang="zh-CN" altLang="en-US" dirty="0">
                <a:latin typeface="宋体" panose="02010600030101010101" pitchFamily="2" charset="-122"/>
              </a:rPr>
              <a:t>亿；  </a:t>
            </a:r>
            <a:r>
              <a:rPr lang="zh-CN" altLang="en-US" dirty="0"/>
              <a:t>人均耕地：</a:t>
            </a:r>
            <a:r>
              <a:rPr lang="en-US" altLang="zh-CN" dirty="0"/>
              <a:t>0.27</a:t>
            </a:r>
            <a:r>
              <a:rPr lang="en-US" altLang="zh-CN"/>
              <a:t>hm</a:t>
            </a:r>
            <a:r>
              <a:rPr lang="en-US" altLang="zh-CN" baseline="30000"/>
              <a:t>2 </a:t>
            </a:r>
            <a:endParaRPr lang="en-US" altLang="zh-CN" baseline="30000"/>
          </a:p>
          <a:p>
            <a:pPr>
              <a:buNone/>
            </a:pPr>
            <a:r>
              <a:rPr lang="en-US" altLang="zh-CN"/>
              <a:t>2022年11月15日，联合国宣布，世界人口达到80亿。</a:t>
            </a:r>
            <a:endParaRPr lang="en-US" altLang="zh-CN"/>
          </a:p>
          <a:p>
            <a:pPr>
              <a:buNone/>
            </a:pPr>
            <a:r>
              <a:rPr lang="en-US" altLang="zh-CN" baseline="30000"/>
              <a:t>          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 dirty="0"/>
              <a:t>土地质量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“土地的通达性”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陆地面积：“限制性环境”面积占</a:t>
            </a:r>
            <a:r>
              <a:rPr lang="en-US" altLang="zh-CN"/>
              <a:t>70%</a:t>
            </a:r>
            <a:r>
              <a:rPr lang="zh-CN" altLang="en-US" dirty="0"/>
              <a:t>，</a:t>
            </a:r>
            <a:endParaRPr lang="zh-CN" altLang="en-US" dirty="0"/>
          </a:p>
          <a:p>
            <a:pPr>
              <a:buNone/>
            </a:pPr>
            <a:endParaRPr lang="zh-CN" altLang="en-US" baseline="30000"/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6158" y="394653"/>
            <a:ext cx="6105525" cy="4143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5770245" y="239395"/>
            <a:ext cx="6304280" cy="41675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365683" y="4890770"/>
            <a:ext cx="4371975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4674" name="内容占位符 284673"/>
          <p:cNvSpPr>
            <a:spLocks noGrp="1" noRot="1"/>
          </p:cNvSpPr>
          <p:nvPr>
            <p:ph idx="4294967295"/>
          </p:nvPr>
        </p:nvSpPr>
        <p:spPr>
          <a:xfrm>
            <a:off x="381635" y="0"/>
            <a:ext cx="11811000" cy="6858000"/>
          </a:xfrm>
        </p:spPr>
        <p:txBody>
          <a:bodyPr/>
          <a:p>
            <a:pPr>
              <a:buNone/>
            </a:pPr>
            <a:r>
              <a:rPr lang="en-US" altLang="zh-CN" sz="2400" dirty="0"/>
              <a:t>“</a:t>
            </a:r>
            <a:r>
              <a:rPr lang="zh-CN" altLang="en-US" sz="2400" dirty="0"/>
              <a:t>适居地”占</a:t>
            </a:r>
            <a:r>
              <a:rPr lang="en-US" altLang="zh-CN" sz="2400"/>
              <a:t>30%</a:t>
            </a:r>
            <a:r>
              <a:rPr lang="zh-CN" altLang="en-US" sz="2400" dirty="0"/>
              <a:t>。实际人均占有土地</a:t>
            </a:r>
            <a:r>
              <a:rPr lang="en-US" altLang="zh-CN" sz="2400"/>
              <a:t>0.75</a:t>
            </a:r>
            <a:r>
              <a:rPr lang="en-US" altLang="zh-CN" sz="2400">
                <a:sym typeface="+mn-ea"/>
              </a:rPr>
              <a:t>hm</a:t>
            </a:r>
            <a:r>
              <a:rPr lang="en-US" altLang="zh-CN" sz="2400" baseline="30000">
                <a:sym typeface="+mn-ea"/>
              </a:rPr>
              <a:t>2</a:t>
            </a:r>
            <a:r>
              <a:rPr lang="zh-CN" altLang="en-US" sz="2400" dirty="0"/>
              <a:t>，其中耕地面积约占</a:t>
            </a:r>
            <a:r>
              <a:rPr lang="en-US" altLang="zh-CN" sz="2400"/>
              <a:t>60%~70%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二、世界耕地需求的未来趋势</a:t>
            </a:r>
            <a:endParaRPr lang="zh-CN" altLang="en-US" sz="2400" dirty="0"/>
          </a:p>
          <a:p>
            <a:pPr>
              <a:buNone/>
            </a:pPr>
            <a:r>
              <a:rPr lang="zh-CN" altLang="en-US" sz="2400" dirty="0"/>
              <a:t>       </a:t>
            </a:r>
            <a:r>
              <a:rPr lang="en-US" altLang="zh-CN" sz="2400"/>
              <a:t>20</a:t>
            </a:r>
            <a:r>
              <a:rPr lang="zh-CN" altLang="en-US" sz="2400" dirty="0"/>
              <a:t>世纪</a:t>
            </a:r>
            <a:r>
              <a:rPr lang="en-US" altLang="zh-CN" sz="2400"/>
              <a:t>70</a:t>
            </a:r>
            <a:r>
              <a:rPr lang="zh-CN" altLang="en-US" sz="2400" dirty="0"/>
              <a:t>年代提供数字：世界可耕地面积</a:t>
            </a:r>
            <a:endParaRPr lang="zh-CN" altLang="en-US" sz="2400" dirty="0"/>
          </a:p>
          <a:p>
            <a:pPr>
              <a:buNone/>
            </a:pPr>
            <a:r>
              <a:rPr lang="en-US" altLang="zh-CN" sz="2400"/>
              <a:t>29.5×10</a:t>
            </a:r>
            <a:r>
              <a:rPr lang="en-US" altLang="zh-CN" sz="2400" baseline="30000"/>
              <a:t>8</a:t>
            </a:r>
            <a:r>
              <a:rPr lang="en-US" altLang="zh-CN" sz="2400"/>
              <a:t>hm</a:t>
            </a:r>
            <a:r>
              <a:rPr lang="en-US" altLang="zh-CN" sz="2400" baseline="30000"/>
              <a:t>2</a:t>
            </a:r>
            <a:r>
              <a:rPr lang="en-US" altLang="zh-CN" sz="2400"/>
              <a:t> </a:t>
            </a:r>
            <a:r>
              <a:rPr lang="zh-CN" altLang="en-US" sz="2400"/>
              <a:t>；</a:t>
            </a:r>
            <a:r>
              <a:rPr lang="zh-CN" altLang="en-US" sz="2400" dirty="0"/>
              <a:t>已被耕种</a:t>
            </a:r>
            <a:r>
              <a:rPr lang="en-US" altLang="zh-CN" sz="2400"/>
              <a:t>15.4 ×10</a:t>
            </a:r>
            <a:r>
              <a:rPr lang="en-US" altLang="zh-CN" sz="2400" baseline="30000"/>
              <a:t>8</a:t>
            </a:r>
            <a:r>
              <a:rPr lang="en-US" altLang="zh-CN" sz="2400"/>
              <a:t>hm</a:t>
            </a:r>
            <a:r>
              <a:rPr lang="en-US" altLang="zh-CN" sz="2400" baseline="30000"/>
              <a:t>2</a:t>
            </a:r>
            <a:r>
              <a:rPr lang="en-US" altLang="zh-CN" sz="2400"/>
              <a:t> </a:t>
            </a:r>
            <a:r>
              <a:rPr lang="zh-CN" altLang="en-US" sz="2400"/>
              <a:t>。</a:t>
            </a:r>
            <a:endParaRPr lang="zh-CN" altLang="en-US" sz="2400"/>
          </a:p>
        </p:txBody>
      </p:sp>
      <p:pic>
        <p:nvPicPr>
          <p:cNvPr id="284675" name="图片 2846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800" y="2640013"/>
            <a:ext cx="6500813" cy="38274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5698" name="内容占位符 285697"/>
          <p:cNvSpPr>
            <a:spLocks noGrp="1" noRot="1"/>
          </p:cNvSpPr>
          <p:nvPr>
            <p:ph idx="4294967295"/>
          </p:nvPr>
        </p:nvSpPr>
        <p:spPr>
          <a:xfrm>
            <a:off x="0" y="0"/>
            <a:ext cx="8305800" cy="6858000"/>
          </a:xfrm>
        </p:spPr>
        <p:txBody>
          <a:bodyPr/>
          <a:p>
            <a:pPr>
              <a:buNone/>
            </a:pPr>
            <a:r>
              <a:rPr lang="en-US" altLang="zh-CN"/>
              <a:t>     </a:t>
            </a:r>
            <a:r>
              <a:rPr lang="zh-CN" altLang="en-US" dirty="0"/>
              <a:t>世界人均良田面积已从</a:t>
            </a:r>
            <a:r>
              <a:rPr lang="en-US" altLang="zh-CN"/>
              <a:t>1980</a:t>
            </a:r>
            <a:r>
              <a:rPr lang="zh-CN" altLang="en-US" dirty="0"/>
              <a:t>年的</a:t>
            </a:r>
            <a:r>
              <a:rPr lang="en-US" altLang="zh-CN"/>
              <a:t>0.16hm</a:t>
            </a:r>
            <a:r>
              <a:rPr lang="en-US" altLang="zh-CN" baseline="30000"/>
              <a:t>2 </a:t>
            </a:r>
            <a:endParaRPr lang="en-US" altLang="zh-CN" baseline="30000"/>
          </a:p>
          <a:p>
            <a:pPr>
              <a:buNone/>
            </a:pPr>
            <a:r>
              <a:rPr lang="zh-CN" altLang="en-US" dirty="0"/>
              <a:t>减少至</a:t>
            </a:r>
            <a:r>
              <a:rPr lang="en-US" altLang="zh-CN"/>
              <a:t>1990</a:t>
            </a:r>
            <a:r>
              <a:rPr lang="zh-CN" altLang="en-US" dirty="0"/>
              <a:t>年的</a:t>
            </a:r>
            <a:r>
              <a:rPr lang="en-US" altLang="zh-CN"/>
              <a:t>0.14hm</a:t>
            </a:r>
            <a:r>
              <a:rPr lang="en-US" altLang="zh-CN" baseline="30000"/>
              <a:t>2 </a:t>
            </a:r>
            <a:r>
              <a:rPr lang="en-US" altLang="zh-CN"/>
              <a:t>,</a:t>
            </a:r>
            <a:r>
              <a:rPr lang="zh-CN" altLang="en-US" dirty="0"/>
              <a:t>预计到</a:t>
            </a:r>
            <a:r>
              <a:rPr lang="en-US" altLang="zh-CN"/>
              <a:t>2000</a:t>
            </a:r>
            <a:r>
              <a:rPr lang="zh-CN" altLang="en-US" dirty="0"/>
              <a:t>年进一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步减至</a:t>
            </a:r>
            <a:r>
              <a:rPr lang="en-US" altLang="zh-CN"/>
              <a:t>0.12hm</a:t>
            </a:r>
            <a:r>
              <a:rPr lang="en-US" altLang="zh-CN" baseline="30000"/>
              <a:t>2 </a:t>
            </a:r>
            <a:r>
              <a:rPr lang="zh-CN" altLang="en-US"/>
              <a:t>。</a:t>
            </a:r>
            <a:endParaRPr lang="zh-CN" altLang="en-US"/>
          </a:p>
          <a:p>
            <a:pPr>
              <a:buNone/>
            </a:pPr>
            <a:r>
              <a:rPr lang="zh-CN" altLang="en-US"/>
              <a:t>      </a:t>
            </a:r>
            <a:r>
              <a:rPr lang="zh-CN" altLang="en-US" dirty="0"/>
              <a:t>三、中国的土地资源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中国的土地面积</a:t>
            </a:r>
            <a:r>
              <a:rPr lang="en-US" altLang="zh-CN"/>
              <a:t>960×10</a:t>
            </a:r>
            <a:r>
              <a:rPr lang="en-US" altLang="zh-CN" baseline="30000"/>
              <a:t>4</a:t>
            </a:r>
            <a:r>
              <a:rPr lang="en-US" altLang="zh-CN"/>
              <a:t>Km</a:t>
            </a:r>
            <a:r>
              <a:rPr lang="en-US" altLang="zh-CN" baseline="30000"/>
              <a:t>2</a:t>
            </a:r>
            <a:r>
              <a:rPr lang="en-US" altLang="zh-CN"/>
              <a:t> </a:t>
            </a:r>
            <a:r>
              <a:rPr lang="zh-CN" altLang="en-US"/>
              <a:t>。</a:t>
            </a:r>
            <a:r>
              <a:rPr lang="zh-CN" altLang="en-US" dirty="0"/>
              <a:t>耕地占世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界总耕地的</a:t>
            </a:r>
            <a:r>
              <a:rPr lang="en-US" altLang="zh-CN"/>
              <a:t>7%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（一）我国耕地的特点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1</a:t>
            </a:r>
            <a:r>
              <a:rPr lang="zh-CN" altLang="en-US" dirty="0"/>
              <a:t>、人均耕地面积小，只有世界人均耕地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面积的</a:t>
            </a:r>
            <a:r>
              <a:rPr lang="en-US" altLang="zh-CN"/>
              <a:t>1/4</a:t>
            </a:r>
            <a:r>
              <a:rPr lang="zh-CN" altLang="en-US" dirty="0"/>
              <a:t>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1995</a:t>
            </a:r>
            <a:r>
              <a:rPr lang="zh-CN" altLang="en-US" dirty="0"/>
              <a:t>年统计数字，人均耕地面积大于</a:t>
            </a:r>
            <a:endParaRPr lang="zh-CN" altLang="en-US" dirty="0"/>
          </a:p>
          <a:p>
            <a:pPr>
              <a:buNone/>
            </a:pPr>
            <a:r>
              <a:rPr lang="en-US" altLang="zh-CN"/>
              <a:t>0.14hm</a:t>
            </a:r>
            <a:r>
              <a:rPr lang="en-US" altLang="zh-CN" baseline="30000"/>
              <a:t>2 </a:t>
            </a:r>
            <a:r>
              <a:rPr lang="en-US" altLang="zh-CN"/>
              <a:t> </a:t>
            </a:r>
            <a:r>
              <a:rPr lang="zh-CN" altLang="en-US" dirty="0"/>
              <a:t>的主要集中在我国东北、西北地区。</a:t>
            </a:r>
            <a:endParaRPr lang="zh-CN" altLang="en-US"/>
          </a:p>
        </p:txBody>
      </p:sp>
      <p:pic>
        <p:nvPicPr>
          <p:cNvPr id="104" name="图片 103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73358" y="187008"/>
            <a:ext cx="7515225" cy="429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6426835" y="3139440"/>
            <a:ext cx="5905500" cy="35687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6722" name="内容占位符 286721"/>
          <p:cNvSpPr>
            <a:spLocks noGrp="1" noRot="1"/>
          </p:cNvSpPr>
          <p:nvPr>
            <p:ph idx="4294967295"/>
          </p:nvPr>
        </p:nvSpPr>
        <p:spPr>
          <a:xfrm>
            <a:off x="0" y="60960"/>
            <a:ext cx="8229600" cy="6858000"/>
          </a:xfrm>
        </p:spPr>
        <p:txBody>
          <a:bodyPr>
            <a:normAutofit lnSpcReduction="20000"/>
          </a:bodyPr>
          <a:p>
            <a:pPr>
              <a:buNone/>
            </a:pPr>
            <a:r>
              <a:rPr lang="en-US" altLang="zh-CN"/>
              <a:t>     </a:t>
            </a:r>
            <a:r>
              <a:rPr lang="zh-CN" altLang="en-US" dirty="0"/>
              <a:t>联合国粮农组织提出的人均耕地面积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的最低界线为</a:t>
            </a:r>
            <a:r>
              <a:rPr lang="en-US" altLang="zh-CN"/>
              <a:t>0.05hm</a:t>
            </a:r>
            <a:r>
              <a:rPr lang="en-US" altLang="zh-CN" baseline="30000"/>
              <a:t>2 </a:t>
            </a:r>
            <a:endParaRPr lang="en-US" altLang="zh-CN"/>
          </a:p>
          <a:p>
            <a:pPr>
              <a:buNone/>
            </a:pPr>
            <a:r>
              <a:rPr lang="en-US" altLang="zh-CN"/>
              <a:t>     2</a:t>
            </a:r>
            <a:r>
              <a:rPr lang="zh-CN" altLang="en-US"/>
              <a:t>、</a:t>
            </a:r>
            <a:r>
              <a:rPr lang="zh-CN" altLang="en-US" dirty="0"/>
              <a:t>分布不均匀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</a:t>
            </a:r>
            <a:r>
              <a:rPr lang="en-US" altLang="zh-CN"/>
              <a:t>3</a:t>
            </a:r>
            <a:r>
              <a:rPr lang="zh-CN" altLang="en-US" dirty="0"/>
              <a:t>、自然条件差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（二）我国耕地面临的压力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我国依靠占世界</a:t>
            </a:r>
            <a:r>
              <a:rPr lang="en-US" altLang="zh-CN"/>
              <a:t>7%</a:t>
            </a:r>
            <a:r>
              <a:rPr lang="zh-CN" altLang="en-US" dirty="0"/>
              <a:t>的耕地养活了占世界</a:t>
            </a:r>
            <a:endParaRPr lang="zh-CN" altLang="en-US" dirty="0"/>
          </a:p>
          <a:p>
            <a:pPr>
              <a:buNone/>
            </a:pPr>
            <a:r>
              <a:rPr lang="en-US" altLang="zh-CN"/>
              <a:t>22%</a:t>
            </a:r>
            <a:r>
              <a:rPr lang="zh-CN" altLang="en-US" dirty="0"/>
              <a:t>的人口。所以我国的可持续发展在很大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程度上依赖于耕地的保护。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                  </a:t>
            </a:r>
            <a:r>
              <a:rPr lang="zh-CN" altLang="en-US" sz="3600" dirty="0"/>
              <a:t>第三节  能源</a:t>
            </a:r>
            <a:endParaRPr lang="zh-CN" altLang="en-US" sz="3600" dirty="0"/>
          </a:p>
          <a:p>
            <a:pPr>
              <a:buNone/>
            </a:pPr>
            <a:r>
              <a:rPr lang="zh-CN" altLang="en-US" dirty="0"/>
              <a:t>开门七件事：柴米油盐酱醋茶     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一、能源的分类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一次能源：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二次能源：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二、世界能源消耗</a:t>
            </a:r>
            <a:endParaRPr lang="zh-CN" altLang="en-US" dirty="0"/>
          </a:p>
          <a:p>
            <a:pPr>
              <a:buNone/>
            </a:pPr>
            <a:r>
              <a:rPr lang="zh-CN" altLang="en-US"/>
              <a:t>     </a:t>
            </a:r>
            <a:endParaRPr lang="zh-CN" altLang="en-US"/>
          </a:p>
        </p:txBody>
      </p:sp>
      <p:pic>
        <p:nvPicPr>
          <p:cNvPr id="108" name="图片 10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883150" y="60960"/>
            <a:ext cx="7595235" cy="4762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87746" name="内容占位符 287745" descr="Image1"/>
          <p:cNvPicPr>
            <a:picLocks noRot="1" noChangeAspect="1"/>
          </p:cNvPicPr>
          <p:nvPr>
            <p:ph idx="4294967295"/>
          </p:nvPr>
        </p:nvPicPr>
        <p:blipFill>
          <a:blip r:embed="rId1"/>
          <a:stretch>
            <a:fillRect/>
          </a:stretch>
        </p:blipFill>
        <p:spPr>
          <a:xfrm>
            <a:off x="612140" y="-152400"/>
            <a:ext cx="9525000" cy="7162800"/>
          </a:xfrm>
        </p:spPr>
      </p:pic>
      <p:pic>
        <p:nvPicPr>
          <p:cNvPr id="109" name="图片 108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203835"/>
            <a:ext cx="8763000" cy="6572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8770" name="内容占位符 288769"/>
          <p:cNvSpPr>
            <a:spLocks noGrp="1" noRot="1"/>
          </p:cNvSpPr>
          <p:nvPr>
            <p:ph idx="4294967295"/>
          </p:nvPr>
        </p:nvSpPr>
        <p:spPr>
          <a:xfrm>
            <a:off x="1524000" y="0"/>
            <a:ext cx="8229600" cy="6858000"/>
          </a:xfrm>
        </p:spPr>
        <p:txBody>
          <a:bodyPr/>
          <a:p>
            <a:pPr>
              <a:buNone/>
            </a:pPr>
            <a:r>
              <a:rPr lang="en-US" altLang="zh-CN"/>
              <a:t>     </a:t>
            </a:r>
            <a:r>
              <a:rPr lang="zh-CN" altLang="en-US" dirty="0"/>
              <a:t>（一）能源主要来自一次不可再生能源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</a:t>
            </a:r>
            <a:r>
              <a:rPr lang="en-US" altLang="zh-CN"/>
              <a:t>20</a:t>
            </a:r>
            <a:r>
              <a:rPr lang="zh-CN" altLang="en-US" dirty="0"/>
              <a:t>世纪</a:t>
            </a:r>
            <a:r>
              <a:rPr lang="en-US" altLang="zh-CN"/>
              <a:t>70-80</a:t>
            </a:r>
            <a:r>
              <a:rPr lang="zh-CN" altLang="en-US" dirty="0"/>
              <a:t>年代，世界一次能源消耗结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构为：石油占</a:t>
            </a:r>
            <a:r>
              <a:rPr lang="en-US" altLang="zh-CN"/>
              <a:t>40%</a:t>
            </a:r>
            <a:r>
              <a:rPr lang="zh-CN" altLang="en-US" dirty="0"/>
              <a:t>以上；煤占</a:t>
            </a:r>
            <a:r>
              <a:rPr lang="en-US" altLang="zh-CN"/>
              <a:t>20%</a:t>
            </a:r>
            <a:r>
              <a:rPr lang="zh-CN" altLang="en-US" dirty="0"/>
              <a:t>以上；天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然气占</a:t>
            </a:r>
            <a:r>
              <a:rPr lang="en-US" altLang="zh-CN"/>
              <a:t>10%</a:t>
            </a:r>
            <a:r>
              <a:rPr lang="zh-CN" altLang="en-US" dirty="0"/>
              <a:t>以上。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（二）能源消耗水平差异大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（三）能源消耗在继续增长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能耗强度：能源消耗</a:t>
            </a:r>
            <a:r>
              <a:rPr lang="en-US" altLang="zh-CN"/>
              <a:t>/</a:t>
            </a:r>
            <a:r>
              <a:rPr lang="zh-CN" altLang="en-US" dirty="0"/>
              <a:t>国民生产总值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能源消耗指数：能源消费年平均增长率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与国民经济年平均增长率之比。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三、中国能源发展和面临的问题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（一）中国能源的发展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         </a:t>
            </a:r>
            <a:endParaRPr lang="zh-CN" altLang="en-US"/>
          </a:p>
        </p:txBody>
      </p:sp>
      <p:sp>
        <p:nvSpPr>
          <p:cNvPr id="288771" name="文本占位符 288770"/>
          <p:cNvSpPr>
            <a:spLocks noGrp="1" noRot="1"/>
          </p:cNvSpPr>
          <p:nvPr>
            <p:ph type="body" idx="4294967295"/>
          </p:nvPr>
        </p:nvSpPr>
        <p:spPr>
          <a:xfrm>
            <a:off x="1524000" y="0"/>
            <a:ext cx="8229600" cy="6858000"/>
          </a:xfrm>
        </p:spPr>
        <p:txBody>
          <a:bodyPr/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endParaRPr lang="en-US" altLang="zh-CN"/>
          </a:p>
          <a:p>
            <a:pPr>
              <a:buNone/>
            </a:pPr>
            <a:r>
              <a:rPr lang="en-US" altLang="zh-CN"/>
              <a:t>                     </a:t>
            </a:r>
            <a:endParaRPr lang="en-US" altLang="zh-CN"/>
          </a:p>
        </p:txBody>
      </p:sp>
    </p:spTree>
  </p:cSld>
  <p:clrMapOvr>
    <a:masterClrMapping/>
  </p:clrMapOvr>
  <p:transition spd="med">
    <p:pull dir="l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89794" name="内容占位符 289793"/>
          <p:cNvSpPr>
            <a:spLocks noGrp="1" noRot="1"/>
          </p:cNvSpPr>
          <p:nvPr>
            <p:ph idx="4294967295"/>
          </p:nvPr>
        </p:nvSpPr>
        <p:spPr>
          <a:xfrm>
            <a:off x="73025" y="0"/>
            <a:ext cx="8153400" cy="6858000"/>
          </a:xfrm>
        </p:spPr>
        <p:txBody>
          <a:bodyPr/>
          <a:p>
            <a:pPr>
              <a:buNone/>
            </a:pPr>
            <a:r>
              <a:rPr lang="en-US" altLang="zh-CN"/>
              <a:t>     </a:t>
            </a:r>
            <a:r>
              <a:rPr lang="zh-CN" altLang="en-US" dirty="0"/>
              <a:t>（二）中国的能源问题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1</a:t>
            </a:r>
            <a:r>
              <a:rPr lang="zh-CN" altLang="en-US" dirty="0"/>
              <a:t>、人均能源资源和人均消费量不足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2</a:t>
            </a:r>
            <a:r>
              <a:rPr lang="zh-CN" altLang="en-US" dirty="0"/>
              <a:t>、能源分配不均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3</a:t>
            </a:r>
            <a:r>
              <a:rPr lang="zh-CN" altLang="en-US" dirty="0"/>
              <a:t>、能源构成以煤为主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4</a:t>
            </a:r>
            <a:r>
              <a:rPr lang="zh-CN" altLang="en-US" dirty="0"/>
              <a:t>、工业部门消耗能源所占比重较大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</a:t>
            </a:r>
            <a:r>
              <a:rPr lang="en-US" altLang="zh-CN"/>
              <a:t>5</a:t>
            </a:r>
            <a:r>
              <a:rPr lang="zh-CN" altLang="en-US" dirty="0"/>
              <a:t>、农村能源短缺，主要以生物质能为主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 四、能源利用对环境的影响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（一）城市大气污染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（二）增加了大气中</a:t>
            </a:r>
            <a:r>
              <a:rPr lang="en-US" altLang="zh-CN"/>
              <a:t>CO</a:t>
            </a:r>
            <a:r>
              <a:rPr lang="en-US" altLang="zh-CN" baseline="-25000"/>
              <a:t>2</a:t>
            </a:r>
            <a:r>
              <a:rPr lang="en-US" altLang="zh-CN"/>
              <a:t> </a:t>
            </a:r>
            <a:r>
              <a:rPr lang="zh-CN" altLang="en-US" dirty="0"/>
              <a:t>的积累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（三）酸雨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（四）核废料问题</a:t>
            </a:r>
            <a:endParaRPr lang="zh-CN" altLang="en-US" dirty="0"/>
          </a:p>
        </p:txBody>
      </p:sp>
      <p:pic>
        <p:nvPicPr>
          <p:cNvPr id="110" name="图片 10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59045" y="0"/>
            <a:ext cx="7132955" cy="53333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250825" y="533400"/>
            <a:ext cx="11804015" cy="6191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/>
        </p:nvPicPr>
        <p:blipFill>
          <a:blip r:embed="rId2"/>
          <a:stretch>
            <a:fillRect/>
          </a:stretch>
        </p:blipFill>
        <p:spPr>
          <a:xfrm>
            <a:off x="608330" y="429260"/>
            <a:ext cx="11127740" cy="629539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90818" name="内容占位符 290817"/>
          <p:cNvSpPr>
            <a:spLocks noGrp="1" noRot="1"/>
          </p:cNvSpPr>
          <p:nvPr>
            <p:ph idx="4294967295"/>
          </p:nvPr>
        </p:nvSpPr>
        <p:spPr>
          <a:xfrm>
            <a:off x="0" y="0"/>
            <a:ext cx="5401945" cy="6858000"/>
          </a:xfrm>
        </p:spPr>
        <p:txBody>
          <a:bodyPr/>
          <a:p>
            <a:pPr>
              <a:buNone/>
            </a:pPr>
            <a:r>
              <a:rPr lang="en-US" altLang="zh-CN"/>
              <a:t>           </a:t>
            </a:r>
            <a:r>
              <a:rPr lang="en-US" altLang="zh-CN" dirty="0"/>
              <a:t>     </a:t>
            </a:r>
            <a:r>
              <a:rPr lang="zh-CN" altLang="en-US" sz="3600" dirty="0"/>
              <a:t>第四节  矿产资源</a:t>
            </a:r>
            <a:endParaRPr lang="zh-CN" altLang="en-US" sz="3600" dirty="0"/>
          </a:p>
          <a:p>
            <a:pPr>
              <a:buNone/>
            </a:pPr>
            <a:r>
              <a:rPr lang="zh-CN" altLang="en-US" sz="3600" dirty="0"/>
              <a:t>      </a:t>
            </a:r>
            <a:r>
              <a:rPr lang="zh-CN" altLang="en-US" dirty="0"/>
              <a:t>一、矿产资源分布及其特点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</a:t>
            </a:r>
            <a:r>
              <a:rPr lang="en-US" altLang="zh-CN"/>
              <a:t>1</a:t>
            </a:r>
            <a:r>
              <a:rPr lang="zh-CN" altLang="en-US" dirty="0"/>
              <a:t>、不可再生性和可耗竭性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</a:t>
            </a:r>
            <a:r>
              <a:rPr lang="en-US" altLang="zh-CN"/>
              <a:t>2</a:t>
            </a:r>
            <a:r>
              <a:rPr lang="zh-CN" altLang="en-US" dirty="0"/>
              <a:t>、区域性分布不平衡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</a:t>
            </a:r>
            <a:r>
              <a:rPr lang="en-US" altLang="zh-CN"/>
              <a:t>3</a:t>
            </a:r>
            <a:r>
              <a:rPr lang="zh-CN" altLang="en-US" dirty="0"/>
              <a:t>、动态性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二、矿产资源的供需矛盾</a:t>
            </a:r>
            <a:endParaRPr lang="zh-CN" altLang="en-US" dirty="0"/>
          </a:p>
          <a:p>
            <a:pPr>
              <a:buNone/>
            </a:pPr>
            <a:r>
              <a:rPr lang="zh-CN" altLang="en-US" dirty="0"/>
              <a:t>      </a:t>
            </a:r>
            <a:endParaRPr lang="zh-CN" altLang="en-US"/>
          </a:p>
        </p:txBody>
      </p:sp>
      <p:pic>
        <p:nvPicPr>
          <p:cNvPr id="291843" name="文本占位符 291842"/>
          <p:cNvPicPr>
            <a:picLocks noGrp="1" noRot="1"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75555" y="74930"/>
            <a:ext cx="7315200" cy="6096000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3"/>
            </p:custDataLst>
          </p:nvPr>
        </p:nvPicPr>
        <p:blipFill>
          <a:blip r:embed="rId4"/>
          <a:srcRect l="4573"/>
          <a:stretch>
            <a:fillRect/>
          </a:stretch>
        </p:blipFill>
        <p:spPr>
          <a:xfrm>
            <a:off x="1391920" y="1278890"/>
            <a:ext cx="9408160" cy="55791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>
          <a:xfrm>
            <a:off x="119780" y="1313900"/>
            <a:ext cx="5227200" cy="4608000"/>
          </a:xfrm>
        </p:spPr>
        <p:txBody>
          <a:bodyPr/>
          <a:p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、种类多、总量大、人均水平低、品位低</a:t>
            </a:r>
            <a:br>
              <a:rPr lang="zh-CN" altLang="en-US" dirty="0">
                <a:sym typeface="+mn-ea"/>
              </a:rPr>
            </a:br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、组分复杂，共伴生矿</a:t>
            </a:r>
            <a:r>
              <a:rPr lang="zh-CN" altLang="en-US" dirty="0">
                <a:sym typeface="+mn-ea"/>
              </a:rPr>
              <a:t>多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、大宗支柱性矿产</a:t>
            </a:r>
            <a:r>
              <a:rPr lang="zh-CN" altLang="en-US" dirty="0">
                <a:sym typeface="+mn-ea"/>
              </a:rPr>
              <a:t>储量不足</a:t>
            </a:r>
            <a:endParaRPr lang="zh-CN" altLang="en-US" dirty="0">
              <a:sym typeface="+mn-ea"/>
            </a:endParaRPr>
          </a:p>
          <a:p>
            <a:r>
              <a:rPr lang="en-US" altLang="zh-CN" dirty="0">
                <a:sym typeface="+mn-ea"/>
              </a:rPr>
              <a:t>4</a:t>
            </a:r>
            <a:r>
              <a:rPr lang="zh-CN" altLang="en-US" dirty="0">
                <a:sym typeface="+mn-ea"/>
              </a:rPr>
              <a:t>、矿产资源利用率低</a:t>
            </a:r>
            <a:endParaRPr lang="zh-CN" altLang="en-US" dirty="0"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0085" y="273120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 dirty="0">
                <a:sym typeface="+mn-ea"/>
              </a:rPr>
              <a:t>三、中国的矿产资源</a:t>
            </a:r>
            <a:br>
              <a:rPr lang="zh-CN" altLang="en-US" dirty="0"/>
            </a:br>
            <a:endParaRPr lang="zh-CN" altLang="en-US"/>
          </a:p>
        </p:txBody>
      </p:sp>
      <p:pic>
        <p:nvPicPr>
          <p:cNvPr id="112" name="图片 11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30065" y="67310"/>
            <a:ext cx="8096250" cy="6283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7" name="图片 116"/>
          <p:cNvPicPr/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</p:spPr>
      </p:pic>
      <p:pic>
        <p:nvPicPr>
          <p:cNvPr id="118" name="图片 117"/>
          <p:cNvPicPr/>
          <p:nvPr/>
        </p:nvPicPr>
        <p:blipFill>
          <a:blip r:embed="rId6"/>
          <a:stretch>
            <a:fillRect/>
          </a:stretch>
        </p:blipFill>
        <p:spPr>
          <a:xfrm>
            <a:off x="3955415" y="442595"/>
            <a:ext cx="8470900" cy="635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图片 122"/>
          <p:cNvPicPr/>
          <p:nvPr/>
        </p:nvPicPr>
        <p:blipFill>
          <a:blip r:embed="rId7"/>
          <a:stretch>
            <a:fillRect/>
          </a:stretch>
        </p:blipFill>
        <p:spPr>
          <a:xfrm>
            <a:off x="1563370" y="2012711"/>
            <a:ext cx="12192000" cy="5096989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3" name="图片 112"/>
          <p:cNvPicPr/>
          <p:nvPr/>
        </p:nvPicPr>
        <p:blipFill>
          <a:blip r:embed="rId1"/>
          <a:stretch>
            <a:fillRect/>
          </a:stretch>
        </p:blipFill>
        <p:spPr>
          <a:xfrm>
            <a:off x="-845" y="125730"/>
            <a:ext cx="12188611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4" name="图片 123"/>
          <p:cNvPicPr/>
          <p:nvPr/>
        </p:nvPicPr>
        <p:blipFill>
          <a:blip r:embed="rId2"/>
          <a:stretch>
            <a:fillRect/>
          </a:stretch>
        </p:blipFill>
        <p:spPr>
          <a:xfrm>
            <a:off x="-95250" y="0"/>
            <a:ext cx="12001500" cy="6515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文本框 198657"/>
          <p:cNvSpPr txBox="1"/>
          <p:nvPr/>
        </p:nvSpPr>
        <p:spPr>
          <a:xfrm>
            <a:off x="2971800" y="1452563"/>
            <a:ext cx="5967730" cy="101473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60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第二章  生态系统</a:t>
            </a:r>
            <a:endParaRPr lang="zh-CN" altLang="en-US" sz="60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98659" name="流程图: 预定义过程 198658"/>
          <p:cNvSpPr/>
          <p:nvPr/>
        </p:nvSpPr>
        <p:spPr>
          <a:xfrm rot="5400000">
            <a:off x="5829300" y="952500"/>
            <a:ext cx="990600" cy="5943600"/>
          </a:xfrm>
          <a:prstGeom prst="flowChartPredefinedProcess">
            <a:avLst/>
          </a:prstGeom>
          <a:solidFill>
            <a:srgbClr val="CC99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/>
            <a:r>
              <a:rPr lang="zh-CN" altLang="en-US" sz="3600" dirty="0">
                <a:solidFill>
                  <a:srgbClr val="FFCC00"/>
                </a:solidFill>
                <a:latin typeface="Times New Roman" panose="02020603050405020304" pitchFamily="18" charset="0"/>
                <a:ea typeface="楷体_GB2312" pitchFamily="49" charset="-122"/>
              </a:rPr>
              <a:t>第一节 生态系统的基本概念</a:t>
            </a:r>
            <a:endParaRPr lang="zh-CN" altLang="en-US" sz="3600">
              <a:solidFill>
                <a:srgbClr val="FFCC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99682" name="内容占位符 199681"/>
          <p:cNvSpPr>
            <a:spLocks noGrp="1" noRot="1"/>
          </p:cNvSpPr>
          <p:nvPr>
            <p:ph idx="4294967295"/>
          </p:nvPr>
        </p:nvSpPr>
        <p:spPr>
          <a:xfrm>
            <a:off x="1524000" y="0"/>
            <a:ext cx="9144000" cy="6858000"/>
          </a:xfrm>
        </p:spPr>
        <p:txBody>
          <a:bodyPr/>
          <a:p>
            <a:endParaRPr lang="en-US" altLang="zh-CN"/>
          </a:p>
          <a:p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91135" y="632460"/>
            <a:ext cx="11779885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/>
              <a:t> 生态系统的概念是英国生态学家坦斯利（Tansley）在二十世纪三十年代提出的，到了五十年代得到了广泛的传播和承认，到了六十年代已发展成为一个综合性很强的研究领域。</a:t>
            </a:r>
            <a:endParaRPr lang="zh-CN" altLang="en-US" sz="3200"/>
          </a:p>
          <a:p>
            <a:r>
              <a:rPr lang="zh-CN" altLang="en-US" sz="3200"/>
              <a:t> </a:t>
            </a:r>
            <a:endParaRPr lang="zh-CN" altLang="en-US" sz="3200"/>
          </a:p>
          <a:p>
            <a:r>
              <a:rPr lang="zh-CN" altLang="en-US" sz="3200"/>
              <a:t>生态系统是在一定时间和空间内，生物与其生存环境以及生物与生物之间相互作用，彼此通过物质循环、能量流动和信息交换，形成的一个不可分割的自然整体。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生态系统是一个广义的概念，任何生物群体与其所处的环境组成的统一体都是生态系统。生态系统的范围可大可小，小至一滴水，一把土，一片草地，一个湖泊，一片森林，大至一个城市，一个地区，一个流域，一个国家乃至生物圈。</a:t>
            </a:r>
            <a:endParaRPr lang="zh-CN" altLang="en-US" sz="32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图片占位符 1"/>
          <p:cNvSpPr>
            <a:spLocks noGrp="1"/>
          </p:cNvSpPr>
          <p:nvPr>
            <p:ph type="pic" idx="1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200706" name="对象 200705"/>
          <p:cNvGraphicFramePr/>
          <p:nvPr>
            <p:custDataLst>
              <p:tags r:id="rId1"/>
            </p:custDataLst>
          </p:nvPr>
        </p:nvGraphicFramePr>
        <p:xfrm>
          <a:off x="280670" y="207010"/>
          <a:ext cx="11571605" cy="6424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2" imgW="4581525" imgH="3438525" progId="PowerPoint.Slide.8">
                  <p:embed/>
                </p:oleObj>
              </mc:Choice>
              <mc:Fallback>
                <p:oleObj name="" r:id="rId2" imgW="4581525" imgH="3438525" progId="PowerPoint.Slid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0670" y="207010"/>
                        <a:ext cx="11571605" cy="642429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1730" name="标题 201729"/>
          <p:cNvSpPr>
            <a:spLocks noGrp="1" noRot="1"/>
          </p:cNvSpPr>
          <p:nvPr>
            <p:ph type="title"/>
          </p:nvPr>
        </p:nvSpPr>
        <p:spPr>
          <a:xfrm>
            <a:off x="2063750" y="404813"/>
            <a:ext cx="8077200" cy="1066800"/>
          </a:xfrm>
        </p:spPr>
        <p:txBody>
          <a:bodyPr anchor="ctr" anchorCtr="0">
            <a:normAutofit fontScale="90000"/>
          </a:bodyPr>
          <a:p>
            <a:r>
              <a:rPr lang="zh-CN" altLang="en-US" sz="4000" dirty="0">
                <a:solidFill>
                  <a:srgbClr val="FFCC00"/>
                </a:solidFill>
              </a:rPr>
              <a:t>一、生态系统的组成、结构和类型</a:t>
            </a:r>
            <a:endParaRPr lang="zh-CN" altLang="en-US" sz="4000" dirty="0">
              <a:solidFill>
                <a:srgbClr val="FFCC00"/>
              </a:solidFill>
            </a:endParaRPr>
          </a:p>
        </p:txBody>
      </p:sp>
      <p:sp>
        <p:nvSpPr>
          <p:cNvPr id="201731" name="文本占位符 201730"/>
          <p:cNvSpPr>
            <a:spLocks noGrp="1" noRot="1"/>
          </p:cNvSpPr>
          <p:nvPr>
            <p:ph type="body" idx="1"/>
          </p:nvPr>
        </p:nvSpPr>
        <p:spPr>
          <a:xfrm>
            <a:off x="3009900" y="1905000"/>
            <a:ext cx="6711950" cy="630238"/>
          </a:xfrm>
        </p:spPr>
        <p:txBody>
          <a:bodyPr/>
          <a:p>
            <a:pPr>
              <a:lnSpc>
                <a:spcPct val="90000"/>
              </a:lnSpc>
              <a:buNone/>
            </a:pPr>
            <a:r>
              <a:rPr lang="en-US" altLang="zh-CN" sz="3600" dirty="0">
                <a:solidFill>
                  <a:srgbClr val="FFCC00"/>
                </a:solidFill>
              </a:rPr>
              <a:t>             </a:t>
            </a:r>
            <a:endParaRPr lang="en-US" altLang="zh-CN" sz="3600" dirty="0">
              <a:solidFill>
                <a:srgbClr val="FFCC00"/>
              </a:solidFill>
            </a:endParaRPr>
          </a:p>
        </p:txBody>
      </p:sp>
      <p:sp>
        <p:nvSpPr>
          <p:cNvPr id="201732" name="文本框 201731"/>
          <p:cNvSpPr txBox="1"/>
          <p:nvPr/>
        </p:nvSpPr>
        <p:spPr>
          <a:xfrm>
            <a:off x="3806825" y="1905000"/>
            <a:ext cx="736600" cy="3429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CC00"/>
                </a:solidFill>
                <a:latin typeface="Arial" panose="020B0604020202020204" pitchFamily="34" charset="0"/>
              </a:rPr>
              <a:t>生态系统的组成</a:t>
            </a:r>
            <a:endParaRPr lang="zh-CN" altLang="en-US" sz="3600" dirty="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3" name="文本框 201732"/>
          <p:cNvSpPr txBox="1"/>
          <p:nvPr/>
        </p:nvSpPr>
        <p:spPr>
          <a:xfrm>
            <a:off x="3581400" y="2133600"/>
            <a:ext cx="3733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endParaRPr sz="3600" dirty="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4" name="文本框 201733"/>
          <p:cNvSpPr txBox="1"/>
          <p:nvPr/>
        </p:nvSpPr>
        <p:spPr>
          <a:xfrm>
            <a:off x="5181600" y="1676400"/>
            <a:ext cx="2209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、无机物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5" name="右箭头 201734"/>
          <p:cNvSpPr/>
          <p:nvPr/>
        </p:nvSpPr>
        <p:spPr>
          <a:xfrm>
            <a:off x="3048000" y="2286000"/>
            <a:ext cx="838200" cy="228600"/>
          </a:xfrm>
          <a:prstGeom prst="rightArrow">
            <a:avLst>
              <a:gd name="adj1" fmla="val 50000"/>
              <a:gd name="adj2" fmla="val 91666"/>
            </a:avLst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1736" name="文本框 201735"/>
          <p:cNvSpPr txBox="1"/>
          <p:nvPr/>
        </p:nvSpPr>
        <p:spPr>
          <a:xfrm>
            <a:off x="5181600" y="2362200"/>
            <a:ext cx="3124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2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、有机化合物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7" name="文本框 201736"/>
          <p:cNvSpPr txBox="1"/>
          <p:nvPr/>
        </p:nvSpPr>
        <p:spPr>
          <a:xfrm>
            <a:off x="5181600" y="3048000"/>
            <a:ext cx="2895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、气候因素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8" name="文本框 201737"/>
          <p:cNvSpPr txBox="1"/>
          <p:nvPr/>
        </p:nvSpPr>
        <p:spPr>
          <a:xfrm>
            <a:off x="5181600" y="3657600"/>
            <a:ext cx="2133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4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、生产者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39" name="直接连接符 201738"/>
          <p:cNvSpPr/>
          <p:nvPr/>
        </p:nvSpPr>
        <p:spPr>
          <a:xfrm>
            <a:off x="4419600" y="2362200"/>
            <a:ext cx="838200" cy="0"/>
          </a:xfrm>
          <a:prstGeom prst="line">
            <a:avLst/>
          </a:prstGeom>
          <a:ln w="9525">
            <a:noFill/>
          </a:ln>
        </p:spPr>
      </p:sp>
      <p:sp>
        <p:nvSpPr>
          <p:cNvPr id="201740" name="文本框 201739"/>
          <p:cNvSpPr txBox="1"/>
          <p:nvPr/>
        </p:nvSpPr>
        <p:spPr>
          <a:xfrm>
            <a:off x="5181600" y="4267200"/>
            <a:ext cx="205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5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、消费者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201741" name="文本框 201740"/>
          <p:cNvSpPr txBox="1"/>
          <p:nvPr/>
        </p:nvSpPr>
        <p:spPr>
          <a:xfrm>
            <a:off x="5181600" y="4953000"/>
            <a:ext cx="20574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6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、分解者</a:t>
            </a:r>
            <a:endParaRPr lang="zh-CN" altLang="en-US" sz="320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81600" y="5638800"/>
            <a:ext cx="639572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en-US" altLang="zh-CN" sz="3200">
                <a:solidFill>
                  <a:srgbClr val="FFCC00"/>
                </a:solidFill>
                <a:latin typeface="Arial" panose="020B0604020202020204" pitchFamily="34" charset="0"/>
              </a:rPr>
              <a:t>7</a:t>
            </a:r>
            <a:r>
              <a:rPr lang="zh-CN" altLang="en-US" sz="3200" dirty="0">
                <a:solidFill>
                  <a:srgbClr val="FFCC00"/>
                </a:solidFill>
                <a:latin typeface="Arial" panose="020B0604020202020204" pitchFamily="34" charset="0"/>
              </a:rPr>
              <a:t>、太阳辐射或其他热能、化学能</a:t>
            </a:r>
            <a:endParaRPr lang="zh-CN" altLang="en-US" sz="3200" dirty="0">
              <a:solidFill>
                <a:srgbClr val="FFCC00"/>
              </a:solidFill>
              <a:latin typeface="Arial" panose="020B0604020202020204" pitchFamily="34" charset="0"/>
            </a:endParaRPr>
          </a:p>
        </p:txBody>
      </p:sp>
      <p:pic>
        <p:nvPicPr>
          <p:cNvPr id="129" name="图片 128"/>
          <p:cNvPicPr/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05500" y="3238500"/>
            <a:ext cx="381000" cy="381000"/>
          </a:xfrm>
          <a:prstGeom prst="rect">
            <a:avLst/>
          </a:prstGeom>
          <a:noFill/>
        </p:spPr>
      </p:pic>
      <p:pic>
        <p:nvPicPr>
          <p:cNvPr id="130" name="图片 129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048000" y="281305"/>
            <a:ext cx="84709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03778" name="图片 203777" descr="msoB30C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620713"/>
            <a:ext cx="9144000" cy="5602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125" name="图片 12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59055"/>
            <a:ext cx="5857240" cy="52393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6" name="图片 125"/>
          <p:cNvPicPr/>
          <p:nvPr/>
        </p:nvPicPr>
        <p:blipFill>
          <a:blip r:embed="rId2"/>
          <a:stretch>
            <a:fillRect/>
          </a:stretch>
        </p:blipFill>
        <p:spPr>
          <a:xfrm>
            <a:off x="5446395" y="0"/>
            <a:ext cx="6745605" cy="56222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2838450" y="1638300"/>
            <a:ext cx="7642860" cy="37058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out)">
                                      <p:cBhvr>
                                        <p:cTn id="6" dur="2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文本框 202753"/>
          <p:cNvSpPr txBox="1"/>
          <p:nvPr/>
        </p:nvSpPr>
        <p:spPr>
          <a:xfrm>
            <a:off x="3276600" y="457200"/>
            <a:ext cx="58674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60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生态系统的类型</a:t>
            </a:r>
            <a:endParaRPr lang="zh-CN" altLang="en-US" sz="60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02755" name="流程图: 预定义过程 202754"/>
          <p:cNvSpPr/>
          <p:nvPr/>
        </p:nvSpPr>
        <p:spPr>
          <a:xfrm rot="5400000">
            <a:off x="5981700" y="-1333500"/>
            <a:ext cx="914400" cy="7848600"/>
          </a:xfrm>
          <a:prstGeom prst="flowChartPredefinedProcess">
            <a:avLst/>
          </a:prstGeom>
          <a:solidFill>
            <a:srgbClr val="CC99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/>
            <a:r>
              <a:rPr lang="en-US" altLang="zh-CN" sz="3200">
                <a:solidFill>
                  <a:srgbClr val="FFCC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dirty="0">
                <a:solidFill>
                  <a:srgbClr val="FFCC00"/>
                </a:solidFill>
                <a:latin typeface="Times New Roman" panose="02020603050405020304" pitchFamily="18" charset="0"/>
                <a:ea typeface="楷体_GB2312" pitchFamily="49" charset="-122"/>
              </a:rPr>
              <a:t>、生物成分：生产者、消费者和分解者</a:t>
            </a:r>
            <a:endParaRPr lang="zh-CN" altLang="en-US" sz="3200">
              <a:solidFill>
                <a:srgbClr val="FFCC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2756" name="流程图: 预定义过程 202755"/>
          <p:cNvSpPr/>
          <p:nvPr/>
        </p:nvSpPr>
        <p:spPr>
          <a:xfrm rot="5400000">
            <a:off x="4229100" y="2095500"/>
            <a:ext cx="2286000" cy="5715000"/>
          </a:xfrm>
          <a:prstGeom prst="flowChartPredefinedProcess">
            <a:avLst/>
          </a:prstGeom>
          <a:solidFill>
            <a:srgbClr val="CC99FF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/>
            <a:r>
              <a:rPr lang="en-US" altLang="zh-CN" sz="32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3200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、根据地理条件不同分类：</a:t>
            </a:r>
            <a:endParaRPr lang="zh-CN" altLang="en-US" sz="3200" dirty="0">
              <a:solidFill>
                <a:srgbClr val="FFCC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水生生态系统</a:t>
            </a:r>
            <a:endParaRPr lang="zh-CN" altLang="en-US" sz="3200" dirty="0">
              <a:solidFill>
                <a:srgbClr val="FFCC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陆地生态系统</a:t>
            </a:r>
            <a:endParaRPr lang="zh-CN" altLang="en-US" sz="3200">
              <a:solidFill>
                <a:srgbClr val="FFCC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1" name="图片 13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5585" y="114935"/>
            <a:ext cx="5435600" cy="2438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2" name="图片 13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462655" y="0"/>
            <a:ext cx="84709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4802" name="文本框 204801"/>
          <p:cNvSpPr txBox="1"/>
          <p:nvPr/>
        </p:nvSpPr>
        <p:spPr>
          <a:xfrm>
            <a:off x="1524000" y="0"/>
            <a:ext cx="8893175" cy="1476375"/>
          </a:xfrm>
          <a:prstGeom prst="rect">
            <a:avLst/>
          </a:prstGeom>
          <a:solidFill>
            <a:srgbClr val="CCFFFF">
              <a:alpha val="50000"/>
            </a:srgbClr>
          </a:solidFill>
          <a:ln w="9525">
            <a:noFill/>
          </a:ln>
          <a:effectLst>
            <a:outerShdw dist="107763" dir="2699999" algn="ctr" rotWithShape="0">
              <a:schemeClr val="bg2"/>
            </a:outerShdw>
          </a:effectLst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   </a:t>
            </a:r>
            <a:r>
              <a:rPr lang="zh-CN" altLang="en-US" sz="36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二、食物链和食物网</a:t>
            </a:r>
            <a:endParaRPr lang="zh-CN" altLang="en-US" sz="3600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600" dirty="0">
                <a:solidFill>
                  <a:srgbClr val="FF3300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黑体" panose="02010609060101010101" pitchFamily="2" charset="-122"/>
                <a:ea typeface="黑体" panose="02010609060101010101" pitchFamily="2" charset="-122"/>
              </a:rPr>
              <a:t>    三、营养级和生态金字塔</a:t>
            </a:r>
            <a:endParaRPr lang="zh-CN" altLang="en-US" sz="3600" dirty="0">
              <a:solidFill>
                <a:srgbClr val="FF3300"/>
              </a:solidFill>
              <a:effectLst>
                <a:outerShdw blurRad="38100" dist="38100" dir="2700000">
                  <a:srgbClr val="000000"/>
                </a:outerShdw>
              </a:effectLst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04803" name="图片 204802" descr="msoDE7B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690" y="1558925"/>
            <a:ext cx="6452235" cy="53657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4" name="图片 133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3510" y="-190500"/>
            <a:ext cx="12048490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668905" y="-35560"/>
            <a:ext cx="69977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5826" name="文本框 205825"/>
          <p:cNvSpPr txBox="1"/>
          <p:nvPr/>
        </p:nvSpPr>
        <p:spPr>
          <a:xfrm>
            <a:off x="2279650" y="260350"/>
            <a:ext cx="7632700" cy="1383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CC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</a:rPr>
              <a:t>四、生态系统的功能</a:t>
            </a:r>
            <a:endParaRPr lang="zh-CN" altLang="en-US" sz="3600" dirty="0">
              <a:solidFill>
                <a:srgbClr val="FFCC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CC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</a:rPr>
              <a:t>（一）能量流动</a:t>
            </a:r>
            <a:endParaRPr lang="zh-CN" altLang="en-US" sz="3200" dirty="0">
              <a:solidFill>
                <a:srgbClr val="FFCC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5827" name="文本框 205826"/>
          <p:cNvSpPr txBox="1"/>
          <p:nvPr/>
        </p:nvSpPr>
        <p:spPr>
          <a:xfrm>
            <a:off x="3500120" y="1916113"/>
            <a:ext cx="675005" cy="338455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CC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2" charset="-122"/>
              </a:rPr>
              <a:t>能量输入的来源</a:t>
            </a:r>
            <a:endParaRPr lang="zh-CN" altLang="en-US" sz="3200" dirty="0">
              <a:solidFill>
                <a:srgbClr val="FFCC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5828" name="文本框 205827"/>
          <p:cNvSpPr txBox="1"/>
          <p:nvPr/>
        </p:nvSpPr>
        <p:spPr>
          <a:xfrm>
            <a:off x="4440238" y="2224405"/>
            <a:ext cx="4751387" cy="583565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 marL="342900" indent="-342900"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太阳能：食物、化石燃料</a:t>
            </a:r>
            <a:endParaRPr lang="zh-CN" altLang="en-US" sz="3200" dirty="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5829" name="椭圆 205828"/>
          <p:cNvSpPr/>
          <p:nvPr/>
        </p:nvSpPr>
        <p:spPr>
          <a:xfrm>
            <a:off x="6456363" y="3500438"/>
            <a:ext cx="1944687" cy="1873250"/>
          </a:xfrm>
          <a:prstGeom prst="ellipse">
            <a:avLst/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206852" name="图片 206851" descr="mso736A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4130" y="2640965"/>
            <a:ext cx="9144000" cy="3673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8" name="图片 13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60805" y="254000"/>
            <a:ext cx="90170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6850" name="标题 206849"/>
          <p:cNvSpPr>
            <a:spLocks noGrp="1" noRot="1"/>
          </p:cNvSpPr>
          <p:nvPr>
            <p:ph type="title"/>
          </p:nvPr>
        </p:nvSpPr>
        <p:spPr>
          <a:xfrm>
            <a:off x="1774825" y="277813"/>
            <a:ext cx="8435975" cy="1206500"/>
          </a:xfrm>
        </p:spPr>
        <p:txBody>
          <a:bodyPr anchor="ctr" anchorCtr="0"/>
          <a:p>
            <a:r>
              <a:rPr lang="zh-CN" altLang="en-US" dirty="0">
                <a:solidFill>
                  <a:srgbClr val="FF3300"/>
                </a:solidFill>
                <a:ea typeface="黑体" panose="02010609060101010101" pitchFamily="2" charset="-122"/>
              </a:rPr>
              <a:t>地球生态系统中的能量流</a:t>
            </a:r>
            <a:endParaRPr lang="zh-CN" altLang="en-US" dirty="0">
              <a:solidFill>
                <a:srgbClr val="FF3300"/>
              </a:solidFill>
              <a:ea typeface="黑体" panose="02010609060101010101" pitchFamily="2" charset="-122"/>
            </a:endParaRPr>
          </a:p>
        </p:txBody>
      </p:sp>
      <p:pic>
        <p:nvPicPr>
          <p:cNvPr id="136" name="图片 135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40521" y="1414564"/>
            <a:ext cx="4863829" cy="364787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7" name="图片 136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38508" y="1484630"/>
            <a:ext cx="6353175" cy="4762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7874" name="标题 207873"/>
          <p:cNvSpPr>
            <a:spLocks noGrp="1" noRot="1"/>
          </p:cNvSpPr>
          <p:nvPr>
            <p:ph type="title"/>
          </p:nvPr>
        </p:nvSpPr>
        <p:spPr>
          <a:xfrm>
            <a:off x="1992313" y="333375"/>
            <a:ext cx="8291512" cy="1582738"/>
          </a:xfrm>
        </p:spPr>
        <p:txBody>
          <a:bodyPr anchor="ctr" anchorCtr="0">
            <a:normAutofit fontScale="90000"/>
          </a:bodyPr>
          <a:p>
            <a:pPr>
              <a:lnSpc>
                <a:spcPct val="130000"/>
              </a:lnSpc>
            </a:pPr>
            <a:r>
              <a:rPr lang="zh-CN" altLang="en-US" sz="4000" dirty="0">
                <a:solidFill>
                  <a:srgbClr val="FFCC00"/>
                </a:solidFill>
                <a:ea typeface="黑体" panose="02010609060101010101" pitchFamily="2" charset="-122"/>
              </a:rPr>
              <a:t>四、生态系统的功能</a:t>
            </a:r>
            <a:br>
              <a:rPr lang="zh-CN" altLang="en-US" sz="4000" dirty="0">
                <a:solidFill>
                  <a:srgbClr val="FFCC00"/>
                </a:solidFill>
                <a:ea typeface="黑体" panose="02010609060101010101" pitchFamily="2" charset="-122"/>
              </a:rPr>
            </a:br>
            <a:r>
              <a:rPr lang="zh-CN" altLang="en-US" sz="4000" dirty="0">
                <a:solidFill>
                  <a:srgbClr val="FFCC00"/>
                </a:solidFill>
                <a:ea typeface="黑体" panose="02010609060101010101" pitchFamily="2" charset="-122"/>
              </a:rPr>
              <a:t>（二）物质循环</a:t>
            </a:r>
            <a:endParaRPr lang="zh-CN" altLang="en-US" sz="4000" dirty="0">
              <a:solidFill>
                <a:srgbClr val="FFCC00"/>
              </a:solidFill>
              <a:ea typeface="黑体" panose="02010609060101010101" pitchFamily="2" charset="-122"/>
            </a:endParaRPr>
          </a:p>
        </p:txBody>
      </p:sp>
      <p:sp>
        <p:nvSpPr>
          <p:cNvPr id="207875" name="文本占位符 207874"/>
          <p:cNvSpPr>
            <a:spLocks noGrp="1" noRot="1"/>
          </p:cNvSpPr>
          <p:nvPr>
            <p:ph type="body" idx="1"/>
          </p:nvPr>
        </p:nvSpPr>
        <p:spPr>
          <a:xfrm>
            <a:off x="1524000" y="2205038"/>
            <a:ext cx="9144000" cy="4652962"/>
          </a:xfrm>
        </p:spPr>
        <p:txBody>
          <a:bodyPr/>
          <a:p>
            <a:pPr>
              <a:buNone/>
            </a:pPr>
            <a:r>
              <a:rPr lang="en-US" altLang="zh-CN" dirty="0"/>
              <a:t>    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</a:t>
            </a:r>
            <a:r>
              <a:rPr lang="zh-CN" altLang="en-US" dirty="0">
                <a:solidFill>
                  <a:srgbClr val="FFCC00"/>
                </a:solidFill>
              </a:rPr>
              <a:t>关键元素（能量元素）：碳、氢、氧、氮、硫、</a:t>
            </a:r>
            <a:r>
              <a:rPr lang="zh-CN" altLang="en-US" dirty="0">
                <a:solidFill>
                  <a:srgbClr val="FFCC00"/>
                </a:solidFill>
              </a:rPr>
              <a:t>磷</a:t>
            </a:r>
            <a:endParaRPr lang="zh-CN" altLang="en-US" dirty="0">
              <a:solidFill>
                <a:srgbClr val="FFCC00"/>
              </a:solidFill>
            </a:endParaRPr>
          </a:p>
          <a:p>
            <a:pPr>
              <a:buNone/>
            </a:pPr>
            <a:r>
              <a:rPr lang="zh-CN" altLang="en-US">
                <a:solidFill>
                  <a:srgbClr val="FFCC00"/>
                </a:solidFill>
              </a:rPr>
              <a:t>      </a:t>
            </a:r>
            <a:r>
              <a:rPr lang="en-US" altLang="zh-CN">
                <a:solidFill>
                  <a:srgbClr val="FFCC00"/>
                </a:solidFill>
              </a:rPr>
              <a:t>1</a:t>
            </a:r>
            <a:r>
              <a:rPr lang="zh-CN" altLang="en-US" dirty="0">
                <a:solidFill>
                  <a:srgbClr val="FFCC00"/>
                </a:solidFill>
              </a:rPr>
              <a:t>、碳循环</a:t>
            </a:r>
            <a:endParaRPr lang="zh-CN" altLang="en-US" dirty="0">
              <a:solidFill>
                <a:srgbClr val="FFCC0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rgbClr val="FFCC00"/>
                </a:solidFill>
              </a:rPr>
              <a:t>          基本形式：光合作用生成碳水化合物</a:t>
            </a:r>
            <a:endParaRPr lang="zh-CN" altLang="en-US" dirty="0">
              <a:solidFill>
                <a:srgbClr val="FFCC0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rgbClr val="FFCC00"/>
                </a:solidFill>
              </a:rPr>
              <a:t>          第二种形式：</a:t>
            </a:r>
            <a:r>
              <a:rPr lang="zh-CN" altLang="en-US" dirty="0">
                <a:solidFill>
                  <a:srgbClr val="FFCC00"/>
                </a:solidFill>
              </a:rPr>
              <a:t>糖被氧化</a:t>
            </a:r>
            <a:endParaRPr lang="zh-CN" altLang="en-US" dirty="0">
              <a:solidFill>
                <a:srgbClr val="FFCC00"/>
              </a:solidFill>
            </a:endParaRPr>
          </a:p>
          <a:p>
            <a:pPr>
              <a:buNone/>
            </a:pPr>
            <a:r>
              <a:rPr lang="zh-CN" altLang="en-US" dirty="0">
                <a:solidFill>
                  <a:srgbClr val="FFCC00"/>
                </a:solidFill>
              </a:rPr>
              <a:t>          第三种形式：化石能源</a:t>
            </a:r>
            <a:r>
              <a:rPr lang="zh-CN" altLang="en-US" dirty="0">
                <a:solidFill>
                  <a:srgbClr val="FFCC00"/>
                </a:solidFill>
              </a:rPr>
              <a:t>氧化</a:t>
            </a:r>
            <a:endParaRPr lang="zh-CN" altLang="en-US" dirty="0">
              <a:solidFill>
                <a:srgbClr val="FFCC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08900" name="图片 208899" descr="mso6BE7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838200"/>
            <a:ext cx="8893175" cy="5481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9923" name="文本占位符 209922"/>
          <p:cNvSpPr>
            <a:spLocks noGrp="1" noRot="1"/>
          </p:cNvSpPr>
          <p:nvPr>
            <p:ph type="body" idx="1"/>
          </p:nvPr>
        </p:nvSpPr>
        <p:spPr>
          <a:xfrm>
            <a:off x="1524000" y="260350"/>
            <a:ext cx="9144000" cy="6597650"/>
          </a:xfrm>
        </p:spPr>
        <p:txBody>
          <a:bodyPr/>
          <a:p>
            <a:pPr>
              <a:buNone/>
            </a:pPr>
            <a:r>
              <a:rPr lang="en-US" altLang="zh-CN" dirty="0"/>
              <a:t>       </a:t>
            </a:r>
            <a:r>
              <a:rPr lang="en-US" altLang="zh-CN"/>
              <a:t>2</a:t>
            </a:r>
            <a:r>
              <a:rPr lang="zh-CN" altLang="en-US" dirty="0"/>
              <a:t>、氮循环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09924" name="右箭头 209923"/>
          <p:cNvSpPr/>
          <p:nvPr/>
        </p:nvSpPr>
        <p:spPr>
          <a:xfrm>
            <a:off x="4572000" y="533400"/>
            <a:ext cx="1828800" cy="762000"/>
          </a:xfrm>
          <a:prstGeom prst="rightArrow">
            <a:avLst>
              <a:gd name="adj1" fmla="val 50000"/>
              <a:gd name="adj2" fmla="val 60000"/>
            </a:avLst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9925" name="右箭头 209924"/>
          <p:cNvSpPr/>
          <p:nvPr/>
        </p:nvSpPr>
        <p:spPr>
          <a:xfrm>
            <a:off x="4648200" y="1371600"/>
            <a:ext cx="914400" cy="457200"/>
          </a:xfrm>
          <a:prstGeom prst="rightArrow">
            <a:avLst>
              <a:gd name="adj1" fmla="val 50000"/>
              <a:gd name="adj2" fmla="val 53472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9926" name="文本框 209925"/>
          <p:cNvSpPr txBox="1"/>
          <p:nvPr/>
        </p:nvSpPr>
        <p:spPr>
          <a:xfrm>
            <a:off x="3730308" y="1066800"/>
            <a:ext cx="675005" cy="5410200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大气氮进入生物有机体的途径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09927" name="文本框 209926"/>
          <p:cNvSpPr txBox="1"/>
          <p:nvPr/>
        </p:nvSpPr>
        <p:spPr>
          <a:xfrm>
            <a:off x="5791200" y="1295400"/>
            <a:ext cx="1905000" cy="58356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生物固氮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09928" name="文本框 209927"/>
          <p:cNvSpPr txBox="1"/>
          <p:nvPr/>
        </p:nvSpPr>
        <p:spPr>
          <a:xfrm>
            <a:off x="5867400" y="2743200"/>
            <a:ext cx="1905000" cy="58356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工业固氮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09929" name="右箭头 209928"/>
          <p:cNvSpPr/>
          <p:nvPr/>
        </p:nvSpPr>
        <p:spPr>
          <a:xfrm>
            <a:off x="4724400" y="2819400"/>
            <a:ext cx="914400" cy="457200"/>
          </a:xfrm>
          <a:prstGeom prst="rightArrow">
            <a:avLst>
              <a:gd name="adj1" fmla="val 50000"/>
              <a:gd name="adj2" fmla="val 53472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9930" name="右箭头 209929"/>
          <p:cNvSpPr/>
          <p:nvPr/>
        </p:nvSpPr>
        <p:spPr>
          <a:xfrm>
            <a:off x="4724400" y="4191000"/>
            <a:ext cx="914400" cy="457200"/>
          </a:xfrm>
          <a:prstGeom prst="rightArrow">
            <a:avLst>
              <a:gd name="adj1" fmla="val 50000"/>
              <a:gd name="adj2" fmla="val 53472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9931" name="右箭头 209930"/>
          <p:cNvSpPr/>
          <p:nvPr/>
        </p:nvSpPr>
        <p:spPr>
          <a:xfrm>
            <a:off x="4724400" y="5638800"/>
            <a:ext cx="914400" cy="457200"/>
          </a:xfrm>
          <a:prstGeom prst="rightArrow">
            <a:avLst>
              <a:gd name="adj1" fmla="val 50000"/>
              <a:gd name="adj2" fmla="val 53472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9932" name="文本框 209931"/>
          <p:cNvSpPr txBox="1"/>
          <p:nvPr/>
        </p:nvSpPr>
        <p:spPr>
          <a:xfrm>
            <a:off x="5867400" y="4114800"/>
            <a:ext cx="1905000" cy="58356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岩浆固氮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09933" name="文本框 209932"/>
          <p:cNvSpPr txBox="1"/>
          <p:nvPr/>
        </p:nvSpPr>
        <p:spPr>
          <a:xfrm>
            <a:off x="5867400" y="5562600"/>
            <a:ext cx="1905000" cy="58356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大气固氮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10948" name="图片 210947" descr="mso4D9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765175"/>
            <a:ext cx="7056438" cy="52657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8702040" y="476250"/>
            <a:ext cx="16776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工业固氮、岩浆固氮以及大气</a:t>
            </a:r>
            <a:r>
              <a:rPr lang="zh-CN" altLang="en-US"/>
              <a:t>固氮</a:t>
            </a:r>
            <a:endParaRPr lang="zh-CN" altLang="en-US"/>
          </a:p>
        </p:txBody>
      </p:sp>
    </p:spTree>
  </p:cSld>
  <p:clrMapOvr>
    <a:masterClrMapping/>
  </p:clrMapOvr>
  <p:transition>
    <p:zo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70" name="文本框 211969"/>
          <p:cNvSpPr txBox="1"/>
          <p:nvPr/>
        </p:nvSpPr>
        <p:spPr>
          <a:xfrm>
            <a:off x="4038600" y="304800"/>
            <a:ext cx="437642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7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7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、硫循环</a:t>
            </a:r>
            <a:endParaRPr lang="zh-CN" altLang="en-US" sz="7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1971" name="流程图: 预定义过程 211970"/>
          <p:cNvSpPr/>
          <p:nvPr/>
        </p:nvSpPr>
        <p:spPr>
          <a:xfrm rot="5400000">
            <a:off x="4953000" y="-228600"/>
            <a:ext cx="2209800" cy="7239000"/>
          </a:xfrm>
          <a:prstGeom prst="flowChartPredefinedProcess">
            <a:avLst/>
          </a:prstGeom>
          <a:solidFill>
            <a:schemeClr val="folHlink"/>
          </a:solidFill>
          <a:ln w="38100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大气圈中天然的硫包括</a:t>
            </a:r>
            <a:endParaRPr lang="zh-CN" altLang="en-US" sz="3200" dirty="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H</a:t>
            </a:r>
            <a:r>
              <a:rPr lang="en-US" altLang="zh-CN" sz="3200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、</a:t>
            </a:r>
            <a:r>
              <a:rPr lang="en-US" altLang="zh-CN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SO</a:t>
            </a:r>
            <a:r>
              <a:rPr lang="en-US" altLang="zh-CN" sz="3200" baseline="-250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 </a:t>
            </a:r>
            <a:r>
              <a:rPr lang="zh-CN" altLang="en-US" sz="320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和</a:t>
            </a:r>
            <a:r>
              <a:rPr lang="zh-CN" altLang="en-US" sz="3200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硫酸盐</a:t>
            </a:r>
            <a:endParaRPr lang="zh-CN" altLang="en-US" sz="3200">
              <a:solidFill>
                <a:srgbClr val="FF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212996" name="图片 212995" descr="mso3448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22238"/>
            <a:ext cx="7200900" cy="6430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文本框 214017"/>
          <p:cNvSpPr txBox="1"/>
          <p:nvPr/>
        </p:nvSpPr>
        <p:spPr>
          <a:xfrm>
            <a:off x="4038600" y="304800"/>
            <a:ext cx="4376420" cy="11988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7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7200" dirty="0">
                <a:solidFill>
                  <a:srgbClr val="0000FF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隶书" pitchFamily="49" charset="-122"/>
                <a:ea typeface="隶书" pitchFamily="49" charset="-122"/>
              </a:rPr>
              <a:t>、磷循环</a:t>
            </a:r>
            <a:endParaRPr lang="zh-CN" altLang="en-US" sz="7200" dirty="0">
              <a:solidFill>
                <a:srgbClr val="0000FF"/>
              </a:solidFill>
              <a:effectLst>
                <a:outerShdw blurRad="38100" dist="38100" dir="2700000">
                  <a:srgbClr val="000000"/>
                </a:outerShdw>
              </a:effectLst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14019" name="文本框 214018"/>
          <p:cNvSpPr txBox="1"/>
          <p:nvPr/>
        </p:nvSpPr>
        <p:spPr>
          <a:xfrm>
            <a:off x="2873375" y="1600200"/>
            <a:ext cx="736600" cy="4419600"/>
          </a:xfrm>
          <a:prstGeom prst="rect">
            <a:avLst/>
          </a:prstGeom>
          <a:solidFill>
            <a:schemeClr val="folHlink"/>
          </a:solidFill>
          <a:ln w="57150" cap="flat" cmpd="thinThick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生态系统中磷的特点</a:t>
            </a:r>
            <a:endParaRPr lang="zh-CN" altLang="en-US" sz="360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14020" name="文本框 214019"/>
          <p:cNvSpPr txBox="1"/>
          <p:nvPr/>
        </p:nvSpPr>
        <p:spPr>
          <a:xfrm>
            <a:off x="3962400" y="1981200"/>
            <a:ext cx="4343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全部来自于岩石风化</a:t>
            </a:r>
            <a:endParaRPr lang="zh-CN" altLang="en-US" sz="360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14021" name="文本框 214020"/>
          <p:cNvSpPr txBox="1"/>
          <p:nvPr/>
        </p:nvSpPr>
        <p:spPr>
          <a:xfrm>
            <a:off x="3962400" y="3429000"/>
            <a:ext cx="57150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循环过程中和微生物的关系</a:t>
            </a:r>
            <a:endParaRPr lang="zh-CN" altLang="en-US" sz="360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14022" name="文本框 214021"/>
          <p:cNvSpPr txBox="1"/>
          <p:nvPr/>
        </p:nvSpPr>
        <p:spPr>
          <a:xfrm>
            <a:off x="3962400" y="4724400"/>
            <a:ext cx="58674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磷不进行大气循环</a:t>
            </a:r>
            <a:endParaRPr lang="zh-CN" altLang="en-US" sz="360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15042" name="标题 215041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endParaRPr dirty="0"/>
          </a:p>
        </p:txBody>
      </p:sp>
      <p:sp>
        <p:nvSpPr>
          <p:cNvPr id="215043" name="文本占位符 215042"/>
          <p:cNvSpPr>
            <a:spLocks noGrp="1" noRot="1"/>
          </p:cNvSpPr>
          <p:nvPr>
            <p:ph type="body" idx="1"/>
          </p:nvPr>
        </p:nvSpPr>
        <p:spPr/>
        <p:txBody>
          <a:bodyPr/>
          <a:p>
            <a:endParaRPr dirty="0"/>
          </a:p>
        </p:txBody>
      </p:sp>
      <p:pic>
        <p:nvPicPr>
          <p:cNvPr id="215044" name="图片 215043" descr="msoFA4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9144000" cy="67960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zo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16067" name="文本占位符 216066"/>
          <p:cNvSpPr>
            <a:spLocks noGrp="1" noRot="1"/>
          </p:cNvSpPr>
          <p:nvPr>
            <p:ph type="body" idx="1"/>
          </p:nvPr>
        </p:nvSpPr>
        <p:spPr>
          <a:xfrm>
            <a:off x="1524000" y="260350"/>
            <a:ext cx="9144000" cy="6597650"/>
          </a:xfrm>
        </p:spPr>
        <p:txBody>
          <a:bodyPr/>
          <a:p>
            <a:pPr>
              <a:buNone/>
            </a:pPr>
            <a:r>
              <a:rPr lang="en-US" altLang="zh-CN" dirty="0"/>
              <a:t>       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</p:txBody>
      </p:sp>
      <p:sp>
        <p:nvSpPr>
          <p:cNvPr id="216068" name="右箭头 216067"/>
          <p:cNvSpPr/>
          <p:nvPr/>
        </p:nvSpPr>
        <p:spPr>
          <a:xfrm>
            <a:off x="4572000" y="533400"/>
            <a:ext cx="1828800" cy="762000"/>
          </a:xfrm>
          <a:prstGeom prst="rightArrow">
            <a:avLst>
              <a:gd name="adj1" fmla="val 50000"/>
              <a:gd name="adj2" fmla="val 60000"/>
            </a:avLst>
          </a:prstGeom>
          <a:noFill/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6069" name="右箭头 216068"/>
          <p:cNvSpPr/>
          <p:nvPr/>
        </p:nvSpPr>
        <p:spPr>
          <a:xfrm>
            <a:off x="4724400" y="1600200"/>
            <a:ext cx="1371600" cy="1219200"/>
          </a:xfrm>
          <a:prstGeom prst="rightArrow">
            <a:avLst>
              <a:gd name="adj1" fmla="val 50000"/>
              <a:gd name="adj2" fmla="val 30078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6070" name="文本框 216069"/>
          <p:cNvSpPr txBox="1"/>
          <p:nvPr/>
        </p:nvSpPr>
        <p:spPr>
          <a:xfrm>
            <a:off x="3607118" y="1066800"/>
            <a:ext cx="798195" cy="5410200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 vert="eaVert"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4000" dirty="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人对自然磷循环的干扰</a:t>
            </a:r>
            <a:endParaRPr lang="zh-CN" altLang="en-US" sz="4000">
              <a:solidFill>
                <a:srgbClr val="FF33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16071" name="文本框 216070"/>
          <p:cNvSpPr txBox="1"/>
          <p:nvPr/>
        </p:nvSpPr>
        <p:spPr>
          <a:xfrm>
            <a:off x="6172200" y="1905000"/>
            <a:ext cx="2971800" cy="645160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600" dirty="0">
                <a:solidFill>
                  <a:srgbClr val="FF3300"/>
                </a:solidFill>
                <a:latin typeface="Arial" panose="020B0604020202020204" pitchFamily="34" charset="0"/>
              </a:rPr>
              <a:t>磷肥和洗涤剂</a:t>
            </a:r>
            <a:endParaRPr lang="zh-CN" altLang="en-US" sz="36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  <p:sp>
        <p:nvSpPr>
          <p:cNvPr id="216072" name="右箭头 216071"/>
          <p:cNvSpPr/>
          <p:nvPr/>
        </p:nvSpPr>
        <p:spPr>
          <a:xfrm>
            <a:off x="4724400" y="4648200"/>
            <a:ext cx="1371600" cy="1219200"/>
          </a:xfrm>
          <a:prstGeom prst="rightArrow">
            <a:avLst>
              <a:gd name="adj1" fmla="val 50000"/>
              <a:gd name="adj2" fmla="val 30078"/>
            </a:avLst>
          </a:prstGeom>
          <a:solidFill>
            <a:srgbClr val="FF3300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16073" name="文本框 216072"/>
          <p:cNvSpPr txBox="1"/>
          <p:nvPr/>
        </p:nvSpPr>
        <p:spPr>
          <a:xfrm>
            <a:off x="6248400" y="4724400"/>
            <a:ext cx="2743200" cy="1076325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</a:pPr>
            <a:r>
              <a:rPr lang="zh-CN" altLang="en-US" sz="3200" dirty="0">
                <a:solidFill>
                  <a:srgbClr val="FF3300"/>
                </a:solidFill>
                <a:latin typeface="Arial" panose="020B0604020202020204" pitchFamily="34" charset="0"/>
              </a:rPr>
              <a:t>养殖厂排水和城市污水</a:t>
            </a:r>
            <a:endParaRPr lang="zh-CN" altLang="en-US" sz="3200">
              <a:solidFill>
                <a:srgbClr val="FF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17090" name="标题 217089"/>
          <p:cNvSpPr>
            <a:spLocks noGrp="1" noRot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 dirty="0"/>
              <a:t>（三）信息传递</a:t>
            </a:r>
            <a:endParaRPr lang="zh-CN" altLang="en-US"/>
          </a:p>
        </p:txBody>
      </p:sp>
      <p:sp>
        <p:nvSpPr>
          <p:cNvPr id="217091" name="文本占位符 217090"/>
          <p:cNvSpPr>
            <a:spLocks noGrp="1" noRot="1"/>
          </p:cNvSpPr>
          <p:nvPr>
            <p:ph type="body" idx="1"/>
          </p:nvPr>
        </p:nvSpPr>
        <p:spPr>
          <a:xfrm>
            <a:off x="4476750" y="2900363"/>
            <a:ext cx="3625850" cy="2417762"/>
          </a:xfrm>
        </p:spPr>
        <p:txBody>
          <a:bodyPr>
            <a:normAutofit lnSpcReduction="10000"/>
          </a:bodyPr>
          <a:p>
            <a:pPr>
              <a:lnSpc>
                <a:spcPct val="90000"/>
              </a:lnSpc>
            </a:pPr>
            <a:r>
              <a:rPr lang="en-US" altLang="zh-CN" sz="3600" dirty="0">
                <a:solidFill>
                  <a:srgbClr val="FFCC00"/>
                </a:solidFill>
              </a:rPr>
              <a:t>1</a:t>
            </a:r>
            <a:r>
              <a:rPr lang="zh-CN" altLang="en-US" sz="3600" dirty="0">
                <a:solidFill>
                  <a:srgbClr val="FFCC00"/>
                </a:solidFill>
              </a:rPr>
              <a:t>、物理信息</a:t>
            </a:r>
            <a:endParaRPr lang="zh-CN" altLang="en-US" sz="3600" dirty="0">
              <a:solidFill>
                <a:srgbClr val="FFCC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3600" dirty="0">
                <a:solidFill>
                  <a:srgbClr val="FFCC00"/>
                </a:solidFill>
              </a:rPr>
              <a:t>2</a:t>
            </a:r>
            <a:r>
              <a:rPr lang="zh-CN" altLang="en-US" sz="3600" dirty="0">
                <a:solidFill>
                  <a:srgbClr val="FFCC00"/>
                </a:solidFill>
              </a:rPr>
              <a:t>、化学信息</a:t>
            </a:r>
            <a:endParaRPr lang="zh-CN" altLang="en-US" sz="3600" dirty="0">
              <a:solidFill>
                <a:srgbClr val="FFCC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3600" dirty="0">
                <a:solidFill>
                  <a:srgbClr val="FFCC00"/>
                </a:solidFill>
              </a:rPr>
              <a:t>3</a:t>
            </a:r>
            <a:r>
              <a:rPr lang="zh-CN" altLang="en-US" sz="3600" dirty="0">
                <a:solidFill>
                  <a:srgbClr val="FFCC00"/>
                </a:solidFill>
              </a:rPr>
              <a:t>、营养信息</a:t>
            </a:r>
            <a:endParaRPr lang="zh-CN" altLang="en-US" sz="3600" dirty="0">
              <a:solidFill>
                <a:srgbClr val="FFCC00"/>
              </a:solidFill>
            </a:endParaRPr>
          </a:p>
          <a:p>
            <a:pPr>
              <a:lnSpc>
                <a:spcPct val="90000"/>
              </a:lnSpc>
            </a:pPr>
            <a:r>
              <a:rPr lang="en-US" altLang="zh-CN" sz="3600" dirty="0">
                <a:solidFill>
                  <a:srgbClr val="FFCC00"/>
                </a:solidFill>
              </a:rPr>
              <a:t>4</a:t>
            </a:r>
            <a:r>
              <a:rPr lang="zh-CN" altLang="en-US" sz="3600" dirty="0">
                <a:solidFill>
                  <a:srgbClr val="FFCC00"/>
                </a:solidFill>
              </a:rPr>
              <a:t>、行为信息</a:t>
            </a:r>
            <a:endParaRPr lang="zh-CN" altLang="en-US" sz="3600">
              <a:solidFill>
                <a:srgbClr val="FFCC00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p>
            <a:pPr lvl="0"/>
            <a:fld id="{BB962C8B-B14F-4D97-AF65-F5344CB8AC3E}" type="datetime1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/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>
                <a:effectLst>
                  <a:outerShdw blurRad="38100" dist="38100" dir="2700000">
                    <a:srgbClr val="C0C0C0"/>
                  </a:outerShdw>
                </a:effectLst>
              </a:rPr>
            </a:fld>
            <a:endParaRPr lang="zh-CN" altLang="en-US" dirty="0"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18114" name="内容占位符 218113"/>
          <p:cNvSpPr>
            <a:spLocks noGrp="1" noRot="1"/>
          </p:cNvSpPr>
          <p:nvPr>
            <p:ph idx="4294967295"/>
          </p:nvPr>
        </p:nvSpPr>
        <p:spPr>
          <a:xfrm>
            <a:off x="1524000" y="0"/>
            <a:ext cx="9144000" cy="6858000"/>
          </a:xfrm>
        </p:spPr>
        <p:txBody>
          <a:bodyPr/>
          <a:p>
            <a:endParaRPr lang="en-US" altLang="zh-CN"/>
          </a:p>
          <a:p>
            <a:endParaRPr lang="en-US" altLang="zh-CN"/>
          </a:p>
        </p:txBody>
      </p:sp>
      <p:graphicFrame>
        <p:nvGraphicFramePr>
          <p:cNvPr id="218115" name="对象 218114"/>
          <p:cNvGraphicFramePr/>
          <p:nvPr/>
        </p:nvGraphicFramePr>
        <p:xfrm>
          <a:off x="1535113" y="0"/>
          <a:ext cx="9132887" cy="708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354955" imgH="4016375" progId="PowerPoint.Slide.8">
                  <p:embed/>
                </p:oleObj>
              </mc:Choice>
              <mc:Fallback>
                <p:oleObj name="" r:id="rId1" imgW="5354955" imgH="4016375" progId="PowerPoint.Slid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35113" y="0"/>
                        <a:ext cx="9132887" cy="7081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流程图: 预定义过程 219137"/>
          <p:cNvSpPr/>
          <p:nvPr/>
        </p:nvSpPr>
        <p:spPr>
          <a:xfrm rot="5400000">
            <a:off x="6400800" y="-1066800"/>
            <a:ext cx="685800" cy="3429000"/>
          </a:xfrm>
          <a:prstGeom prst="flowChartPredefinedProcess">
            <a:avLst/>
          </a:prstGeom>
          <a:solidFill>
            <a:srgbClr val="99FF66">
              <a:alpha val="50000"/>
            </a:srgbClr>
          </a:solidFill>
          <a:ln w="28575" cap="flat" cmpd="sng">
            <a:solidFill>
              <a:srgbClr val="66CCFF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10800000" vert="eaVert" wrap="none" anchor="ctr" anchorCtr="0"/>
          <a:p>
            <a:pPr algn="ctr"/>
            <a:r>
              <a:rPr lang="zh-CN" altLang="en-US" sz="36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五大环境问题</a:t>
            </a:r>
            <a:endParaRPr lang="zh-CN" altLang="en-US" sz="36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9139" name="文本框 219138"/>
          <p:cNvSpPr txBox="1"/>
          <p:nvPr/>
        </p:nvSpPr>
        <p:spPr>
          <a:xfrm>
            <a:off x="4419600" y="1219200"/>
            <a:ext cx="4648200" cy="5075555"/>
          </a:xfrm>
          <a:prstGeom prst="rect">
            <a:avLst/>
          </a:prstGeom>
          <a:solidFill>
            <a:schemeClr val="folHlink">
              <a:alpha val="50000"/>
            </a:schemeClr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自然灾害</a:t>
            </a:r>
            <a:endParaRPr lang="zh-CN" altLang="en-US" sz="36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生态破坏</a:t>
            </a:r>
            <a:endParaRPr lang="zh-CN" altLang="en-US" sz="36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资源耗竭</a:t>
            </a:r>
            <a:endParaRPr lang="zh-CN" altLang="en-US" sz="36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环境污染</a:t>
            </a:r>
            <a:endParaRPr lang="zh-CN" altLang="en-US" sz="36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3600" dirty="0">
                <a:solidFill>
                  <a:schemeClr val="hlink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人口剧增</a:t>
            </a:r>
            <a:endParaRPr lang="zh-CN" altLang="en-US" sz="2800" dirty="0">
              <a:solidFill>
                <a:schemeClr val="hlink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19140" name="竖卷形 219139"/>
          <p:cNvSpPr/>
          <p:nvPr/>
        </p:nvSpPr>
        <p:spPr>
          <a:xfrm>
            <a:off x="2057400" y="914400"/>
            <a:ext cx="1219200" cy="5105400"/>
          </a:xfrm>
          <a:prstGeom prst="verticalScroll">
            <a:avLst>
              <a:gd name="adj" fmla="val 12500"/>
            </a:avLst>
          </a:prstGeom>
          <a:solidFill>
            <a:srgbClr val="80008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vert="eaVert" wrap="none" anchor="ctr" anchorCtr="0"/>
          <a:p>
            <a:pPr algn="ctr"/>
            <a:r>
              <a:rPr lang="zh-CN" altLang="en-US" sz="4000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不和谐的音符</a:t>
            </a:r>
            <a:endParaRPr lang="zh-CN" altLang="en-US" sz="4000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9139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9139">
                                            <p:txEl>
                                              <p:charRg st="7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14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219139">
                                            <p:txEl>
                                              <p:charRg st="14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21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19139">
                                            <p:txEl>
                                              <p:charRg st="21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>
                                            <p:txEl>
                                              <p:charRg st="28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219139">
                                            <p:txEl>
                                              <p:charRg st="28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9" grpId="0" animBg="1" advAuto="100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2" name="标题 220161"/>
          <p:cNvSpPr>
            <a:spLocks noGrp="1" noRot="1"/>
          </p:cNvSpPr>
          <p:nvPr>
            <p:ph type="title"/>
          </p:nvPr>
        </p:nvSpPr>
        <p:spPr>
          <a:xfrm>
            <a:off x="1752600" y="1066800"/>
            <a:ext cx="5943600" cy="608013"/>
          </a:xfrm>
        </p:spPr>
        <p:txBody>
          <a:bodyPr vert="horz" anchor="ctr" anchorCtr="0">
            <a:normAutofit fontScale="90000"/>
          </a:bodyPr>
          <a:p>
            <a:r>
              <a:rPr lang="en-US" altLang="zh-CN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◆    </a:t>
            </a:r>
            <a:r>
              <a:rPr lang="zh-CN" altLang="en-US" b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自然灾害</a:t>
            </a:r>
            <a:endParaRPr lang="zh-CN" altLang="en-US" b="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20163" name="媒体占位符 220162" descr="AG00503_"/>
          <p:cNvPicPr>
            <a:picLocks noGrp="1" noRot="1" noChangeAspect="1"/>
          </p:cNvPicPr>
          <p:nvPr>
            <p:ph type="media" sz="half" idx="2"/>
          </p:nvPr>
        </p:nvPicPr>
        <p:blipFill>
          <a:blip r:embed="rId1">
            <a:lum bright="6000" contrast="58000"/>
          </a:blip>
          <a:stretch>
            <a:fillRect/>
          </a:stretch>
        </p:blipFill>
        <p:spPr>
          <a:xfrm>
            <a:off x="6858000" y="0"/>
            <a:ext cx="3810000" cy="2911475"/>
          </a:xfrm>
        </p:spPr>
      </p:pic>
      <p:sp>
        <p:nvSpPr>
          <p:cNvPr id="220164" name="矩形 220163"/>
          <p:cNvSpPr/>
          <p:nvPr/>
        </p:nvSpPr>
        <p:spPr>
          <a:xfrm>
            <a:off x="2054225" y="2000250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天文灾害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65" name="矩形 220164"/>
          <p:cNvSpPr/>
          <p:nvPr/>
        </p:nvSpPr>
        <p:spPr>
          <a:xfrm>
            <a:off x="1978025" y="3143250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地质灾害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66" name="矩形 220165"/>
          <p:cNvSpPr/>
          <p:nvPr/>
        </p:nvSpPr>
        <p:spPr>
          <a:xfrm>
            <a:off x="1518920" y="4057650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气象水文灾害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67" name="矩形 220166"/>
          <p:cNvSpPr/>
          <p:nvPr/>
        </p:nvSpPr>
        <p:spPr>
          <a:xfrm>
            <a:off x="1876425" y="5124450"/>
            <a:ext cx="161290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生物灾害</a:t>
            </a:r>
            <a:endParaRPr lang="zh-CN" altLang="en-US" sz="28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68" name="矩形 220167"/>
          <p:cNvSpPr/>
          <p:nvPr/>
        </p:nvSpPr>
        <p:spPr>
          <a:xfrm>
            <a:off x="3810000" y="1981200"/>
            <a:ext cx="3733800" cy="1066800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0169" name="文本框 220168"/>
          <p:cNvSpPr txBox="1"/>
          <p:nvPr/>
        </p:nvSpPr>
        <p:spPr>
          <a:xfrm>
            <a:off x="3810000" y="2057400"/>
            <a:ext cx="35814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天体撞击、太阳辐射异常</a:t>
            </a:r>
            <a:endParaRPr lang="zh-CN" altLang="en-US" sz="2400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电磁异暴、宇宙射线</a:t>
            </a:r>
            <a:endParaRPr lang="zh-CN" altLang="en-US" sz="2400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70" name="矩形 220169"/>
          <p:cNvSpPr/>
          <p:nvPr/>
        </p:nvSpPr>
        <p:spPr>
          <a:xfrm>
            <a:off x="3733800" y="3200400"/>
            <a:ext cx="3733800" cy="609600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0171" name="文本框 220170"/>
          <p:cNvSpPr txBox="1"/>
          <p:nvPr/>
        </p:nvSpPr>
        <p:spPr>
          <a:xfrm>
            <a:off x="3810000" y="3276600"/>
            <a:ext cx="35814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火山、地震、岩崩</a:t>
            </a:r>
            <a:endParaRPr lang="zh-CN" altLang="en-US" sz="2400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72" name="矩形 220171"/>
          <p:cNvSpPr/>
          <p:nvPr/>
        </p:nvSpPr>
        <p:spPr>
          <a:xfrm>
            <a:off x="3886200" y="4038600"/>
            <a:ext cx="6753225" cy="830263"/>
          </a:xfrm>
          <a:prstGeom prst="rect">
            <a:avLst/>
          </a:prstGeom>
          <a:solidFill>
            <a:schemeClr val="folHlink">
              <a:alpha val="50000"/>
            </a:schemeClr>
          </a:solidFill>
          <a:ln w="571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0173" name="文本框 220172"/>
          <p:cNvSpPr txBox="1"/>
          <p:nvPr/>
        </p:nvSpPr>
        <p:spPr>
          <a:xfrm>
            <a:off x="3847465" y="4227195"/>
            <a:ext cx="741426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水灾、旱灾、风暴、冰雹、雪灾、热浪、寒潮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……</a:t>
            </a:r>
            <a:endParaRPr lang="en-US" altLang="zh-CN" sz="2400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0174" name="矩形 220173"/>
          <p:cNvSpPr/>
          <p:nvPr/>
        </p:nvSpPr>
        <p:spPr>
          <a:xfrm>
            <a:off x="3914775" y="5105400"/>
            <a:ext cx="6753225" cy="609600"/>
          </a:xfrm>
          <a:prstGeom prst="rect">
            <a:avLst/>
          </a:prstGeom>
          <a:solidFill>
            <a:schemeClr val="folHlink"/>
          </a:solidFill>
          <a:ln w="5715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20175" name="文本框 220174"/>
          <p:cNvSpPr txBox="1"/>
          <p:nvPr/>
        </p:nvSpPr>
        <p:spPr>
          <a:xfrm>
            <a:off x="3962400" y="5181600"/>
            <a:ext cx="50768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病虫害、森林火灾、物种灭绝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……</a:t>
            </a:r>
            <a:endParaRPr lang="en-US" altLang="zh-CN" sz="2400" b="1" dirty="0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矩形 221185"/>
          <p:cNvSpPr/>
          <p:nvPr/>
        </p:nvSpPr>
        <p:spPr>
          <a:xfrm>
            <a:off x="5867400" y="1295400"/>
            <a:ext cx="4572000" cy="5562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21187" name="图片 221186" descr="cabg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4953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1188" name="标题 221187"/>
          <p:cNvSpPr>
            <a:spLocks noGrp="1" noRot="1"/>
          </p:cNvSpPr>
          <p:nvPr>
            <p:ph type="title"/>
          </p:nvPr>
        </p:nvSpPr>
        <p:spPr>
          <a:xfrm>
            <a:off x="6019800" y="381000"/>
            <a:ext cx="4648200" cy="608013"/>
          </a:xfrm>
        </p:spPr>
        <p:txBody>
          <a:bodyPr vert="horz" anchor="ctr" anchorCtr="0">
            <a:normAutofit fontScale="90000"/>
          </a:bodyPr>
          <a:p>
            <a:r>
              <a:rPr lang="en-US" altLang="zh-CN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◆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生态破坏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1189" name="流程图: 预定义过程 221188"/>
          <p:cNvSpPr/>
          <p:nvPr/>
        </p:nvSpPr>
        <p:spPr>
          <a:xfrm rot="-5400000">
            <a:off x="7725332" y="-387350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水土流失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0" name="流程图: 预定义过程 221189"/>
          <p:cNvSpPr/>
          <p:nvPr/>
        </p:nvSpPr>
        <p:spPr>
          <a:xfrm rot="-5400000">
            <a:off x="7725332" y="373063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沙漠化、荒漠化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1" name="流程图: 预定义过程 221190"/>
          <p:cNvSpPr/>
          <p:nvPr/>
        </p:nvSpPr>
        <p:spPr>
          <a:xfrm rot="-5400000">
            <a:off x="7725332" y="1135063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土壤次生盐碱化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2" name="流程图: 预定义过程 221191"/>
          <p:cNvSpPr/>
          <p:nvPr/>
        </p:nvSpPr>
        <p:spPr>
          <a:xfrm rot="-5400000">
            <a:off x="7725332" y="1897063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森林锐减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3" name="流程图: 预定义过程 221192"/>
          <p:cNvSpPr/>
          <p:nvPr/>
        </p:nvSpPr>
        <p:spPr>
          <a:xfrm rot="-5400000">
            <a:off x="7725332" y="2659063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草场退化、土地退化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4" name="流程图: 预定义过程 221193"/>
          <p:cNvSpPr/>
          <p:nvPr/>
        </p:nvSpPr>
        <p:spPr>
          <a:xfrm rot="-5400000">
            <a:off x="7725332" y="4213225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生物多样性的减少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1195" name="流程图: 预定义过程 221194"/>
          <p:cNvSpPr/>
          <p:nvPr/>
        </p:nvSpPr>
        <p:spPr>
          <a:xfrm rot="-5400000">
            <a:off x="7725332" y="3421063"/>
            <a:ext cx="678893" cy="4267200"/>
          </a:xfrm>
          <a:prstGeom prst="flowChartPredefinedProcess">
            <a:avLst/>
          </a:prstGeom>
          <a:gradFill rotWithShape="0">
            <a:gsLst>
              <a:gs pos="0">
                <a:srgbClr val="CCFFCC"/>
              </a:gs>
              <a:gs pos="100000">
                <a:srgbClr val="99FF66"/>
              </a:gs>
            </a:gsLst>
            <a:lin ang="0" scaled="1"/>
            <a:tileRect/>
          </a:grad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湖泊的富营养化</a:t>
            </a:r>
            <a:endParaRPr lang="zh-CN" altLang="en-US" sz="2400" b="1" dirty="0">
              <a:solidFill>
                <a:srgbClr val="FF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1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21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2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21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1" dur="500"/>
                                        <p:tgtEl>
                                          <p:spTgt spid="22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9" grpId="0" bldLvl="0" animBg="1"/>
      <p:bldP spid="221190" grpId="0" bldLvl="0" animBg="1"/>
      <p:bldP spid="221191" grpId="0" bldLvl="0" animBg="1"/>
      <p:bldP spid="221192" grpId="0" bldLvl="0" animBg="1"/>
      <p:bldP spid="221193" grpId="0" bldLvl="0" animBg="1"/>
      <p:bldP spid="221194" grpId="0" bldLvl="0" animBg="1"/>
      <p:bldP spid="221195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矩形 222209"/>
          <p:cNvSpPr/>
          <p:nvPr/>
        </p:nvSpPr>
        <p:spPr>
          <a:xfrm>
            <a:off x="5867400" y="1295400"/>
            <a:ext cx="4572000" cy="5562600"/>
          </a:xfrm>
          <a:prstGeom prst="rect">
            <a:avLst/>
          </a:prstGeom>
          <a:solidFill>
            <a:srgbClr val="FF66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22211" name="图片 222210" descr="0281094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4764088" cy="7162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2212" name="标题 222211"/>
          <p:cNvSpPr>
            <a:spLocks noGrp="1" noRot="1"/>
          </p:cNvSpPr>
          <p:nvPr>
            <p:ph type="title"/>
          </p:nvPr>
        </p:nvSpPr>
        <p:spPr>
          <a:xfrm>
            <a:off x="6019800" y="381000"/>
            <a:ext cx="4648200" cy="608013"/>
          </a:xfrm>
        </p:spPr>
        <p:txBody>
          <a:bodyPr vert="horz" anchor="ctr" anchorCtr="0">
            <a:normAutofit fontScale="90000"/>
          </a:bodyPr>
          <a:p>
            <a:r>
              <a:rPr lang="en-US" altLang="zh-CN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◆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资源耗竭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2213" name="流程图: 预定义过程 222212"/>
          <p:cNvSpPr/>
          <p:nvPr/>
        </p:nvSpPr>
        <p:spPr>
          <a:xfrm rot="-5400000">
            <a:off x="7723745" y="-388937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矿产资源危机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4" name="流程图: 预定义过程 222213"/>
          <p:cNvSpPr/>
          <p:nvPr/>
        </p:nvSpPr>
        <p:spPr>
          <a:xfrm rot="-5400000">
            <a:off x="7725332" y="403225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能源危机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5" name="流程图: 预定义过程 222214"/>
          <p:cNvSpPr/>
          <p:nvPr/>
        </p:nvSpPr>
        <p:spPr>
          <a:xfrm rot="-5400000">
            <a:off x="7725332" y="1241425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水资源短缺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6" name="流程图: 预定义过程 222215"/>
          <p:cNvSpPr/>
          <p:nvPr/>
        </p:nvSpPr>
        <p:spPr>
          <a:xfrm rot="-5400000">
            <a:off x="7725332" y="2155825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土地资源紧缺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7" name="流程图: 预定义过程 222216"/>
          <p:cNvSpPr/>
          <p:nvPr/>
        </p:nvSpPr>
        <p:spPr>
          <a:xfrm rot="-5400000">
            <a:off x="7725332" y="4060825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生物多样性的减少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2218" name="流程图: 预定义过程 222217"/>
          <p:cNvSpPr/>
          <p:nvPr/>
        </p:nvSpPr>
        <p:spPr>
          <a:xfrm rot="-5400000">
            <a:off x="7725332" y="3070225"/>
            <a:ext cx="678893" cy="4267200"/>
          </a:xfrm>
          <a:prstGeom prst="flowChartPredefinedProcess">
            <a:avLst/>
          </a:prstGeom>
          <a:noFill/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土壤资源的退化</a:t>
            </a:r>
            <a:endParaRPr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3" grpId="0" bldLvl="0" animBg="1"/>
      <p:bldP spid="222214" grpId="0" bldLvl="0" animBg="1"/>
      <p:bldP spid="222215" grpId="0" bldLvl="0" animBg="1"/>
      <p:bldP spid="222216" grpId="0" bldLvl="0" animBg="1"/>
      <p:bldP spid="222217" grpId="0" bldLvl="0" animBg="1"/>
      <p:bldP spid="222218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矩形 223233"/>
          <p:cNvSpPr/>
          <p:nvPr/>
        </p:nvSpPr>
        <p:spPr>
          <a:xfrm>
            <a:off x="5867400" y="1295400"/>
            <a:ext cx="4572000" cy="5562600"/>
          </a:xfrm>
          <a:prstGeom prst="rect">
            <a:avLst/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pic>
        <p:nvPicPr>
          <p:cNvPr id="223235" name="图片 223234" descr="1365030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4560888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3236" name="标题 223235"/>
          <p:cNvSpPr>
            <a:spLocks noGrp="1" noRot="1"/>
          </p:cNvSpPr>
          <p:nvPr>
            <p:ph type="title"/>
          </p:nvPr>
        </p:nvSpPr>
        <p:spPr>
          <a:xfrm>
            <a:off x="6019800" y="381000"/>
            <a:ext cx="4648200" cy="608013"/>
          </a:xfrm>
        </p:spPr>
        <p:txBody>
          <a:bodyPr vert="horz" anchor="ctr" anchorCtr="0">
            <a:normAutofit fontScale="90000"/>
          </a:bodyPr>
          <a:p>
            <a:r>
              <a:rPr lang="en-US" altLang="zh-CN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◆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环境污染</a:t>
            </a:r>
            <a:endParaRPr lang="zh-CN" altLang="en-US" dirty="0">
              <a:solidFill>
                <a:schemeClr val="tx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23237" name="流程图: 预定义过程 223236" descr="紫色网格"/>
          <p:cNvSpPr/>
          <p:nvPr/>
        </p:nvSpPr>
        <p:spPr>
          <a:xfrm rot="-5400000">
            <a:off x="7725332" y="-280987"/>
            <a:ext cx="678893" cy="4267200"/>
          </a:xfrm>
          <a:prstGeom prst="flowChartPredefinedProcess">
            <a:avLst/>
          </a:prstGeom>
          <a:blipFill rotWithShape="0">
            <a:blip r:embed="rId2"/>
          </a:blip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水环境污染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3238" name="流程图: 预定义过程 223237" descr="紫色网格"/>
          <p:cNvSpPr/>
          <p:nvPr/>
        </p:nvSpPr>
        <p:spPr>
          <a:xfrm rot="-5400000">
            <a:off x="7725332" y="784225"/>
            <a:ext cx="678893" cy="4267200"/>
          </a:xfrm>
          <a:prstGeom prst="flowChartPredefinedProcess">
            <a:avLst/>
          </a:prstGeom>
          <a:blipFill rotWithShape="0">
            <a:blip r:embed="rId2"/>
          </a:blip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大气环境污染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3239" name="流程图: 预定义过程 223238" descr="紫色网格"/>
          <p:cNvSpPr/>
          <p:nvPr/>
        </p:nvSpPr>
        <p:spPr>
          <a:xfrm rot="-5400000">
            <a:off x="7725332" y="1927225"/>
            <a:ext cx="678893" cy="4267200"/>
          </a:xfrm>
          <a:prstGeom prst="flowChartPredefinedProcess">
            <a:avLst/>
          </a:prstGeom>
          <a:blipFill rotWithShape="0">
            <a:blip r:embed="rId2"/>
          </a:blip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土壤环境污染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3240" name="流程图: 预定义过程 223239" descr="紫色网格"/>
          <p:cNvSpPr/>
          <p:nvPr/>
        </p:nvSpPr>
        <p:spPr>
          <a:xfrm rot="-5400000">
            <a:off x="7725332" y="3070225"/>
            <a:ext cx="678893" cy="4267200"/>
          </a:xfrm>
          <a:prstGeom prst="flowChartPredefinedProcess">
            <a:avLst/>
          </a:prstGeom>
          <a:blipFill rotWithShape="0">
            <a:blip r:embed="rId2"/>
          </a:blip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生物污染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3241" name="流程图: 预定义过程 223240" descr="紫色网格"/>
          <p:cNvSpPr/>
          <p:nvPr/>
        </p:nvSpPr>
        <p:spPr>
          <a:xfrm rot="-5400000">
            <a:off x="7725332" y="4137025"/>
            <a:ext cx="678893" cy="4267200"/>
          </a:xfrm>
          <a:prstGeom prst="flowChartPredefinedProcess">
            <a:avLst/>
          </a:prstGeom>
          <a:blipFill rotWithShape="0">
            <a:blip r:embed="rId2"/>
          </a:blipFill>
          <a:ln w="38100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 rot="0" vert="eaVert">
            <a:spAutoFit/>
          </a:bodyPr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effectLst>
                  <a:outerShdw blurRad="38100" dist="38100" dir="2700000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物理环境污染</a:t>
            </a:r>
            <a:endParaRPr lang="zh-CN" altLang="en-US" sz="2400" b="1" dirty="0">
              <a:solidFill>
                <a:schemeClr val="bg1"/>
              </a:solidFill>
              <a:effectLst>
                <a:outerShdw blurRad="38100" dist="38100" dir="2700000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23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7" grpId="0" bldLvl="0" animBg="1"/>
      <p:bldP spid="223238" grpId="0" bldLvl="0" animBg="1"/>
      <p:bldP spid="223239" grpId="0" bldLvl="0" animBg="1"/>
      <p:bldP spid="223240" grpId="0" bldLvl="0" animBg="1"/>
      <p:bldP spid="223241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标题 224257"/>
          <p:cNvSpPr>
            <a:spLocks noGrp="1" noRot="1"/>
          </p:cNvSpPr>
          <p:nvPr>
            <p:ph type="title"/>
          </p:nvPr>
        </p:nvSpPr>
        <p:spPr>
          <a:xfrm>
            <a:off x="1752600" y="304800"/>
            <a:ext cx="4648200" cy="608013"/>
          </a:xfrm>
        </p:spPr>
        <p:txBody>
          <a:bodyPr vert="horz" anchor="ctr" anchorCtr="0">
            <a:normAutofit fontScale="90000"/>
          </a:bodyPr>
          <a:p>
            <a:r>
              <a:rPr lang="en-US" altLang="zh-CN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◆  </a:t>
            </a:r>
            <a:r>
              <a:rPr lang="zh-CN" altLang="en-US" dirty="0">
                <a:solidFill>
                  <a:srgbClr val="FFFF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人口剧增</a:t>
            </a:r>
            <a:endParaRPr lang="zh-CN" altLang="en-US" dirty="0">
              <a:solidFill>
                <a:srgbClr val="FFFF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224259" name="图片 224258" descr="Samp07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260475"/>
            <a:ext cx="6324600" cy="559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260" name="矩形 224259"/>
          <p:cNvSpPr/>
          <p:nvPr/>
        </p:nvSpPr>
        <p:spPr>
          <a:xfrm>
            <a:off x="7391400" y="1143000"/>
            <a:ext cx="3276600" cy="5562600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人口剧增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的结果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上面所有的问题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都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被大大地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放大了</a:t>
            </a:r>
            <a:endParaRPr lang="zh-CN" altLang="en-US" sz="3600" b="1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zo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自然生态系统的退化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595120"/>
            <a:ext cx="4481195" cy="2204085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、海岸带生态系统退化：海岸生态系统、近海海洋生态系统、部分陆地生态系统以及部分海洋湿地系统</a:t>
            </a:r>
            <a:r>
              <a:rPr lang="zh-CN" altLang="en-US"/>
              <a:t>四种。</a:t>
            </a:r>
            <a:endParaRPr lang="zh-CN" altLang="en-US"/>
          </a:p>
        </p:txBody>
      </p:sp>
      <p:pic>
        <p:nvPicPr>
          <p:cNvPr id="140" name="图片 13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819265" y="0"/>
            <a:ext cx="5229225" cy="67233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淡水生态系统</a:t>
            </a:r>
            <a:r>
              <a:rPr lang="zh-CN" altLang="en-US"/>
              <a:t>退化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p>
            <a:r>
              <a:rPr lang="zh-CN" altLang="en-US"/>
              <a:t>水资源减少和</a:t>
            </a:r>
            <a:r>
              <a:rPr lang="zh-CN" altLang="en-US"/>
              <a:t>用水量增加；</a:t>
            </a:r>
            <a:endParaRPr lang="zh-CN" altLang="en-US"/>
          </a:p>
          <a:p>
            <a:r>
              <a:rPr lang="zh-CN" altLang="en-US"/>
              <a:t>水质下降；</a:t>
            </a:r>
            <a:endParaRPr lang="zh-CN" altLang="en-US"/>
          </a:p>
          <a:p>
            <a:r>
              <a:rPr lang="zh-CN" altLang="en-US"/>
              <a:t>水生生物减少；</a:t>
            </a:r>
            <a:endParaRPr lang="zh-CN" altLang="en-US"/>
          </a:p>
          <a:p>
            <a:r>
              <a:rPr lang="zh-CN" altLang="en-US"/>
              <a:t>外来物种入侵。</a:t>
            </a:r>
            <a:endParaRPr lang="zh-CN" altLang="en-US"/>
          </a:p>
        </p:txBody>
      </p:sp>
      <p:pic>
        <p:nvPicPr>
          <p:cNvPr id="148" name="图片 14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25060" y="608330"/>
            <a:ext cx="6350000" cy="4216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" name="图片 149"/>
          <p:cNvPicPr/>
          <p:nvPr/>
        </p:nvPicPr>
        <p:blipFill>
          <a:blip r:embed="rId3"/>
          <a:stretch>
            <a:fillRect/>
          </a:stretch>
        </p:blipFill>
        <p:spPr>
          <a:xfrm>
            <a:off x="4670425" y="456565"/>
            <a:ext cx="7128510" cy="5314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2" name="图片 151"/>
          <p:cNvPicPr/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9222" y="4137660"/>
            <a:ext cx="3557016" cy="2438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" name="图片 152"/>
          <p:cNvPicPr/>
          <p:nvPr/>
        </p:nvPicPr>
        <p:blipFill>
          <a:blip r:embed="rId6"/>
          <a:stretch>
            <a:fillRect/>
          </a:stretch>
        </p:blipFill>
        <p:spPr>
          <a:xfrm>
            <a:off x="8198485" y="2313940"/>
            <a:ext cx="3993515" cy="37350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4" name="图片 153"/>
          <p:cNvPicPr/>
          <p:nvPr/>
        </p:nvPicPr>
        <p:blipFill>
          <a:blip r:embed="rId7"/>
          <a:stretch>
            <a:fillRect/>
          </a:stretch>
        </p:blipFill>
        <p:spPr>
          <a:xfrm>
            <a:off x="1533525" y="0"/>
            <a:ext cx="112903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农业生态系统</a:t>
            </a:r>
            <a:r>
              <a:rPr lang="zh-CN" altLang="en-US"/>
              <a:t>退化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p>
            <a:r>
              <a:rPr lang="zh-CN" altLang="en-US"/>
              <a:t>农田面积</a:t>
            </a:r>
            <a:r>
              <a:rPr lang="zh-CN" altLang="en-US"/>
              <a:t>减少；</a:t>
            </a:r>
            <a:endParaRPr lang="zh-CN" altLang="en-US"/>
          </a:p>
          <a:p>
            <a:r>
              <a:rPr lang="zh-CN" altLang="en-US"/>
              <a:t>土壤退化；</a:t>
            </a:r>
            <a:endParaRPr lang="zh-CN" altLang="en-US"/>
          </a:p>
          <a:p>
            <a:r>
              <a:rPr lang="zh-CN" altLang="en-US"/>
              <a:t>种植物种单一化；</a:t>
            </a:r>
            <a:endParaRPr lang="zh-CN" altLang="en-US"/>
          </a:p>
          <a:p>
            <a:r>
              <a:rPr lang="zh-CN" altLang="en-US"/>
              <a:t>外来物种入侵。</a:t>
            </a:r>
            <a:endParaRPr lang="zh-CN" altLang="en-US"/>
          </a:p>
        </p:txBody>
      </p:sp>
      <p:pic>
        <p:nvPicPr>
          <p:cNvPr id="155" name="图片 154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71215" y="1313498"/>
            <a:ext cx="4762500" cy="3571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6" name="图片 155"/>
          <p:cNvPicPr/>
          <p:nvPr/>
        </p:nvPicPr>
        <p:blipFill>
          <a:blip r:embed="rId3"/>
          <a:stretch>
            <a:fillRect/>
          </a:stretch>
        </p:blipFill>
        <p:spPr>
          <a:xfrm>
            <a:off x="3598863" y="240030"/>
            <a:ext cx="8467725" cy="4762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7" name="图片 156"/>
          <p:cNvPicPr/>
          <p:nvPr/>
        </p:nvPicPr>
        <p:blipFill>
          <a:blip r:embed="rId4"/>
          <a:stretch>
            <a:fillRect/>
          </a:stretch>
        </p:blipFill>
        <p:spPr>
          <a:xfrm>
            <a:off x="3672205" y="1313498"/>
            <a:ext cx="6096000" cy="4048124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320" y="608400"/>
            <a:ext cx="10969200" cy="705600"/>
          </a:xfrm>
        </p:spPr>
        <p:txBody>
          <a:bodyPr/>
          <a:p>
            <a:r>
              <a:rPr lang="zh-CN" altLang="en-US"/>
              <a:t>草地生态系统</a:t>
            </a:r>
            <a:r>
              <a:rPr lang="zh-CN" altLang="en-US"/>
              <a:t>退化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82575" y="1825625"/>
            <a:ext cx="2795270" cy="4351655"/>
          </a:xfrm>
        </p:spPr>
        <p:txBody>
          <a:bodyPr/>
          <a:p>
            <a:r>
              <a:rPr lang="zh-CN" altLang="en-US"/>
              <a:t>植被结构改变；</a:t>
            </a:r>
            <a:endParaRPr lang="zh-CN" altLang="en-US"/>
          </a:p>
          <a:p>
            <a:r>
              <a:rPr lang="zh-CN" altLang="en-US"/>
              <a:t>能量不平衡；</a:t>
            </a:r>
            <a:endParaRPr lang="zh-CN" altLang="en-US"/>
          </a:p>
          <a:p>
            <a:r>
              <a:rPr lang="zh-CN" altLang="en-US"/>
              <a:t>自我调节功能减弱；</a:t>
            </a:r>
            <a:endParaRPr lang="zh-CN" altLang="en-US"/>
          </a:p>
          <a:p>
            <a:r>
              <a:rPr lang="zh-CN" altLang="en-US"/>
              <a:t>草场退化</a:t>
            </a:r>
            <a:endParaRPr lang="zh-CN" altLang="en-US"/>
          </a:p>
        </p:txBody>
      </p:sp>
      <p:pic>
        <p:nvPicPr>
          <p:cNvPr id="158" name="图片 157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663950" y="254000"/>
            <a:ext cx="84709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森林生态系统</a:t>
            </a:r>
            <a:r>
              <a:rPr lang="zh-CN" altLang="en-US"/>
              <a:t>退化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86690" y="1490345"/>
            <a:ext cx="5181600" cy="1123315"/>
          </a:xfrm>
        </p:spPr>
        <p:txBody>
          <a:bodyPr/>
          <a:p>
            <a:r>
              <a:rPr lang="zh-CN" altLang="en-US"/>
              <a:t>森林面积减少；</a:t>
            </a:r>
            <a:endParaRPr lang="zh-CN" altLang="en-US"/>
          </a:p>
          <a:p>
            <a:r>
              <a:rPr lang="zh-CN" altLang="en-US"/>
              <a:t>森林结构简单。</a:t>
            </a:r>
            <a:endParaRPr lang="zh-CN" altLang="en-US"/>
          </a:p>
        </p:txBody>
      </p:sp>
      <p:pic>
        <p:nvPicPr>
          <p:cNvPr id="142" name="图片 14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32680" y="254000"/>
            <a:ext cx="6985000" cy="635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" name="图片 142"/>
          <p:cNvPicPr/>
          <p:nvPr>
            <p:custDataLst>
              <p:tags r:id="rId3"/>
            </p:custDataLst>
          </p:nvPr>
        </p:nvPicPr>
        <p:blipFill>
          <a:blip r:embed="rId4"/>
          <a:srcRect r="11752"/>
          <a:stretch>
            <a:fillRect/>
          </a:stretch>
        </p:blipFill>
        <p:spPr>
          <a:xfrm>
            <a:off x="103505" y="2670810"/>
            <a:ext cx="4749165" cy="29851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6" name="图片 145"/>
          <p:cNvPicPr/>
          <p:nvPr/>
        </p:nvPicPr>
        <p:blipFill>
          <a:blip r:embed="rId5"/>
          <a:stretch>
            <a:fillRect/>
          </a:stretch>
        </p:blipFill>
        <p:spPr>
          <a:xfrm>
            <a:off x="5020945" y="1313815"/>
            <a:ext cx="6808470" cy="49504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/>
          <p:cNvPicPr/>
          <p:nvPr/>
        </p:nvPicPr>
        <p:blipFill>
          <a:blip r:embed="rId6"/>
          <a:stretch>
            <a:fillRect/>
          </a:stretch>
        </p:blipFill>
        <p:spPr>
          <a:xfrm>
            <a:off x="3629025" y="723900"/>
            <a:ext cx="8470900" cy="6350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7" name="图片 146"/>
          <p:cNvPicPr/>
          <p:nvPr/>
        </p:nvPicPr>
        <p:blipFill>
          <a:blip r:embed="rId7"/>
          <a:stretch>
            <a:fillRect/>
          </a:stretch>
        </p:blipFill>
        <p:spPr>
          <a:xfrm>
            <a:off x="3509010" y="723900"/>
            <a:ext cx="9525000" cy="635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作业观看纪录片</a:t>
            </a:r>
            <a:r>
              <a:rPr lang="en-US" altLang="zh-CN"/>
              <a:t>1-2</a:t>
            </a:r>
            <a:r>
              <a:rPr lang="zh-CN" altLang="en-US"/>
              <a:t>写观后感。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/>
        <p:txBody>
          <a:bodyPr/>
          <a:p>
            <a:r>
              <a:rPr lang="zh-CN" altLang="en-US"/>
              <a:t>《家园》（2009年）</a:t>
            </a:r>
            <a:endParaRPr lang="zh-CN" altLang="en-US"/>
          </a:p>
          <a:p>
            <a:r>
              <a:rPr lang="zh-CN" altLang="en-US"/>
              <a:t>难以忽视的真相 </a:t>
            </a:r>
            <a:r>
              <a:rPr lang="zh-CN" altLang="en-US">
                <a:sym typeface="+mn-ea"/>
              </a:rPr>
              <a:t>第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季</a:t>
            </a:r>
            <a:r>
              <a:rPr lang="en-US" altLang="zh-CN">
                <a:sym typeface="+mn-ea"/>
              </a:rPr>
              <a:t> </a:t>
            </a:r>
            <a:r>
              <a:rPr lang="zh-CN" altLang="en-US"/>
              <a:t>第2季</a:t>
            </a:r>
            <a:endParaRPr lang="zh-CN" altLang="en-US"/>
          </a:p>
          <a:p>
            <a:r>
              <a:rPr lang="zh-CN" altLang="en-US"/>
              <a:t>《第十一个小时》（2007年）</a:t>
            </a:r>
            <a:endParaRPr lang="zh-CN" altLang="en-US"/>
          </a:p>
          <a:p>
            <a:r>
              <a:rPr lang="zh-CN" altLang="en-US"/>
              <a:t>《穹顶之下》（2015年）</a:t>
            </a:r>
            <a:endParaRPr lang="zh-CN" altLang="en-US"/>
          </a:p>
          <a:p>
            <a:r>
              <a:rPr lang="zh-CN" altLang="en-US"/>
              <a:t>《洪水泛滥之前》（2016年）</a:t>
            </a:r>
            <a:endParaRPr lang="zh-CN" altLang="en-US"/>
          </a:p>
          <a:p>
            <a:r>
              <a:rPr lang="zh-CN" altLang="en-US"/>
              <a:t>《愚昧年代》（2009年）</a:t>
            </a:r>
            <a:endParaRPr lang="zh-CN" altLang="en-US"/>
          </a:p>
          <a:p>
            <a:r>
              <a:rPr lang="zh-CN" altLang="en-US"/>
              <a:t>《海豚湾》（2009年）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UNIT_PLACING_PICTURE_USER_VIEWPORT" val="{&quot;height&quot;:10800,&quot;width&quot;:16955.817322834646}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UNIT_TABLE_BEAUTIFY" val="smartTable{dc38f118-0fde-4382-b053-da23a4f18a5d}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  <p:tag name="KSO_WM_UNIT_PLACING_PICTURE_USER_VIEWPORT" val="{&quot;height&quot;:9600,&quot;width&quot;:11520}"/>
</p:tagLst>
</file>

<file path=ppt/tags/tag73.xml><?xml version="1.0" encoding="utf-8"?>
<p:tagLst xmlns:p="http://schemas.openxmlformats.org/presentationml/2006/main">
  <p:tag name="KSO_WM_UNIT_PLACING_PICTURE_USER_VIEWPORT" val="{&quot;height&quot;:8786,&quot;width&quot;:14816}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COMMONDATA" val="eyJoZGlkIjoiNzFlNjg4YzVkYWU5NzVhMjQ0ZmNiNGVlYzMzNTZmMTEifQ=="/>
  <p:tag name="KSO_WPP_MARK_KEY" val="99102927-d096-4a1e-834f-03b33d5febd0"/>
  <p:tag name="commondata" val="eyJoZGlkIjoiM2MxMDVjZGE4ZWJkZmM5YjgzNTMyMzA3ODMyZTc2Z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5886</Words>
  <Application>WPS 演示</Application>
  <PresentationFormat>宽屏</PresentationFormat>
  <Paragraphs>621</Paragraphs>
  <Slides>65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65</vt:i4>
      </vt:variant>
    </vt:vector>
  </HeadingPairs>
  <TitlesOfParts>
    <vt:vector size="82" baseType="lpstr">
      <vt:lpstr>Arial</vt:lpstr>
      <vt:lpstr>宋体</vt:lpstr>
      <vt:lpstr>Wingdings</vt:lpstr>
      <vt:lpstr>Wingdings</vt:lpstr>
      <vt:lpstr>Times New Roman</vt:lpstr>
      <vt:lpstr>华文隶书</vt:lpstr>
      <vt:lpstr>微软雅黑</vt:lpstr>
      <vt:lpstr>黑体</vt:lpstr>
      <vt:lpstr>华文楷体</vt:lpstr>
      <vt:lpstr>楷体_GB2312</vt:lpstr>
      <vt:lpstr>新宋体</vt:lpstr>
      <vt:lpstr>Arial Unicode MS</vt:lpstr>
      <vt:lpstr>Calibri</vt:lpstr>
      <vt:lpstr>隶书</vt:lpstr>
      <vt:lpstr>Office 主题​​</vt:lpstr>
      <vt:lpstr>PowerPoint.Slide.8</vt:lpstr>
      <vt:lpstr>PowerPoint.Slide.8</vt:lpstr>
      <vt:lpstr>    计划学时：16             主讲教师：李克勋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影视作品</vt:lpstr>
      <vt:lpstr>PowerPoint 演示文稿</vt:lpstr>
      <vt:lpstr>生态文明建设发展脉络</vt:lpstr>
      <vt:lpstr>“双碳”即碳达峰碳中和</vt:lpstr>
      <vt:lpstr> 第一章  资源短缺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三、中国的矿产资源 </vt:lpstr>
      <vt:lpstr>PowerPoint 演示文稿</vt:lpstr>
      <vt:lpstr>PowerPoint 演示文稿</vt:lpstr>
      <vt:lpstr>PowerPoint 演示文稿</vt:lpstr>
      <vt:lpstr>PowerPoint 演示文稿</vt:lpstr>
      <vt:lpstr>一、生态系统的组成、结构和类型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地球生态系统中的能量流</vt:lpstr>
      <vt:lpstr>四、生态系统的功能 （二）物质循环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（三）信息传递</vt:lpstr>
      <vt:lpstr>PowerPoint 演示文稿</vt:lpstr>
      <vt:lpstr>PowerPoint 演示文稿</vt:lpstr>
      <vt:lpstr>◆    自然灾害</vt:lpstr>
      <vt:lpstr>◆  生态破坏</vt:lpstr>
      <vt:lpstr>◆  资源耗竭</vt:lpstr>
      <vt:lpstr>◆  环境污染</vt:lpstr>
      <vt:lpstr>◆  人口剧增</vt:lpstr>
      <vt:lpstr>自然生态系统的退化</vt:lpstr>
      <vt:lpstr>淡水生态系统退化</vt:lpstr>
      <vt:lpstr>农业生态系统退化</vt:lpstr>
      <vt:lpstr>草地生态系统退化</vt:lpstr>
      <vt:lpstr>森林生态系统退化</vt:lpstr>
      <vt:lpstr>作业观看纪录片1-2写观后感。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虺.悭臾</cp:lastModifiedBy>
  <cp:revision>244</cp:revision>
  <dcterms:created xsi:type="dcterms:W3CDTF">2019-06-19T02:08:00Z</dcterms:created>
  <dcterms:modified xsi:type="dcterms:W3CDTF">2025-02-16T08:31:24Z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BB6A3C327C8446389793C6ADEE237286</vt:lpwstr>
  </property>
</Properties>
</file>