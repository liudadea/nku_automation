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sldIdLst>
    <p:sldId id="257" r:id="rId3"/>
    <p:sldId id="258" r:id="rId4"/>
    <p:sldId id="308" r:id="rId5"/>
    <p:sldId id="309" r:id="rId6"/>
    <p:sldId id="321" r:id="rId7"/>
    <p:sldId id="311" r:id="rId8"/>
    <p:sldId id="312" r:id="rId9"/>
    <p:sldId id="315" r:id="rId10"/>
    <p:sldId id="316" r:id="rId11"/>
    <p:sldId id="317" r:id="rId12"/>
    <p:sldId id="318" r:id="rId13"/>
    <p:sldId id="319" r:id="rId14"/>
    <p:sldId id="320" r:id="rId15"/>
    <p:sldId id="270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9" userDrawn="1">
          <p15:clr>
            <a:srgbClr val="A4A3A4"/>
          </p15:clr>
        </p15:guide>
        <p15:guide id="2" pos="3861" userDrawn="1">
          <p15:clr>
            <a:srgbClr val="A4A3A4"/>
          </p15:clr>
        </p15:guide>
        <p15:guide id="3" orient="horz" pos="972" userDrawn="1">
          <p15:clr>
            <a:srgbClr val="A4A3A4"/>
          </p15:clr>
        </p15:guide>
        <p15:guide id="4" pos="26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0066"/>
    <a:srgbClr val="7CBDF3"/>
    <a:srgbClr val="EDA182"/>
    <a:srgbClr val="AAC4DD"/>
    <a:srgbClr val="F2C6B0"/>
    <a:srgbClr val="F3F5F7"/>
    <a:srgbClr val="163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64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02" y="372"/>
      </p:cViewPr>
      <p:guideLst>
        <p:guide orient="horz" pos="2299"/>
        <p:guide pos="3861"/>
        <p:guide orient="horz" pos="972"/>
        <p:guide pos="26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0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43753-EE0A-466C-B4F8-21D9C2E9EA46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90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90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890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0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553BD-886F-4E5A-AB83-DF8F9144A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slideLayout" Target="../slideLayouts/slideLayout10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2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43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矩形 4"/>
          <p:cNvSpPr/>
          <p:nvPr/>
        </p:nvSpPr>
        <p:spPr>
          <a:xfrm>
            <a:off x="1054734" y="2310429"/>
            <a:ext cx="1008253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Is Curiosity All You Need? On the Utility of</a:t>
            </a:r>
          </a:p>
          <a:p>
            <a:pPr algn="ctr"/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Emergent </a:t>
            </a:r>
            <a:r>
              <a:rPr lang="en-US" altLang="zh-CN" sz="44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Behaviours</a:t>
            </a:r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from Curious Exploration</a:t>
            </a:r>
            <a:endParaRPr lang="zh-CN" altLang="en-US" sz="4400" b="1" dirty="0">
              <a:solidFill>
                <a:schemeClr val="bg2">
                  <a:lumMod val="2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48637" name="矩形 5"/>
          <p:cNvSpPr/>
          <p:nvPr/>
        </p:nvSpPr>
        <p:spPr>
          <a:xfrm>
            <a:off x="3123871" y="20802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53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445" y="241300"/>
            <a:ext cx="4446270" cy="28727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7454" y="5362898"/>
            <a:ext cx="3571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组员：刘振毫、吴俊豪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标题 1"/>
          <p:cNvSpPr txBox="1"/>
          <p:nvPr/>
        </p:nvSpPr>
        <p:spPr>
          <a:xfrm rot="16200000">
            <a:off x="-900991" y="3373448"/>
            <a:ext cx="2293400" cy="74038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78" name="标题 1"/>
          <p:cNvSpPr txBox="1"/>
          <p:nvPr/>
        </p:nvSpPr>
        <p:spPr>
          <a:xfrm>
            <a:off x="-19050" y="-12700"/>
            <a:ext cx="12230100" cy="6883400"/>
          </a:xfrm>
          <a:prstGeom prst="rect">
            <a:avLst/>
          </a:prstGeom>
          <a:gradFill>
            <a:gsLst>
              <a:gs pos="18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79" name="标题 1"/>
          <p:cNvSpPr txBox="1"/>
          <p:nvPr/>
        </p:nvSpPr>
        <p:spPr>
          <a:xfrm>
            <a:off x="-3995" y="0"/>
            <a:ext cx="6096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chemeClr val="accent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0" name="标题 1"/>
          <p:cNvSpPr txBox="1"/>
          <p:nvPr/>
        </p:nvSpPr>
        <p:spPr>
          <a:xfrm>
            <a:off x="3269079" y="626568"/>
            <a:ext cx="8714113" cy="5775342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 cap="sq">
            <a:solidFill>
              <a:schemeClr val="accent1">
                <a:lumMod val="75000"/>
              </a:schemeClr>
            </a:solidFill>
            <a:miter/>
          </a:ln>
          <a:effectLst>
            <a:outerShdw blurRad="393700" dist="228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00" b="1">
              <a:latin typeface="+mn-ea"/>
            </a:endParaRPr>
          </a:p>
        </p:txBody>
      </p:sp>
      <p:sp>
        <p:nvSpPr>
          <p:cNvPr id="1048581" name="标题 1"/>
          <p:cNvSpPr txBox="1"/>
          <p:nvPr/>
        </p:nvSpPr>
        <p:spPr>
          <a:xfrm>
            <a:off x="461031" y="2790662"/>
            <a:ext cx="2209800" cy="11057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60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cs typeface="OPPOSans H"/>
              </a:rPr>
              <a:t>目 录</a:t>
            </a:r>
            <a:endParaRPr kumimoji="1"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2" name="标题 1"/>
          <p:cNvSpPr txBox="1"/>
          <p:nvPr/>
        </p:nvSpPr>
        <p:spPr>
          <a:xfrm>
            <a:off x="80127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3" name="标题 1"/>
          <p:cNvSpPr txBox="1"/>
          <p:nvPr/>
        </p:nvSpPr>
        <p:spPr>
          <a:xfrm>
            <a:off x="103682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4" name="标题 1"/>
          <p:cNvSpPr txBox="1"/>
          <p:nvPr/>
        </p:nvSpPr>
        <p:spPr>
          <a:xfrm>
            <a:off x="127237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5" name="组合 65"/>
          <p:cNvGrpSpPr/>
          <p:nvPr>
            <p:custDataLst>
              <p:tags r:id="rId1"/>
            </p:custDataLst>
          </p:nvPr>
        </p:nvGrpSpPr>
        <p:grpSpPr>
          <a:xfrm>
            <a:off x="3380284" y="1512999"/>
            <a:ext cx="3621243" cy="530826"/>
            <a:chOff x="3380284" y="1512999"/>
            <a:chExt cx="3621243" cy="530826"/>
          </a:xfrm>
        </p:grpSpPr>
        <p:sp>
          <p:nvSpPr>
            <p:cNvPr id="1048585" name="标题 1"/>
            <p:cNvSpPr txBox="1"/>
            <p:nvPr>
              <p:custDataLst>
                <p:tags r:id="rId30"/>
              </p:custDataLst>
            </p:nvPr>
          </p:nvSpPr>
          <p:spPr>
            <a:xfrm>
              <a:off x="3751401" y="1513001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6" name="标题 1"/>
            <p:cNvSpPr txBox="1"/>
            <p:nvPr>
              <p:custDataLst>
                <p:tags r:id="rId31"/>
              </p:custDataLst>
            </p:nvPr>
          </p:nvSpPr>
          <p:spPr>
            <a:xfrm>
              <a:off x="6921436" y="1513001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7" name="标题 1"/>
            <p:cNvSpPr txBox="1"/>
            <p:nvPr>
              <p:custDataLst>
                <p:tags r:id="rId32"/>
              </p:custDataLst>
            </p:nvPr>
          </p:nvSpPr>
          <p:spPr>
            <a:xfrm>
              <a:off x="3380284" y="1513001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8" name="标题 1"/>
            <p:cNvSpPr txBox="1"/>
            <p:nvPr>
              <p:custDataLst>
                <p:tags r:id="rId33"/>
              </p:custDataLst>
            </p:nvPr>
          </p:nvSpPr>
          <p:spPr>
            <a:xfrm>
              <a:off x="3474995" y="1607712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9" name="标题 1"/>
            <p:cNvSpPr txBox="1"/>
            <p:nvPr>
              <p:custDataLst>
                <p:tags r:id="rId34"/>
              </p:custDataLst>
            </p:nvPr>
          </p:nvSpPr>
          <p:spPr>
            <a:xfrm>
              <a:off x="4190446" y="1512999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rgbClr val="262626">
                      <a:alpha val="100000"/>
                    </a:srgbClr>
                  </a:solidFill>
                  <a:latin typeface="+mn-ea"/>
                  <a:cs typeface="OPPOSans H"/>
                  <a:sym typeface="+mn-ea"/>
                </a:rPr>
                <a:t>背景</a:t>
              </a:r>
              <a:endParaRPr kumimoji="1" lang="zh-CN" altLang="en-US" sz="2400" b="1" dirty="0">
                <a:latin typeface="+mn-ea"/>
              </a:endParaRPr>
            </a:p>
          </p:txBody>
        </p:sp>
        <p:sp>
          <p:nvSpPr>
            <p:cNvPr id="1048590" name="标题 1"/>
            <p:cNvSpPr txBox="1"/>
            <p:nvPr>
              <p:custDataLst>
                <p:tags r:id="rId35"/>
              </p:custDataLst>
            </p:nvPr>
          </p:nvSpPr>
          <p:spPr>
            <a:xfrm>
              <a:off x="3472063" y="1607712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1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6" name="组合 60"/>
          <p:cNvGrpSpPr/>
          <p:nvPr>
            <p:custDataLst>
              <p:tags r:id="rId2"/>
            </p:custDataLst>
          </p:nvPr>
        </p:nvGrpSpPr>
        <p:grpSpPr>
          <a:xfrm>
            <a:off x="7716172" y="1512999"/>
            <a:ext cx="3621243" cy="530826"/>
            <a:chOff x="7680810" y="1512999"/>
            <a:chExt cx="3621243" cy="530826"/>
          </a:xfrm>
        </p:grpSpPr>
        <p:sp>
          <p:nvSpPr>
            <p:cNvPr id="1048591" name="标题 1"/>
            <p:cNvSpPr txBox="1"/>
            <p:nvPr>
              <p:custDataLst>
                <p:tags r:id="rId24"/>
              </p:custDataLst>
            </p:nvPr>
          </p:nvSpPr>
          <p:spPr>
            <a:xfrm>
              <a:off x="8051927" y="1513001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2" name="标题 1"/>
            <p:cNvSpPr txBox="1"/>
            <p:nvPr>
              <p:custDataLst>
                <p:tags r:id="rId25"/>
              </p:custDataLst>
            </p:nvPr>
          </p:nvSpPr>
          <p:spPr>
            <a:xfrm>
              <a:off x="11221962" y="1513001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3" name="标题 1"/>
            <p:cNvSpPr txBox="1"/>
            <p:nvPr>
              <p:custDataLst>
                <p:tags r:id="rId26"/>
              </p:custDataLst>
            </p:nvPr>
          </p:nvSpPr>
          <p:spPr>
            <a:xfrm>
              <a:off x="7680810" y="1513001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4" name="标题 1"/>
            <p:cNvSpPr txBox="1"/>
            <p:nvPr>
              <p:custDataLst>
                <p:tags r:id="rId27"/>
              </p:custDataLst>
            </p:nvPr>
          </p:nvSpPr>
          <p:spPr>
            <a:xfrm>
              <a:off x="7775521" y="1607712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5" name="标题 1"/>
            <p:cNvSpPr txBox="1"/>
            <p:nvPr>
              <p:custDataLst>
                <p:tags r:id="rId28"/>
              </p:custDataLst>
            </p:nvPr>
          </p:nvSpPr>
          <p:spPr>
            <a:xfrm>
              <a:off x="8490972" y="1512999"/>
              <a:ext cx="2694734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2400" b="1" dirty="0">
                  <a:latin typeface="+mn-ea"/>
                </a:rPr>
                <a:t>SelMo</a:t>
              </a:r>
              <a:r>
                <a:rPr lang="zh-CN" altLang="en-US" sz="2400" b="1" dirty="0">
                  <a:latin typeface="+mn-ea"/>
                </a:rPr>
                <a:t>框架</a:t>
              </a:r>
              <a:endParaRPr kumimoji="1" lang="zh-CN" altLang="en-US" sz="2400" b="1" dirty="0">
                <a:latin typeface="+mn-ea"/>
              </a:endParaRPr>
            </a:p>
          </p:txBody>
        </p:sp>
        <p:sp>
          <p:nvSpPr>
            <p:cNvPr id="1048596" name="标题 1"/>
            <p:cNvSpPr txBox="1"/>
            <p:nvPr>
              <p:custDataLst>
                <p:tags r:id="rId29"/>
              </p:custDataLst>
            </p:nvPr>
          </p:nvSpPr>
          <p:spPr>
            <a:xfrm>
              <a:off x="7772589" y="1607712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2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7" name="组合 64"/>
          <p:cNvGrpSpPr/>
          <p:nvPr>
            <p:custDataLst>
              <p:tags r:id="rId3"/>
            </p:custDataLst>
          </p:nvPr>
        </p:nvGrpSpPr>
        <p:grpSpPr>
          <a:xfrm>
            <a:off x="3380284" y="3248828"/>
            <a:ext cx="3621243" cy="530824"/>
            <a:chOff x="3380284" y="2748860"/>
            <a:chExt cx="3621243" cy="530824"/>
          </a:xfrm>
        </p:grpSpPr>
        <p:sp>
          <p:nvSpPr>
            <p:cNvPr id="1048597" name="标题 1"/>
            <p:cNvSpPr txBox="1"/>
            <p:nvPr>
              <p:custDataLst>
                <p:tags r:id="rId18"/>
              </p:custDataLst>
            </p:nvPr>
          </p:nvSpPr>
          <p:spPr>
            <a:xfrm>
              <a:off x="3751401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8" name="标题 1"/>
            <p:cNvSpPr txBox="1"/>
            <p:nvPr>
              <p:custDataLst>
                <p:tags r:id="rId19"/>
              </p:custDataLst>
            </p:nvPr>
          </p:nvSpPr>
          <p:spPr>
            <a:xfrm>
              <a:off x="6921436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9" name="标题 1"/>
            <p:cNvSpPr txBox="1"/>
            <p:nvPr>
              <p:custDataLst>
                <p:tags r:id="rId20"/>
              </p:custDataLst>
            </p:nvPr>
          </p:nvSpPr>
          <p:spPr>
            <a:xfrm>
              <a:off x="3380284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0" name="标题 1"/>
            <p:cNvSpPr txBox="1"/>
            <p:nvPr>
              <p:custDataLst>
                <p:tags r:id="rId21"/>
              </p:custDataLst>
            </p:nvPr>
          </p:nvSpPr>
          <p:spPr>
            <a:xfrm>
              <a:off x="3474995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1" name="标题 1"/>
            <p:cNvSpPr txBox="1"/>
            <p:nvPr>
              <p:custDataLst>
                <p:tags r:id="rId22"/>
              </p:custDataLst>
            </p:nvPr>
          </p:nvSpPr>
          <p:spPr>
            <a:xfrm>
              <a:off x="4190446" y="2748860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atin typeface="+mn-ea"/>
                </a:rPr>
                <a:t>实验</a:t>
              </a:r>
            </a:p>
          </p:txBody>
        </p:sp>
        <p:sp>
          <p:nvSpPr>
            <p:cNvPr id="1048602" name="标题 1"/>
            <p:cNvSpPr txBox="1"/>
            <p:nvPr>
              <p:custDataLst>
                <p:tags r:id="rId23"/>
              </p:custDataLst>
            </p:nvPr>
          </p:nvSpPr>
          <p:spPr>
            <a:xfrm>
              <a:off x="3472063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3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8" name="组合 61"/>
          <p:cNvGrpSpPr/>
          <p:nvPr>
            <p:custDataLst>
              <p:tags r:id="rId4"/>
            </p:custDataLst>
          </p:nvPr>
        </p:nvGrpSpPr>
        <p:grpSpPr>
          <a:xfrm>
            <a:off x="7706655" y="3248827"/>
            <a:ext cx="3621243" cy="530824"/>
            <a:chOff x="7680810" y="2748860"/>
            <a:chExt cx="3621243" cy="530824"/>
          </a:xfrm>
        </p:grpSpPr>
        <p:sp>
          <p:nvSpPr>
            <p:cNvPr id="1048603" name="标题 1"/>
            <p:cNvSpPr txBox="1"/>
            <p:nvPr>
              <p:custDataLst>
                <p:tags r:id="rId12"/>
              </p:custDataLst>
            </p:nvPr>
          </p:nvSpPr>
          <p:spPr>
            <a:xfrm>
              <a:off x="8051927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4" name="标题 1"/>
            <p:cNvSpPr txBox="1"/>
            <p:nvPr>
              <p:custDataLst>
                <p:tags r:id="rId13"/>
              </p:custDataLst>
            </p:nvPr>
          </p:nvSpPr>
          <p:spPr>
            <a:xfrm>
              <a:off x="11221962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5" name="标题 1"/>
            <p:cNvSpPr txBox="1"/>
            <p:nvPr>
              <p:custDataLst>
                <p:tags r:id="rId14"/>
              </p:custDataLst>
            </p:nvPr>
          </p:nvSpPr>
          <p:spPr>
            <a:xfrm>
              <a:off x="7680810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6" name="标题 1"/>
            <p:cNvSpPr txBox="1"/>
            <p:nvPr>
              <p:custDataLst>
                <p:tags r:id="rId15"/>
              </p:custDataLst>
            </p:nvPr>
          </p:nvSpPr>
          <p:spPr>
            <a:xfrm>
              <a:off x="7775521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7" name="标题 1"/>
            <p:cNvSpPr txBox="1"/>
            <p:nvPr>
              <p:custDataLst>
                <p:tags r:id="rId16"/>
              </p:custDataLst>
            </p:nvPr>
          </p:nvSpPr>
          <p:spPr>
            <a:xfrm>
              <a:off x="8490972" y="2748860"/>
              <a:ext cx="2694734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rgbClr val="262626">
                      <a:alpha val="100000"/>
                    </a:srgbClr>
                  </a:solidFill>
                  <a:latin typeface="+mn-ea"/>
                  <a:cs typeface="OPPOSans H"/>
                </a:rPr>
                <a:t>讨论</a:t>
              </a:r>
            </a:p>
          </p:txBody>
        </p:sp>
        <p:sp>
          <p:nvSpPr>
            <p:cNvPr id="1048608" name="标题 1"/>
            <p:cNvSpPr txBox="1"/>
            <p:nvPr>
              <p:custDataLst>
                <p:tags r:id="rId17"/>
              </p:custDataLst>
            </p:nvPr>
          </p:nvSpPr>
          <p:spPr>
            <a:xfrm>
              <a:off x="7772589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4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9" name="组合 63"/>
          <p:cNvGrpSpPr/>
          <p:nvPr>
            <p:custDataLst>
              <p:tags r:id="rId5"/>
            </p:custDataLst>
          </p:nvPr>
        </p:nvGrpSpPr>
        <p:grpSpPr>
          <a:xfrm>
            <a:off x="3380524" y="4984654"/>
            <a:ext cx="3621243" cy="531267"/>
            <a:chOff x="3380284" y="3984719"/>
            <a:chExt cx="3621243" cy="531267"/>
          </a:xfrm>
        </p:grpSpPr>
        <p:sp>
          <p:nvSpPr>
            <p:cNvPr id="1048609" name="标题 1"/>
            <p:cNvSpPr txBox="1"/>
            <p:nvPr>
              <p:custDataLst>
                <p:tags r:id="rId6"/>
              </p:custDataLst>
            </p:nvPr>
          </p:nvSpPr>
          <p:spPr>
            <a:xfrm>
              <a:off x="3751401" y="3984719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0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6921436" y="3984719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1" name="标题 1"/>
            <p:cNvSpPr txBox="1"/>
            <p:nvPr>
              <p:custDataLst>
                <p:tags r:id="rId8"/>
              </p:custDataLst>
            </p:nvPr>
          </p:nvSpPr>
          <p:spPr>
            <a:xfrm>
              <a:off x="3380284" y="3984719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2" name="标题 1"/>
            <p:cNvSpPr txBox="1"/>
            <p:nvPr>
              <p:custDataLst>
                <p:tags r:id="rId9"/>
              </p:custDataLst>
            </p:nvPr>
          </p:nvSpPr>
          <p:spPr>
            <a:xfrm>
              <a:off x="3474995" y="407943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3" name="标题 1"/>
            <p:cNvSpPr txBox="1"/>
            <p:nvPr>
              <p:custDataLst>
                <p:tags r:id="rId10"/>
              </p:custDataLst>
            </p:nvPr>
          </p:nvSpPr>
          <p:spPr>
            <a:xfrm>
              <a:off x="4190446" y="3985163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atin typeface="+mn-ea"/>
                </a:rPr>
                <a:t>总结与展望</a:t>
              </a:r>
            </a:p>
          </p:txBody>
        </p:sp>
        <p:sp>
          <p:nvSpPr>
            <p:cNvPr id="1048614" name="标题 1"/>
            <p:cNvSpPr txBox="1"/>
            <p:nvPr>
              <p:custDataLst>
                <p:tags r:id="rId11"/>
              </p:custDataLst>
            </p:nvPr>
          </p:nvSpPr>
          <p:spPr>
            <a:xfrm>
              <a:off x="3472063" y="407943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5</a:t>
              </a:r>
              <a:endParaRPr kumimoji="1" lang="zh-CN" altLang="en-US" sz="2400" b="1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E3F-1753-CF16-9186-40CD0DC9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标题 1">
            <a:extLst>
              <a:ext uri="{FF2B5EF4-FFF2-40B4-BE49-F238E27FC236}">
                <a16:creationId xmlns:a16="http://schemas.microsoft.com/office/drawing/2014/main" id="{88830F1B-E4BA-D687-3015-DEE4CE431701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挑战：</a:t>
            </a:r>
            <a:endParaRPr lang="zh-CN" altLang="zh-CN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900" dirty="0"/>
          </a:p>
        </p:txBody>
      </p:sp>
      <p:pic>
        <p:nvPicPr>
          <p:cNvPr id="2097171" name="图片 1">
            <a:extLst>
              <a:ext uri="{FF2B5EF4-FFF2-40B4-BE49-F238E27FC236}">
                <a16:creationId xmlns:a16="http://schemas.microsoft.com/office/drawing/2014/main" id="{7C9BCFE4-1BDB-3144-7AF6-004D31DB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941D80-0034-8E23-A1F7-EA477498CA92}"/>
              </a:ext>
            </a:extLst>
          </p:cNvPr>
          <p:cNvSpPr txBox="1"/>
          <p:nvPr/>
        </p:nvSpPr>
        <p:spPr>
          <a:xfrm>
            <a:off x="737305" y="935040"/>
            <a:ext cx="10671175" cy="626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561F5C"/>
              </a:buClr>
            </a:pPr>
            <a:r>
              <a:rPr lang="zh-CN" altLang="zh-CN" sz="24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有价值的中间行为被遗忘</a:t>
            </a:r>
            <a:r>
              <a:rPr lang="zh-CN" altLang="en-US" sz="24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</a:t>
            </a:r>
            <a:r>
              <a:rPr kumimoji="1" lang="zh-CN" altLang="en-US" sz="2400" dirty="0">
                <a:latin typeface="+mn-ea"/>
              </a:rPr>
              <a:t>智能体在学习新动作时，极易迅速遗忘通往最终目标的关键中间步骤。许多对任务完成至关重要的行为，在初次探索后便失去了好奇心激励，最终导致探索过程反复而低效</a:t>
            </a:r>
            <a:r>
              <a:rPr kumimoji="1" lang="zh-CN" altLang="en-US" sz="2400" dirty="0">
                <a:solidFill>
                  <a:srgbClr val="330066"/>
                </a:solidFill>
                <a:latin typeface="+mn-ea"/>
              </a:rPr>
              <a:t>。</a:t>
            </a:r>
            <a:endParaRPr kumimoji="1" lang="en-US" altLang="zh-CN" sz="2400" dirty="0">
              <a:solidFill>
                <a:srgbClr val="330066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单一信号难辨“探索”与“价值”：</a:t>
            </a:r>
            <a:r>
              <a:rPr kumimoji="1" lang="zh-CN" altLang="en-US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传统方法的探索过程是整体性的，智能体最终学习到的往往是一个单一的整体策略，而非一套可灵活组合的模块化技能。这导致它在面对新任务时泛化能力极差，无法有效利用过往经验，整体学习效率低下。</a:t>
            </a:r>
            <a:endParaRPr kumimoji="1" lang="en-US" altLang="zh-CN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数据效率低，工程落地难：</a:t>
            </a:r>
            <a:r>
              <a:rPr kumimoji="1" lang="zh-CN" altLang="en-US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依赖随机探索来发现新奇状态，导致样本复杂度极高。大量无目标的随机尝试让训练过程既不稳定又难以预测，在真实世界中高昂的数据采集成本下。</a:t>
            </a:r>
          </a:p>
          <a:p>
            <a:pPr marL="342900" indent="-342900">
              <a:lnSpc>
                <a:spcPct val="130000"/>
              </a:lnSpc>
              <a:buClr>
                <a:srgbClr val="561F5C"/>
              </a:buClr>
              <a:buFont typeface="Wingdings" panose="05000000000000000000" charset="0"/>
              <a:buChar char="n"/>
            </a:pPr>
            <a:endParaRPr kumimoji="1" lang="zh-CN" altLang="en-US" sz="2400" dirty="0">
              <a:solidFill>
                <a:srgbClr val="330066"/>
              </a:solidFill>
              <a:latin typeface="+mn-ea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840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FA71-D7F4-AD1A-6FD0-8C9BBC35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>
            <a:extLst>
              <a:ext uri="{FF2B5EF4-FFF2-40B4-BE49-F238E27FC236}">
                <a16:creationId xmlns:a16="http://schemas.microsoft.com/office/drawing/2014/main" id="{6D91E705-414A-5761-BE55-4CD24794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321A88-17EF-2AA6-054D-46022B46F443}"/>
              </a:ext>
            </a:extLst>
          </p:cNvPr>
          <p:cNvSpPr txBox="1"/>
          <p:nvPr/>
        </p:nvSpPr>
        <p:spPr>
          <a:xfrm>
            <a:off x="753034" y="935040"/>
            <a:ext cx="977870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SELMO</a:t>
            </a: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基础部件详解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模型重放缓冲区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(DM)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固定大小，存储智能体与环境交互的完整轨迹（状态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动作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下一状态）。采用随机替换策略，每条轨迹最多采样</a:t>
            </a:r>
            <a:r>
              <a:rPr lang="en-US" altLang="zh-CN" sz="2000" dirty="0" err="1">
                <a:solidFill>
                  <a:srgbClr val="4B5563"/>
                </a:solidFill>
                <a:effectLst/>
                <a:latin typeface="+mj-ea"/>
                <a:ea typeface="+mj-ea"/>
              </a:rPr>
              <a:t>n_max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次，以保证样本多样性。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世界模型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2000" b="1" dirty="0" err="1">
                <a:solidFill>
                  <a:srgbClr val="1F2937"/>
                </a:solidFill>
                <a:effectLst/>
                <a:latin typeface="+mj-ea"/>
                <a:ea typeface="+mj-ea"/>
              </a:rPr>
              <a:t>fdyn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一个前向预测模型（两层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MLP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），用于近似环境的状态转移函数 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st+1≈ </a:t>
            </a:r>
            <a:r>
              <a:rPr lang="en-US" altLang="zh-CN" sz="2000" dirty="0" err="1">
                <a:solidFill>
                  <a:srgbClr val="4B5563"/>
                </a:solidFill>
                <a:effectLst/>
                <a:latin typeface="+mj-ea"/>
                <a:ea typeface="+mj-ea"/>
              </a:rPr>
              <a:t>fdyn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(st, at)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。其预测误差（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MSE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）用于计算好奇心奖励。</a:t>
            </a:r>
            <a:endParaRPr lang="en-US" altLang="zh-CN" sz="2000" dirty="0">
              <a:solidFill>
                <a:srgbClr val="4B5563"/>
              </a:solidFill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latin typeface="+mj-ea"/>
              </a:rPr>
              <a:t>好奇心奖励函数 </a:t>
            </a:r>
            <a:r>
              <a:rPr lang="en-US" altLang="zh-CN" sz="2000" b="1" dirty="0">
                <a:solidFill>
                  <a:srgbClr val="1F2937"/>
                </a:solidFill>
                <a:latin typeface="+mj-ea"/>
              </a:rPr>
              <a:t>(r)</a:t>
            </a:r>
            <a:endParaRPr lang="zh-CN" altLang="en-US" sz="2000" dirty="0">
              <a:latin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latin typeface="+mj-ea"/>
              </a:rPr>
              <a:t>基于当前世界模型 </a:t>
            </a:r>
            <a:r>
              <a:rPr lang="en-US" altLang="zh-CN" sz="2000" dirty="0" err="1">
                <a:solidFill>
                  <a:srgbClr val="4B5563"/>
                </a:solidFill>
                <a:latin typeface="+mj-ea"/>
              </a:rPr>
              <a:t>fdyn</a:t>
            </a:r>
            <a:r>
              <a:rPr lang="zh-CN" altLang="en-US" sz="2000" dirty="0">
                <a:solidFill>
                  <a:srgbClr val="4B5563"/>
                </a:solidFill>
                <a:latin typeface="+mj-ea"/>
              </a:rPr>
              <a:t>的预测误差计算：</a:t>
            </a:r>
            <a:endParaRPr lang="zh-CN" altLang="en-US" sz="2000" dirty="0">
              <a:latin typeface="+mj-ea"/>
            </a:endParaRPr>
          </a:p>
          <a:p>
            <a:pPr>
              <a:buNone/>
            </a:pPr>
            <a:r>
              <a:rPr lang="en-US" altLang="zh-CN" sz="2000" b="1" dirty="0">
                <a:latin typeface="+mj-ea"/>
              </a:rPr>
              <a:t>r = tanh(</a:t>
            </a:r>
            <a:r>
              <a:rPr lang="en-US" altLang="zh-CN" sz="2000" b="1" dirty="0" err="1">
                <a:latin typeface="+mj-ea"/>
              </a:rPr>
              <a:t>ηr</a:t>
            </a:r>
            <a:r>
              <a:rPr lang="en-US" altLang="zh-CN" sz="2000" b="1" dirty="0">
                <a:latin typeface="+mj-ea"/>
              </a:rPr>
              <a:t>⋅ (</a:t>
            </a:r>
            <a:r>
              <a:rPr lang="en-US" altLang="zh-CN" sz="2000" b="1" dirty="0" err="1">
                <a:latin typeface="+mj-ea"/>
              </a:rPr>
              <a:t>fdyn</a:t>
            </a:r>
            <a:r>
              <a:rPr lang="en-US" altLang="zh-CN" sz="2000" b="1" dirty="0">
                <a:latin typeface="+mj-ea"/>
              </a:rPr>
              <a:t>(st, at) − st+1)²)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策略重放缓冲区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(Dπ)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固定大小，存储被世界模型标注过好奇心奖励的轨迹。采用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FIFO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替换策略，确保奖励与最新模型版本大致匹配。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策略网络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(π) </a:t>
            </a: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与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Q</a:t>
            </a: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网络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分别用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MLP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实现，采用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MPO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（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Maximum a Posteriori Policy Optimization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）进行离策略优化。策略的目标是最大化好奇心奖励（即探索预测误差高的状态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动作对）。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使用 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tanh 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函数将奖励值映射到 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[-1, 1] 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区间，以保持奖励有界且稳定。</a:t>
            </a:r>
            <a:endParaRPr lang="zh-CN" altLang="en-US" sz="2000" dirty="0"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8030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39355-4BB5-5FC8-A4B6-25B60E33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>
            <a:extLst>
              <a:ext uri="{FF2B5EF4-FFF2-40B4-BE49-F238E27FC236}">
                <a16:creationId xmlns:a16="http://schemas.microsoft.com/office/drawing/2014/main" id="{E214BE92-D380-8F72-12EE-29A66779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2D5897C-D703-2F70-7A49-4482588C8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69" y="596945"/>
            <a:ext cx="8471014" cy="31361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76938E-E798-6D6C-3DBE-73B5476A3297}"/>
              </a:ext>
            </a:extLst>
          </p:cNvPr>
          <p:cNvSpPr txBox="1"/>
          <p:nvPr/>
        </p:nvSpPr>
        <p:spPr>
          <a:xfrm>
            <a:off x="720763" y="3952731"/>
            <a:ext cx="103596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SelMo</a:t>
            </a:r>
            <a:r>
              <a:rPr lang="zh-CN" altLang="en-US" dirty="0"/>
              <a:t>系统架构概述。智能体利用其当前策略在环境中收集轨迹</a:t>
            </a:r>
            <a:r>
              <a:rPr lang="en-US" altLang="zh-CN" dirty="0"/>
              <a:t>tau^{k}</a:t>
            </a:r>
            <a:r>
              <a:rPr lang="zh-CN" altLang="en-US" dirty="0"/>
              <a:t>、</a:t>
            </a:r>
            <a:r>
              <a:rPr lang="en-US" altLang="zh-CN" dirty="0"/>
              <a:t>τₖ₊₁……</a:t>
            </a:r>
            <a:r>
              <a:rPr lang="zh-CN" altLang="en-US" dirty="0"/>
              <a:t>，并将其存储在模型回放缓冲区</a:t>
            </a:r>
            <a:r>
              <a:rPr lang="en-US" altLang="zh-CN" dirty="0"/>
              <a:t>D_M</a:t>
            </a:r>
            <a:r>
              <a:rPr lang="zh-CN" altLang="en-US" dirty="0"/>
              <a:t>中。当</a:t>
            </a:r>
            <a:r>
              <a:rPr lang="en-US" altLang="zh-CN" dirty="0"/>
              <a:t>D_M</a:t>
            </a:r>
            <a:r>
              <a:rPr lang="zh-CN" altLang="en-US" dirty="0"/>
              <a:t>满时，采用均匀移除策略替换轨迹。动力学模型</a:t>
            </a:r>
            <a:r>
              <a:rPr lang="en-US" altLang="zh-CN" dirty="0"/>
              <a:t>\(f_{d y n}\)</a:t>
            </a:r>
            <a:r>
              <a:rPr lang="zh-CN" altLang="en-US" dirty="0"/>
              <a:t>从该缓冲区中均匀采样，并通过随机梯度下降（</a:t>
            </a:r>
            <a:r>
              <a:rPr lang="en-US" altLang="zh-CN" dirty="0"/>
              <a:t>SGD</a:t>
            </a:r>
            <a:r>
              <a:rPr lang="zh-CN" altLang="en-US" dirty="0"/>
              <a:t>）更新其前向预测参数。随后，为采样得到的轨迹</a:t>
            </a:r>
            <a:r>
              <a:rPr lang="en-US" altLang="zh-CN" dirty="0"/>
              <a:t>tau^{j</a:t>
            </a:r>
            <a:r>
              <a:rPr lang="en-US" altLang="zh-CN"/>
              <a:t>}, tau</a:t>
            </a:r>
            <a:r>
              <a:rPr lang="en-US" altLang="zh-CN" dirty="0"/>
              <a:t>^{j+1}, ... </a:t>
            </a:r>
            <a:r>
              <a:rPr lang="zh-CN" altLang="en-US" dirty="0"/>
              <a:t>分配好奇心奖励</a:t>
            </a:r>
            <a:r>
              <a:rPr lang="en-US" altLang="zh-CN" dirty="0" err="1"/>
              <a:t>r^j</a:t>
            </a:r>
            <a:r>
              <a:rPr lang="en-US" altLang="zh-CN" dirty="0"/>
              <a:t>, r^j+1, ... </a:t>
            </a:r>
            <a:r>
              <a:rPr lang="zh-CN" altLang="en-US" dirty="0"/>
              <a:t>，该奖励根据其在当前</a:t>
            </a:r>
            <a:r>
              <a:rPr lang="en-US" altLang="zh-CN" dirty="0" err="1"/>
              <a:t>f_dyn</a:t>
            </a:r>
            <a:r>
              <a:rPr lang="en-US" altLang="zh-CN" dirty="0"/>
              <a:t>^(j)</a:t>
            </a:r>
            <a:r>
              <a:rPr lang="zh-CN" altLang="en-US" dirty="0"/>
              <a:t>下的预测误差进行缩放。带标签的轨迹被传递至采用</a:t>
            </a:r>
            <a:r>
              <a:rPr lang="en-US" altLang="zh-CN" dirty="0"/>
              <a:t>FIFO</a:t>
            </a:r>
            <a:r>
              <a:rPr lang="zh-CN" altLang="en-US" dirty="0"/>
              <a:t>移除策略的策略回放缓冲区</a:t>
            </a:r>
            <a:r>
              <a:rPr lang="en-US" altLang="zh-CN" dirty="0"/>
              <a:t>\(D_{\pi}\)</a:t>
            </a:r>
            <a:r>
              <a:rPr lang="zh-CN" altLang="en-US" dirty="0"/>
              <a:t>中。最大后验策略优化用于基于从策略回放中均匀抽取的样本拟合</a:t>
            </a:r>
            <a:r>
              <a:rPr lang="en-US" altLang="zh-CN" dirty="0"/>
              <a:t>Q</a:t>
            </a:r>
            <a:r>
              <a:rPr lang="zh-CN" altLang="en-US" dirty="0"/>
              <a:t>函数和策略</a:t>
            </a:r>
            <a:r>
              <a:rPr lang="en-US" altLang="zh-CN" dirty="0"/>
              <a:t>π</a:t>
            </a:r>
            <a:r>
              <a:rPr lang="zh-CN" altLang="en-US" dirty="0"/>
              <a:t>。最终得到的策略</a:t>
            </a:r>
            <a:r>
              <a:rPr lang="en-US" altLang="zh-CN" dirty="0"/>
              <a:t>pi^{i+1}</a:t>
            </a:r>
            <a:r>
              <a:rPr lang="zh-CN" altLang="en-US" dirty="0"/>
              <a:t>随后被同步回执行器。需注意，模型学习和策略学习均在独立的循环中执行。</a:t>
            </a:r>
          </a:p>
        </p:txBody>
      </p:sp>
    </p:spTree>
    <p:extLst>
      <p:ext uri="{BB962C8B-B14F-4D97-AF65-F5344CB8AC3E}">
        <p14:creationId xmlns:p14="http://schemas.microsoft.com/office/powerpoint/2010/main" val="193222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EAEAEA"/>
          </a:solidFill>
        </p:spPr>
      </p:sp>
      <p:grpSp>
        <p:nvGrpSpPr>
          <p:cNvPr id="15" name="组合 14"/>
          <p:cNvGrpSpPr/>
          <p:nvPr/>
        </p:nvGrpSpPr>
        <p:grpSpPr>
          <a:xfrm>
            <a:off x="665661" y="1963797"/>
            <a:ext cx="6642195" cy="2443585"/>
            <a:chOff x="11580" y="8847"/>
            <a:chExt cx="7467" cy="723"/>
          </a:xfrm>
        </p:grpSpPr>
        <p:sp>
          <p:nvSpPr>
            <p:cNvPr id="13" name="Text 10"/>
            <p:cNvSpPr/>
            <p:nvPr/>
          </p:nvSpPr>
          <p:spPr>
            <a:xfrm>
              <a:off x="11580" y="8847"/>
              <a:ext cx="5880" cy="1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3200" b="1" kern="0" spc="1" dirty="0">
                  <a:solidFill>
                    <a:srgbClr val="FF4500"/>
                  </a:solidFill>
                  <a:latin typeface="Manque Bold" charset="0"/>
                  <a:ea typeface="Manque Bold" charset="0"/>
                  <a:cs typeface="Manque Bold" charset="0"/>
                </a:rPr>
                <a:t>PRESENTATION FOCUS</a:t>
              </a:r>
            </a:p>
          </p:txBody>
        </p:sp>
        <p:sp>
          <p:nvSpPr>
            <p:cNvPr id="14" name="Text 11"/>
            <p:cNvSpPr/>
            <p:nvPr/>
          </p:nvSpPr>
          <p:spPr>
            <a:xfrm>
              <a:off x="11580" y="9046"/>
              <a:ext cx="7467" cy="5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3200" b="1" dirty="0">
                  <a:solidFill>
                    <a:srgbClr val="1A1A1A"/>
                  </a:solidFill>
                  <a:latin typeface="Manque Bold" charset="0"/>
                  <a:ea typeface="Manque Bold" charset="0"/>
                  <a:cs typeface="Manque Bold" charset="0"/>
                </a:rPr>
                <a:t>Sections 4–6
Experiments, Discussion &amp; Conclusion</a:t>
              </a:r>
            </a:p>
          </p:txBody>
        </p:sp>
      </p:grpSp>
      <p:pic>
        <p:nvPicPr>
          <p:cNvPr id="209717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pic>
        <p:nvPicPr>
          <p:cNvPr id="17" name="图片 16" descr="屏幕截图 2026-04-28 1129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400" y="1964055"/>
            <a:ext cx="4095115" cy="2827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8635" y="750570"/>
            <a:ext cx="2984500" cy="361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研究背景与核心问题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522605"/>
            <a:ext cx="2200275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BACKGROUND</a:t>
            </a:r>
          </a:p>
        </p:txBody>
      </p:sp>
      <p:sp>
        <p:nvSpPr>
          <p:cNvPr id="7" name="Text 4"/>
          <p:cNvSpPr/>
          <p:nvPr/>
        </p:nvSpPr>
        <p:spPr>
          <a:xfrm>
            <a:off x="889000" y="1291590"/>
            <a:ext cx="494347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en-US" sz="20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核心洞察</a:t>
            </a:r>
          </a:p>
        </p:txBody>
      </p:sp>
      <p:sp>
        <p:nvSpPr>
          <p:cNvPr id="8" name="Text 5"/>
          <p:cNvSpPr/>
          <p:nvPr/>
        </p:nvSpPr>
        <p:spPr>
          <a:xfrm>
            <a:off x="1217295" y="1695450"/>
            <a:ext cx="9468485" cy="629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好奇心学习不仅能驱动探索，其过程中涌现的中间行为本身即是宝贵技能，但这些行为往往随目标漂移而消失。</a:t>
            </a:r>
          </a:p>
        </p:txBody>
      </p:sp>
      <p:sp>
        <p:nvSpPr>
          <p:cNvPr id="9" name="Text 6"/>
          <p:cNvSpPr/>
          <p:nvPr/>
        </p:nvSpPr>
        <p:spPr>
          <a:xfrm>
            <a:off x="889000" y="2556459"/>
            <a:ext cx="494347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en-US" sz="20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问题陈述</a:t>
            </a:r>
          </a:p>
        </p:txBody>
      </p:sp>
      <p:sp>
        <p:nvSpPr>
          <p:cNvPr id="11" name="Text 8"/>
          <p:cNvSpPr/>
          <p:nvPr/>
        </p:nvSpPr>
        <p:spPr>
          <a:xfrm>
            <a:off x="993775" y="2929255"/>
            <a:ext cx="9468485" cy="31432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Ø"/>
            </a:pP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传统好奇心方法将其作为奖励补充或预训练工具，忽视了探索过程中涌现行为的价值</a:t>
            </a:r>
          </a:p>
        </p:txBody>
      </p:sp>
      <p:sp>
        <p:nvSpPr>
          <p:cNvPr id="13" name="Text 10"/>
          <p:cNvSpPr/>
          <p:nvPr/>
        </p:nvSpPr>
        <p:spPr>
          <a:xfrm>
            <a:off x="993775" y="3271520"/>
            <a:ext cx="8751570" cy="62928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Ø"/>
            </a:pP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好奇心目标的持续变化导致</a:t>
            </a:r>
            <a:r>
              <a:rPr lang="en-US" sz="16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灾难性遗忘（Catastrophic Forgetting）</a:t>
            </a: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：已习得的行为被新目标覆盖</a:t>
            </a:r>
          </a:p>
        </p:txBody>
      </p:sp>
      <p:sp>
        <p:nvSpPr>
          <p:cNvPr id="15" name="Text 12"/>
          <p:cNvSpPr/>
          <p:nvPr/>
        </p:nvSpPr>
        <p:spPr>
          <a:xfrm>
            <a:off x="993775" y="3919855"/>
            <a:ext cx="9157335" cy="31432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Ø"/>
            </a:pP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在多任务场景（如机器人操作）中，中间行为可能与不同下游任务高度相关</a:t>
            </a:r>
          </a:p>
        </p:txBody>
      </p:sp>
      <p:sp>
        <p:nvSpPr>
          <p:cNvPr id="19" name="Text 16"/>
          <p:cNvSpPr/>
          <p:nvPr/>
        </p:nvSpPr>
        <p:spPr>
          <a:xfrm>
            <a:off x="889000" y="4459459"/>
            <a:ext cx="494347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en-US" sz="20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实验框架</a:t>
            </a:r>
          </a:p>
        </p:txBody>
      </p:sp>
      <p:sp>
        <p:nvSpPr>
          <p:cNvPr id="20" name="Text 17"/>
          <p:cNvSpPr/>
          <p:nvPr/>
        </p:nvSpPr>
        <p:spPr>
          <a:xfrm>
            <a:off x="1217930" y="4847590"/>
            <a:ext cx="9467850" cy="629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SelMo (Self-Motivated Exploration)</a:t>
            </a: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：基于离策略（off-policy）的好奇心探索方法，在两个连续控制域中进行验证。</a:t>
            </a:r>
          </a:p>
        </p:txBody>
      </p:sp>
      <p:sp>
        <p:nvSpPr>
          <p:cNvPr id="18" name="Text 15"/>
          <p:cNvSpPr/>
          <p:nvPr/>
        </p:nvSpPr>
        <p:spPr>
          <a:xfrm>
            <a:off x="2564130" y="5897880"/>
            <a:ext cx="7063105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330066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“将关注点从‘利用好奇心完成特定任务’转向‘保留好奇心探索中涌现的行为’，将其作为可复用技能库。”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8635" y="750570"/>
            <a:ext cx="2984500" cy="361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实验设置</a:t>
            </a:r>
          </a:p>
        </p:txBody>
      </p:sp>
      <p:sp>
        <p:nvSpPr>
          <p:cNvPr id="5" name="Text 2"/>
          <p:cNvSpPr/>
          <p:nvPr/>
        </p:nvSpPr>
        <p:spPr>
          <a:xfrm>
            <a:off x="571500" y="522605"/>
            <a:ext cx="2200275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SETUP</a:t>
            </a:r>
          </a:p>
        </p:txBody>
      </p:sp>
      <p:sp>
        <p:nvSpPr>
          <p:cNvPr id="7" name="Text 4"/>
          <p:cNvSpPr/>
          <p:nvPr/>
        </p:nvSpPr>
        <p:spPr>
          <a:xfrm>
            <a:off x="889000" y="1186815"/>
            <a:ext cx="80765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330066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在两个连续控制仿真环境中进行验证：JACO 机械臂与 OP3 人形机器人。</a:t>
            </a:r>
            <a:endParaRPr lang="en-US" sz="1600" b="1" dirty="0">
              <a:solidFill>
                <a:srgbClr val="330066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500" y="2912745"/>
            <a:ext cx="2626995" cy="10331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训练配置：</a:t>
            </a:r>
            <a:r>
              <a:rPr lang="en-US" sz="1400" dirty="0">
                <a:solidFill>
                  <a:srgbClr val="330066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 单个Actor运行100K回合，仅优化好奇心目标（eq.2），每100回合保存策略快照用于后续分析。</a:t>
            </a:r>
            <a:endParaRPr lang="en-US" sz="1400" i="1" dirty="0">
              <a:solidFill>
                <a:srgbClr val="330066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sp>
        <p:nvSpPr>
          <p:cNvPr id="1048580" name="标题 1"/>
          <p:cNvSpPr txBox="1"/>
          <p:nvPr/>
        </p:nvSpPr>
        <p:spPr>
          <a:xfrm>
            <a:off x="3268980" y="1715770"/>
            <a:ext cx="8714105" cy="4686300"/>
          </a:xfrm>
          <a:prstGeom prst="roundRect">
            <a:avLst>
              <a:gd name="adj" fmla="val 2047"/>
            </a:avLst>
          </a:prstGeom>
          <a:noFill/>
          <a:ln w="12700" cap="sq">
            <a:solidFill>
              <a:schemeClr val="accent1">
                <a:lumMod val="75000"/>
              </a:schemeClr>
            </a:solidFill>
            <a:miter/>
          </a:ln>
          <a:effectLst>
            <a:outerShdw blurRad="393700" dist="228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00" b="1">
              <a:latin typeface="+mn-ea"/>
            </a:endParaRPr>
          </a:p>
        </p:txBody>
      </p:sp>
      <p:sp>
        <p:nvSpPr>
          <p:cNvPr id="2" name="Text 5"/>
          <p:cNvSpPr/>
          <p:nvPr/>
        </p:nvSpPr>
        <p:spPr>
          <a:xfrm>
            <a:off x="3712210" y="1846580"/>
            <a:ext cx="365887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2060"/>
                </a:solidFill>
                <a:latin typeface="Manque Bold" charset="0"/>
                <a:ea typeface="Manque Bold" charset="0"/>
                <a:cs typeface="Manque Bold" charset="0"/>
              </a:rPr>
              <a:t>JACO 机械臂操作环境</a:t>
            </a:r>
          </a:p>
        </p:txBody>
      </p:sp>
      <p:graphicFrame>
        <p:nvGraphicFramePr>
          <p:cNvPr id="27" name="表格 26"/>
          <p:cNvGraphicFramePr/>
          <p:nvPr>
            <p:custDataLst>
              <p:tags r:id="rId1"/>
            </p:custDataLst>
          </p:nvPr>
        </p:nvGraphicFramePr>
        <p:xfrm>
          <a:off x="3666490" y="2298065"/>
          <a:ext cx="3658870" cy="3472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回合长度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20</a:t>
                      </a:r>
                      <a:r>
                        <a:rPr lang="zh-CN" altLang="en-US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秒</a:t>
                      </a:r>
                      <a:r>
                        <a:rPr lang="en-US" altLang="zh-CN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/400</a:t>
                      </a:r>
                      <a:r>
                        <a:rPr lang="zh-CN" altLang="en-US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控制步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动作空间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9</a:t>
                      </a:r>
                      <a:r>
                        <a:rPr lang="zh-CN" altLang="en-US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维（</a:t>
                      </a:r>
                      <a:r>
                        <a:rPr lang="en-US" altLang="zh-CN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6</a:t>
                      </a:r>
                      <a:r>
                        <a:rPr lang="zh-CN" altLang="en-US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臂</a:t>
                      </a:r>
                      <a:r>
                        <a:rPr lang="en-US" altLang="zh-CN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+3</a:t>
                      </a:r>
                      <a:r>
                        <a:rPr lang="zh-CN" altLang="en-US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夹爪）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物体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Times New Roman" panose="02020603050405020304" charset="0"/>
                          <a:ea typeface="Windsor Std Light" panose="02010600010101010101" charset="-122"/>
                        </a:rPr>
                        <a:t>红色方块、蓝色方块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0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评估任务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ea typeface="Windsor Std Light" panose="02010600010101010101" charset="-122"/>
                          <a:cs typeface="Times New Roman" panose="02020603050405020304" charset="0"/>
                        </a:rPr>
                        <a:t>reach_red/blue,lift_red/blue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18"/>
          <p:cNvSpPr/>
          <p:nvPr/>
        </p:nvSpPr>
        <p:spPr>
          <a:xfrm>
            <a:off x="8383588" y="1856740"/>
            <a:ext cx="2557463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2060"/>
                </a:solidFill>
                <a:latin typeface="Manque Bold" charset="0"/>
                <a:ea typeface="Manque Bold" charset="0"/>
                <a:cs typeface="Manque Bold" charset="0"/>
              </a:rPr>
              <a:t>OP3 人形机器人环境</a:t>
            </a: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7793355" y="2298065"/>
          <a:ext cx="3803650" cy="347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Windsor Std Light" panose="02010600010101010101" charset="-122"/>
                          <a:ea typeface="Windsor Std Light" panose="02010600010101010101" charset="-122"/>
                        </a:rPr>
                        <a:t>状态空间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49维本体感知特征</a:t>
                      </a:r>
                      <a:endParaRPr lang="en-US" sz="1400" dirty="0"/>
                    </a:p>
                    <a:p>
                      <a:pPr algn="ctr">
                        <a:buNone/>
                      </a:pPr>
                      <a:endParaRPr lang="en-US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动作空间</a:t>
                      </a:r>
                      <a:endParaRPr lang="en-US" sz="1400" dirty="0"/>
                    </a:p>
                    <a:p>
                      <a:pPr algn="ctr">
                        <a:buNone/>
                      </a:pPr>
                      <a:endParaRPr lang="en-US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20维（头踝肘髋膝肩）</a:t>
                      </a:r>
                      <a:endParaRPr lang="en-US" altLang="en-US" sz="1400" dirty="0">
                        <a:solidFill>
                          <a:srgbClr val="333333"/>
                        </a:solidFill>
                        <a:latin typeface="Windsor Std Light" panose="02010600010101010101" charset="-122"/>
                        <a:ea typeface="Windsor Std Light" panose="02010600010101010101" charset="-122"/>
                        <a:cs typeface="Windsor Std Light" panose="02010600010101010101" charset="-122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6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评估任务</a:t>
                      </a:r>
                      <a:endParaRPr lang="en-US" sz="1400" dirty="0"/>
                    </a:p>
                    <a:p>
                      <a:pPr algn="ctr">
                        <a:buNone/>
                      </a:pPr>
                      <a:endParaRPr lang="en-US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walk_forward/backward</a:t>
                      </a:r>
                      <a:endParaRPr lang="en-US" sz="1400" dirty="0"/>
                    </a:p>
                    <a:p>
                      <a:pPr algn="ctr">
                        <a:buNone/>
                      </a:pPr>
                      <a:endParaRPr lang="en-US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1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终止条件</a:t>
                      </a:r>
                      <a:endParaRPr lang="en-US" altLang="en-US" sz="1400" dirty="0">
                        <a:solidFill>
                          <a:srgbClr val="333333"/>
                        </a:solidFill>
                        <a:latin typeface="Windsor Std Light" panose="02010600010101010101" charset="-122"/>
                        <a:ea typeface="Windsor Std Light" panose="02010600010101010101" charset="-122"/>
                        <a:cs typeface="Windsor Std Light" panose="02010600010101010101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Windsor Std Light" panose="02010600010101010101" charset="-122"/>
                          <a:ea typeface="Windsor Std Light" panose="02010600010101010101" charset="-122"/>
                          <a:cs typeface="Windsor Std Light" panose="02010600010101010101" charset="-122"/>
                          <a:sym typeface="+mn-ea"/>
                        </a:rPr>
                        <a:t>躯干约束违反（跌倒）</a:t>
                      </a:r>
                      <a:endParaRPr lang="en-US" sz="1400" dirty="0"/>
                    </a:p>
                    <a:p>
                      <a:pPr algn="ctr">
                        <a:buNone/>
                      </a:pPr>
                      <a:endParaRPr lang="en-US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9" name="Shape 1"/>
          <p:cNvSpPr/>
          <p:nvPr/>
        </p:nvSpPr>
        <p:spPr>
          <a:xfrm>
            <a:off x="3580765" y="1003935"/>
            <a:ext cx="7460615" cy="5670550"/>
          </a:xfrm>
          <a:prstGeom prst="rect">
            <a:avLst/>
          </a:prstGeom>
          <a:solidFill>
            <a:srgbClr val="EAEAE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"/>
          <p:cNvSpPr/>
          <p:nvPr/>
        </p:nvSpPr>
        <p:spPr>
          <a:xfrm>
            <a:off x="4005580" y="1173480"/>
            <a:ext cx="600075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行为涌现时间线（单一随机种子）</a:t>
            </a:r>
          </a:p>
        </p:txBody>
      </p:sp>
      <p:sp>
        <p:nvSpPr>
          <p:cNvPr id="74" name="Text 8"/>
          <p:cNvSpPr/>
          <p:nvPr/>
        </p:nvSpPr>
        <p:spPr>
          <a:xfrm>
            <a:off x="4005580" y="1514138"/>
            <a:ext cx="988060" cy="452755"/>
          </a:xfrm>
          <a:prstGeom prst="rect">
            <a:avLst/>
          </a:prstGeom>
          <a:noFill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训练阶段</a:t>
            </a:r>
          </a:p>
        </p:txBody>
      </p:sp>
      <p:sp>
        <p:nvSpPr>
          <p:cNvPr id="75" name="Text 9"/>
          <p:cNvSpPr/>
          <p:nvPr/>
        </p:nvSpPr>
        <p:spPr>
          <a:xfrm>
            <a:off x="5510530" y="1521758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涌现行为</a:t>
            </a:r>
          </a:p>
        </p:txBody>
      </p:sp>
      <p:sp>
        <p:nvSpPr>
          <p:cNvPr id="76" name="Text 10"/>
          <p:cNvSpPr/>
          <p:nvPr/>
        </p:nvSpPr>
        <p:spPr>
          <a:xfrm>
            <a:off x="7606030" y="1514138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机制解释</a:t>
            </a:r>
          </a:p>
        </p:txBody>
      </p:sp>
      <p:sp>
        <p:nvSpPr>
          <p:cNvPr id="77" name="Text 11"/>
          <p:cNvSpPr/>
          <p:nvPr/>
        </p:nvSpPr>
        <p:spPr>
          <a:xfrm>
            <a:off x="4119880" y="2062877"/>
            <a:ext cx="95758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0–10K 回合</a:t>
            </a:r>
          </a:p>
        </p:txBody>
      </p:sp>
      <p:sp>
        <p:nvSpPr>
          <p:cNvPr id="78" name="Text 12"/>
          <p:cNvSpPr/>
          <p:nvPr/>
        </p:nvSpPr>
        <p:spPr>
          <a:xfrm>
            <a:off x="5510530" y="1912877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推动物体、沿斜壁推起</a:t>
            </a:r>
          </a:p>
        </p:txBody>
      </p:sp>
      <p:sp>
        <p:nvSpPr>
          <p:cNvPr id="79" name="Text 13"/>
          <p:cNvSpPr/>
          <p:nvPr/>
        </p:nvSpPr>
        <p:spPr>
          <a:xfrm>
            <a:off x="7606030" y="1905257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探索物体物理属性</a:t>
            </a:r>
          </a:p>
        </p:txBody>
      </p:sp>
      <p:sp>
        <p:nvSpPr>
          <p:cNvPr id="80" name="Text 14"/>
          <p:cNvSpPr/>
          <p:nvPr/>
        </p:nvSpPr>
        <p:spPr>
          <a:xfrm>
            <a:off x="4119880" y="2450425"/>
            <a:ext cx="1057275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10–25K 回合</a:t>
            </a:r>
          </a:p>
        </p:txBody>
      </p:sp>
      <p:sp>
        <p:nvSpPr>
          <p:cNvPr id="81" name="Text 15"/>
          <p:cNvSpPr/>
          <p:nvPr/>
        </p:nvSpPr>
        <p:spPr>
          <a:xfrm>
            <a:off x="5510530" y="2300427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稳定抬起物体</a:t>
            </a:r>
          </a:p>
        </p:txBody>
      </p:sp>
      <p:sp>
        <p:nvSpPr>
          <p:cNvPr id="82" name="Text 16"/>
          <p:cNvSpPr/>
          <p:nvPr/>
        </p:nvSpPr>
        <p:spPr>
          <a:xfrm>
            <a:off x="7606030" y="2185174"/>
            <a:ext cx="2400300" cy="668020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高度维度开辟新预测误差空间</a:t>
            </a:r>
          </a:p>
        </p:txBody>
      </p:sp>
      <p:sp>
        <p:nvSpPr>
          <p:cNvPr id="83" name="Text 17"/>
          <p:cNvSpPr/>
          <p:nvPr/>
        </p:nvSpPr>
        <p:spPr>
          <a:xfrm>
            <a:off x="4119880" y="2837974"/>
            <a:ext cx="1061085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anque Bold" charset="0"/>
                <a:ea typeface="Manque Bold" charset="0"/>
                <a:cs typeface="Manque Bold" charset="0"/>
              </a:rPr>
              <a:t>25–40K 回合</a:t>
            </a:r>
          </a:p>
        </p:txBody>
      </p:sp>
      <p:sp>
        <p:nvSpPr>
          <p:cNvPr id="84" name="Text 18"/>
          <p:cNvSpPr/>
          <p:nvPr/>
        </p:nvSpPr>
        <p:spPr>
          <a:xfrm>
            <a:off x="5510530" y="2687975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长距离拾放操作</a:t>
            </a:r>
          </a:p>
        </p:txBody>
      </p:sp>
      <p:sp>
        <p:nvSpPr>
          <p:cNvPr id="85" name="Text 19"/>
          <p:cNvSpPr/>
          <p:nvPr/>
        </p:nvSpPr>
        <p:spPr>
          <a:xfrm>
            <a:off x="7606030" y="2680355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扩展工作空间探索</a:t>
            </a:r>
          </a:p>
        </p:txBody>
      </p:sp>
      <p:sp>
        <p:nvSpPr>
          <p:cNvPr id="86" name="Text 20"/>
          <p:cNvSpPr/>
          <p:nvPr/>
        </p:nvSpPr>
        <p:spPr>
          <a:xfrm>
            <a:off x="4119880" y="3225522"/>
            <a:ext cx="107061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40–70K 回合</a:t>
            </a:r>
          </a:p>
        </p:txBody>
      </p:sp>
      <p:sp>
        <p:nvSpPr>
          <p:cNvPr id="87" name="Text 21"/>
          <p:cNvSpPr/>
          <p:nvPr/>
        </p:nvSpPr>
        <p:spPr>
          <a:xfrm>
            <a:off x="5510530" y="3075524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边缘平衡方块</a:t>
            </a:r>
          </a:p>
        </p:txBody>
      </p:sp>
      <p:sp>
        <p:nvSpPr>
          <p:cNvPr id="88" name="Text 22"/>
          <p:cNvSpPr/>
          <p:nvPr/>
        </p:nvSpPr>
        <p:spPr>
          <a:xfrm>
            <a:off x="7606030" y="2960271"/>
            <a:ext cx="2400300" cy="668020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探索不稳定姿态的物理性质</a:t>
            </a:r>
          </a:p>
        </p:txBody>
      </p:sp>
      <p:sp>
        <p:nvSpPr>
          <p:cNvPr id="89" name="Text 23"/>
          <p:cNvSpPr/>
          <p:nvPr/>
        </p:nvSpPr>
        <p:spPr>
          <a:xfrm>
            <a:off x="4119880" y="3613071"/>
            <a:ext cx="1172845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70–100K 回合</a:t>
            </a:r>
          </a:p>
        </p:txBody>
      </p:sp>
      <p:sp>
        <p:nvSpPr>
          <p:cNvPr id="90" name="Text 24"/>
          <p:cNvSpPr/>
          <p:nvPr/>
        </p:nvSpPr>
        <p:spPr>
          <a:xfrm>
            <a:off x="5510530" y="3466644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同时操作两个方块</a:t>
            </a:r>
          </a:p>
        </p:txBody>
      </p:sp>
      <p:sp>
        <p:nvSpPr>
          <p:cNvPr id="91" name="Text 25"/>
          <p:cNvSpPr/>
          <p:nvPr/>
        </p:nvSpPr>
        <p:spPr>
          <a:xfrm>
            <a:off x="7606030" y="3459024"/>
            <a:ext cx="2400300" cy="452755"/>
          </a:xfrm>
          <a:prstGeom prst="rect">
            <a:avLst/>
          </a:prstGeom>
          <a:noFill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多物体协同探索</a:t>
            </a:r>
          </a:p>
        </p:txBody>
      </p:sp>
      <p:sp>
        <p:nvSpPr>
          <p:cNvPr id="92" name="Text 26"/>
          <p:cNvSpPr/>
          <p:nvPr/>
        </p:nvSpPr>
        <p:spPr>
          <a:xfrm>
            <a:off x="4005580" y="4175641"/>
            <a:ext cx="600075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关键量化结果（Figure 3）</a:t>
            </a:r>
          </a:p>
        </p:txBody>
      </p:sp>
      <p:sp>
        <p:nvSpPr>
          <p:cNvPr id="93" name="Shape 27"/>
          <p:cNvSpPr/>
          <p:nvPr/>
        </p:nvSpPr>
        <p:spPr>
          <a:xfrm>
            <a:off x="4026535" y="4630579"/>
            <a:ext cx="57150" cy="571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sp>
      <p:sp>
        <p:nvSpPr>
          <p:cNvPr id="94" name="Text 28"/>
          <p:cNvSpPr/>
          <p:nvPr/>
        </p:nvSpPr>
        <p:spPr>
          <a:xfrm>
            <a:off x="4005580" y="4538186"/>
            <a:ext cx="6734175" cy="257810"/>
          </a:xfrm>
          <a:prstGeom prst="rect">
            <a:avLst/>
          </a:prstGeom>
          <a:noFill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策略在 </a:t>
            </a: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~20K–35K 回合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间形成</a:t>
            </a: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持续稳定的抬举行为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，两个方块的 lift 奖励均显著提升</a:t>
            </a:r>
          </a:p>
        </p:txBody>
      </p:sp>
      <p:sp>
        <p:nvSpPr>
          <p:cNvPr id="95" name="Shape 29"/>
          <p:cNvSpPr/>
          <p:nvPr/>
        </p:nvSpPr>
        <p:spPr>
          <a:xfrm>
            <a:off x="4026535" y="4938236"/>
            <a:ext cx="57150" cy="571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sp>
      <p:sp>
        <p:nvSpPr>
          <p:cNvPr id="96" name="Text 30"/>
          <p:cNvSpPr/>
          <p:nvPr/>
        </p:nvSpPr>
        <p:spPr>
          <a:xfrm>
            <a:off x="4005580" y="4838224"/>
            <a:ext cx="6249035" cy="257810"/>
          </a:xfrm>
          <a:prstGeom prst="rect">
            <a:avLst/>
          </a:prstGeom>
          <a:noFill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未出现极端退化行为（如无意义旋转），策略始终聚焦于物体物理属性的探索</a:t>
            </a:r>
          </a:p>
        </p:txBody>
      </p:sp>
      <p:pic>
        <p:nvPicPr>
          <p:cNvPr id="97" name="图片 96" descr="屏幕截图 2026-04-27 2036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3613150"/>
            <a:ext cx="3269615" cy="1917700"/>
          </a:xfrm>
          <a:prstGeom prst="rect">
            <a:avLst/>
          </a:prstGeom>
        </p:spPr>
      </p:pic>
      <p:sp>
        <p:nvSpPr>
          <p:cNvPr id="98" name="Text 3"/>
          <p:cNvSpPr/>
          <p:nvPr/>
        </p:nvSpPr>
        <p:spPr>
          <a:xfrm>
            <a:off x="426720" y="889635"/>
            <a:ext cx="2984500" cy="723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JACO机械臂上涌现的操作行为序列</a:t>
            </a:r>
            <a:endParaRPr lang="en-US" sz="2450" dirty="0"/>
          </a:p>
        </p:txBody>
      </p:sp>
      <p:sp>
        <p:nvSpPr>
          <p:cNvPr id="99" name="Text 2"/>
          <p:cNvSpPr/>
          <p:nvPr/>
        </p:nvSpPr>
        <p:spPr>
          <a:xfrm>
            <a:off x="571500" y="522605"/>
            <a:ext cx="2200275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RESULTS 4.1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990340" y="5297170"/>
            <a:ext cx="67494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核心发现：</a:t>
            </a:r>
            <a:r>
              <a:rPr lang="en-US" sz="1600" dirty="0">
                <a:solidFill>
                  <a:srgbClr val="0070C0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
</a:t>
            </a:r>
            <a:r>
              <a:rPr lang="en-US" sz="1600" dirty="0">
                <a:solidFill>
                  <a:schemeClr val="tx1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仅凭好奇心奖励，JACO机械臂在100K回合内自主涌现出一系列复杂且人类可解读的操作技能。</a:t>
            </a:r>
            <a:endParaRPr lang="en-US" altLang="en-US" sz="1600" dirty="0">
              <a:solidFill>
                <a:schemeClr val="tx1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pic>
        <p:nvPicPr>
          <p:cNvPr id="101" name="图片 100" descr="屏幕截图 2026-04-28 121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63115"/>
            <a:ext cx="3580765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98" name="Text 3"/>
          <p:cNvSpPr/>
          <p:nvPr/>
        </p:nvSpPr>
        <p:spPr>
          <a:xfrm>
            <a:off x="426720" y="889635"/>
            <a:ext cx="2984500" cy="723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JACO机械臂上涌现的操作行为序列</a:t>
            </a:r>
            <a:endParaRPr lang="en-US" sz="2450" dirty="0"/>
          </a:p>
        </p:txBody>
      </p:sp>
      <p:sp>
        <p:nvSpPr>
          <p:cNvPr id="99" name="Text 2"/>
          <p:cNvSpPr/>
          <p:nvPr/>
        </p:nvSpPr>
        <p:spPr>
          <a:xfrm>
            <a:off x="571500" y="522605"/>
            <a:ext cx="2200275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RESULTS 4.1</a:t>
            </a:r>
          </a:p>
        </p:txBody>
      </p:sp>
      <p:pic>
        <p:nvPicPr>
          <p:cNvPr id="2" name="图片 1" descr="屏幕截图 2026-04-28 121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" y="2113915"/>
            <a:ext cx="3958590" cy="136017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4072255" y="935990"/>
            <a:ext cx="7243445" cy="5618480"/>
          </a:xfrm>
          <a:prstGeom prst="rect">
            <a:avLst/>
          </a:prstGeom>
          <a:solidFill>
            <a:srgbClr val="EAEAEA"/>
          </a:solidFill>
        </p:spPr>
      </p:sp>
      <p:sp>
        <p:nvSpPr>
          <p:cNvPr id="5" name="Text 6"/>
          <p:cNvSpPr/>
          <p:nvPr/>
        </p:nvSpPr>
        <p:spPr>
          <a:xfrm>
            <a:off x="4507865" y="1001395"/>
            <a:ext cx="554355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行为涌现时间线</a:t>
            </a:r>
          </a:p>
        </p:txBody>
      </p:sp>
      <p:sp>
        <p:nvSpPr>
          <p:cNvPr id="6" name="Text 7"/>
          <p:cNvSpPr/>
          <p:nvPr/>
        </p:nvSpPr>
        <p:spPr>
          <a:xfrm>
            <a:off x="4507865" y="1283137"/>
            <a:ext cx="919480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训练阶段</a:t>
            </a:r>
          </a:p>
        </p:txBody>
      </p:sp>
      <p:sp>
        <p:nvSpPr>
          <p:cNvPr id="7" name="Text 8"/>
          <p:cNvSpPr/>
          <p:nvPr/>
        </p:nvSpPr>
        <p:spPr>
          <a:xfrm>
            <a:off x="6203309" y="128313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涌现行为</a:t>
            </a:r>
          </a:p>
        </p:txBody>
      </p:sp>
      <p:sp>
        <p:nvSpPr>
          <p:cNvPr id="8" name="Text 9"/>
          <p:cNvSpPr/>
          <p:nvPr/>
        </p:nvSpPr>
        <p:spPr>
          <a:xfrm>
            <a:off x="8816958" y="1283137"/>
            <a:ext cx="2217437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关键洞察</a:t>
            </a:r>
          </a:p>
        </p:txBody>
      </p:sp>
      <p:sp>
        <p:nvSpPr>
          <p:cNvPr id="37" name="Text 10"/>
          <p:cNvSpPr/>
          <p:nvPr/>
        </p:nvSpPr>
        <p:spPr>
          <a:xfrm>
            <a:off x="4507865" y="1709857"/>
            <a:ext cx="1058545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0–2K 回合</a:t>
            </a:r>
          </a:p>
        </p:txBody>
      </p:sp>
      <p:sp>
        <p:nvSpPr>
          <p:cNvPr id="39" name="Text 11"/>
          <p:cNvSpPr/>
          <p:nvPr/>
        </p:nvSpPr>
        <p:spPr>
          <a:xfrm>
            <a:off x="6203309" y="170985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学习保持直立平衡</a:t>
            </a:r>
          </a:p>
        </p:txBody>
      </p:sp>
      <p:sp>
        <p:nvSpPr>
          <p:cNvPr id="40" name="Text 12"/>
          <p:cNvSpPr/>
          <p:nvPr/>
        </p:nvSpPr>
        <p:spPr>
          <a:xfrm>
            <a:off x="8816958" y="1602224"/>
            <a:ext cx="2217437" cy="532130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避免"死亡"是正奖励好奇心的自然副产品</a:t>
            </a:r>
          </a:p>
        </p:txBody>
      </p:sp>
      <p:sp>
        <p:nvSpPr>
          <p:cNvPr id="41" name="Text 13"/>
          <p:cNvSpPr/>
          <p:nvPr/>
        </p:nvSpPr>
        <p:spPr>
          <a:xfrm>
            <a:off x="4507865" y="2113717"/>
            <a:ext cx="1158240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2–30K 回合</a:t>
            </a:r>
          </a:p>
        </p:txBody>
      </p:sp>
      <p:sp>
        <p:nvSpPr>
          <p:cNvPr id="42" name="Text 14"/>
          <p:cNvSpPr/>
          <p:nvPr/>
        </p:nvSpPr>
        <p:spPr>
          <a:xfrm>
            <a:off x="6203309" y="211371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蹒跚前行与后退</a:t>
            </a:r>
          </a:p>
        </p:txBody>
      </p:sp>
      <p:sp>
        <p:nvSpPr>
          <p:cNvPr id="43" name="Text 15"/>
          <p:cNvSpPr/>
          <p:nvPr/>
        </p:nvSpPr>
        <p:spPr>
          <a:xfrm>
            <a:off x="8816958" y="2113717"/>
            <a:ext cx="2217437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基础运动步态形成</a:t>
            </a:r>
          </a:p>
        </p:txBody>
      </p:sp>
      <p:sp>
        <p:nvSpPr>
          <p:cNvPr id="44" name="Text 16"/>
          <p:cNvSpPr/>
          <p:nvPr/>
        </p:nvSpPr>
        <p:spPr>
          <a:xfrm>
            <a:off x="4507865" y="2494717"/>
            <a:ext cx="1056005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~30K 回合</a:t>
            </a:r>
          </a:p>
        </p:txBody>
      </p:sp>
      <p:sp>
        <p:nvSpPr>
          <p:cNvPr id="45" name="Text 17"/>
          <p:cNvSpPr/>
          <p:nvPr/>
        </p:nvSpPr>
        <p:spPr>
          <a:xfrm>
            <a:off x="6203309" y="249471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发现摆臂可助力迈步</a:t>
            </a:r>
          </a:p>
        </p:txBody>
      </p:sp>
      <p:sp>
        <p:nvSpPr>
          <p:cNvPr id="46" name="Text 18"/>
          <p:cNvSpPr/>
          <p:nvPr/>
        </p:nvSpPr>
        <p:spPr>
          <a:xfrm>
            <a:off x="8816958" y="2494717"/>
            <a:ext cx="2217437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手臂运动开辟新探索维度</a:t>
            </a:r>
          </a:p>
        </p:txBody>
      </p:sp>
      <p:sp>
        <p:nvSpPr>
          <p:cNvPr id="47" name="Text 19"/>
          <p:cNvSpPr/>
          <p:nvPr/>
        </p:nvSpPr>
        <p:spPr>
          <a:xfrm>
            <a:off x="4507865" y="2906197"/>
            <a:ext cx="1058545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~40K 回合</a:t>
            </a:r>
          </a:p>
        </p:txBody>
      </p:sp>
      <p:sp>
        <p:nvSpPr>
          <p:cNvPr id="48" name="Text 20"/>
          <p:cNvSpPr/>
          <p:nvPr/>
        </p:nvSpPr>
        <p:spPr>
          <a:xfrm>
            <a:off x="6203309" y="290619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单脚平衡并用手臂配重</a:t>
            </a:r>
          </a:p>
        </p:txBody>
      </p:sp>
      <p:sp>
        <p:nvSpPr>
          <p:cNvPr id="49" name="Text 21"/>
          <p:cNvSpPr/>
          <p:nvPr/>
        </p:nvSpPr>
        <p:spPr>
          <a:xfrm>
            <a:off x="8816958" y="2906197"/>
            <a:ext cx="2217437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高难度平衡技能涌现</a:t>
            </a:r>
          </a:p>
        </p:txBody>
      </p:sp>
      <p:sp>
        <p:nvSpPr>
          <p:cNvPr id="50" name="Text 22"/>
          <p:cNvSpPr/>
          <p:nvPr/>
        </p:nvSpPr>
        <p:spPr>
          <a:xfrm>
            <a:off x="4507865" y="3378637"/>
            <a:ext cx="1058545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Manque Bold" charset="0"/>
                <a:ea typeface="Manque Bold" charset="0"/>
                <a:cs typeface="Manque Bold" charset="0"/>
              </a:rPr>
              <a:t>~40K 回合</a:t>
            </a:r>
          </a:p>
        </p:txBody>
      </p:sp>
      <p:sp>
        <p:nvSpPr>
          <p:cNvPr id="51" name="Text 23"/>
          <p:cNvSpPr/>
          <p:nvPr/>
        </p:nvSpPr>
        <p:spPr>
          <a:xfrm>
            <a:off x="6203309" y="337863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向后倒地并</a:t>
            </a:r>
            <a:r>
              <a:rPr lang="en-US" sz="1400" dirty="0">
                <a:solidFill>
                  <a:srgbClr val="FF0000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自救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坐起</a:t>
            </a:r>
          </a:p>
        </p:txBody>
      </p:sp>
      <p:sp>
        <p:nvSpPr>
          <p:cNvPr id="52" name="Text 24"/>
          <p:cNvSpPr/>
          <p:nvPr/>
        </p:nvSpPr>
        <p:spPr>
          <a:xfrm>
            <a:off x="8816958" y="3271004"/>
            <a:ext cx="2217437" cy="532130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发现不违反躯干约束的坐姿</a:t>
            </a:r>
          </a:p>
        </p:txBody>
      </p:sp>
      <p:sp>
        <p:nvSpPr>
          <p:cNvPr id="53" name="Text 25"/>
          <p:cNvSpPr/>
          <p:nvPr/>
        </p:nvSpPr>
        <p:spPr>
          <a:xfrm>
            <a:off x="4507865" y="3896796"/>
            <a:ext cx="1057275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~55K 回合</a:t>
            </a:r>
          </a:p>
        </p:txBody>
      </p:sp>
      <p:sp>
        <p:nvSpPr>
          <p:cNvPr id="54" name="Text 26"/>
          <p:cNvSpPr/>
          <p:nvPr/>
        </p:nvSpPr>
        <p:spPr>
          <a:xfrm>
            <a:off x="6203309" y="3789164"/>
            <a:ext cx="2217409" cy="532130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重返行走步态，动作更灵活</a:t>
            </a:r>
          </a:p>
        </p:txBody>
      </p:sp>
      <p:sp>
        <p:nvSpPr>
          <p:cNvPr id="55" name="Text 27"/>
          <p:cNvSpPr/>
          <p:nvPr/>
        </p:nvSpPr>
        <p:spPr>
          <a:xfrm>
            <a:off x="8816958" y="3789164"/>
            <a:ext cx="2217437" cy="532130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快速转向、蹒跚反射、向后跳跃</a:t>
            </a:r>
          </a:p>
        </p:txBody>
      </p:sp>
      <p:sp>
        <p:nvSpPr>
          <p:cNvPr id="56" name="Text 28"/>
          <p:cNvSpPr/>
          <p:nvPr/>
        </p:nvSpPr>
        <p:spPr>
          <a:xfrm>
            <a:off x="4507865" y="4399717"/>
            <a:ext cx="1065530" cy="316865"/>
          </a:xfrm>
          <a:prstGeom prst="rect">
            <a:avLst/>
          </a:prstGeom>
          <a:noFill/>
        </p:spPr>
        <p:txBody>
          <a:bodyPr wrap="non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~70K 回合</a:t>
            </a:r>
          </a:p>
        </p:txBody>
      </p:sp>
      <p:sp>
        <p:nvSpPr>
          <p:cNvPr id="57" name="Text 29"/>
          <p:cNvSpPr/>
          <p:nvPr/>
        </p:nvSpPr>
        <p:spPr>
          <a:xfrm>
            <a:off x="6203309" y="4399717"/>
            <a:ext cx="2217409" cy="316865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重访平衡技能并加入变体</a:t>
            </a:r>
          </a:p>
        </p:txBody>
      </p:sp>
      <p:sp>
        <p:nvSpPr>
          <p:cNvPr id="58" name="Text 30"/>
          <p:cNvSpPr/>
          <p:nvPr/>
        </p:nvSpPr>
        <p:spPr>
          <a:xfrm>
            <a:off x="8816958" y="4292084"/>
            <a:ext cx="2217437" cy="532130"/>
          </a:xfrm>
          <a:prstGeom prst="rect">
            <a:avLst/>
          </a:prstGeom>
          <a:noFill/>
        </p:spPr>
        <p:txBody>
          <a:bodyPr wrap="square" lIns="102108" tIns="102108" rIns="102108" bIns="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行为复用与精细化（弯膝、伸展）</a:t>
            </a:r>
          </a:p>
        </p:txBody>
      </p:sp>
      <p:sp>
        <p:nvSpPr>
          <p:cNvPr id="62" name="Text 33"/>
          <p:cNvSpPr/>
          <p:nvPr/>
        </p:nvSpPr>
        <p:spPr>
          <a:xfrm>
            <a:off x="4524375" y="4851400"/>
            <a:ext cx="6301740" cy="497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Figure 4 量化验证：</a:t>
            </a:r>
            <a:r>
              <a:rPr lang="en-US" sz="1400" dirty="0">
                <a:solidFill>
                  <a:schemeClr val="tx1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 walk_forward/backward 奖励在约2K回合后快速上升，并在整个训练过程中持续波动演化，印证了行为的动态涌现特性。</a:t>
            </a:r>
          </a:p>
        </p:txBody>
      </p:sp>
      <p:pic>
        <p:nvPicPr>
          <p:cNvPr id="64" name="图片 63" descr="屏幕截图 2026-04-27 2046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" y="3803015"/>
            <a:ext cx="3870325" cy="154622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4507865" y="5473700"/>
            <a:ext cx="63099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核心发现</a:t>
            </a:r>
            <a:r>
              <a:rPr lang="zh-CN" altLang="en-US" sz="1600" b="1" dirty="0">
                <a:solidFill>
                  <a:srgbClr val="0070C0"/>
                </a:solidFill>
                <a:latin typeface="Manque Bold" charset="0"/>
                <a:ea typeface="宋体" panose="02010600030101010101" pitchFamily="2" charset="-122"/>
                <a:cs typeface="Manque Bold" charset="0"/>
                <a:sym typeface="+mn-ea"/>
              </a:rPr>
              <a:t>：</a:t>
            </a:r>
            <a:endParaRPr lang="en-US" sz="1600" dirty="0">
              <a:solidFill>
                <a:srgbClr val="0070C0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  <a:p>
            <a:r>
              <a:rPr lang="en-US" sz="1600" dirty="0"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20自由度人形机器人在纯好奇心驱动下，自主涌现出从平衡到复杂运动的完整技能谱系。</a:t>
            </a:r>
            <a:endParaRPr lang="en-US" altLang="en-US" sz="1600" dirty="0"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98" name="Text 3"/>
          <p:cNvSpPr/>
          <p:nvPr/>
        </p:nvSpPr>
        <p:spPr>
          <a:xfrm>
            <a:off x="426720" y="889635"/>
            <a:ext cx="2984500" cy="723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自发现行为加速下游任务学习</a:t>
            </a:r>
            <a:endParaRPr lang="en-US" sz="2450" dirty="0"/>
          </a:p>
        </p:txBody>
      </p:sp>
      <p:sp>
        <p:nvSpPr>
          <p:cNvPr id="99" name="Text 2"/>
          <p:cNvSpPr/>
          <p:nvPr/>
        </p:nvSpPr>
        <p:spPr>
          <a:xfrm>
            <a:off x="571500" y="522605"/>
            <a:ext cx="2200275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RESULTS 4.2</a:t>
            </a:r>
          </a:p>
        </p:txBody>
      </p:sp>
      <p:sp>
        <p:nvSpPr>
          <p:cNvPr id="4" name="Shape 1"/>
          <p:cNvSpPr/>
          <p:nvPr/>
        </p:nvSpPr>
        <p:spPr>
          <a:xfrm>
            <a:off x="4662011" y="1202690"/>
            <a:ext cx="7144" cy="5143500"/>
          </a:xfrm>
          <a:prstGeom prst="rect">
            <a:avLst/>
          </a:prstGeom>
          <a:solidFill>
            <a:srgbClr val="EAEAEA"/>
          </a:solidFill>
        </p:spPr>
      </p:sp>
      <p:sp>
        <p:nvSpPr>
          <p:cNvPr id="9" name="Text 4"/>
          <p:cNvSpPr/>
          <p:nvPr/>
        </p:nvSpPr>
        <p:spPr>
          <a:xfrm>
            <a:off x="5097780" y="1099820"/>
            <a:ext cx="540067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实验设计</a:t>
            </a:r>
          </a:p>
        </p:txBody>
      </p:sp>
      <p:sp>
        <p:nvSpPr>
          <p:cNvPr id="10" name="Text 5"/>
          <p:cNvSpPr/>
          <p:nvPr/>
        </p:nvSpPr>
        <p:spPr>
          <a:xfrm>
            <a:off x="5097780" y="1405215"/>
            <a:ext cx="5400675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利用SelMo探索阶段保存的策略快照，作为RHPO分层强化学习框架中的辅助技能，加速学习下游任务 </a:t>
            </a: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lift_red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。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097780" y="2110065"/>
            <a:ext cx="540067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对比基线</a:t>
            </a:r>
          </a:p>
        </p:txBody>
      </p:sp>
      <p:sp>
        <p:nvSpPr>
          <p:cNvPr id="12" name="Shape 7"/>
          <p:cNvSpPr/>
          <p:nvPr/>
        </p:nvSpPr>
        <p:spPr>
          <a:xfrm>
            <a:off x="5154930" y="2524998"/>
            <a:ext cx="57150" cy="571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sp>
      <p:sp>
        <p:nvSpPr>
          <p:cNvPr id="13" name="Text 8"/>
          <p:cNvSpPr/>
          <p:nvPr/>
        </p:nvSpPr>
        <p:spPr>
          <a:xfrm>
            <a:off x="5097780" y="2415461"/>
            <a:ext cx="3202305" cy="257810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SAC-X Baseline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：人工设计辅助奖励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471218" y="2524998"/>
            <a:ext cx="57150" cy="571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sp>
      <p:sp>
        <p:nvSpPr>
          <p:cNvPr id="15" name="Text 10"/>
          <p:cNvSpPr/>
          <p:nvPr/>
        </p:nvSpPr>
        <p:spPr>
          <a:xfrm>
            <a:off x="8443913" y="2415461"/>
            <a:ext cx="2663190" cy="257810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SelMo Early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：0–10K回合快照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154930" y="2805351"/>
            <a:ext cx="57150" cy="571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sp>
      <p:sp>
        <p:nvSpPr>
          <p:cNvPr id="17" name="Text 12"/>
          <p:cNvSpPr/>
          <p:nvPr/>
        </p:nvSpPr>
        <p:spPr>
          <a:xfrm>
            <a:off x="5097780" y="2686923"/>
            <a:ext cx="2760980" cy="257810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SelMo Mid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：10K–20K回合快照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471218" y="2805351"/>
            <a:ext cx="57150" cy="5715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</p:sp>
      <p:sp>
        <p:nvSpPr>
          <p:cNvPr id="19" name="Text 14"/>
          <p:cNvSpPr/>
          <p:nvPr/>
        </p:nvSpPr>
        <p:spPr>
          <a:xfrm>
            <a:off x="8443913" y="2686923"/>
            <a:ext cx="2825750" cy="257810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SelMo Late</a:t>
            </a: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：20K–30K回合快照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97780" y="3185081"/>
            <a:ext cx="540067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核心结果</a:t>
            </a:r>
          </a:p>
        </p:txBody>
      </p:sp>
      <p:sp>
        <p:nvSpPr>
          <p:cNvPr id="21" name="Text 16"/>
          <p:cNvSpPr/>
          <p:nvPr/>
        </p:nvSpPr>
        <p:spPr>
          <a:xfrm>
            <a:off x="5097780" y="3487955"/>
            <a:ext cx="1830279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方法</a:t>
            </a:r>
          </a:p>
        </p:txBody>
      </p:sp>
      <p:sp>
        <p:nvSpPr>
          <p:cNvPr id="22" name="Text 17"/>
          <p:cNvSpPr/>
          <p:nvPr/>
        </p:nvSpPr>
        <p:spPr>
          <a:xfrm>
            <a:off x="7103110" y="3487738"/>
            <a:ext cx="2606040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lift_red 学习效果</a:t>
            </a:r>
          </a:p>
        </p:txBody>
      </p:sp>
      <p:sp>
        <p:nvSpPr>
          <p:cNvPr id="23" name="Text 18"/>
          <p:cNvSpPr/>
          <p:nvPr/>
        </p:nvSpPr>
        <p:spPr>
          <a:xfrm>
            <a:off x="9142190" y="3487955"/>
            <a:ext cx="1988725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备注</a:t>
            </a:r>
          </a:p>
        </p:txBody>
      </p:sp>
      <p:sp>
        <p:nvSpPr>
          <p:cNvPr id="24" name="Text 19"/>
          <p:cNvSpPr/>
          <p:nvPr/>
        </p:nvSpPr>
        <p:spPr>
          <a:xfrm>
            <a:off x="5097780" y="3821926"/>
            <a:ext cx="1830279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SAC-X（人工设计）</a:t>
            </a:r>
          </a:p>
        </p:txBody>
      </p:sp>
      <p:sp>
        <p:nvSpPr>
          <p:cNvPr id="25" name="Text 20"/>
          <p:cNvSpPr/>
          <p:nvPr/>
        </p:nvSpPr>
        <p:spPr>
          <a:xfrm>
            <a:off x="7103319" y="3821926"/>
            <a:ext cx="1581671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基准性能</a:t>
            </a:r>
          </a:p>
        </p:txBody>
      </p:sp>
      <p:sp>
        <p:nvSpPr>
          <p:cNvPr id="26" name="Text 21"/>
          <p:cNvSpPr/>
          <p:nvPr/>
        </p:nvSpPr>
        <p:spPr>
          <a:xfrm>
            <a:off x="9142190" y="3821926"/>
            <a:ext cx="1988725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需专家设计辅助奖励</a:t>
            </a:r>
          </a:p>
        </p:txBody>
      </p:sp>
      <p:sp>
        <p:nvSpPr>
          <p:cNvPr id="27" name="Text 22"/>
          <p:cNvSpPr/>
          <p:nvPr/>
        </p:nvSpPr>
        <p:spPr>
          <a:xfrm>
            <a:off x="5097780" y="4152325"/>
            <a:ext cx="1830279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SelMo Mid</a:t>
            </a:r>
          </a:p>
        </p:txBody>
      </p:sp>
      <p:sp>
        <p:nvSpPr>
          <p:cNvPr id="28" name="Text 23"/>
          <p:cNvSpPr/>
          <p:nvPr/>
        </p:nvSpPr>
        <p:spPr>
          <a:xfrm>
            <a:off x="7103319" y="4152325"/>
            <a:ext cx="1581671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500"/>
                </a:solidFill>
                <a:latin typeface="Manque Bold" charset="0"/>
                <a:ea typeface="Manque Bold" charset="0"/>
                <a:cs typeface="Manque Bold" charset="0"/>
              </a:rPr>
              <a:t>与SAC-X相当</a:t>
            </a:r>
          </a:p>
        </p:txBody>
      </p:sp>
      <p:sp>
        <p:nvSpPr>
          <p:cNvPr id="29" name="Text 24"/>
          <p:cNvSpPr/>
          <p:nvPr/>
        </p:nvSpPr>
        <p:spPr>
          <a:xfrm>
            <a:off x="9142190" y="4152325"/>
            <a:ext cx="1988725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无需人工设计</a:t>
            </a:r>
          </a:p>
        </p:txBody>
      </p:sp>
      <p:sp>
        <p:nvSpPr>
          <p:cNvPr id="30" name="Text 25"/>
          <p:cNvSpPr/>
          <p:nvPr/>
        </p:nvSpPr>
        <p:spPr>
          <a:xfrm>
            <a:off x="5097780" y="4482723"/>
            <a:ext cx="1830279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SelMo Late</a:t>
            </a:r>
          </a:p>
        </p:txBody>
      </p:sp>
      <p:sp>
        <p:nvSpPr>
          <p:cNvPr id="31" name="Text 26"/>
          <p:cNvSpPr/>
          <p:nvPr/>
        </p:nvSpPr>
        <p:spPr>
          <a:xfrm>
            <a:off x="7103319" y="4482723"/>
            <a:ext cx="1581671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500"/>
                </a:solidFill>
                <a:latin typeface="Manque Bold" charset="0"/>
                <a:ea typeface="Manque Bold" charset="0"/>
                <a:cs typeface="Manque Bold" charset="0"/>
              </a:rPr>
              <a:t>与SAC-X相当</a:t>
            </a:r>
          </a:p>
        </p:txBody>
      </p:sp>
      <p:sp>
        <p:nvSpPr>
          <p:cNvPr id="32" name="Text 27"/>
          <p:cNvSpPr/>
          <p:nvPr/>
        </p:nvSpPr>
        <p:spPr>
          <a:xfrm>
            <a:off x="9142190" y="4482723"/>
            <a:ext cx="1988725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对应稳定抬举行为阶段</a:t>
            </a:r>
          </a:p>
        </p:txBody>
      </p:sp>
      <p:sp>
        <p:nvSpPr>
          <p:cNvPr id="33" name="Text 28"/>
          <p:cNvSpPr/>
          <p:nvPr/>
        </p:nvSpPr>
        <p:spPr>
          <a:xfrm>
            <a:off x="5097780" y="4816694"/>
            <a:ext cx="1830279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SelMo Early</a:t>
            </a:r>
          </a:p>
        </p:txBody>
      </p:sp>
      <p:sp>
        <p:nvSpPr>
          <p:cNvPr id="34" name="Text 29"/>
          <p:cNvSpPr/>
          <p:nvPr/>
        </p:nvSpPr>
        <p:spPr>
          <a:xfrm>
            <a:off x="7103319" y="4816694"/>
            <a:ext cx="1581671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效果较弱</a:t>
            </a:r>
          </a:p>
        </p:txBody>
      </p:sp>
      <p:sp>
        <p:nvSpPr>
          <p:cNvPr id="35" name="Text 30"/>
          <p:cNvSpPr/>
          <p:nvPr/>
        </p:nvSpPr>
        <p:spPr>
          <a:xfrm>
            <a:off x="9142190" y="4816694"/>
            <a:ext cx="1988725" cy="385445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尚未涌现抬举行为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5097780" y="5326380"/>
            <a:ext cx="6096000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关键结论：</a:t>
            </a:r>
            <a:r>
              <a:rPr lang="en-US" sz="1600" dirty="0">
                <a:solidFill>
                  <a:schemeClr val="tx1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 Mid/Late阶段快照的优越性与持续抬举行为一致，支持“行为涌现时间影响下游迁移”的结论。</a:t>
            </a:r>
            <a:endParaRPr lang="en-US" altLang="en-US" sz="1600" dirty="0">
              <a:solidFill>
                <a:schemeClr val="tx1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pic>
        <p:nvPicPr>
          <p:cNvPr id="61" name="图片 60" descr="屏幕截图 2026-04-27 2048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2524125"/>
            <a:ext cx="4653915" cy="2013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8635" y="750570"/>
            <a:ext cx="3093720" cy="1084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讨论——涌现行为的识别</a:t>
            </a:r>
            <a:r>
              <a:rPr lang="zh-CN" altLang="en-US" sz="2450" b="1" dirty="0">
                <a:solidFill>
                  <a:srgbClr val="1A1A1A"/>
                </a:solidFill>
                <a:latin typeface="Manque Bold" charset="0"/>
                <a:ea typeface="宋体" panose="02010600030101010101" pitchFamily="2" charset="-122"/>
                <a:cs typeface="Manque Bold" charset="0"/>
                <a:sym typeface="+mn-ea"/>
              </a:rPr>
              <a:t>、</a:t>
            </a: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保留与利用</a:t>
            </a:r>
            <a:endParaRPr lang="en-US" sz="2450" dirty="0"/>
          </a:p>
          <a:p>
            <a:pPr marL="0" indent="0" algn="l">
              <a:lnSpc>
                <a:spcPct val="96000"/>
              </a:lnSpc>
              <a:buNone/>
            </a:pPr>
            <a:endParaRPr lang="zh-CN" altLang="en-US" sz="2450" b="1" dirty="0">
              <a:solidFill>
                <a:srgbClr val="1A1A1A"/>
              </a:solidFill>
              <a:latin typeface="Manque Bold" charset="0"/>
              <a:ea typeface="宋体" panose="02010600030101010101" pitchFamily="2" charset="-122"/>
              <a:cs typeface="Manque Bold" charset="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522605"/>
            <a:ext cx="2200275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DISCUSSION</a:t>
            </a:r>
          </a:p>
        </p:txBody>
      </p:sp>
      <p:sp>
        <p:nvSpPr>
          <p:cNvPr id="8" name="Text 5"/>
          <p:cNvSpPr/>
          <p:nvPr>
            <p:custDataLst>
              <p:tags r:id="rId1"/>
            </p:custDataLst>
          </p:nvPr>
        </p:nvSpPr>
        <p:spPr>
          <a:xfrm>
            <a:off x="508635" y="3788410"/>
            <a:ext cx="4943475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现有方法的局限</a:t>
            </a:r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508635" y="4139525"/>
            <a:ext cx="57150" cy="57150"/>
          </a:xfrm>
          <a:prstGeom prst="rect">
            <a:avLst/>
          </a:prstGeom>
          <a:solidFill>
            <a:srgbClr val="FF4500"/>
          </a:solidFill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508635" y="4053800"/>
            <a:ext cx="4943475" cy="47180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预设奖励函数</a:t>
            </a: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（如 reach/lift）仅能捕捉预先定义的行为子集，无法覆盖"边缘平衡"、"坐起"等非预期涌现行为</a:t>
            </a:r>
            <a:endParaRPr lang="en-US" sz="12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508635" y="4728159"/>
            <a:ext cx="57150" cy="57150"/>
          </a:xfrm>
          <a:prstGeom prst="rect">
            <a:avLst/>
          </a:prstGeom>
          <a:solidFill>
            <a:srgbClr val="FF4500"/>
          </a:solidFill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508635" y="4650054"/>
            <a:ext cx="4943475" cy="47180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在无监督探索的语境下，</a:t>
            </a: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事先实现全面的行为识别奖励函数不具可扩展性</a:t>
            </a:r>
            <a:endParaRPr lang="en-US" sz="12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508635" y="5252499"/>
            <a:ext cx="4943475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潜在解决方向</a:t>
            </a: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508635" y="5603615"/>
            <a:ext cx="57150" cy="57150"/>
          </a:xfrm>
          <a:prstGeom prst="rect">
            <a:avLst/>
          </a:prstGeom>
          <a:solidFill>
            <a:srgbClr val="FF4500"/>
          </a:solidFill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508635" y="5517890"/>
            <a:ext cx="4943475" cy="47180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多样性优化方法</a:t>
            </a: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（DIAYN, DADS）：通过潜在技能空间对不同行为模式进行编码，支持在技能空间上进行规划</a:t>
            </a:r>
            <a:endParaRPr lang="en-US" sz="12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508635" y="6192248"/>
            <a:ext cx="57150" cy="57150"/>
          </a:xfrm>
          <a:prstGeom prst="rect">
            <a:avLst/>
          </a:prstGeom>
          <a:solidFill>
            <a:srgbClr val="FF4500"/>
          </a:solidFill>
        </p:spPr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508635" y="6106523"/>
            <a:ext cx="4943475" cy="471805"/>
          </a:xfrm>
          <a:prstGeom prst="rect">
            <a:avLst/>
          </a:prstGeom>
          <a:noFill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然而，</a:t>
            </a: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哪些技能值得保留、哪些可以覆盖</a:t>
            </a: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，在持续学习场景中仍是开放问题</a:t>
            </a:r>
            <a:endParaRPr lang="en-US" sz="1200" dirty="0"/>
          </a:p>
        </p:txBody>
      </p:sp>
      <p:sp>
        <p:nvSpPr>
          <p:cNvPr id="2" name="文本框 1"/>
          <p:cNvSpPr txBox="1"/>
          <p:nvPr/>
        </p:nvSpPr>
        <p:spPr>
          <a:xfrm>
            <a:off x="508635" y="1656715"/>
            <a:ext cx="4081145" cy="1035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核心问题：
</a:t>
            </a:r>
            <a:r>
              <a:rPr lang="en-US" sz="16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如何系统性地识别好奇心探索中涌现的有价值行为？</a:t>
            </a:r>
            <a:endParaRPr lang="en-US" altLang="en-US" sz="1600" dirty="0">
              <a:solidFill>
                <a:srgbClr val="333333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635" y="2657475"/>
            <a:ext cx="4081145" cy="1094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b="1" i="1" dirty="0">
                <a:solidFill>
                  <a:srgbClr val="FF0000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本文立场：</a:t>
            </a:r>
            <a:r>
              <a:rPr lang="en-US" sz="1600" i="1" dirty="0">
                <a:solidFill>
                  <a:schemeClr val="tx1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 当前工作提供了一个基线——以策略快照作为固定技能——更复杂的行为识别机制是未来工作的重要方向。</a:t>
            </a:r>
            <a:endParaRPr lang="en-US" altLang="en-US" sz="1600" i="1" dirty="0">
              <a:solidFill>
                <a:schemeClr val="tx1"/>
              </a:solidFill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sp>
        <p:nvSpPr>
          <p:cNvPr id="66" name="Text 6"/>
          <p:cNvSpPr/>
          <p:nvPr/>
        </p:nvSpPr>
        <p:spPr>
          <a:xfrm>
            <a:off x="6238875" y="1450618"/>
            <a:ext cx="5400675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三种可替代的保留与利用范式</a:t>
            </a:r>
          </a:p>
        </p:txBody>
      </p:sp>
      <p:sp>
        <p:nvSpPr>
          <p:cNvPr id="67" name="Text 7"/>
          <p:cNvSpPr/>
          <p:nvPr/>
        </p:nvSpPr>
        <p:spPr>
          <a:xfrm>
            <a:off x="6238875" y="1791732"/>
            <a:ext cx="441960" cy="354330"/>
          </a:xfrm>
          <a:prstGeom prst="rect">
            <a:avLst/>
          </a:prstGeom>
          <a:noFill/>
        </p:spPr>
        <p:txBody>
          <a:bodyPr wrap="non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范式</a:t>
            </a:r>
          </a:p>
        </p:txBody>
      </p:sp>
      <p:sp>
        <p:nvSpPr>
          <p:cNvPr id="68" name="Text 8"/>
          <p:cNvSpPr/>
          <p:nvPr/>
        </p:nvSpPr>
        <p:spPr>
          <a:xfrm>
            <a:off x="7319004" y="1791732"/>
            <a:ext cx="1350169" cy="35433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代表方法</a:t>
            </a:r>
          </a:p>
        </p:txBody>
      </p:sp>
      <p:sp>
        <p:nvSpPr>
          <p:cNvPr id="69" name="Text 9"/>
          <p:cNvSpPr/>
          <p:nvPr/>
        </p:nvSpPr>
        <p:spPr>
          <a:xfrm>
            <a:off x="8669173" y="1791732"/>
            <a:ext cx="1620180" cy="35433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优势</a:t>
            </a:r>
          </a:p>
        </p:txBody>
      </p:sp>
      <p:sp>
        <p:nvSpPr>
          <p:cNvPr id="70" name="Text 10"/>
          <p:cNvSpPr/>
          <p:nvPr/>
        </p:nvSpPr>
        <p:spPr>
          <a:xfrm>
            <a:off x="10289353" y="1791732"/>
            <a:ext cx="1350197" cy="35433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</a:rPr>
              <a:t>局限</a:t>
            </a:r>
          </a:p>
        </p:txBody>
      </p:sp>
      <p:sp>
        <p:nvSpPr>
          <p:cNvPr id="71" name="Text 11"/>
          <p:cNvSpPr/>
          <p:nvPr/>
        </p:nvSpPr>
        <p:spPr>
          <a:xfrm>
            <a:off x="6296025" y="2225715"/>
            <a:ext cx="91821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潜在技能空间</a:t>
            </a:r>
          </a:p>
        </p:txBody>
      </p:sp>
      <p:sp>
        <p:nvSpPr>
          <p:cNvPr id="72" name="Text 12"/>
          <p:cNvSpPr/>
          <p:nvPr/>
        </p:nvSpPr>
        <p:spPr>
          <a:xfrm>
            <a:off x="7319004" y="2129274"/>
            <a:ext cx="1350169" cy="539115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DIAYN, DADS, DADS-MPC</a:t>
            </a:r>
          </a:p>
        </p:txBody>
      </p:sp>
      <p:sp>
        <p:nvSpPr>
          <p:cNvPr id="73" name="Text 13"/>
          <p:cNvSpPr/>
          <p:nvPr/>
        </p:nvSpPr>
        <p:spPr>
          <a:xfrm>
            <a:off x="8669173" y="2129274"/>
            <a:ext cx="1620180" cy="72390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支持技能空间规划，可实现四足机器人真实世界导航</a:t>
            </a:r>
          </a:p>
        </p:txBody>
      </p:sp>
      <p:sp>
        <p:nvSpPr>
          <p:cNvPr id="74" name="Text 14"/>
          <p:cNvSpPr/>
          <p:nvPr/>
        </p:nvSpPr>
        <p:spPr>
          <a:xfrm>
            <a:off x="10289353" y="2129274"/>
            <a:ext cx="1350197" cy="539115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技能识别与保留机制仍不完善</a:t>
            </a:r>
          </a:p>
        </p:txBody>
      </p:sp>
      <p:sp>
        <p:nvSpPr>
          <p:cNvPr id="75" name="Text 15"/>
          <p:cNvSpPr/>
          <p:nvPr/>
        </p:nvSpPr>
        <p:spPr>
          <a:xfrm>
            <a:off x="6296025" y="3022600"/>
            <a:ext cx="102362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原始游玩数据蒸馏</a:t>
            </a:r>
          </a:p>
        </p:txBody>
      </p:sp>
      <p:sp>
        <p:nvSpPr>
          <p:cNvPr id="76" name="Text 16"/>
          <p:cNvSpPr/>
          <p:nvPr/>
        </p:nvSpPr>
        <p:spPr>
          <a:xfrm>
            <a:off x="7319004" y="2926159"/>
            <a:ext cx="1350169" cy="539115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Lynch et al. (2020) Play-LMP</a:t>
            </a:r>
          </a:p>
        </p:txBody>
      </p:sp>
      <p:sp>
        <p:nvSpPr>
          <p:cNvPr id="77" name="Text 17"/>
          <p:cNvSpPr/>
          <p:nvPr/>
        </p:nvSpPr>
        <p:spPr>
          <a:xfrm>
            <a:off x="8669173" y="2926159"/>
            <a:ext cx="1620180" cy="72390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好奇心探索作为数据收集器，训练通用目标条件策略</a:t>
            </a:r>
          </a:p>
        </p:txBody>
      </p:sp>
      <p:sp>
        <p:nvSpPr>
          <p:cNvPr id="78" name="Text 18"/>
          <p:cNvSpPr/>
          <p:nvPr/>
        </p:nvSpPr>
        <p:spPr>
          <a:xfrm>
            <a:off x="10289353" y="2926159"/>
            <a:ext cx="1350197" cy="72390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好奇心行为本身不作为可复用技能</a:t>
            </a:r>
          </a:p>
        </p:txBody>
      </p:sp>
      <p:sp>
        <p:nvSpPr>
          <p:cNvPr id="79" name="Text 19"/>
          <p:cNvSpPr/>
          <p:nvPr/>
        </p:nvSpPr>
        <p:spPr>
          <a:xfrm>
            <a:off x="6296025" y="3933825"/>
            <a:ext cx="924560" cy="27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世界模型版本作为奖励函数</a:t>
            </a:r>
          </a:p>
        </p:txBody>
      </p:sp>
      <p:sp>
        <p:nvSpPr>
          <p:cNvPr id="80" name="Text 20"/>
          <p:cNvSpPr/>
          <p:nvPr/>
        </p:nvSpPr>
        <p:spPr>
          <a:xfrm>
            <a:off x="7319004" y="3837345"/>
            <a:ext cx="1350169" cy="539115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本文提出的新方向</a:t>
            </a:r>
          </a:p>
        </p:txBody>
      </p:sp>
      <p:sp>
        <p:nvSpPr>
          <p:cNvPr id="81" name="Text 21"/>
          <p:cNvSpPr/>
          <p:nvPr/>
        </p:nvSpPr>
        <p:spPr>
          <a:xfrm>
            <a:off x="8669173" y="3837345"/>
            <a:ext cx="1620180" cy="72390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将不同版本的世界模型视为不同奖励函数，驱动多样行为学习</a:t>
            </a:r>
          </a:p>
        </p:txBody>
      </p:sp>
      <p:sp>
        <p:nvSpPr>
          <p:cNvPr id="82" name="Text 22"/>
          <p:cNvSpPr/>
          <p:nvPr/>
        </p:nvSpPr>
        <p:spPr>
          <a:xfrm>
            <a:off x="10289353" y="3837345"/>
            <a:ext cx="1350197" cy="354330"/>
          </a:xfrm>
          <a:prstGeom prst="rect">
            <a:avLst/>
          </a:prstGeom>
          <a:noFill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尚未实验验证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6099175" y="4871085"/>
            <a:ext cx="5715635" cy="736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latin typeface="Manque Bold" charset="0"/>
                <a:ea typeface="Manque Bold" charset="0"/>
                <a:cs typeface="Manque Bold" charset="0"/>
                <a:sym typeface="+mn-ea"/>
              </a:rPr>
              <a:t>核心洞察：</a:t>
            </a:r>
            <a:r>
              <a:rPr lang="en-US" sz="1400" dirty="0"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好奇心学习应被视为一个</a:t>
            </a:r>
            <a:r>
              <a:rPr lang="en-US" sz="1400" b="1" dirty="0">
                <a:solidFill>
                  <a:srgbClr val="FF0000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独立的学习系统组件</a:t>
            </a:r>
            <a:r>
              <a:rPr lang="en-US" sz="1400" dirty="0"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  <a:sym typeface="+mn-ea"/>
              </a:rPr>
              <a:t>，而非任务驱动强化学习的附属工具。其产生的行为多样性本身具有系统性价值。</a:t>
            </a:r>
            <a:endParaRPr lang="en-US" altLang="en-US" sz="1400" dirty="0">
              <a:latin typeface="Windsor Std Light" panose="02010600010101010101" charset="-122"/>
              <a:ea typeface="Windsor Std Light" panose="02010600010101010101" charset="-122"/>
              <a:cs typeface="Windsor Std Light" panose="02010600010101010101" charset="-122"/>
              <a:sym typeface="+mn-ea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5815330" y="0"/>
            <a:ext cx="7620" cy="687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8635" y="750570"/>
            <a:ext cx="3093720" cy="361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A1A1A"/>
                </a:solidFill>
                <a:latin typeface="Manque Bold" charset="0"/>
                <a:ea typeface="Manque Bold" charset="0"/>
                <a:cs typeface="Manque Bold" charset="0"/>
                <a:sym typeface="+mn-ea"/>
              </a:rPr>
              <a:t>贡献总结</a:t>
            </a:r>
            <a:endParaRPr lang="zh-CN" altLang="en-US" sz="2450" b="1" dirty="0">
              <a:solidFill>
                <a:srgbClr val="1A1A1A"/>
              </a:solidFill>
              <a:latin typeface="Manque Bold" charset="0"/>
              <a:ea typeface="宋体" panose="02010600030101010101" pitchFamily="2" charset="-122"/>
              <a:cs typeface="Manque Bold" charset="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522605"/>
            <a:ext cx="2200275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330066"/>
                </a:solidFill>
                <a:latin typeface="Manque Bold" charset="0"/>
                <a:ea typeface="Manque Bold" charset="0"/>
                <a:cs typeface="Manque Bold" charset="0"/>
              </a:rPr>
              <a:t>CONCLUSION</a:t>
            </a:r>
          </a:p>
        </p:txBody>
      </p:sp>
      <p:sp>
        <p:nvSpPr>
          <p:cNvPr id="11" name="Text 8"/>
          <p:cNvSpPr/>
          <p:nvPr/>
        </p:nvSpPr>
        <p:spPr>
          <a:xfrm>
            <a:off x="1186180" y="1352550"/>
            <a:ext cx="2798445" cy="3619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55FF"/>
                </a:solidFill>
                <a:latin typeface="Manque Bold" charset="0"/>
                <a:ea typeface="Manque Bold" charset="0"/>
                <a:cs typeface="Manque Bold" charset="0"/>
              </a:rPr>
              <a:t>贡献一：SelMo系统</a:t>
            </a:r>
          </a:p>
        </p:txBody>
      </p:sp>
      <p:sp>
        <p:nvSpPr>
          <p:cNvPr id="13" name="Text 10"/>
          <p:cNvSpPr/>
          <p:nvPr/>
        </p:nvSpPr>
        <p:spPr>
          <a:xfrm>
            <a:off x="1186180" y="1804749"/>
            <a:ext cx="5971540" cy="353695"/>
          </a:xfrm>
          <a:prstGeom prst="rect">
            <a:avLst/>
          </a:prstGeom>
          <a:noFill/>
        </p:spPr>
        <p:txBody>
          <a:bodyPr wrap="none" lIns="238125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n"/>
            </a:pP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提出基于离策略（off-policy）的自激励好奇心探索方法</a:t>
            </a:r>
          </a:p>
        </p:txBody>
      </p:sp>
      <p:sp>
        <p:nvSpPr>
          <p:cNvPr id="15" name="Text 12"/>
          <p:cNvSpPr/>
          <p:nvPr/>
        </p:nvSpPr>
        <p:spPr>
          <a:xfrm>
            <a:off x="1186180" y="2239084"/>
            <a:ext cx="6312535" cy="353695"/>
          </a:xfrm>
          <a:prstGeom prst="rect">
            <a:avLst/>
          </a:prstGeom>
          <a:noFill/>
        </p:spPr>
        <p:txBody>
          <a:bodyPr wrap="none" lIns="238125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n"/>
            </a:pP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在9自由度JACO机械臂和20自由度OP3人形机器人上验证</a:t>
            </a:r>
          </a:p>
        </p:txBody>
      </p:sp>
      <p:sp>
        <p:nvSpPr>
          <p:cNvPr id="17" name="Text 14"/>
          <p:cNvSpPr/>
          <p:nvPr/>
        </p:nvSpPr>
        <p:spPr>
          <a:xfrm>
            <a:off x="1186180" y="2673418"/>
            <a:ext cx="7388225" cy="353695"/>
          </a:xfrm>
          <a:prstGeom prst="rect">
            <a:avLst/>
          </a:prstGeom>
          <a:noFill/>
        </p:spPr>
        <p:txBody>
          <a:bodyPr wrap="none" lIns="238125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n"/>
            </a:pP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证明复杂、多样且人类可解读的行为能在</a:t>
            </a:r>
            <a:r>
              <a:rPr lang="en-US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完全无监督</a:t>
            </a: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条件下自主涌现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186180" y="3198495"/>
            <a:ext cx="4139565" cy="361950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55FF"/>
                </a:solidFill>
                <a:latin typeface="Manque Bold" charset="0"/>
                <a:ea typeface="Manque Bold" charset="0"/>
                <a:cs typeface="Manque Bold" charset="0"/>
              </a:rPr>
              <a:t>贡献二：行为保留基线实验</a:t>
            </a:r>
          </a:p>
        </p:txBody>
      </p:sp>
      <p:sp>
        <p:nvSpPr>
          <p:cNvPr id="20" name="Text 17"/>
          <p:cNvSpPr/>
          <p:nvPr/>
        </p:nvSpPr>
        <p:spPr>
          <a:xfrm>
            <a:off x="1186180" y="3665855"/>
            <a:ext cx="5700395" cy="353695"/>
          </a:xfrm>
          <a:prstGeom prst="rect">
            <a:avLst/>
          </a:prstGeom>
          <a:noFill/>
        </p:spPr>
        <p:txBody>
          <a:bodyPr wrap="square" lIns="238125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n"/>
            </a:pP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证明策略快照作为分层强化学习辅助技能的有效性</a:t>
            </a:r>
          </a:p>
        </p:txBody>
      </p:sp>
      <p:sp>
        <p:nvSpPr>
          <p:cNvPr id="22" name="Text 19"/>
          <p:cNvSpPr/>
          <p:nvPr/>
        </p:nvSpPr>
        <p:spPr>
          <a:xfrm>
            <a:off x="1186180" y="4084955"/>
            <a:ext cx="9144635" cy="353695"/>
          </a:xfrm>
          <a:prstGeom prst="rect">
            <a:avLst/>
          </a:prstGeom>
          <a:noFill/>
        </p:spPr>
        <p:txBody>
          <a:bodyPr wrap="square" lIns="238125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n"/>
            </a:pP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SelMo辅助技能（Mid/Late阶段）在 lift_red 任务上</a:t>
            </a:r>
            <a:r>
              <a:rPr lang="en-US" b="1" dirty="0">
                <a:solidFill>
                  <a:srgbClr val="333333"/>
                </a:solidFill>
                <a:latin typeface="Manque Bold" charset="0"/>
                <a:ea typeface="Manque Bold" charset="0"/>
                <a:cs typeface="Manque Bold" charset="0"/>
              </a:rPr>
              <a:t>媲美人工设计的辅助奖励函数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186180" y="4557203"/>
            <a:ext cx="5095875" cy="353695"/>
          </a:xfrm>
          <a:prstGeom prst="rect">
            <a:avLst/>
          </a:prstGeom>
          <a:noFill/>
        </p:spPr>
        <p:txBody>
          <a:bodyPr wrap="none" lIns="238125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n"/>
            </a:pPr>
            <a:r>
              <a:rPr lang="en-US" dirty="0">
                <a:solidFill>
                  <a:srgbClr val="333333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无需任何领域专家知识或手工设计的任务课程</a:t>
            </a:r>
          </a:p>
        </p:txBody>
      </p:sp>
      <p:sp>
        <p:nvSpPr>
          <p:cNvPr id="9" name="Text 6"/>
          <p:cNvSpPr/>
          <p:nvPr/>
        </p:nvSpPr>
        <p:spPr>
          <a:xfrm>
            <a:off x="1186180" y="5156200"/>
            <a:ext cx="7742555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kern="0" spc="1" dirty="0">
                <a:solidFill>
                  <a:srgbClr val="FF4500"/>
                </a:solidFill>
                <a:latin typeface="Manque Bold" charset="0"/>
                <a:ea typeface="Manque Bold" charset="0"/>
                <a:cs typeface="Manque Bold" charset="0"/>
              </a:rPr>
              <a:t>更广泛的意义</a:t>
            </a:r>
          </a:p>
        </p:txBody>
      </p:sp>
      <p:sp>
        <p:nvSpPr>
          <p:cNvPr id="10" name="Text 7"/>
          <p:cNvSpPr/>
          <p:nvPr/>
        </p:nvSpPr>
        <p:spPr>
          <a:xfrm>
            <a:off x="1186180" y="5448935"/>
            <a:ext cx="9144000" cy="7073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128000"/>
              </a:lnSpc>
              <a:buFont typeface="Wingdings" panose="05000000000000000000" charset="0"/>
              <a:buChar char="ü"/>
            </a:pPr>
            <a:r>
              <a:rPr lang="en-US" dirty="0">
                <a:solidFill>
                  <a:schemeClr val="tx1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好奇心探索应被重新定位为</a:t>
            </a:r>
            <a:r>
              <a:rPr lang="en-US" b="1" dirty="0">
                <a:solidFill>
                  <a:srgbClr val="FF0000"/>
                </a:solidFill>
                <a:latin typeface="Manque Bold" charset="0"/>
                <a:ea typeface="Manque Bold" charset="0"/>
                <a:cs typeface="Manque Bold" charset="0"/>
              </a:rPr>
              <a:t>持续学习的独立子系统</a:t>
            </a:r>
            <a:r>
              <a:rPr lang="en-US" dirty="0">
                <a:solidFill>
                  <a:schemeClr val="tx1"/>
                </a:solidFill>
                <a:latin typeface="Windsor Std Light" panose="02010600010101010101" charset="-122"/>
                <a:ea typeface="Windsor Std Light" panose="02010600010101010101" charset="-122"/>
                <a:cs typeface="Windsor Std Light" panose="02010600010101010101" charset="-122"/>
              </a:rPr>
              <a:t>，而非仅作为稀疏奖励任务的辅助手段。自发现行为的自动识别与保留，是无监督强化学习的重要未来方向!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矩形 2"/>
          <p:cNvSpPr/>
          <p:nvPr/>
        </p:nvSpPr>
        <p:spPr>
          <a:xfrm>
            <a:off x="300990" y="549275"/>
            <a:ext cx="10909300" cy="564388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80" name="矩形 4"/>
          <p:cNvSpPr/>
          <p:nvPr/>
        </p:nvSpPr>
        <p:spPr>
          <a:xfrm>
            <a:off x="981710" y="2705100"/>
            <a:ext cx="1047114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敬请各位老师同学批评指正</a:t>
            </a:r>
            <a:r>
              <a:rPr lang="en-US" altLang="zh-CN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</a:p>
        </p:txBody>
      </p:sp>
      <p:sp>
        <p:nvSpPr>
          <p:cNvPr id="1048781" name="矩形 5"/>
          <p:cNvSpPr/>
          <p:nvPr/>
        </p:nvSpPr>
        <p:spPr>
          <a:xfrm>
            <a:off x="3123871" y="22580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77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255" y="549275"/>
            <a:ext cx="3704590" cy="2393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479,331241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8*273"/>
  <p:tag name="TABLE_ENDDRAG_RECT" val="288*180*288*27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99*273"/>
  <p:tag name="TABLE_ENDDRAG_RECT" val="613*180*299*27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7.37771653543314,&quot;left&quot;:40.05,&quot;top&quot;:39.65,&quot;width&quot;:729.55}"/>
</p:tagLst>
</file>

<file path=ppt/theme/theme1.xml><?xml version="1.0" encoding="utf-8"?>
<a:theme xmlns:a="http://schemas.openxmlformats.org/drawingml/2006/main" name="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1185</Words>
  <Application>Microsoft Office PowerPoint</Application>
  <PresentationFormat>宽屏</PresentationFormat>
  <Paragraphs>196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Manque Bold</vt:lpstr>
      <vt:lpstr>Noto Sans SC</vt:lpstr>
      <vt:lpstr>Windsor Std Light</vt:lpstr>
      <vt:lpstr>等线</vt:lpstr>
      <vt:lpstr>Arial</vt:lpstr>
      <vt:lpstr>Impact</vt:lpstr>
      <vt:lpstr>Times New Roman</vt:lpstr>
      <vt:lpstr>Wingdings</vt:lpstr>
      <vt:lpstr>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振毫 刘</cp:lastModifiedBy>
  <cp:revision>69</cp:revision>
  <dcterms:created xsi:type="dcterms:W3CDTF">2025-04-19T01:49:00Z</dcterms:created>
  <dcterms:modified xsi:type="dcterms:W3CDTF">2026-04-28T05:36:08Z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TemplateUUID">
    <vt:lpwstr>v1.0_mb_znHGC65DvJoUAL1zlx+X1w==</vt:lpwstr>
  </property>
  <property fmtid="{D5CDD505-2E9C-101B-9397-08002B2CF9AE}" pid="4" name="ICV">
    <vt:lpwstr>D1D398BB656543B5935BBA28DA69CF1B_13</vt:lpwstr>
  </property>
</Properties>
</file>