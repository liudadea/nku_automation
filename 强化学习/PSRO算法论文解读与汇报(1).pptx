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68" r:id="rId16"/>
    <p:sldId id="262" r:id="rId17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11E9-5851-F660-850C-0D391C2C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707297-1D9D-A6C5-E4E1-00D0D48DAF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00E7C-9876-6DCD-9A73-71929A71239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14D9F2-AEC7-F99D-9AAB-9DD4CD700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D9229B-9BE8-D771-0126-6A381B61F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2B77D-43BE-4FCB-D1DB-0CC729E2D4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30AA3-4504-EBB4-9FD2-74426C1C5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5369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2230-3E10-AC08-8B8A-B4060335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D623EE-AA40-CA3C-DE0E-690DF110C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F5D7C-17EF-721C-15A7-BE3A6FD780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73744D5-6FB4-5767-4808-B8247C4054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E7F9FD-1E20-6F60-C56E-225E65C8D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1A698-94E3-0CE0-BB27-C80BA86443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50E21-1E70-40A7-4B32-51CE5BD32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93052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altLang="en-US" dirty="0"/>
              <a:t>没用的话就删掉</a:t>
            </a:r>
            <a:endParaRPr lang="en-US" altLang="zh-CN"/>
          </a:p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43">
                <a:alpha val="100000"/>
              </a:srgbClr>
            </a:gs>
            <a:gs pos="50000">
              <a:srgbClr val="1A365D">
                <a:alpha val="100000"/>
              </a:srgbClr>
            </a:gs>
            <a:gs pos="100000">
              <a:srgbClr val="3182C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10000"/>
              </a:srgbClr>
            </a:fgClr>
            <a:bgClr>
              <a:srgbClr val="000000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A1428">
                  <a:alpha val="8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0"/>
            <a:ext cx="2540000" cy="762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346200"/>
            <a:ext cx="14224000" cy="1905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indent="0" algn="l">
              <a:lnSpc>
                <a:spcPts val="9000"/>
              </a:lnSpc>
              <a:defRPr/>
            </a:pPr>
            <a:r>
              <a:rPr lang="en-US" sz="6600" b="1" i="0" u="none" strike="noStrik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多智能体强化学习的</a:t>
            </a:r>
            <a:endParaRPr lang="en-US" sz="6600" dirty="0"/>
          </a:p>
          <a:p>
            <a:pPr indent="0" algn="l">
              <a:lnSpc>
                <a:spcPts val="9000"/>
              </a:lnSpc>
            </a:pPr>
            <a:r>
              <a:rPr lang="en-US" sz="6600" b="1" i="0" u="none" strike="noStrik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统一博弈论方法</a:t>
            </a:r>
            <a:endParaRPr lang="en-US" sz="6600" b="1" i="0" u="none" strike="noStrike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505200"/>
            <a:ext cx="14224000" cy="1016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0" i="0" u="none" strike="noStrike" dirty="0">
                <a:solidFill>
                  <a:srgbClr val="A0BEDC"/>
                </a:solidFill>
                <a:latin typeface="Open Sans"/>
                <a:ea typeface="Open Sans"/>
                <a:cs typeface="Open Sans"/>
                <a:sym typeface="Open Sans"/>
              </a:rPr>
              <a:t>《A Unified Game-Theoretic Approach to Multiagent Reinforcement Learning》</a:t>
            </a:r>
            <a:endParaRPr lang="en-US" sz="3000" dirty="0"/>
          </a:p>
        </p:txBody>
      </p:sp>
      <p:sp>
        <p:nvSpPr>
          <p:cNvPr id="7" name="AutoShape 7"/>
          <p:cNvSpPr/>
          <p:nvPr/>
        </p:nvSpPr>
        <p:spPr>
          <a:xfrm>
            <a:off x="14605000" y="1270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335000" y="3175000"/>
            <a:ext cx="1905000" cy="1905000"/>
          </a:xfrm>
          <a:prstGeom prst="ellipse">
            <a:avLst/>
          </a:prstGeom>
          <a:noFill/>
          <a:ln w="25400" cap="flat" cmpd="sng">
            <a:solidFill>
              <a:srgbClr val="FFFFFF">
                <a:alpha val="8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B15D59-D000-7C4B-EF17-C1EEAD8B69F2}"/>
              </a:ext>
            </a:extLst>
          </p:cNvPr>
          <p:cNvSpPr txBox="1"/>
          <p:nvPr/>
        </p:nvSpPr>
        <p:spPr>
          <a:xfrm>
            <a:off x="7851877" y="7089914"/>
            <a:ext cx="7388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组员：吴俊豪、李炎睿、刘振毫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2540000" y="-2540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0"/>
                </a:moveTo>
                <a:lnTo>
                  <a:pt x="1270000" y="0"/>
                </a:lnTo>
                <a:lnTo>
                  <a:pt x="1270000" y="1270000"/>
                </a:lnTo>
                <a:lnTo>
                  <a:pt x="0" y="1270000"/>
                </a:lnTo>
                <a:close/>
              </a:path>
            </a:pathLst>
          </a:custGeom>
          <a:solidFill>
            <a:srgbClr val="3182CE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70000" y="3556000"/>
            <a:ext cx="38100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汇报大纲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000" b="1" i="0" u="none" strike="noStrike" dirty="0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5715000" y="2540000"/>
            <a:ext cx="50800" cy="4064000"/>
          </a:xfrm>
          <a:prstGeom prst="roundRect">
            <a:avLst>
              <a:gd name="adj" fmla="val 0"/>
            </a:avLst>
          </a:prstGeom>
          <a:solidFill>
            <a:srgbClr val="C8D7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0" y="254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0" y="2540000"/>
            <a:ext cx="76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182CE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0" y="2730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引言与背景工作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604000" y="4191000"/>
            <a:ext cx="76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182CE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4381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PSRO算法分析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604000" y="5842000"/>
            <a:ext cx="762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182CE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0" y="6032500"/>
            <a:ext cx="635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实验分析报告加总结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独立强化学习面临泛化能力崩溃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4318000" cy="4572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182CE"/>
                </a:solidFill>
                <a:latin typeface="Inter"/>
                <a:ea typeface="Inter"/>
                <a:cs typeface="Inter"/>
                <a:sym typeface="Inter"/>
              </a:rPr>
              <a:t>环境非平稳性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在多智能体系统（MARL）中，独立强化学习（InRL）将其他智能体视为环境的一部分。随着其他智能体策略的改变，环境不断变化，破坏了MDP的马尔可夫性质，导致算法失去收敛保证。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318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17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461000" y="4826000"/>
            <a:ext cx="508000" cy="304800"/>
          </a:xfrm>
          <a:prstGeom prst="rightArrow">
            <a:avLst/>
          </a:prstGeom>
          <a:solidFill>
            <a:srgbClr val="C8D7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96000" y="2794000"/>
            <a:ext cx="4318000" cy="4572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严重过拟合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在此类非平稳环境中，智能体学习到的策略往往高度依赖于训练期间遇到的特定对手策略。这种深度耦合导致模型对训练环境产生了严重的过拟合现象。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096000" y="2794000"/>
            <a:ext cx="4318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17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541000" y="4826000"/>
            <a:ext cx="508000" cy="304800"/>
          </a:xfrm>
          <a:prstGeom prst="rightArrow">
            <a:avLst/>
          </a:prstGeom>
          <a:solidFill>
            <a:srgbClr val="C8D7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0" y="2794000"/>
            <a:ext cx="4318000" cy="4572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泛化能力崩溃</a:t>
            </a:r>
            <a:endParaRPr lang="en-US" sz="3200" dirty="0">
              <a:solidFill>
                <a:schemeClr val="accent1"/>
              </a:solidFill>
            </a:endParaRPr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由于过拟合，智能体在执行期一旦遇到陌生策略，表现就会大幅衰减。为了量化这种因独立学习导致的性能下降，论文引入了联合策略相关性（JPC）作为度量标准。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7000" y="3175000"/>
            <a:ext cx="508000" cy="508000"/>
          </a:xfrm>
          <a:prstGeom prst="rect">
            <a:avLst/>
          </a:prstGeom>
        </p:spPr>
      </p:pic>
      <p:sp>
        <p:nvSpPr>
          <p:cNvPr id="15" name="AutoShape 9">
            <a:extLst>
              <a:ext uri="{FF2B5EF4-FFF2-40B4-BE49-F238E27FC236}">
                <a16:creationId xmlns:a16="http://schemas.microsoft.com/office/drawing/2014/main" id="{5A48A44B-DFDC-5ED6-B465-AD9F2601CD05}"/>
              </a:ext>
            </a:extLst>
          </p:cNvPr>
          <p:cNvSpPr/>
          <p:nvPr/>
        </p:nvSpPr>
        <p:spPr>
          <a:xfrm>
            <a:off x="11176000" y="2755900"/>
            <a:ext cx="4318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实证博弈与双预言机奠定理论基础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68016" y="5017536"/>
            <a:ext cx="3302000" cy="2286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381000" rIns="254000" bIns="254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正规扩展形式</a:t>
            </a:r>
            <a:endParaRPr lang="en-US" sz="3200" dirty="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将多智能体顺序决策问题转化为一个寻找各方最优联合策略的过程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714500" y="5143500"/>
            <a:ext cx="508000" cy="508000"/>
          </a:xfrm>
          <a:prstGeom prst="ellipse">
            <a:avLst/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7556500"/>
            <a:ext cx="3302000" cy="635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7" name="Connector 7"/>
          <p:cNvCxnSpPr/>
          <p:nvPr/>
        </p:nvCxnSpPr>
        <p:spPr>
          <a:xfrm rot="-3456541">
            <a:off x="4721316" y="5582168"/>
            <a:ext cx="211370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182CE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6350000" y="3556000"/>
            <a:ext cx="3723148" cy="2541036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381000" rIns="254000" bIns="254000" rtlCol="0" anchor="t" anchorCtr="0">
            <a:normAutofit fontScale="85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8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实证博弈分析</a:t>
            </a:r>
            <a:r>
              <a:rPr lang="en-US" sz="38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在复杂博弈中，通过模拟评估来构建较小的经验收益矩阵，从而发现和分析元策略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3365500"/>
            <a:ext cx="508000" cy="508000"/>
          </a:xfrm>
          <a:prstGeom prst="ellipse">
            <a:avLst/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5778500"/>
            <a:ext cx="3556000" cy="635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11"/>
          <p:cNvCxnSpPr/>
          <p:nvPr/>
        </p:nvCxnSpPr>
        <p:spPr>
          <a:xfrm rot="-3456541">
            <a:off x="9420316" y="3804168"/>
            <a:ext cx="211370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B6CB0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11112500" y="1701800"/>
            <a:ext cx="3979606" cy="2509274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381000" rIns="254000" bIns="254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Double Oracle (DO)</a:t>
            </a:r>
            <a:endParaRPr lang="en-US" sz="3200" dirty="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迭代寻找当前子博弈的纳什均衡，并不断计算对抗该均衡的最佳响应添加到策略集中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858500" y="1587500"/>
            <a:ext cx="508000" cy="508000"/>
          </a:xfrm>
          <a:prstGeom prst="ellipse">
            <a:avLst/>
          </a:prstGeom>
          <a:solidFill>
            <a:srgbClr val="1A365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176000" y="4047334"/>
            <a:ext cx="3683000" cy="63500"/>
          </a:xfrm>
          <a:prstGeom prst="roundRect">
            <a:avLst>
              <a:gd name="adj" fmla="val 0"/>
            </a:avLst>
          </a:prstGeom>
          <a:solidFill>
            <a:srgbClr val="1A36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 rot="1799999">
            <a:off x="11430000" y="5080000"/>
            <a:ext cx="2540000" cy="2540000"/>
          </a:xfrm>
          <a:custGeom>
            <a:avLst/>
            <a:gdLst/>
            <a:ahLst/>
            <a:cxnLst/>
            <a:rect l="l" t="t" r="r" b="b"/>
            <a:pathLst>
              <a:path w="2540000" h="2540000">
                <a:moveTo>
                  <a:pt x="1270000" y="0"/>
                </a:moveTo>
                <a:lnTo>
                  <a:pt x="2540000" y="1270000"/>
                </a:lnTo>
                <a:lnTo>
                  <a:pt x="1270000" y="2540000"/>
                </a:lnTo>
                <a:lnTo>
                  <a:pt x="0" y="1270000"/>
                </a:lnTo>
                <a:close/>
              </a:path>
            </a:pathLst>
          </a:custGeom>
          <a:solidFill>
            <a:srgbClr val="3182C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 通过循环迭代逼近最优解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128000" y="2032000"/>
            <a:ext cx="3319780" cy="4898390"/>
          </a:xfrm>
          <a:custGeom>
            <a:avLst/>
            <a:gdLst/>
            <a:ahLst/>
            <a:cxnLst/>
            <a:rect l="l" t="t" r="r" b="b"/>
            <a:pathLst>
              <a:path w="3319780" h="4898390">
                <a:moveTo>
                  <a:pt x="0" y="0"/>
                </a:moveTo>
                <a:cubicBezTo>
                  <a:pt x="1135380" y="0"/>
                  <a:pt x="2184400" y="605790"/>
                  <a:pt x="2749550" y="1588770"/>
                </a:cubicBezTo>
                <a:cubicBezTo>
                  <a:pt x="3317240" y="2571750"/>
                  <a:pt x="3319780" y="3782060"/>
                  <a:pt x="2749550" y="4767580"/>
                </a:cubicBezTo>
                <a:lnTo>
                  <a:pt x="1931670" y="4898390"/>
                </a:lnTo>
                <a:lnTo>
                  <a:pt x="1638300" y="4124960"/>
                </a:lnTo>
                <a:cubicBezTo>
                  <a:pt x="1976120" y="3539490"/>
                  <a:pt x="1977390" y="2814320"/>
                  <a:pt x="1638300" y="2231390"/>
                </a:cubicBezTo>
                <a:cubicBezTo>
                  <a:pt x="1300480" y="1645920"/>
                  <a:pt x="675640" y="1283970"/>
                  <a:pt x="0" y="1285240"/>
                </a:cubicBezTo>
                <a:lnTo>
                  <a:pt x="523240" y="642620"/>
                </a:lnTo>
                <a:close/>
              </a:path>
            </a:pathLst>
          </a:custGeom>
          <a:solidFill>
            <a:srgbClr val="3182CE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372100" y="6019800"/>
            <a:ext cx="5505450" cy="2363470"/>
          </a:xfrm>
          <a:custGeom>
            <a:avLst/>
            <a:gdLst/>
            <a:ahLst/>
            <a:cxnLst/>
            <a:rect l="l" t="t" r="r" b="b"/>
            <a:pathLst>
              <a:path w="5505450" h="2363470">
                <a:moveTo>
                  <a:pt x="5505450" y="772160"/>
                </a:moveTo>
                <a:cubicBezTo>
                  <a:pt x="4936490" y="1752600"/>
                  <a:pt x="3881120" y="2363470"/>
                  <a:pt x="2752090" y="2358390"/>
                </a:cubicBezTo>
                <a:cubicBezTo>
                  <a:pt x="1616710" y="2358390"/>
                  <a:pt x="566420" y="1756410"/>
                  <a:pt x="0" y="772160"/>
                </a:cubicBezTo>
                <a:lnTo>
                  <a:pt x="294640" y="0"/>
                </a:lnTo>
                <a:lnTo>
                  <a:pt x="1112520" y="132080"/>
                </a:lnTo>
                <a:cubicBezTo>
                  <a:pt x="1450340" y="715010"/>
                  <a:pt x="2071370" y="1078230"/>
                  <a:pt x="2752090" y="1076960"/>
                </a:cubicBezTo>
                <a:cubicBezTo>
                  <a:pt x="3429000" y="1076960"/>
                  <a:pt x="4046220" y="716280"/>
                  <a:pt x="4392930" y="132080"/>
                </a:cubicBezTo>
                <a:lnTo>
                  <a:pt x="4686300" y="904240"/>
                </a:lnTo>
                <a:close/>
              </a:path>
            </a:pathLst>
          </a:custGeom>
          <a:solidFill>
            <a:srgbClr val="2B6CB0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800600" y="2032000"/>
            <a:ext cx="3837940" cy="4762500"/>
          </a:xfrm>
          <a:custGeom>
            <a:avLst/>
            <a:gdLst/>
            <a:ahLst/>
            <a:cxnLst/>
            <a:rect l="l" t="t" r="r" b="b"/>
            <a:pathLst>
              <a:path w="3837940" h="4762500">
                <a:moveTo>
                  <a:pt x="567690" y="4762500"/>
                </a:moveTo>
                <a:cubicBezTo>
                  <a:pt x="0" y="3780790"/>
                  <a:pt x="0" y="2566670"/>
                  <a:pt x="567690" y="1587500"/>
                </a:cubicBezTo>
                <a:cubicBezTo>
                  <a:pt x="1134110" y="605790"/>
                  <a:pt x="2181860" y="0"/>
                  <a:pt x="3314700" y="0"/>
                </a:cubicBezTo>
                <a:lnTo>
                  <a:pt x="3837940" y="641350"/>
                </a:lnTo>
                <a:lnTo>
                  <a:pt x="3314700" y="1283970"/>
                </a:lnTo>
                <a:cubicBezTo>
                  <a:pt x="2639060" y="1283970"/>
                  <a:pt x="2016760" y="1643380"/>
                  <a:pt x="1677670" y="2228850"/>
                </a:cubicBezTo>
                <a:cubicBezTo>
                  <a:pt x="1339850" y="2813050"/>
                  <a:pt x="1341120" y="3534410"/>
                  <a:pt x="1677670" y="4121150"/>
                </a:cubicBezTo>
                <a:lnTo>
                  <a:pt x="861060" y="3989070"/>
                </a:lnTo>
                <a:close/>
              </a:path>
            </a:pathLst>
          </a:custGeom>
          <a:solidFill>
            <a:srgbClr val="1A365D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112000" y="4191000"/>
            <a:ext cx="2032000" cy="2032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循环迭代</a:t>
            </a:r>
          </a:p>
        </p:txBody>
      </p:sp>
      <p:sp>
        <p:nvSpPr>
          <p:cNvPr id="8" name="AutoShape 8"/>
          <p:cNvSpPr/>
          <p:nvPr/>
        </p:nvSpPr>
        <p:spPr>
          <a:xfrm>
            <a:off x="806450" y="3814445"/>
            <a:ext cx="406654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182CE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3200" b="1" i="0" u="none" strike="noStrike" dirty="0" err="1">
                <a:solidFill>
                  <a:srgbClr val="3182CE"/>
                </a:solidFill>
                <a:latin typeface="Inter"/>
                <a:ea typeface="Inter"/>
                <a:cs typeface="Inter"/>
                <a:sym typeface="Inter"/>
              </a:rPr>
              <a:t>元策略计算</a:t>
            </a:r>
            <a:endParaRPr lang="en-US" sz="32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基于当前的策略集和经验收益表计算元策略，提供目标约束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877550" y="1993900"/>
            <a:ext cx="4427712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zh-CN" altLang="en-US" sz="3200" b="1" i="0" u="none" strike="noStrike" dirty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强化学习</a:t>
            </a:r>
            <a:endParaRPr lang="en-US" altLang="zh-CN" sz="3200" b="1" i="0" u="none" strike="noStrike" dirty="0">
              <a:solidFill>
                <a:srgbClr val="2B6C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固定对手元策略，利用强化学习训练生成新的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Oracle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策略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1060430" y="6422390"/>
            <a:ext cx="406654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策略空间扩展</a:t>
            </a:r>
            <a:endParaRPr lang="en-US" sz="3200" dirty="0"/>
          </a:p>
          <a:p>
            <a:pPr indent="0">
              <a:lnSpc>
                <a:spcPct val="125000"/>
              </a:lnSpc>
              <a:spcBef>
                <a:spcPts val="8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将新策略加入集合，通过模拟验证更新联合效用表，为下一轮循环做准备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元策略求解器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5999" y="2540000"/>
            <a:ext cx="5517535" cy="5660102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381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Regret Matching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遗憾匹配求解器</a:t>
            </a:r>
            <a:endParaRPr lang="en-US" sz="3200" b="0" i="0" u="none" strike="noStrike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33333"/>
              </a:lnSpc>
              <a:spcBef>
                <a:spcPts val="3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基于未获得收益的累积遗憾值更新概率。表现稳定的基础算法，能促使策略收敛到相关均衡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16000" y="2410542"/>
            <a:ext cx="5517534" cy="129458"/>
          </a:xfrm>
          <a:prstGeom prst="roundRect">
            <a:avLst>
              <a:gd name="adj" fmla="val 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377084" y="2539999"/>
            <a:ext cx="6039464" cy="5660103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381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Hedge 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指数权重求解器</a:t>
            </a:r>
            <a:endParaRPr lang="en-US" sz="3200" b="0" i="0" u="none" strike="noStrike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33333"/>
              </a:lnSpc>
              <a:spcBef>
                <a:spcPts val="3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基于指数权重的软最大化策略更新机制。对各策略的收益历史进行指数级放大，更快地向高收益策略倾斜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377084" y="2410542"/>
            <a:ext cx="6039464" cy="129457"/>
          </a:xfrm>
          <a:prstGeom prst="roundRect">
            <a:avLst>
              <a:gd name="adj" fmla="val 0"/>
            </a:avLst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0" y="25400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5FC89-A132-3B9F-FA95-79B9EA4E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F823B2A9-5ACF-342D-1792-6183C601AF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F04E7BDF-FE4E-2BB1-A267-53F1E94E15EB}"/>
              </a:ext>
            </a:extLst>
          </p:cNvPr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元策略求解器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30D405D-F75E-F462-9F08-EF1AFBC8E479}"/>
              </a:ext>
            </a:extLst>
          </p:cNvPr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A58B5CD-4F78-FCFB-9200-2FAC5C941511}"/>
              </a:ext>
            </a:extLst>
          </p:cNvPr>
          <p:cNvSpPr/>
          <p:nvPr/>
        </p:nvSpPr>
        <p:spPr>
          <a:xfrm>
            <a:off x="1744408" y="1866808"/>
            <a:ext cx="12610687" cy="1270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BCE653F-64F0-BE68-4C1B-C09457B96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9000" y="2540000"/>
            <a:ext cx="381000" cy="381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10DD11A-754A-46EB-E8C8-A82D928A446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744408" y="2044607"/>
            <a:ext cx="12610687" cy="63373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150AAF-EF25-94BD-CDA0-C8CF3A3224F6}"/>
              </a:ext>
            </a:extLst>
          </p:cNvPr>
          <p:cNvSpPr txBox="1"/>
          <p:nvPr/>
        </p:nvSpPr>
        <p:spPr>
          <a:xfrm>
            <a:off x="1900904" y="2393336"/>
            <a:ext cx="1205271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PRD </a:t>
            </a:r>
          </a:p>
          <a:p>
            <a:r>
              <a:rPr lang="zh-CN" altLang="en-US" sz="3200" b="1" dirty="0"/>
              <a:t>投影复制子动力学</a:t>
            </a:r>
            <a:endParaRPr lang="en-US" altLang="zh-CN" sz="3200" b="1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zh-CN" altLang="en-US" sz="3200" dirty="0"/>
          </a:p>
          <a:p>
            <a:endParaRPr lang="zh-CN" altLang="en-US" sz="2400" dirty="0"/>
          </a:p>
          <a:p>
            <a:r>
              <a:rPr lang="en-US" altLang="zh-CN" sz="2400" dirty="0"/>
              <a:t>	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在经典的复制子动力学上增加了强制探索机制：</a:t>
            </a:r>
          </a:p>
          <a:p>
            <a:r>
              <a:rPr lang="en-US" altLang="zh-CN" sz="2400" dirty="0"/>
              <a:t>	•</a:t>
            </a:r>
            <a:r>
              <a:rPr lang="zh-CN" altLang="en-US" sz="2400" dirty="0"/>
              <a:t>设定策略概率下界：</a:t>
            </a:r>
            <a:r>
              <a:rPr lang="en-US" altLang="zh-CN" sz="2400" dirty="0"/>
              <a:t>γ/(K+1) </a:t>
            </a:r>
          </a:p>
          <a:p>
            <a:r>
              <a:rPr lang="en-US" altLang="zh-CN" sz="2400" dirty="0"/>
              <a:t>	•</a:t>
            </a:r>
            <a:r>
              <a:rPr lang="zh-CN" altLang="en-US" sz="2400" dirty="0"/>
              <a:t>相比包含各向同性扩散或突变项的标准复制子动力学方法，该机制强制元策略具</a:t>
            </a:r>
            <a:r>
              <a:rPr lang="en-US" altLang="zh-CN" sz="2400" dirty="0"/>
              <a:t>	</a:t>
            </a:r>
            <a:r>
              <a:rPr lang="zh-CN" altLang="en-US" sz="2400" dirty="0"/>
              <a:t>备探索性。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EDE8DED-2EFC-95CF-D0F4-A85CFF479A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2516" y="3513990"/>
            <a:ext cx="11692193" cy="292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5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52ED-1B8E-CBD3-4798-F75E7FD5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16B0FF-CAC0-D803-F8BD-A8922ED70DCA}"/>
              </a:ext>
            </a:extLst>
          </p:cNvPr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 </a:t>
            </a:r>
            <a:r>
              <a:rPr lang="zh-CN" alt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工程局限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F1B3F3-8A92-5224-6BEC-2D86B2D4BBCB}"/>
              </a:ext>
            </a:extLst>
          </p:cNvPr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2BE088-3609-A4B2-AB5B-661690D5A0B6}"/>
              </a:ext>
            </a:extLst>
          </p:cNvPr>
          <p:cNvSpPr/>
          <p:nvPr/>
        </p:nvSpPr>
        <p:spPr>
          <a:xfrm>
            <a:off x="1574800" y="1861574"/>
            <a:ext cx="6096000" cy="2964426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串行迭代</a:t>
            </a:r>
            <a:endParaRPr lang="en-US" altLang="zh-CN" sz="3200" dirty="0">
              <a:ea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PSRO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是严格串行的：必须等第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轮所有玩家的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Oracle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都训练完、更新完收益张量、求解完元策略，才能开始第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2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轮。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FD9E6E5-EFB5-BB44-995A-AB0733FFE2F7}"/>
              </a:ext>
            </a:extLst>
          </p:cNvPr>
          <p:cNvSpPr/>
          <p:nvPr/>
        </p:nvSpPr>
        <p:spPr>
          <a:xfrm>
            <a:off x="1524000" y="1861574"/>
            <a:ext cx="101600" cy="2964426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DF6A326-E96F-0C8C-D120-37B2C9439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2921000"/>
            <a:ext cx="381000" cy="3810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2CC44CF5-8D37-DEA4-B60C-9425E28A5B54}"/>
              </a:ext>
            </a:extLst>
          </p:cNvPr>
          <p:cNvSpPr/>
          <p:nvPr/>
        </p:nvSpPr>
        <p:spPr>
          <a:xfrm>
            <a:off x="8636000" y="1905000"/>
            <a:ext cx="6096000" cy="2921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重复学习</a:t>
            </a:r>
            <a:endParaRPr lang="en-US" altLang="zh-CN" sz="3200" b="1" i="0" u="none" strike="noStrike" dirty="0">
              <a:solidFill>
                <a:srgbClr val="1A365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PSRO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每一轮训练新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Oracle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都是从头开始随机初始化。所有基础行为都要重复学习无数次，大量算力都浪费在了重复劳动上。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F9F2788-D288-5F36-B6B6-B6CD0A440C10}"/>
              </a:ext>
            </a:extLst>
          </p:cNvPr>
          <p:cNvSpPr/>
          <p:nvPr/>
        </p:nvSpPr>
        <p:spPr>
          <a:xfrm>
            <a:off x="8636000" y="1905000"/>
            <a:ext cx="101600" cy="29210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C8BEF610-A711-18D2-3257-CE3127070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000" y="2921000"/>
            <a:ext cx="381000" cy="3810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3F8A0A95-A4D0-DD88-533B-B1CCD96664A1}"/>
              </a:ext>
            </a:extLst>
          </p:cNvPr>
          <p:cNvSpPr/>
          <p:nvPr/>
        </p:nvSpPr>
        <p:spPr>
          <a:xfrm>
            <a:off x="1524000" y="5334000"/>
            <a:ext cx="6096000" cy="2964426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空间爆炸</a:t>
            </a:r>
            <a:endParaRPr lang="en-US" altLang="zh-CN" sz="3200" b="1" i="0" u="none" strike="noStrike" dirty="0">
              <a:solidFill>
                <a:srgbClr val="1A365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PSRO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需要存储一个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维收益张量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U^Π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，其中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是玩家数，每个维度的长度是每个玩家的策略数 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。空间复杂度是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O(</a:t>
            </a:r>
            <a:r>
              <a:rPr lang="en-US" altLang="zh-CN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K^n</a:t>
            </a:r>
            <a:r>
              <a:rPr lang="en-US" altLang="zh-CN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，指数级增长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ECF5491A-39E0-DDBF-F5C9-07D27BA7CBE3}"/>
              </a:ext>
            </a:extLst>
          </p:cNvPr>
          <p:cNvSpPr/>
          <p:nvPr/>
        </p:nvSpPr>
        <p:spPr>
          <a:xfrm>
            <a:off x="1524000" y="5334000"/>
            <a:ext cx="101600" cy="3048000"/>
          </a:xfrm>
          <a:prstGeom prst="roundRect">
            <a:avLst>
              <a:gd name="adj" fmla="val 0"/>
            </a:avLst>
          </a:prstGeom>
          <a:solidFill>
            <a:srgbClr val="1A36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89774E5-507A-18F6-21C4-A67F9238D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5715000"/>
            <a:ext cx="381000" cy="381000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E5AB571D-8AB5-900D-191C-20A42FBC3D1E}"/>
              </a:ext>
            </a:extLst>
          </p:cNvPr>
          <p:cNvSpPr/>
          <p:nvPr/>
        </p:nvSpPr>
        <p:spPr>
          <a:xfrm>
            <a:off x="8636000" y="5334000"/>
            <a:ext cx="6096000" cy="2964426"/>
          </a:xfrm>
          <a:prstGeom prst="roundRect">
            <a:avLst>
              <a:gd name="adj" fmla="val 2222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DCH "</a:t>
            </a:r>
            <a:r>
              <a:rPr lang="zh-CN" altLang="en-US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固定层级并行训练</a:t>
            </a:r>
            <a:r>
              <a:rPr lang="en-US" altLang="zh-CN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预先设定最大层级数 </a:t>
            </a:r>
            <a:r>
              <a:rPr lang="zh-CN" altLang="en-US" sz="2400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，</a:t>
            </a:r>
            <a:r>
              <a:rPr lang="zh-CN" altLang="en-US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为每个玩家的每个层级单独启动一个训练进程。第 </a:t>
            </a:r>
            <a:r>
              <a:rPr lang="en-US" altLang="zh-CN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k </a:t>
            </a:r>
            <a:r>
              <a:rPr lang="zh-CN" altLang="en-US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级的智能体，只需要响应所有≤</a:t>
            </a:r>
            <a:r>
              <a:rPr lang="en-US" altLang="zh-CN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k </a:t>
            </a:r>
            <a:r>
              <a:rPr lang="zh-CN" altLang="en-US" sz="24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级的对手。所有进程同时训练，</a:t>
            </a:r>
            <a:endParaRPr lang="en-US" sz="2400" b="0" i="0" u="none" strike="noStrike" dirty="0">
              <a:solidFill>
                <a:srgbClr val="F0F4F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000A81D-A1A3-E296-3FB4-5CC77EBE529A}"/>
              </a:ext>
            </a:extLst>
          </p:cNvPr>
          <p:cNvSpPr/>
          <p:nvPr/>
        </p:nvSpPr>
        <p:spPr>
          <a:xfrm>
            <a:off x="8636000" y="5333999"/>
            <a:ext cx="101600" cy="2964425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C7B7B16F-87E7-8FA1-C60E-6212AE7AC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57150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1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DCH</a:t>
            </a:r>
            <a:r>
              <a:rPr lang="zh-CN" alt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深度认知层级</a:t>
            </a:r>
            <a:endParaRPr lang="en-US" sz="1100" b="1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2700000" cy="635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深度认知层</a:t>
            </a:r>
            <a:r>
              <a:rPr lang="zh-CN" alt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级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结构通过并行化</a:t>
            </a:r>
            <a:r>
              <a:rPr lang="zh-CN" altLang="en-US" sz="2400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和解耦元求解器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解决了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PSRO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的扩展性瓶颈</a:t>
            </a:r>
            <a:endParaRPr lang="zh-CN" alt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400" dirty="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3810000" cy="4665406"/>
          </a:xfrm>
          <a:prstGeom prst="roundRect">
            <a:avLst>
              <a:gd name="adj" fmla="val 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508000" rIns="254000" bIns="50800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并行层级训练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预设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K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个层级，启动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n×K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个多进程同时训练各自的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Oracle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策略。进程间周期性地通过中央磁盘同步较低层级的策略和元策略</a:t>
            </a:r>
            <a:r>
              <a:rPr lang="en-US" sz="16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3810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3020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080000" y="4953000"/>
            <a:ext cx="508000" cy="508000"/>
          </a:xfrm>
          <a:prstGeom prst="rightArrow">
            <a:avLst/>
          </a:prstGeom>
          <a:solidFill>
            <a:srgbClr val="C8D7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842000" y="3048000"/>
            <a:ext cx="3810000" cy="4665406"/>
          </a:xfrm>
          <a:prstGeom prst="roundRect">
            <a:avLst>
              <a:gd name="adj" fmla="val 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508000" rIns="254000" bIns="508000" rtlCol="0" anchor="t" anchorCtr="0">
            <a:normAutofit fontScale="9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解耦元求解器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zh-CN" altLang="en-US" sz="26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将离线保存每个策略对的收益转化为</a:t>
            </a:r>
            <a:r>
              <a:rPr lang="en-US" sz="26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在线对抗赌博机机制，在线估计收益。解耦了各智能体的策略计算，无需再显式存储呈指数增长的完整收益张量</a:t>
            </a:r>
            <a:endParaRPr lang="en-US" sz="26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42000" y="3048000"/>
            <a:ext cx="3810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302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906000" y="4953000"/>
            <a:ext cx="508000" cy="508000"/>
          </a:xfrm>
          <a:prstGeom prst="rightArrow">
            <a:avLst/>
          </a:prstGeom>
          <a:solidFill>
            <a:srgbClr val="C8D7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667999" y="3048000"/>
            <a:ext cx="4006645" cy="4665406"/>
          </a:xfrm>
          <a:prstGeom prst="roundRect">
            <a:avLst>
              <a:gd name="adj" fmla="val 200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254000" tIns="508000" rIns="254000" bIns="508000" rtlCol="0" anchor="t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800" b="1" i="0" u="none" strike="noStrik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空间</a:t>
            </a:r>
            <a:r>
              <a:rPr lang="en-US" sz="3800" b="1" i="0" u="none" strike="noStrik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消耗显著降低</a:t>
            </a:r>
            <a:endParaRPr lang="en-US" sz="38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800" b="0" i="0" u="none" strike="noStrike" dirty="0" err="1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将空间复杂度从</a:t>
            </a:r>
            <a:r>
              <a:rPr lang="en-US" sz="28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 PSRO 的 </a:t>
            </a:r>
            <a:r>
              <a:rPr lang="en-US" sz="2800" b="1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O(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K^n</a:t>
            </a:r>
            <a:r>
              <a:rPr lang="en-US" sz="2800" b="1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en-US" sz="2800" b="0" i="0" u="none" strike="noStrike" dirty="0" err="1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大幅度降低至</a:t>
            </a:r>
            <a:r>
              <a:rPr lang="en-US" sz="28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 DCH 的 </a:t>
            </a:r>
            <a:r>
              <a:rPr lang="en-US" sz="2800" b="1" i="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O(n²K²)</a:t>
            </a:r>
          </a:p>
          <a:p>
            <a:pPr indent="0" algn="l">
              <a:lnSpc>
                <a:spcPct val="133333"/>
              </a:lnSpc>
              <a:spcBef>
                <a:spcPts val="1500"/>
              </a:spcBef>
            </a:pPr>
            <a:r>
              <a:rPr lang="en-US" sz="2800" b="0" i="0" u="none" strike="noStrike" dirty="0" err="1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极大地提升了算法在多智能体大规模环境中的可扩展性</a:t>
            </a:r>
            <a:r>
              <a:rPr lang="en-US" sz="2800" b="0" i="0" u="none" strike="noStrike" dirty="0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668000" y="3048000"/>
            <a:ext cx="3810000" cy="76200"/>
          </a:xfrm>
          <a:prstGeom prst="roundRect">
            <a:avLst>
              <a:gd name="adj" fmla="val 0"/>
            </a:avLst>
          </a:prstGeom>
          <a:solidFill>
            <a:srgbClr val="63B3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2000" y="33020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独立学习在陌生策略下性能衰减超70%</a:t>
            </a:r>
            <a:endParaRPr lang="en-US" sz="3600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270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为量化过度拟合现象，研究提出了联合策略相关性（Joint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Policy Correlation,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JPC）指标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  <a:endParaRPr lang="en-US" sz="2400" dirty="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4318000" cy="4517922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环境设定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使用部分可观察的网格世界，智能体拥有局部的第一人称视野，并在地图中进行射击与收集得分，具有明显的竞争与合作动态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4318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4290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842000" y="3047999"/>
            <a:ext cx="4318000" cy="4517923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381000" rIns="381000" bIns="381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JPC </a:t>
            </a: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指标定义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通过计算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D×D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矩阵来量化策略间的兼容性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</a:t>
            </a:r>
          </a:p>
          <a:p>
            <a:pPr indent="0" algn="l">
              <a:lnSpc>
                <a:spcPct val="133333"/>
              </a:lnSpc>
              <a:spcBef>
                <a:spcPts val="1000"/>
              </a:spcBef>
            </a:pPr>
            <a:r>
              <a:rPr lang="en-US" sz="2400" b="1" i="0" u="none" strike="noStrike" dirty="0" err="1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对角线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：同源训练环境下的预期收益（已知对手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）</a:t>
            </a:r>
          </a:p>
          <a:p>
            <a:pPr indent="0" algn="l">
              <a:lnSpc>
                <a:spcPct val="133333"/>
              </a:lnSpc>
              <a:spcBef>
                <a:spcPts val="1000"/>
              </a:spcBef>
            </a:pPr>
            <a:r>
              <a:rPr lang="en-US" sz="2400" b="1" i="0" u="none" strike="noStrike" dirty="0" err="1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非对角线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：交叉测试环境下的预期收益</a:t>
            </a:r>
            <a:endParaRPr lang="en-US" sz="2400" b="0" i="0" u="none" strike="noStrike" dirty="0">
              <a:solidFill>
                <a:srgbClr val="4A55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3048000"/>
            <a:ext cx="4318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3429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668000" y="3048000"/>
            <a:ext cx="4318000" cy="4517922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381000" rIns="381000" bIns="381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严重衰减发现</a:t>
            </a:r>
            <a:endParaRPr lang="en-US" sz="32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独立强化学习（InRL）呈现出明显的过拟合现象。在复杂且部分可观察的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small4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地图上，平均交叉性能衰减率高达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71.7%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68000" y="3048000"/>
            <a:ext cx="43180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34290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DCH 显著缓解了过拟合并降低损失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5080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254000" rIns="254000" bIns="25400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Small 2 </a:t>
            </a:r>
            <a:r>
              <a:rPr lang="en-US" sz="2400" b="1" i="0" u="none" strike="noStrik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地图（高可见度</a:t>
            </a:r>
            <a:r>
              <a:rPr lang="en-US" sz="2400" b="1" i="0" u="none" strike="noStrik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）</a:t>
            </a:r>
            <a:endParaRPr lang="en-US" sz="2400" dirty="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JPC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损失率从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34.2%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下降至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5.5%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2400" b="0" i="0" u="none" strike="noStrike" dirty="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DCH </a:t>
            </a:r>
            <a:r>
              <a:rPr lang="en-US" sz="2400" b="0" i="0" u="none" strike="noStrike" dirty="0" err="1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成功保留了大部分效用</a:t>
            </a:r>
            <a:endParaRPr lang="en-US" sz="2400" b="0" i="0" u="none" strike="noStrike" dirty="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50800" cy="1905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445000"/>
            <a:ext cx="5080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254000" tIns="254000" rIns="254000" bIns="25400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Small 4 </a:t>
            </a:r>
            <a:r>
              <a:rPr lang="en-US" sz="2400" b="1" i="0" u="none" strike="noStrike" dirty="0" err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地图（低可见度</a:t>
            </a:r>
            <a:r>
              <a:rPr lang="en-US" sz="2400" b="1" i="0" u="none" strike="noStrike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）</a:t>
            </a:r>
            <a:endParaRPr lang="en-US" sz="2400" dirty="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JPC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损失率从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71.7%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锐减至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i="0" u="none" strike="noStrike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15.0%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2400" b="0" i="0" u="none" strike="noStrike" dirty="0" err="1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相对降低了</a:t>
            </a:r>
            <a:r>
              <a:rPr lang="en-US" sz="2400" b="0" i="0" u="none" strike="noStrike" dirty="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56.7% </a:t>
            </a:r>
            <a:r>
              <a:rPr lang="en-US" sz="2400" b="0" i="0" u="none" strike="noStrike" dirty="0" err="1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的性能衰减</a:t>
            </a:r>
            <a:endParaRPr lang="en-US" sz="2400" b="0" i="0" u="none" strike="noStrike" dirty="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44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6604000"/>
            <a:ext cx="5080000" cy="1778000"/>
          </a:xfrm>
          <a:prstGeom prst="roundRect">
            <a:avLst>
              <a:gd name="adj" fmla="val 3636"/>
            </a:avLst>
          </a:prstGeom>
          <a:solidFill>
            <a:srgbClr val="3182C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25400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结论</a:t>
            </a:r>
            <a:r>
              <a:rPr lang="en-US" sz="2000" b="1" i="0" u="none" strike="noStrike" dirty="0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：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随着环境部分可观察性增加，过拟合越严重。DCH算法通过引入元策略分布，显著提高了智能体在面对未知策略时的</a:t>
            </a:r>
            <a:r>
              <a:rPr lang="en-US" sz="2000" b="1" i="0" u="none" strike="noStrike" dirty="0" err="1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泛化鲁棒性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  <a:endParaRPr lang="en-US" sz="2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286000"/>
            <a:ext cx="8636000" cy="539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 </a:t>
            </a:r>
            <a:r>
              <a:rPr lang="en-US" sz="36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具备更强的弱对手剥削能力</a:t>
            </a:r>
            <a:endParaRPr lang="en-US" sz="3600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270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以 Leduc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德州扑克（不完美信息博弈）为环境，对比神经虚拟自我对弈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(NFSP)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和CFR基线算法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</a:t>
            </a:r>
            <a:endParaRPr lang="en-US" sz="2000" dirty="0"/>
          </a:p>
        </p:txBody>
      </p:sp>
      <p:sp>
        <p:nvSpPr>
          <p:cNvPr id="5" name="AutoShape 5"/>
          <p:cNvSpPr/>
          <p:nvPr/>
        </p:nvSpPr>
        <p:spPr>
          <a:xfrm>
            <a:off x="1524000" y="2794000"/>
            <a:ext cx="6096000" cy="4826000"/>
          </a:xfrm>
          <a:prstGeom prst="roundRect">
            <a:avLst>
              <a:gd name="adj" fmla="val 105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508000" tIns="508000" rIns="508000" bIns="508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均衡收敛（NashConv指标</a:t>
            </a:r>
            <a:r>
              <a:rPr lang="en-US" sz="24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）</a:t>
            </a:r>
            <a:endParaRPr lang="en-US" sz="24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NashConv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表示参与者偏离到最佳响应所能获得的收益总和，反映了策略距离纳什均衡的距离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33333"/>
              </a:lnSpc>
              <a:spcBef>
                <a:spcPts val="15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000" b="1" i="0" u="none" strike="noStrike" dirty="0" err="1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收敛速度快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：PSRO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和 DCH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在训练初期比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NFSP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下降更快，迅速接近均衡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33333"/>
              </a:lnSpc>
              <a:spcBef>
                <a:spcPts val="10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000" b="1" i="0" u="none" strike="noStrike" dirty="0" err="1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尾部表现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：NFSP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在后期收敛到更低的最终利用率，因为其在决策树深处能学到更准确的混合策略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524000" y="2794000"/>
            <a:ext cx="6096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317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382000" y="2794000"/>
            <a:ext cx="6096000" cy="4826000"/>
          </a:xfrm>
          <a:prstGeom prst="roundRect">
            <a:avLst>
              <a:gd name="adj" fmla="val 105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508000" tIns="508000" rIns="508000" bIns="508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对抗固定策略（反制与剥削</a:t>
            </a:r>
            <a:r>
              <a:rPr lang="en-US" sz="2400" b="1" i="0" u="none" strike="noStrike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）</a:t>
            </a:r>
            <a:endParaRPr lang="en-US" sz="2400" dirty="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与寻求“安全不败”的纯均衡解不同，实战中有效利用对手弱点同样重要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33333"/>
              </a:lnSpc>
              <a:spcBef>
                <a:spcPts val="15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000" b="1" i="0" u="none" strike="noStrike" dirty="0" err="1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剥削优势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：在对抗随机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Bot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及不完美的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CFR Bot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时，PSRO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和 DCH 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的表现均显著高于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NFSP。</a:t>
            </a:r>
          </a:p>
          <a:p>
            <a:pPr indent="0" algn="l">
              <a:lnSpc>
                <a:spcPct val="133333"/>
              </a:lnSpc>
              <a:spcBef>
                <a:spcPts val="1000"/>
              </a:spcBef>
            </a:pP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000" b="1" i="0" u="none" strike="noStrike" dirty="0" err="1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稳健反制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：预言机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(Oracle)</a:t>
            </a:r>
            <a:r>
              <a:rPr lang="en-US" sz="20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通过专门训练识别对手策略缺陷，从而形成更强大的稳健反制策略（Robust</a:t>
            </a:r>
            <a:r>
              <a:rPr lang="en-US" sz="20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Counter-Strategy）。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382000" y="2794000"/>
            <a:ext cx="6096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89000" y="317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4826000"/>
            <a:ext cx="508000" cy="508000"/>
          </a:xfrm>
          <a:prstGeom prst="ellipse">
            <a:avLst/>
          </a:prstGeom>
          <a:solidFill>
            <a:srgbClr val="F0F4F8">
              <a:alpha val="100000"/>
            </a:srgbClr>
          </a:solidFill>
          <a:ln w="25400" cap="flat" cmpd="sng">
            <a:solidFill>
              <a:srgbClr val="C8D7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元推理提升了强化学习策略的泛化性</a:t>
            </a:r>
            <a:endParaRPr lang="en-US" sz="3600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4318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182CE"/>
                </a:solidFill>
                <a:latin typeface="Inter"/>
                <a:ea typeface="Inter"/>
                <a:cs typeface="Inter"/>
                <a:sym typeface="Inter"/>
              </a:rPr>
              <a:t>理论创新</a:t>
            </a:r>
            <a:endParaRPr lang="en-US" sz="3200" dirty="0">
              <a:ea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提出了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PSRO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统一博弈论框架，涵盖了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InRL、FP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等多种经典强化学习方法。并且创新性地提出了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JPC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指标用于量化多智能体间的策略相关性与过拟合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318000" cy="762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175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842000" y="2794000"/>
            <a:ext cx="4318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实验成果</a:t>
            </a:r>
            <a:endParaRPr lang="en-US" sz="3200" dirty="0">
              <a:ea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DCH（深度认知层次结构）有效抑制了过度拟合并显著降低了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JPC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损失。在部分可观察协调博弈与非完美信息博弈中，生成了强大的稳健对抗策略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842000" y="2794000"/>
            <a:ext cx="4318000" cy="762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31750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668000" y="2794000"/>
            <a:ext cx="4318000" cy="4318000"/>
          </a:xfrm>
          <a:prstGeom prst="roundRect">
            <a:avLst>
              <a:gd name="adj" fmla="val 11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81000" tIns="508000" rIns="381000" bIns="508000" rtlCol="0" anchor="t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未来展望</a:t>
            </a:r>
            <a:endParaRPr lang="en-US" sz="3200" dirty="0">
              <a:ea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未来将考虑通过策略差异性损失惩罚来保持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Oracle </a:t>
            </a:r>
            <a:r>
              <a:rPr lang="en-US" sz="2400" b="0" i="0" u="none" strike="noStrik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预言机的多样性，研究一般响应图的拓扑结构，以及探索利用辅助任务进行快速在线自适应和行为预测</a:t>
            </a:r>
            <a:r>
              <a:rPr lang="en-US" sz="2400" b="0" i="0" u="none" strike="noStrik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668000" y="2794000"/>
            <a:ext cx="4318000" cy="76200"/>
          </a:xfrm>
          <a:prstGeom prst="roundRect">
            <a:avLst>
              <a:gd name="adj" fmla="val 0"/>
            </a:avLst>
          </a:prstGeom>
          <a:solidFill>
            <a:srgbClr val="1A36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31750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043">
                <a:alpha val="100000"/>
              </a:srgbClr>
            </a:gs>
            <a:gs pos="50000">
              <a:srgbClr val="1A365D">
                <a:alpha val="100000"/>
              </a:srgbClr>
            </a:gs>
            <a:gs pos="100000">
              <a:srgbClr val="3182C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10000"/>
              </a:srgbClr>
            </a:fgClr>
            <a:bgClr>
              <a:srgbClr val="000000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A1428">
                  <a:alpha val="8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6256000" cy="203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8000" b="1" i="0" u="none" strike="noStrik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敬请各位老师同学批评指正 </a:t>
            </a:r>
            <a:endParaRPr lang="en-US" sz="2400" b="0" i="0" u="none" strike="noStrike" dirty="0">
              <a:solidFill>
                <a:srgbClr val="A0BED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858000" y="584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PSRO 统一了多种经典强化学习算法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524000" y="2540000"/>
            <a:ext cx="6096000" cy="2286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Independent RL (InRL)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只对对手</a:t>
            </a:r>
            <a:r>
              <a:rPr lang="en-US" sz="1600" b="1" i="0" u="none" strike="noStrike">
                <a:solidFill>
                  <a:srgbClr val="3182CE"/>
                </a:solidFill>
                <a:latin typeface="Open Sans"/>
                <a:ea typeface="Open Sans"/>
                <a:cs typeface="Open Sans"/>
                <a:sym typeface="Open Sans"/>
              </a:rPr>
              <a:t>最新迭代</a:t>
            </a: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的策略做出响应。PSRO中将元策略概率固定在最新策略上即可等价为InRL。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524000" y="2540000"/>
            <a:ext cx="101600" cy="2286000"/>
          </a:xfrm>
          <a:prstGeom prst="roundRect">
            <a:avLst>
              <a:gd name="adj" fmla="val 0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2921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636000" y="2540000"/>
            <a:ext cx="6096000" cy="2286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Fictitious Play (虚拟对弈)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对对手所有历史策略的</a:t>
            </a:r>
            <a:r>
              <a:rPr lang="en-US" sz="1600" b="1" i="0" u="none" strike="noStrike">
                <a:solidFill>
                  <a:srgbClr val="2B6CB0"/>
                </a:solidFill>
                <a:latin typeface="Open Sans"/>
                <a:ea typeface="Open Sans"/>
                <a:cs typeface="Open Sans"/>
                <a:sym typeface="Open Sans"/>
              </a:rPr>
              <a:t>平均分布</a:t>
            </a: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进行响应。这对应于PSRO中使用均匀分布作为元策略。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636000" y="2540000"/>
            <a:ext cx="101600" cy="2286000"/>
          </a:xfrm>
          <a:prstGeom prst="roundRect">
            <a:avLst>
              <a:gd name="adj" fmla="val 0"/>
            </a:avLst>
          </a:prstGeom>
          <a:solidFill>
            <a:srgbClr val="2B6CB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000" y="29210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5334000"/>
            <a:ext cx="6096000" cy="2286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Double Oracle (DO)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对手策略分布收敛于当前元博弈的</a:t>
            </a:r>
            <a:r>
              <a:rPr lang="en-US" sz="1600" b="1" i="0" u="none" strike="noStrike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纳什均衡</a:t>
            </a:r>
            <a:r>
              <a:rPr lang="en-US" sz="1600" b="0" i="0" u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。PSRO在两人博弈下使用纳什均衡作为元分布即等价于DO。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524000" y="5334000"/>
            <a:ext cx="101600" cy="2286000"/>
          </a:xfrm>
          <a:prstGeom prst="roundRect">
            <a:avLst>
              <a:gd name="adj" fmla="val 0"/>
            </a:avLst>
          </a:prstGeom>
          <a:solidFill>
            <a:srgbClr val="1A36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57150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636000" y="5334000"/>
            <a:ext cx="6096000" cy="2286000"/>
          </a:xfrm>
          <a:prstGeom prst="roundRect">
            <a:avLst>
              <a:gd name="adj" fmla="val 2222"/>
            </a:avLst>
          </a:prstGeom>
          <a:solidFill>
            <a:srgbClr val="3182C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1016000" tIns="381000" rIns="381000" bIns="38100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PSRO的统一性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作为一个通用框架，通过灵活调整</a:t>
            </a:r>
            <a:r>
              <a:rPr lang="en-US" sz="1600" b="1" i="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元求解器（Meta-Solver）</a:t>
            </a:r>
            <a:r>
              <a:rPr lang="en-US" sz="1600" b="0" i="0" u="none" strike="noStrike">
                <a:solidFill>
                  <a:srgbClr val="F0F4F8"/>
                </a:solidFill>
                <a:latin typeface="Open Sans"/>
                <a:ea typeface="Open Sans"/>
                <a:cs typeface="Open Sans"/>
                <a:sym typeface="Open Sans"/>
              </a:rPr>
              <a:t>的分布采样方式，完美涵盖并推广了上述所有经典算法。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636000" y="5334000"/>
            <a:ext cx="1016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0" y="57150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Office PowerPoint</Application>
  <PresentationFormat>自定义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Inter</vt:lpstr>
      <vt:lpstr>Space Grotesk</vt:lpstr>
      <vt:lpstr>Arial</vt:lpstr>
      <vt:lpstr>Open 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振毫 刘</cp:lastModifiedBy>
  <cp:revision>2</cp:revision>
  <dcterms:modified xsi:type="dcterms:W3CDTF">2026-05-25T17:14:08Z</dcterms:modified>
</cp:coreProperties>
</file>