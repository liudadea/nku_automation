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9"/>
  </p:notesMasterIdLst>
  <p:sldIdLst>
    <p:sldId id="257" r:id="rId3"/>
    <p:sldId id="258" r:id="rId4"/>
    <p:sldId id="308" r:id="rId5"/>
    <p:sldId id="309" r:id="rId6"/>
    <p:sldId id="307" r:id="rId7"/>
    <p:sldId id="270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3854" userDrawn="1">
          <p15:clr>
            <a:srgbClr val="A4A3A4"/>
          </p15:clr>
        </p15:guide>
        <p15:guide id="3" orient="horz" pos="968" userDrawn="1">
          <p15:clr>
            <a:srgbClr val="A4A3A4"/>
          </p15:clr>
        </p15:guide>
        <p15:guide id="4" pos="27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BDF3"/>
    <a:srgbClr val="EDA182"/>
    <a:srgbClr val="AAC4DD"/>
    <a:srgbClr val="F2C6B0"/>
    <a:srgbClr val="F3F5F7"/>
    <a:srgbClr val="163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64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114" y="258"/>
      </p:cViewPr>
      <p:guideLst>
        <p:guide orient="horz" pos="2212"/>
        <p:guide pos="3854"/>
        <p:guide orient="horz" pos="968"/>
        <p:guide pos="27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0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F43753-EE0A-466C-B4F8-21D9C2E9EA46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104890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90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4890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90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553BD-886F-4E5A-AB83-DF8F9144A6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86"/>
          <p:cNvGrpSpPr/>
          <p:nvPr userDrawn="1"/>
        </p:nvGrpSpPr>
        <p:grpSpPr>
          <a:xfrm>
            <a:off x="142834" y="2028719"/>
            <a:ext cx="2663220" cy="461665"/>
            <a:chOff x="215900" y="982915"/>
            <a:chExt cx="2663220" cy="461665"/>
          </a:xfrm>
        </p:grpSpPr>
        <p:cxnSp>
          <p:nvCxnSpPr>
            <p:cNvPr id="314573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1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2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03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5" name="组合 92"/>
          <p:cNvGrpSpPr/>
          <p:nvPr userDrawn="1"/>
        </p:nvGrpSpPr>
        <p:grpSpPr>
          <a:xfrm>
            <a:off x="142834" y="2662927"/>
            <a:ext cx="2663220" cy="461665"/>
            <a:chOff x="215900" y="982915"/>
            <a:chExt cx="2663220" cy="461665"/>
          </a:xfrm>
        </p:grpSpPr>
        <p:cxnSp>
          <p:nvCxnSpPr>
            <p:cNvPr id="314573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4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5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06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7" name="组合 98"/>
          <p:cNvGrpSpPr/>
          <p:nvPr userDrawn="1"/>
        </p:nvGrpSpPr>
        <p:grpSpPr>
          <a:xfrm>
            <a:off x="142834" y="3297135"/>
            <a:ext cx="2464614" cy="461665"/>
            <a:chOff x="215900" y="982915"/>
            <a:chExt cx="2464614" cy="461665"/>
          </a:xfrm>
        </p:grpSpPr>
        <p:cxnSp>
          <p:nvCxnSpPr>
            <p:cNvPr id="314573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07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8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09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9" name="组合 104"/>
          <p:cNvGrpSpPr/>
          <p:nvPr userDrawn="1"/>
        </p:nvGrpSpPr>
        <p:grpSpPr>
          <a:xfrm>
            <a:off x="142834" y="3931343"/>
            <a:ext cx="2459517" cy="461665"/>
            <a:chOff x="215900" y="982915"/>
            <a:chExt cx="2459517" cy="461665"/>
          </a:xfrm>
        </p:grpSpPr>
        <p:cxnSp>
          <p:nvCxnSpPr>
            <p:cNvPr id="314574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10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1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12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1" name="组合 110"/>
          <p:cNvGrpSpPr/>
          <p:nvPr userDrawn="1"/>
        </p:nvGrpSpPr>
        <p:grpSpPr>
          <a:xfrm>
            <a:off x="142834" y="4565551"/>
            <a:ext cx="2464614" cy="461665"/>
            <a:chOff x="215900" y="982915"/>
            <a:chExt cx="2464614" cy="461665"/>
          </a:xfrm>
        </p:grpSpPr>
        <p:cxnSp>
          <p:nvCxnSpPr>
            <p:cNvPr id="314574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13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4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15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16" name="矩形 116"/>
          <p:cNvSpPr/>
          <p:nvPr userDrawn="1"/>
        </p:nvSpPr>
        <p:spPr>
          <a:xfrm>
            <a:off x="385266" y="100490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17" name="箭头: 燕尾形 56"/>
          <p:cNvSpPr/>
          <p:nvPr userDrawn="1"/>
        </p:nvSpPr>
        <p:spPr>
          <a:xfrm rot="5400000">
            <a:off x="1179036" y="161537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矩形 6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"/>
          <p:cNvGrpSpPr/>
          <p:nvPr userDrawn="1"/>
        </p:nvGrpSpPr>
        <p:grpSpPr>
          <a:xfrm>
            <a:off x="142834" y="1857269"/>
            <a:ext cx="2464614" cy="461665"/>
            <a:chOff x="215900" y="982915"/>
            <a:chExt cx="2464614" cy="461665"/>
          </a:xfrm>
        </p:grpSpPr>
        <p:cxnSp>
          <p:nvCxnSpPr>
            <p:cNvPr id="3145742" name="直接连接符 8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组合 9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4" name="矩形 10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5" name="矩形 11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26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组合 13"/>
          <p:cNvGrpSpPr/>
          <p:nvPr userDrawn="1"/>
        </p:nvGrpSpPr>
        <p:grpSpPr>
          <a:xfrm>
            <a:off x="142834" y="2491477"/>
            <a:ext cx="2464614" cy="461665"/>
            <a:chOff x="215900" y="982915"/>
            <a:chExt cx="2464614" cy="461665"/>
          </a:xfrm>
        </p:grpSpPr>
        <p:cxnSp>
          <p:nvCxnSpPr>
            <p:cNvPr id="3145743" name="直接连接符 14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15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7" name="矩形 16"/>
              <p:cNvSpPr/>
              <p:nvPr/>
            </p:nvSpPr>
            <p:spPr>
              <a:xfrm>
                <a:off x="215900" y="982915"/>
                <a:ext cx="33591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8" name="矩形 17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研究对象与研究内容</a:t>
                </a:r>
                <a:endParaRPr lang="zh-CN" altLang="en-US" sz="1600" dirty="0">
                  <a:solidFill>
                    <a:schemeClr val="bg1">
                      <a:alpha val="35000"/>
                    </a:schemeClr>
                  </a:solidFill>
                </a:endParaRPr>
              </a:p>
            </p:txBody>
          </p:sp>
          <p:sp>
            <p:nvSpPr>
              <p:cNvPr id="1048829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9" name="组合 19"/>
          <p:cNvGrpSpPr/>
          <p:nvPr userDrawn="1"/>
        </p:nvGrpSpPr>
        <p:grpSpPr>
          <a:xfrm>
            <a:off x="142834" y="3125685"/>
            <a:ext cx="2464614" cy="461665"/>
            <a:chOff x="215900" y="982915"/>
            <a:chExt cx="2464614" cy="461665"/>
          </a:xfrm>
        </p:grpSpPr>
        <p:cxnSp>
          <p:nvCxnSpPr>
            <p:cNvPr id="3145744" name="直接连接符 20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21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0" name="矩形 22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1" name="矩形 23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32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1" name="组合 25"/>
          <p:cNvGrpSpPr/>
          <p:nvPr userDrawn="1"/>
        </p:nvGrpSpPr>
        <p:grpSpPr>
          <a:xfrm>
            <a:off x="142834" y="3759893"/>
            <a:ext cx="2459517" cy="461665"/>
            <a:chOff x="215900" y="982915"/>
            <a:chExt cx="2459517" cy="461665"/>
          </a:xfrm>
        </p:grpSpPr>
        <p:cxnSp>
          <p:nvCxnSpPr>
            <p:cNvPr id="3145745" name="直接连接符 26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27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33" name="矩形 28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4" name="矩形 29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35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3" name="组合 31"/>
          <p:cNvGrpSpPr/>
          <p:nvPr userDrawn="1"/>
        </p:nvGrpSpPr>
        <p:grpSpPr>
          <a:xfrm>
            <a:off x="142834" y="4394101"/>
            <a:ext cx="2464614" cy="461665"/>
            <a:chOff x="215900" y="982915"/>
            <a:chExt cx="2464614" cy="461665"/>
          </a:xfrm>
        </p:grpSpPr>
        <p:cxnSp>
          <p:nvCxnSpPr>
            <p:cNvPr id="3145746" name="直接连接符 32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33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6" name="矩形 34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7" name="矩形 35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38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39" name="矩形 55"/>
          <p:cNvSpPr/>
          <p:nvPr userDrawn="1"/>
        </p:nvSpPr>
        <p:spPr>
          <a:xfrm>
            <a:off x="441781" y="93061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40" name="箭头: 燕尾形 56"/>
          <p:cNvSpPr/>
          <p:nvPr userDrawn="1"/>
        </p:nvSpPr>
        <p:spPr>
          <a:xfrm rot="5400000">
            <a:off x="1235551" y="154108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矩形 85"/>
          <p:cNvSpPr/>
          <p:nvPr userDrawn="1"/>
        </p:nvSpPr>
        <p:spPr>
          <a:xfrm>
            <a:off x="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6"/>
          <p:cNvGrpSpPr/>
          <p:nvPr userDrawn="1"/>
        </p:nvGrpSpPr>
        <p:grpSpPr>
          <a:xfrm>
            <a:off x="118069" y="2199534"/>
            <a:ext cx="2464614" cy="461665"/>
            <a:chOff x="215900" y="982915"/>
            <a:chExt cx="2464614" cy="461665"/>
          </a:xfrm>
        </p:grpSpPr>
        <p:cxnSp>
          <p:nvCxnSpPr>
            <p:cNvPr id="314574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42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43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44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组合 92"/>
          <p:cNvGrpSpPr/>
          <p:nvPr userDrawn="1"/>
        </p:nvGrpSpPr>
        <p:grpSpPr>
          <a:xfrm>
            <a:off x="118069" y="2833742"/>
            <a:ext cx="2663220" cy="461665"/>
            <a:chOff x="215900" y="982915"/>
            <a:chExt cx="2663220" cy="461665"/>
          </a:xfrm>
        </p:grpSpPr>
        <p:cxnSp>
          <p:nvCxnSpPr>
            <p:cNvPr id="314574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45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6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47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0" name="组合 98"/>
          <p:cNvGrpSpPr/>
          <p:nvPr userDrawn="1"/>
        </p:nvGrpSpPr>
        <p:grpSpPr>
          <a:xfrm>
            <a:off x="118069" y="3467950"/>
            <a:ext cx="2464614" cy="461665"/>
            <a:chOff x="215900" y="982915"/>
            <a:chExt cx="2464614" cy="461665"/>
          </a:xfrm>
        </p:grpSpPr>
        <p:cxnSp>
          <p:nvCxnSpPr>
            <p:cNvPr id="314574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48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9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50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2" name="组合 104"/>
          <p:cNvGrpSpPr/>
          <p:nvPr userDrawn="1"/>
        </p:nvGrpSpPr>
        <p:grpSpPr>
          <a:xfrm>
            <a:off x="118069" y="4102158"/>
            <a:ext cx="2311400" cy="461665"/>
            <a:chOff x="215900" y="982915"/>
            <a:chExt cx="2311400" cy="461665"/>
          </a:xfrm>
        </p:grpSpPr>
        <p:cxnSp>
          <p:nvCxnSpPr>
            <p:cNvPr id="314575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106"/>
            <p:cNvGrpSpPr/>
            <p:nvPr/>
          </p:nvGrpSpPr>
          <p:grpSpPr>
            <a:xfrm>
              <a:off x="215900" y="982915"/>
              <a:ext cx="2261414" cy="460375"/>
              <a:chOff x="215900" y="982915"/>
              <a:chExt cx="2261414" cy="460375"/>
            </a:xfrm>
          </p:grpSpPr>
          <p:sp>
            <p:nvSpPr>
              <p:cNvPr id="1048851" name="矩形 107"/>
              <p:cNvSpPr/>
              <p:nvPr/>
            </p:nvSpPr>
            <p:spPr>
              <a:xfrm>
                <a:off x="215900" y="982915"/>
                <a:ext cx="3352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52" name="矩形 108"/>
              <p:cNvSpPr/>
              <p:nvPr/>
            </p:nvSpPr>
            <p:spPr>
              <a:xfrm>
                <a:off x="668834" y="1044470"/>
                <a:ext cx="18084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重难点与创新之处</a:t>
                </a:r>
              </a:p>
            </p:txBody>
          </p:sp>
          <p:sp>
            <p:nvSpPr>
              <p:cNvPr id="1048853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4" name="组合 110"/>
          <p:cNvGrpSpPr/>
          <p:nvPr userDrawn="1"/>
        </p:nvGrpSpPr>
        <p:grpSpPr>
          <a:xfrm>
            <a:off x="118069" y="4736366"/>
            <a:ext cx="2464614" cy="461665"/>
            <a:chOff x="215900" y="982915"/>
            <a:chExt cx="2464614" cy="461665"/>
          </a:xfrm>
        </p:grpSpPr>
        <p:cxnSp>
          <p:nvCxnSpPr>
            <p:cNvPr id="314575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54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55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56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57" name="矩形 116"/>
          <p:cNvSpPr/>
          <p:nvPr userDrawn="1"/>
        </p:nvSpPr>
        <p:spPr>
          <a:xfrm>
            <a:off x="429081" y="130272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58" name="箭头: 燕尾形 56"/>
          <p:cNvSpPr/>
          <p:nvPr userDrawn="1"/>
        </p:nvSpPr>
        <p:spPr>
          <a:xfrm rot="5400000">
            <a:off x="1222851" y="191319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矩形 103"/>
          <p:cNvSpPr/>
          <p:nvPr userDrawn="1"/>
        </p:nvSpPr>
        <p:spPr>
          <a:xfrm>
            <a:off x="-19685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104"/>
          <p:cNvGrpSpPr/>
          <p:nvPr userDrawn="1"/>
        </p:nvGrpSpPr>
        <p:grpSpPr>
          <a:xfrm>
            <a:off x="143469" y="2113809"/>
            <a:ext cx="2464614" cy="461665"/>
            <a:chOff x="215900" y="982915"/>
            <a:chExt cx="2464614" cy="461665"/>
          </a:xfrm>
        </p:grpSpPr>
        <p:cxnSp>
          <p:nvCxnSpPr>
            <p:cNvPr id="3145752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106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0" name="矩形 107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1" name="矩形 108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62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组合 110"/>
          <p:cNvGrpSpPr/>
          <p:nvPr userDrawn="1"/>
        </p:nvGrpSpPr>
        <p:grpSpPr>
          <a:xfrm>
            <a:off x="143469" y="2748017"/>
            <a:ext cx="2663220" cy="461665"/>
            <a:chOff x="215900" y="982915"/>
            <a:chExt cx="2663220" cy="461665"/>
          </a:xfrm>
        </p:grpSpPr>
        <p:cxnSp>
          <p:nvCxnSpPr>
            <p:cNvPr id="3145753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112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63" name="矩形 113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64" name="矩形 114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65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1" name="组合 116"/>
          <p:cNvGrpSpPr/>
          <p:nvPr userDrawn="1"/>
        </p:nvGrpSpPr>
        <p:grpSpPr>
          <a:xfrm>
            <a:off x="143469" y="3382225"/>
            <a:ext cx="2464614" cy="461665"/>
            <a:chOff x="215900" y="982915"/>
            <a:chExt cx="2464614" cy="461665"/>
          </a:xfrm>
        </p:grpSpPr>
        <p:cxnSp>
          <p:nvCxnSpPr>
            <p:cNvPr id="3145754" name="直接连接符 11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组合 11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6" name="矩形 119"/>
              <p:cNvSpPr/>
              <p:nvPr/>
            </p:nvSpPr>
            <p:spPr>
              <a:xfrm>
                <a:off x="215900" y="982915"/>
                <a:ext cx="34480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7" name="矩形 12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核心方法与技术路线</a:t>
                </a:r>
              </a:p>
            </p:txBody>
          </p:sp>
          <p:sp>
            <p:nvSpPr>
              <p:cNvPr id="1048868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3" name="组合 122"/>
          <p:cNvGrpSpPr/>
          <p:nvPr userDrawn="1"/>
        </p:nvGrpSpPr>
        <p:grpSpPr>
          <a:xfrm>
            <a:off x="143469" y="4016433"/>
            <a:ext cx="2459517" cy="461665"/>
            <a:chOff x="215900" y="982915"/>
            <a:chExt cx="2459517" cy="461665"/>
          </a:xfrm>
        </p:grpSpPr>
        <p:cxnSp>
          <p:nvCxnSpPr>
            <p:cNvPr id="3145755" name="直接连接符 12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24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69" name="矩形 12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0" name="矩形 126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71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5" name="组合 128"/>
          <p:cNvGrpSpPr/>
          <p:nvPr userDrawn="1"/>
        </p:nvGrpSpPr>
        <p:grpSpPr>
          <a:xfrm>
            <a:off x="143469" y="4650641"/>
            <a:ext cx="2464614" cy="461665"/>
            <a:chOff x="215900" y="982915"/>
            <a:chExt cx="2464614" cy="461665"/>
          </a:xfrm>
        </p:grpSpPr>
        <p:cxnSp>
          <p:nvCxnSpPr>
            <p:cNvPr id="3145756" name="直接连接符 12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3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72" name="矩形 131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3" name="矩形 13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74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75" name="矩形 134"/>
          <p:cNvSpPr/>
          <p:nvPr userDrawn="1"/>
        </p:nvSpPr>
        <p:spPr>
          <a:xfrm>
            <a:off x="454481" y="121699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76" name="箭头: 燕尾形 56"/>
          <p:cNvSpPr/>
          <p:nvPr userDrawn="1"/>
        </p:nvSpPr>
        <p:spPr>
          <a:xfrm rot="5400000">
            <a:off x="1248251" y="182746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86"/>
          <p:cNvGrpSpPr/>
          <p:nvPr userDrawn="1"/>
        </p:nvGrpSpPr>
        <p:grpSpPr>
          <a:xfrm>
            <a:off x="96479" y="2082694"/>
            <a:ext cx="2464614" cy="461665"/>
            <a:chOff x="215900" y="982915"/>
            <a:chExt cx="2464614" cy="461665"/>
          </a:xfrm>
        </p:grpSpPr>
        <p:cxnSp>
          <p:nvCxnSpPr>
            <p:cNvPr id="3145732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83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84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785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组合 92"/>
          <p:cNvGrpSpPr/>
          <p:nvPr userDrawn="1"/>
        </p:nvGrpSpPr>
        <p:grpSpPr>
          <a:xfrm>
            <a:off x="96479" y="2716902"/>
            <a:ext cx="2663220" cy="461665"/>
            <a:chOff x="215900" y="982915"/>
            <a:chExt cx="2663220" cy="461665"/>
          </a:xfrm>
        </p:grpSpPr>
        <p:cxnSp>
          <p:nvCxnSpPr>
            <p:cNvPr id="3145733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786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87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788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6" name="组合 98"/>
          <p:cNvGrpSpPr/>
          <p:nvPr userDrawn="1"/>
        </p:nvGrpSpPr>
        <p:grpSpPr>
          <a:xfrm>
            <a:off x="96479" y="3351110"/>
            <a:ext cx="2464614" cy="461665"/>
            <a:chOff x="215900" y="982915"/>
            <a:chExt cx="2464614" cy="461665"/>
          </a:xfrm>
        </p:grpSpPr>
        <p:cxnSp>
          <p:nvCxnSpPr>
            <p:cNvPr id="3145734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789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0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791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8" name="组合 104"/>
          <p:cNvGrpSpPr/>
          <p:nvPr userDrawn="1"/>
        </p:nvGrpSpPr>
        <p:grpSpPr>
          <a:xfrm>
            <a:off x="96479" y="3985318"/>
            <a:ext cx="2459517" cy="461665"/>
            <a:chOff x="215900" y="982915"/>
            <a:chExt cx="2459517" cy="461665"/>
          </a:xfrm>
        </p:grpSpPr>
        <p:cxnSp>
          <p:nvCxnSpPr>
            <p:cNvPr id="3145735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792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3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794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0" name="组合 110"/>
          <p:cNvGrpSpPr/>
          <p:nvPr userDrawn="1"/>
        </p:nvGrpSpPr>
        <p:grpSpPr>
          <a:xfrm>
            <a:off x="96479" y="4619526"/>
            <a:ext cx="2464614" cy="461665"/>
            <a:chOff x="215900" y="982915"/>
            <a:chExt cx="2464614" cy="461665"/>
          </a:xfrm>
        </p:grpSpPr>
        <p:cxnSp>
          <p:nvCxnSpPr>
            <p:cNvPr id="3145736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112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95" name="矩形 113"/>
              <p:cNvSpPr/>
              <p:nvPr/>
            </p:nvSpPr>
            <p:spPr>
              <a:xfrm>
                <a:off x="215900" y="982915"/>
                <a:ext cx="34671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96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进度安排与预期成果</a:t>
                </a:r>
              </a:p>
            </p:txBody>
          </p:sp>
          <p:sp>
            <p:nvSpPr>
              <p:cNvPr id="1048797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798" name="矩形 116"/>
          <p:cNvSpPr/>
          <p:nvPr userDrawn="1"/>
        </p:nvSpPr>
        <p:spPr>
          <a:xfrm>
            <a:off x="407491" y="118588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799" name="箭头: 燕尾形 56"/>
          <p:cNvSpPr/>
          <p:nvPr userDrawn="1"/>
        </p:nvSpPr>
        <p:spPr>
          <a:xfrm rot="5400000">
            <a:off x="1201261" y="179635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86"/>
          <p:cNvGrpSpPr/>
          <p:nvPr userDrawn="1"/>
        </p:nvGrpSpPr>
        <p:grpSpPr>
          <a:xfrm>
            <a:off x="107274" y="1327044"/>
            <a:ext cx="2663220" cy="461665"/>
            <a:chOff x="215900" y="982915"/>
            <a:chExt cx="2663220" cy="461665"/>
          </a:xfrm>
        </p:grpSpPr>
        <p:cxnSp>
          <p:nvCxnSpPr>
            <p:cNvPr id="314575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78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9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80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0" name="组合 92"/>
          <p:cNvGrpSpPr/>
          <p:nvPr userDrawn="1"/>
        </p:nvGrpSpPr>
        <p:grpSpPr>
          <a:xfrm>
            <a:off x="107274" y="1961252"/>
            <a:ext cx="2663220" cy="461665"/>
            <a:chOff x="215900" y="982915"/>
            <a:chExt cx="2663220" cy="461665"/>
          </a:xfrm>
        </p:grpSpPr>
        <p:cxnSp>
          <p:nvCxnSpPr>
            <p:cNvPr id="314575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81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2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83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2" name="组合 98"/>
          <p:cNvGrpSpPr/>
          <p:nvPr userDrawn="1"/>
        </p:nvGrpSpPr>
        <p:grpSpPr>
          <a:xfrm>
            <a:off x="107274" y="2595460"/>
            <a:ext cx="2464614" cy="461665"/>
            <a:chOff x="215900" y="982915"/>
            <a:chExt cx="2464614" cy="461665"/>
          </a:xfrm>
        </p:grpSpPr>
        <p:cxnSp>
          <p:nvCxnSpPr>
            <p:cNvPr id="314575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84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5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86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4" name="组合 104"/>
          <p:cNvGrpSpPr/>
          <p:nvPr userDrawn="1"/>
        </p:nvGrpSpPr>
        <p:grpSpPr>
          <a:xfrm>
            <a:off x="107274" y="3229668"/>
            <a:ext cx="2459517" cy="461665"/>
            <a:chOff x="215900" y="982915"/>
            <a:chExt cx="2459517" cy="461665"/>
          </a:xfrm>
        </p:grpSpPr>
        <p:cxnSp>
          <p:nvCxnSpPr>
            <p:cNvPr id="314576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87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8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89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6" name="组合 110"/>
          <p:cNvGrpSpPr/>
          <p:nvPr userDrawn="1"/>
        </p:nvGrpSpPr>
        <p:grpSpPr>
          <a:xfrm>
            <a:off x="107274" y="3863876"/>
            <a:ext cx="2464614" cy="461665"/>
            <a:chOff x="215900" y="982915"/>
            <a:chExt cx="2464614" cy="461665"/>
          </a:xfrm>
        </p:grpSpPr>
        <p:cxnSp>
          <p:nvCxnSpPr>
            <p:cNvPr id="314576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90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91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92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93" name="矩形 116"/>
          <p:cNvSpPr/>
          <p:nvPr userDrawn="1"/>
        </p:nvSpPr>
        <p:spPr>
          <a:xfrm>
            <a:off x="418286" y="43023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94" name="箭头: 燕尾形 56"/>
          <p:cNvSpPr/>
          <p:nvPr userDrawn="1"/>
        </p:nvSpPr>
        <p:spPr>
          <a:xfrm rot="5400000">
            <a:off x="1212056" y="104070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6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10488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104881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21" name="任意多边形: 形状 4"/>
          <p:cNvSpPr/>
          <p:nvPr userDrawn="1"/>
        </p:nvSpPr>
        <p:spPr>
          <a:xfrm>
            <a:off x="359366" y="6735098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22" name="任意多边形: 形状 5"/>
          <p:cNvSpPr/>
          <p:nvPr userDrawn="1"/>
        </p:nvSpPr>
        <p:spPr>
          <a:xfrm flipV="1">
            <a:off x="359366" y="-4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3" name="组合 86"/>
          <p:cNvGrpSpPr/>
          <p:nvPr userDrawn="1"/>
        </p:nvGrpSpPr>
        <p:grpSpPr>
          <a:xfrm>
            <a:off x="142834" y="2028719"/>
            <a:ext cx="2663220" cy="461665"/>
            <a:chOff x="215900" y="982915"/>
            <a:chExt cx="2663220" cy="461665"/>
          </a:xfrm>
        </p:grpSpPr>
        <p:cxnSp>
          <p:nvCxnSpPr>
            <p:cNvPr id="314573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1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2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03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5" name="组合 92"/>
          <p:cNvGrpSpPr/>
          <p:nvPr userDrawn="1"/>
        </p:nvGrpSpPr>
        <p:grpSpPr>
          <a:xfrm>
            <a:off x="142834" y="2662927"/>
            <a:ext cx="2663220" cy="461665"/>
            <a:chOff x="215900" y="982915"/>
            <a:chExt cx="2663220" cy="461665"/>
          </a:xfrm>
        </p:grpSpPr>
        <p:cxnSp>
          <p:nvCxnSpPr>
            <p:cNvPr id="314573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04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5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06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7" name="组合 98"/>
          <p:cNvGrpSpPr/>
          <p:nvPr userDrawn="1"/>
        </p:nvGrpSpPr>
        <p:grpSpPr>
          <a:xfrm>
            <a:off x="142834" y="3297135"/>
            <a:ext cx="2464614" cy="461665"/>
            <a:chOff x="215900" y="982915"/>
            <a:chExt cx="2464614" cy="461665"/>
          </a:xfrm>
        </p:grpSpPr>
        <p:cxnSp>
          <p:nvCxnSpPr>
            <p:cNvPr id="314573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07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08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09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9" name="组合 104"/>
          <p:cNvGrpSpPr/>
          <p:nvPr userDrawn="1"/>
        </p:nvGrpSpPr>
        <p:grpSpPr>
          <a:xfrm>
            <a:off x="142834" y="3931343"/>
            <a:ext cx="2459517" cy="461665"/>
            <a:chOff x="215900" y="982915"/>
            <a:chExt cx="2459517" cy="461665"/>
          </a:xfrm>
        </p:grpSpPr>
        <p:cxnSp>
          <p:nvCxnSpPr>
            <p:cNvPr id="314574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10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1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12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1" name="组合 110"/>
          <p:cNvGrpSpPr/>
          <p:nvPr userDrawn="1"/>
        </p:nvGrpSpPr>
        <p:grpSpPr>
          <a:xfrm>
            <a:off x="142834" y="4565551"/>
            <a:ext cx="2464614" cy="461665"/>
            <a:chOff x="215900" y="982915"/>
            <a:chExt cx="2464614" cy="461665"/>
          </a:xfrm>
        </p:grpSpPr>
        <p:cxnSp>
          <p:nvCxnSpPr>
            <p:cNvPr id="314574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2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13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14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15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16" name="矩形 116"/>
          <p:cNvSpPr/>
          <p:nvPr userDrawn="1"/>
        </p:nvSpPr>
        <p:spPr>
          <a:xfrm>
            <a:off x="385266" y="100490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17" name="箭头: 燕尾形 56"/>
          <p:cNvSpPr/>
          <p:nvPr userDrawn="1"/>
        </p:nvSpPr>
        <p:spPr>
          <a:xfrm rot="5400000">
            <a:off x="1179036" y="161537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矩形 6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组合 7"/>
          <p:cNvGrpSpPr/>
          <p:nvPr userDrawn="1"/>
        </p:nvGrpSpPr>
        <p:grpSpPr>
          <a:xfrm>
            <a:off x="142834" y="1857269"/>
            <a:ext cx="2464614" cy="461665"/>
            <a:chOff x="215900" y="982915"/>
            <a:chExt cx="2464614" cy="461665"/>
          </a:xfrm>
        </p:grpSpPr>
        <p:cxnSp>
          <p:nvCxnSpPr>
            <p:cNvPr id="3145742" name="直接连接符 8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组合 9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4" name="矩形 10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5" name="矩形 11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26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7" name="组合 13"/>
          <p:cNvGrpSpPr/>
          <p:nvPr userDrawn="1"/>
        </p:nvGrpSpPr>
        <p:grpSpPr>
          <a:xfrm>
            <a:off x="142834" y="2491477"/>
            <a:ext cx="2464614" cy="461665"/>
            <a:chOff x="215900" y="982915"/>
            <a:chExt cx="2464614" cy="461665"/>
          </a:xfrm>
        </p:grpSpPr>
        <p:cxnSp>
          <p:nvCxnSpPr>
            <p:cNvPr id="3145743" name="直接连接符 14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15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27" name="矩形 16"/>
              <p:cNvSpPr/>
              <p:nvPr/>
            </p:nvSpPr>
            <p:spPr>
              <a:xfrm>
                <a:off x="215900" y="982915"/>
                <a:ext cx="33591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28" name="矩形 17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研究对象与研究内容</a:t>
                </a:r>
                <a:endParaRPr lang="zh-CN" altLang="en-US" sz="1600" dirty="0">
                  <a:solidFill>
                    <a:schemeClr val="bg1">
                      <a:alpha val="35000"/>
                    </a:schemeClr>
                  </a:solidFill>
                </a:endParaRPr>
              </a:p>
            </p:txBody>
          </p:sp>
          <p:sp>
            <p:nvSpPr>
              <p:cNvPr id="1048829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79" name="组合 19"/>
          <p:cNvGrpSpPr/>
          <p:nvPr userDrawn="1"/>
        </p:nvGrpSpPr>
        <p:grpSpPr>
          <a:xfrm>
            <a:off x="142834" y="3125685"/>
            <a:ext cx="2464614" cy="461665"/>
            <a:chOff x="215900" y="982915"/>
            <a:chExt cx="2464614" cy="461665"/>
          </a:xfrm>
        </p:grpSpPr>
        <p:cxnSp>
          <p:nvCxnSpPr>
            <p:cNvPr id="3145744" name="直接连接符 20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组合 21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0" name="矩形 22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1" name="矩形 23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32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1" name="组合 25"/>
          <p:cNvGrpSpPr/>
          <p:nvPr userDrawn="1"/>
        </p:nvGrpSpPr>
        <p:grpSpPr>
          <a:xfrm>
            <a:off x="142834" y="3759893"/>
            <a:ext cx="2459517" cy="461665"/>
            <a:chOff x="215900" y="982915"/>
            <a:chExt cx="2459517" cy="461665"/>
          </a:xfrm>
        </p:grpSpPr>
        <p:cxnSp>
          <p:nvCxnSpPr>
            <p:cNvPr id="3145745" name="直接连接符 26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2" name="组合 27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33" name="矩形 28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4" name="矩形 29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35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83" name="组合 31"/>
          <p:cNvGrpSpPr/>
          <p:nvPr userDrawn="1"/>
        </p:nvGrpSpPr>
        <p:grpSpPr>
          <a:xfrm>
            <a:off x="142834" y="4394101"/>
            <a:ext cx="2464614" cy="461665"/>
            <a:chOff x="215900" y="982915"/>
            <a:chExt cx="2464614" cy="461665"/>
          </a:xfrm>
        </p:grpSpPr>
        <p:cxnSp>
          <p:nvCxnSpPr>
            <p:cNvPr id="3145746" name="直接连接符 32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组合 33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36" name="矩形 34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37" name="矩形 35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38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39" name="矩形 55"/>
          <p:cNvSpPr/>
          <p:nvPr userDrawn="1"/>
        </p:nvSpPr>
        <p:spPr>
          <a:xfrm>
            <a:off x="441781" y="93061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40" name="箭头: 燕尾形 56"/>
          <p:cNvSpPr/>
          <p:nvPr userDrawn="1"/>
        </p:nvSpPr>
        <p:spPr>
          <a:xfrm rot="5400000">
            <a:off x="1235551" y="154108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矩形 85"/>
          <p:cNvSpPr/>
          <p:nvPr userDrawn="1"/>
        </p:nvSpPr>
        <p:spPr>
          <a:xfrm>
            <a:off x="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6"/>
          <p:cNvGrpSpPr/>
          <p:nvPr userDrawn="1"/>
        </p:nvGrpSpPr>
        <p:grpSpPr>
          <a:xfrm>
            <a:off x="118069" y="2199534"/>
            <a:ext cx="2464614" cy="461665"/>
            <a:chOff x="215900" y="982915"/>
            <a:chExt cx="2464614" cy="461665"/>
          </a:xfrm>
        </p:grpSpPr>
        <p:cxnSp>
          <p:nvCxnSpPr>
            <p:cNvPr id="314574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42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43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44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组合 92"/>
          <p:cNvGrpSpPr/>
          <p:nvPr userDrawn="1"/>
        </p:nvGrpSpPr>
        <p:grpSpPr>
          <a:xfrm>
            <a:off x="118069" y="2833742"/>
            <a:ext cx="2663220" cy="461665"/>
            <a:chOff x="215900" y="982915"/>
            <a:chExt cx="2663220" cy="461665"/>
          </a:xfrm>
        </p:grpSpPr>
        <p:cxnSp>
          <p:nvCxnSpPr>
            <p:cNvPr id="314574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45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6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47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0" name="组合 98"/>
          <p:cNvGrpSpPr/>
          <p:nvPr userDrawn="1"/>
        </p:nvGrpSpPr>
        <p:grpSpPr>
          <a:xfrm>
            <a:off x="118069" y="3467950"/>
            <a:ext cx="2464614" cy="461665"/>
            <a:chOff x="215900" y="982915"/>
            <a:chExt cx="2464614" cy="461665"/>
          </a:xfrm>
        </p:grpSpPr>
        <p:cxnSp>
          <p:nvCxnSpPr>
            <p:cNvPr id="314574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48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49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50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2" name="组合 104"/>
          <p:cNvGrpSpPr/>
          <p:nvPr userDrawn="1"/>
        </p:nvGrpSpPr>
        <p:grpSpPr>
          <a:xfrm>
            <a:off x="118069" y="4102158"/>
            <a:ext cx="2311400" cy="461665"/>
            <a:chOff x="215900" y="982915"/>
            <a:chExt cx="2311400" cy="461665"/>
          </a:xfrm>
        </p:grpSpPr>
        <p:cxnSp>
          <p:nvCxnSpPr>
            <p:cNvPr id="314575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3" name="组合 106"/>
            <p:cNvGrpSpPr/>
            <p:nvPr/>
          </p:nvGrpSpPr>
          <p:grpSpPr>
            <a:xfrm>
              <a:off x="215900" y="982915"/>
              <a:ext cx="2261414" cy="460375"/>
              <a:chOff x="215900" y="982915"/>
              <a:chExt cx="2261414" cy="460375"/>
            </a:xfrm>
          </p:grpSpPr>
          <p:sp>
            <p:nvSpPr>
              <p:cNvPr id="1048851" name="矩形 107"/>
              <p:cNvSpPr/>
              <p:nvPr/>
            </p:nvSpPr>
            <p:spPr>
              <a:xfrm>
                <a:off x="215900" y="982915"/>
                <a:ext cx="33528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52" name="矩形 108"/>
              <p:cNvSpPr/>
              <p:nvPr/>
            </p:nvSpPr>
            <p:spPr>
              <a:xfrm>
                <a:off x="668834" y="1044470"/>
                <a:ext cx="18084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重难点与创新之处</a:t>
                </a:r>
              </a:p>
            </p:txBody>
          </p:sp>
          <p:sp>
            <p:nvSpPr>
              <p:cNvPr id="1048853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94" name="组合 110"/>
          <p:cNvGrpSpPr/>
          <p:nvPr userDrawn="1"/>
        </p:nvGrpSpPr>
        <p:grpSpPr>
          <a:xfrm>
            <a:off x="118069" y="4736366"/>
            <a:ext cx="2464614" cy="461665"/>
            <a:chOff x="215900" y="982915"/>
            <a:chExt cx="2464614" cy="461665"/>
          </a:xfrm>
        </p:grpSpPr>
        <p:cxnSp>
          <p:nvCxnSpPr>
            <p:cNvPr id="314575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54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55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56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57" name="矩形 116"/>
          <p:cNvSpPr/>
          <p:nvPr userDrawn="1"/>
        </p:nvSpPr>
        <p:spPr>
          <a:xfrm>
            <a:off x="429081" y="130272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58" name="箭头: 燕尾形 56"/>
          <p:cNvSpPr/>
          <p:nvPr userDrawn="1"/>
        </p:nvSpPr>
        <p:spPr>
          <a:xfrm rot="5400000">
            <a:off x="1222851" y="191319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9" name="矩形 103"/>
          <p:cNvSpPr/>
          <p:nvPr userDrawn="1"/>
        </p:nvSpPr>
        <p:spPr>
          <a:xfrm>
            <a:off x="-19685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7" name="组合 104"/>
          <p:cNvGrpSpPr/>
          <p:nvPr userDrawn="1"/>
        </p:nvGrpSpPr>
        <p:grpSpPr>
          <a:xfrm>
            <a:off x="143469" y="2113809"/>
            <a:ext cx="2464614" cy="461665"/>
            <a:chOff x="215900" y="982915"/>
            <a:chExt cx="2464614" cy="461665"/>
          </a:xfrm>
        </p:grpSpPr>
        <p:cxnSp>
          <p:nvCxnSpPr>
            <p:cNvPr id="3145752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106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0" name="矩形 107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1" name="矩形 108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862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99" name="组合 110"/>
          <p:cNvGrpSpPr/>
          <p:nvPr userDrawn="1"/>
        </p:nvGrpSpPr>
        <p:grpSpPr>
          <a:xfrm>
            <a:off x="143469" y="2748017"/>
            <a:ext cx="2663220" cy="461665"/>
            <a:chOff x="215900" y="982915"/>
            <a:chExt cx="2663220" cy="461665"/>
          </a:xfrm>
        </p:grpSpPr>
        <p:cxnSp>
          <p:nvCxnSpPr>
            <p:cNvPr id="3145753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0" name="组合 112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63" name="矩形 113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64" name="矩形 114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65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1" name="组合 116"/>
          <p:cNvGrpSpPr/>
          <p:nvPr userDrawn="1"/>
        </p:nvGrpSpPr>
        <p:grpSpPr>
          <a:xfrm>
            <a:off x="143469" y="3382225"/>
            <a:ext cx="2464614" cy="461665"/>
            <a:chOff x="215900" y="982915"/>
            <a:chExt cx="2464614" cy="461665"/>
          </a:xfrm>
        </p:grpSpPr>
        <p:cxnSp>
          <p:nvCxnSpPr>
            <p:cNvPr id="3145754" name="直接连接符 11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" name="组合 11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866" name="矩形 119"/>
              <p:cNvSpPr/>
              <p:nvPr/>
            </p:nvSpPr>
            <p:spPr>
              <a:xfrm>
                <a:off x="215900" y="982915"/>
                <a:ext cx="34480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867" name="矩形 12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核心方法与技术路线</a:t>
                </a:r>
              </a:p>
            </p:txBody>
          </p:sp>
          <p:sp>
            <p:nvSpPr>
              <p:cNvPr id="1048868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3" name="组合 122"/>
          <p:cNvGrpSpPr/>
          <p:nvPr userDrawn="1"/>
        </p:nvGrpSpPr>
        <p:grpSpPr>
          <a:xfrm>
            <a:off x="143469" y="4016433"/>
            <a:ext cx="2459517" cy="461665"/>
            <a:chOff x="215900" y="982915"/>
            <a:chExt cx="2459517" cy="461665"/>
          </a:xfrm>
        </p:grpSpPr>
        <p:cxnSp>
          <p:nvCxnSpPr>
            <p:cNvPr id="3145755" name="直接连接符 12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组合 124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69" name="矩形 12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0" name="矩形 126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71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05" name="组合 128"/>
          <p:cNvGrpSpPr/>
          <p:nvPr userDrawn="1"/>
        </p:nvGrpSpPr>
        <p:grpSpPr>
          <a:xfrm>
            <a:off x="143469" y="4650641"/>
            <a:ext cx="2464614" cy="461665"/>
            <a:chOff x="215900" y="982915"/>
            <a:chExt cx="2464614" cy="461665"/>
          </a:xfrm>
        </p:grpSpPr>
        <p:cxnSp>
          <p:nvCxnSpPr>
            <p:cNvPr id="3145756" name="直接连接符 12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组合 13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72" name="矩形 131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3" name="矩形 13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74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75" name="矩形 134"/>
          <p:cNvSpPr/>
          <p:nvPr userDrawn="1"/>
        </p:nvSpPr>
        <p:spPr>
          <a:xfrm>
            <a:off x="454481" y="1216998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76" name="箭头: 燕尾形 56"/>
          <p:cNvSpPr/>
          <p:nvPr userDrawn="1"/>
        </p:nvSpPr>
        <p:spPr>
          <a:xfrm rot="5400000">
            <a:off x="1248251" y="1827469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2" name="组合 86"/>
          <p:cNvGrpSpPr/>
          <p:nvPr userDrawn="1"/>
        </p:nvGrpSpPr>
        <p:grpSpPr>
          <a:xfrm>
            <a:off x="96479" y="2082694"/>
            <a:ext cx="2464614" cy="461665"/>
            <a:chOff x="215900" y="982915"/>
            <a:chExt cx="2464614" cy="461665"/>
          </a:xfrm>
        </p:grpSpPr>
        <p:cxnSp>
          <p:nvCxnSpPr>
            <p:cNvPr id="3145732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组合 88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83" name="矩形 89"/>
              <p:cNvSpPr/>
              <p:nvPr/>
            </p:nvSpPr>
            <p:spPr>
              <a:xfrm>
                <a:off x="215900" y="982915"/>
                <a:ext cx="299085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en-US" altLang="zh-CN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84" name="矩形 90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研究背景与立项依据</a:t>
                </a:r>
              </a:p>
            </p:txBody>
          </p:sp>
          <p:sp>
            <p:nvSpPr>
              <p:cNvPr id="1048785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54" name="组合 92"/>
          <p:cNvGrpSpPr/>
          <p:nvPr userDrawn="1"/>
        </p:nvGrpSpPr>
        <p:grpSpPr>
          <a:xfrm>
            <a:off x="96479" y="2716902"/>
            <a:ext cx="2663220" cy="461665"/>
            <a:chOff x="215900" y="982915"/>
            <a:chExt cx="2663220" cy="461665"/>
          </a:xfrm>
        </p:grpSpPr>
        <p:cxnSp>
          <p:nvCxnSpPr>
            <p:cNvPr id="3145733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786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87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788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6" name="组合 98"/>
          <p:cNvGrpSpPr/>
          <p:nvPr userDrawn="1"/>
        </p:nvGrpSpPr>
        <p:grpSpPr>
          <a:xfrm>
            <a:off x="96479" y="3351110"/>
            <a:ext cx="2464614" cy="461665"/>
            <a:chOff x="215900" y="982915"/>
            <a:chExt cx="2464614" cy="461665"/>
          </a:xfrm>
        </p:grpSpPr>
        <p:cxnSp>
          <p:nvCxnSpPr>
            <p:cNvPr id="3145734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7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789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0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791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58" name="组合 104"/>
          <p:cNvGrpSpPr/>
          <p:nvPr userDrawn="1"/>
        </p:nvGrpSpPr>
        <p:grpSpPr>
          <a:xfrm>
            <a:off x="96479" y="3985318"/>
            <a:ext cx="2459517" cy="461665"/>
            <a:chOff x="215900" y="982915"/>
            <a:chExt cx="2459517" cy="461665"/>
          </a:xfrm>
        </p:grpSpPr>
        <p:cxnSp>
          <p:nvCxnSpPr>
            <p:cNvPr id="3145735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792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793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794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60" name="组合 110"/>
          <p:cNvGrpSpPr/>
          <p:nvPr userDrawn="1"/>
        </p:nvGrpSpPr>
        <p:grpSpPr>
          <a:xfrm>
            <a:off x="96479" y="4619526"/>
            <a:ext cx="2464614" cy="461665"/>
            <a:chOff x="215900" y="982915"/>
            <a:chExt cx="2464614" cy="461665"/>
          </a:xfrm>
        </p:grpSpPr>
        <p:cxnSp>
          <p:nvCxnSpPr>
            <p:cNvPr id="3145736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组合 112"/>
            <p:cNvGrpSpPr/>
            <p:nvPr/>
          </p:nvGrpSpPr>
          <p:grpSpPr>
            <a:xfrm>
              <a:off x="215900" y="982915"/>
              <a:ext cx="2464614" cy="460375"/>
              <a:chOff x="215900" y="982915"/>
              <a:chExt cx="2464614" cy="460375"/>
            </a:xfrm>
          </p:grpSpPr>
          <p:sp>
            <p:nvSpPr>
              <p:cNvPr id="1048795" name="矩形 113"/>
              <p:cNvSpPr/>
              <p:nvPr/>
            </p:nvSpPr>
            <p:spPr>
              <a:xfrm>
                <a:off x="215900" y="982915"/>
                <a:ext cx="346710" cy="4603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en-US" altLang="zh-CN" sz="2400" dirty="0">
                  <a:solidFill>
                    <a:schemeClr val="bg1"/>
                  </a:solidFill>
                  <a:latin typeface="Impact" panose="020B0806030902050204" pitchFamily="34" charset="0"/>
                  <a:cs typeface="+mn-ea"/>
                </a:endParaRPr>
              </a:p>
            </p:txBody>
          </p:sp>
          <p:sp>
            <p:nvSpPr>
              <p:cNvPr id="1048796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>
                  <a:buClrTx/>
                  <a:buSzTx/>
                  <a:buFontTx/>
                </a:pPr>
                <a:r>
                  <a:rPr lang="zh-CN" altLang="en-US" sz="1600" b="1" dirty="0">
                    <a:solidFill>
                      <a:schemeClr val="bg1"/>
                    </a:solidFill>
                  </a:rPr>
                  <a:t>进度安排与预期成果</a:t>
                </a:r>
              </a:p>
            </p:txBody>
          </p:sp>
          <p:sp>
            <p:nvSpPr>
              <p:cNvPr id="1048797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798" name="矩形 116"/>
          <p:cNvSpPr/>
          <p:nvPr userDrawn="1"/>
        </p:nvSpPr>
        <p:spPr>
          <a:xfrm>
            <a:off x="407491" y="118588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799" name="箭头: 燕尾形 56"/>
          <p:cNvSpPr/>
          <p:nvPr userDrawn="1"/>
        </p:nvSpPr>
        <p:spPr>
          <a:xfrm rot="5400000">
            <a:off x="1201261" y="179635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矩形 85"/>
          <p:cNvSpPr/>
          <p:nvPr userDrawn="1"/>
        </p:nvSpPr>
        <p:spPr>
          <a:xfrm>
            <a:off x="-20320" y="0"/>
            <a:ext cx="279019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8" name="组合 86"/>
          <p:cNvGrpSpPr/>
          <p:nvPr userDrawn="1"/>
        </p:nvGrpSpPr>
        <p:grpSpPr>
          <a:xfrm>
            <a:off x="107274" y="1327044"/>
            <a:ext cx="2663220" cy="461665"/>
            <a:chOff x="215900" y="982915"/>
            <a:chExt cx="2663220" cy="461665"/>
          </a:xfrm>
        </p:grpSpPr>
        <p:cxnSp>
          <p:nvCxnSpPr>
            <p:cNvPr id="3145757" name="直接连接符 87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组合 88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78" name="矩形 89"/>
              <p:cNvSpPr/>
              <p:nvPr/>
            </p:nvSpPr>
            <p:spPr>
              <a:xfrm>
                <a:off x="215900" y="982915"/>
                <a:ext cx="30168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1</a:t>
                </a:r>
                <a:endParaRPr lang="zh-CN" altLang="en-US" sz="2400" dirty="0">
                  <a:solidFill>
                    <a:schemeClr val="bg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79" name="矩形 90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bg1"/>
                    </a:solidFill>
                  </a:rPr>
                  <a:t>研究背景与立项依据</a:t>
                </a:r>
                <a:endParaRPr lang="en-US" altLang="zh-CN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048880" name="箭头: V 形 12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10" name="组合 92"/>
          <p:cNvGrpSpPr/>
          <p:nvPr userDrawn="1"/>
        </p:nvGrpSpPr>
        <p:grpSpPr>
          <a:xfrm>
            <a:off x="107274" y="1961252"/>
            <a:ext cx="2663220" cy="461665"/>
            <a:chOff x="215900" y="982915"/>
            <a:chExt cx="2663220" cy="461665"/>
          </a:xfrm>
        </p:grpSpPr>
        <p:cxnSp>
          <p:nvCxnSpPr>
            <p:cNvPr id="3145758" name="直接连接符 93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1" name="组合 94"/>
            <p:cNvGrpSpPr/>
            <p:nvPr/>
          </p:nvGrpSpPr>
          <p:grpSpPr>
            <a:xfrm>
              <a:off x="215900" y="982915"/>
              <a:ext cx="2663220" cy="461665"/>
              <a:chOff x="215900" y="982915"/>
              <a:chExt cx="2663220" cy="461665"/>
            </a:xfrm>
          </p:grpSpPr>
          <p:sp>
            <p:nvSpPr>
              <p:cNvPr id="1048881" name="矩形 95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2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2" name="矩形 96"/>
              <p:cNvSpPr/>
              <p:nvPr/>
            </p:nvSpPr>
            <p:spPr>
              <a:xfrm>
                <a:off x="668834" y="1044470"/>
                <a:ext cx="2210286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研究对象与研究内容</a:t>
                </a:r>
              </a:p>
            </p:txBody>
          </p:sp>
          <p:sp>
            <p:nvSpPr>
              <p:cNvPr id="1048883" name="箭头: V 形 18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2" name="组合 98"/>
          <p:cNvGrpSpPr/>
          <p:nvPr userDrawn="1"/>
        </p:nvGrpSpPr>
        <p:grpSpPr>
          <a:xfrm>
            <a:off x="107274" y="2595460"/>
            <a:ext cx="2464614" cy="461665"/>
            <a:chOff x="215900" y="982915"/>
            <a:chExt cx="2464614" cy="461665"/>
          </a:xfrm>
        </p:grpSpPr>
        <p:cxnSp>
          <p:nvCxnSpPr>
            <p:cNvPr id="3145759" name="直接连接符 99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组合 100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84" name="矩形 101"/>
              <p:cNvSpPr/>
              <p:nvPr/>
            </p:nvSpPr>
            <p:spPr>
              <a:xfrm>
                <a:off x="215900" y="982915"/>
                <a:ext cx="3481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3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5" name="矩形 102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核心方法与技术路线</a:t>
                </a:r>
              </a:p>
            </p:txBody>
          </p:sp>
          <p:sp>
            <p:nvSpPr>
              <p:cNvPr id="1048886" name="箭头: V 形 24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4" name="组合 104"/>
          <p:cNvGrpSpPr/>
          <p:nvPr userDrawn="1"/>
        </p:nvGrpSpPr>
        <p:grpSpPr>
          <a:xfrm>
            <a:off x="107274" y="3229668"/>
            <a:ext cx="2459517" cy="461665"/>
            <a:chOff x="215900" y="982915"/>
            <a:chExt cx="2459517" cy="461665"/>
          </a:xfrm>
        </p:grpSpPr>
        <p:cxnSp>
          <p:nvCxnSpPr>
            <p:cNvPr id="3145760" name="直接连接符 105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5" name="组合 106"/>
            <p:cNvGrpSpPr/>
            <p:nvPr/>
          </p:nvGrpSpPr>
          <p:grpSpPr>
            <a:xfrm>
              <a:off x="215900" y="982915"/>
              <a:ext cx="2459517" cy="461665"/>
              <a:chOff x="215900" y="982915"/>
              <a:chExt cx="2459517" cy="461665"/>
            </a:xfrm>
          </p:grpSpPr>
          <p:sp>
            <p:nvSpPr>
              <p:cNvPr id="1048887" name="矩形 107"/>
              <p:cNvSpPr/>
              <p:nvPr/>
            </p:nvSpPr>
            <p:spPr>
              <a:xfrm>
                <a:off x="215900" y="982915"/>
                <a:ext cx="3385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4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88" name="矩形 108"/>
              <p:cNvSpPr/>
              <p:nvPr/>
            </p:nvSpPr>
            <p:spPr>
              <a:xfrm>
                <a:off x="668834" y="1044470"/>
                <a:ext cx="2006583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重难点与创新之处</a:t>
                </a:r>
              </a:p>
            </p:txBody>
          </p:sp>
          <p:sp>
            <p:nvSpPr>
              <p:cNvPr id="1048889" name="箭头: V 形 30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grpSp>
        <p:nvGrpSpPr>
          <p:cNvPr id="116" name="组合 110"/>
          <p:cNvGrpSpPr/>
          <p:nvPr userDrawn="1"/>
        </p:nvGrpSpPr>
        <p:grpSpPr>
          <a:xfrm>
            <a:off x="107274" y="3863876"/>
            <a:ext cx="2464614" cy="461665"/>
            <a:chOff x="215900" y="982915"/>
            <a:chExt cx="2464614" cy="461665"/>
          </a:xfrm>
        </p:grpSpPr>
        <p:cxnSp>
          <p:nvCxnSpPr>
            <p:cNvPr id="3145761" name="直接连接符 111"/>
            <p:cNvCxnSpPr/>
            <p:nvPr/>
          </p:nvCxnSpPr>
          <p:spPr>
            <a:xfrm>
              <a:off x="215900" y="1444580"/>
              <a:ext cx="2311400" cy="0"/>
            </a:xfrm>
            <a:prstGeom prst="line">
              <a:avLst/>
            </a:prstGeom>
            <a:ln w="158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组合 112"/>
            <p:cNvGrpSpPr/>
            <p:nvPr/>
          </p:nvGrpSpPr>
          <p:grpSpPr>
            <a:xfrm>
              <a:off x="215900" y="982915"/>
              <a:ext cx="2464614" cy="461665"/>
              <a:chOff x="215900" y="982915"/>
              <a:chExt cx="2464614" cy="461665"/>
            </a:xfrm>
          </p:grpSpPr>
          <p:sp>
            <p:nvSpPr>
              <p:cNvPr id="1048890" name="矩形 113"/>
              <p:cNvSpPr/>
              <p:nvPr/>
            </p:nvSpPr>
            <p:spPr>
              <a:xfrm>
                <a:off x="215900" y="982915"/>
                <a:ext cx="34977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>
                        <a:alpha val="35000"/>
                      </a:schemeClr>
                    </a:solidFill>
                    <a:latin typeface="Impact" panose="020B0806030902050204" pitchFamily="34" charset="0"/>
                    <a:cs typeface="+mn-ea"/>
                    <a:sym typeface="+mn-lt"/>
                  </a:rPr>
                  <a:t>5</a:t>
                </a:r>
                <a:endParaRPr lang="zh-CN" altLang="en-US" sz="2400" dirty="0">
                  <a:solidFill>
                    <a:schemeClr val="bg1">
                      <a:alpha val="35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048891" name="矩形 114"/>
              <p:cNvSpPr/>
              <p:nvPr/>
            </p:nvSpPr>
            <p:spPr>
              <a:xfrm>
                <a:off x="668834" y="1044470"/>
                <a:ext cx="2011680" cy="337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>
                    <a:solidFill>
                      <a:schemeClr val="bg1">
                        <a:alpha val="35000"/>
                      </a:schemeClr>
                    </a:solidFill>
                  </a:rPr>
                  <a:t>进度安排与预期成果</a:t>
                </a:r>
              </a:p>
            </p:txBody>
          </p:sp>
          <p:sp>
            <p:nvSpPr>
              <p:cNvPr id="1048892" name="箭头: V 形 36"/>
              <p:cNvSpPr/>
              <p:nvPr/>
            </p:nvSpPr>
            <p:spPr>
              <a:xfrm>
                <a:off x="557850" y="1141122"/>
                <a:ext cx="70720" cy="145251"/>
              </a:xfrm>
              <a:prstGeom prst="chevron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alpha val="35000"/>
                    </a:schemeClr>
                  </a:solidFill>
                </a:endParaRPr>
              </a:p>
            </p:txBody>
          </p:sp>
        </p:grpSp>
      </p:grpSp>
      <p:sp>
        <p:nvSpPr>
          <p:cNvPr id="1048893" name="矩形 116"/>
          <p:cNvSpPr/>
          <p:nvPr userDrawn="1"/>
        </p:nvSpPr>
        <p:spPr>
          <a:xfrm>
            <a:off x="418286" y="430233"/>
            <a:ext cx="1826141" cy="5847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zh-CN" altLang="en-US" sz="3200" b="1" dirty="0">
                <a:solidFill>
                  <a:schemeClr val="accent6">
                    <a:lumMod val="40000"/>
                    <a:lumOff val="60000"/>
                  </a:schemeClr>
                </a:solidFill>
                <a:effectLst/>
                <a:cs typeface="+mn-ea"/>
                <a:sym typeface="+mn-lt"/>
              </a:rPr>
              <a:t>项目框架</a:t>
            </a:r>
          </a:p>
        </p:txBody>
      </p:sp>
      <p:sp>
        <p:nvSpPr>
          <p:cNvPr id="1048894" name="箭头: 燕尾形 56"/>
          <p:cNvSpPr/>
          <p:nvPr userDrawn="1"/>
        </p:nvSpPr>
        <p:spPr>
          <a:xfrm rot="5400000">
            <a:off x="1212056" y="1040704"/>
            <a:ext cx="141017" cy="234126"/>
          </a:xfrm>
          <a:prstGeom prst="notchedRightArrow">
            <a:avLst>
              <a:gd name="adj1" fmla="val 50000"/>
              <a:gd name="adj2" fmla="val 10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5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896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897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1048898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9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82AFC9-7D9A-4FD9-B772-845CA8F4F0F5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1048819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4882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8821" name="任意多边形: 形状 4"/>
          <p:cNvSpPr/>
          <p:nvPr userDrawn="1"/>
        </p:nvSpPr>
        <p:spPr>
          <a:xfrm>
            <a:off x="359366" y="6735098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48822" name="任意多边形: 形状 5"/>
          <p:cNvSpPr/>
          <p:nvPr userDrawn="1"/>
        </p:nvSpPr>
        <p:spPr>
          <a:xfrm flipV="1">
            <a:off x="359366" y="-4"/>
            <a:ext cx="11488295" cy="122903"/>
          </a:xfrm>
          <a:custGeom>
            <a:avLst/>
            <a:gdLst>
              <a:gd name="connsiteX0" fmla="*/ 247791 w 11488295"/>
              <a:gd name="connsiteY0" fmla="*/ 0 h 122903"/>
              <a:gd name="connsiteX1" fmla="*/ 11240504 w 11488295"/>
              <a:gd name="connsiteY1" fmla="*/ 0 h 122903"/>
              <a:gd name="connsiteX2" fmla="*/ 11462895 w 11488295"/>
              <a:gd name="connsiteY2" fmla="*/ 92117 h 122903"/>
              <a:gd name="connsiteX3" fmla="*/ 11488295 w 11488295"/>
              <a:gd name="connsiteY3" fmla="*/ 122903 h 122903"/>
              <a:gd name="connsiteX4" fmla="*/ 0 w 11488295"/>
              <a:gd name="connsiteY4" fmla="*/ 122903 h 122903"/>
              <a:gd name="connsiteX5" fmla="*/ 25400 w 11488295"/>
              <a:gd name="connsiteY5" fmla="*/ 92117 h 122903"/>
              <a:gd name="connsiteX6" fmla="*/ 247791 w 11488295"/>
              <a:gd name="connsiteY6" fmla="*/ 0 h 12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88295" h="122903">
                <a:moveTo>
                  <a:pt x="247791" y="0"/>
                </a:moveTo>
                <a:lnTo>
                  <a:pt x="11240504" y="0"/>
                </a:lnTo>
                <a:cubicBezTo>
                  <a:pt x="11327353" y="0"/>
                  <a:pt x="11405980" y="35203"/>
                  <a:pt x="11462895" y="92117"/>
                </a:cubicBezTo>
                <a:lnTo>
                  <a:pt x="11488295" y="122903"/>
                </a:lnTo>
                <a:lnTo>
                  <a:pt x="0" y="122903"/>
                </a:lnTo>
                <a:lnTo>
                  <a:pt x="25400" y="92117"/>
                </a:lnTo>
                <a:cubicBezTo>
                  <a:pt x="82315" y="35203"/>
                  <a:pt x="160942" y="0"/>
                  <a:pt x="247791" y="0"/>
                </a:cubicBez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5"/>
          <p:cNvSpPr txBox="1"/>
          <p:nvPr userDrawn="1"/>
        </p:nvSpPr>
        <p:spPr>
          <a:xfrm>
            <a:off x="11392302" y="6404476"/>
            <a:ext cx="66815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灯片编号占位符 5"/>
          <p:cNvSpPr txBox="1"/>
          <p:nvPr userDrawn="1"/>
        </p:nvSpPr>
        <p:spPr>
          <a:xfrm>
            <a:off x="11392302" y="6404476"/>
            <a:ext cx="668154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ctr" defTabSz="914400" rtl="0" eaLnBrk="1" latinLnBrk="0" hangingPunct="1">
              <a:defRPr sz="1400" kern="120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8BD4B3-A4CF-4B7B-A8C7-820FC5A3D5B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34" Type="http://schemas.openxmlformats.org/officeDocument/2006/relationships/tags" Target="../tags/tag35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tags" Target="../tags/tag34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tags" Target="../tags/tag30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tags" Target="../tags/tag33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tags" Target="../tags/tag29.xml"/><Relationship Id="rId36" Type="http://schemas.openxmlformats.org/officeDocument/2006/relationships/slideLayout" Target="../slideLayouts/slideLayout10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tags" Target="../tags/tag32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tags" Target="../tags/tag31.xml"/><Relationship Id="rId35" Type="http://schemas.openxmlformats.org/officeDocument/2006/relationships/tags" Target="../tags/tag36.xml"/><Relationship Id="rId8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矩形 4"/>
          <p:cNvSpPr/>
          <p:nvPr/>
        </p:nvSpPr>
        <p:spPr>
          <a:xfrm>
            <a:off x="1054734" y="2310429"/>
            <a:ext cx="1008253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Is Curiosity All You Need? On the Utility of</a:t>
            </a:r>
          </a:p>
          <a:p>
            <a:pPr algn="ctr"/>
            <a:r>
              <a:rPr lang="en-US" altLang="zh-CN" sz="4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Emergent </a:t>
            </a:r>
            <a:r>
              <a:rPr lang="en-US" altLang="zh-CN" sz="4400" b="1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Behaviours</a:t>
            </a:r>
            <a:r>
              <a:rPr lang="en-US" altLang="zh-CN" sz="44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 from Curious Exploration</a:t>
            </a:r>
            <a:endParaRPr lang="zh-CN" altLang="en-US" sz="4400" b="1" dirty="0">
              <a:solidFill>
                <a:schemeClr val="bg2">
                  <a:lumMod val="2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048637" name="矩形 5"/>
          <p:cNvSpPr/>
          <p:nvPr/>
        </p:nvSpPr>
        <p:spPr>
          <a:xfrm>
            <a:off x="3123871" y="2080242"/>
            <a:ext cx="271781" cy="447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7153" name="图片 52" descr="校徽紫色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445" y="241300"/>
            <a:ext cx="4446270" cy="287274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6C9C5BC-35E0-8DB8-7590-BB3F013F9794}"/>
              </a:ext>
            </a:extLst>
          </p:cNvPr>
          <p:cNvSpPr txBox="1"/>
          <p:nvPr/>
        </p:nvSpPr>
        <p:spPr>
          <a:xfrm>
            <a:off x="4507454" y="5362898"/>
            <a:ext cx="35715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组员：刘振毫、吴俊豪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标题 1"/>
          <p:cNvSpPr txBox="1"/>
          <p:nvPr/>
        </p:nvSpPr>
        <p:spPr>
          <a:xfrm rot="16200000">
            <a:off x="-900991" y="3373448"/>
            <a:ext cx="2293400" cy="74038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78" name="标题 1"/>
          <p:cNvSpPr txBox="1"/>
          <p:nvPr/>
        </p:nvSpPr>
        <p:spPr>
          <a:xfrm>
            <a:off x="-19050" y="-12700"/>
            <a:ext cx="12230100" cy="6883400"/>
          </a:xfrm>
          <a:prstGeom prst="rect">
            <a:avLst/>
          </a:prstGeom>
          <a:gradFill>
            <a:gsLst>
              <a:gs pos="18000">
                <a:schemeClr val="bg1">
                  <a:alpha val="100000"/>
                </a:schemeClr>
              </a:gs>
              <a:gs pos="100000">
                <a:schemeClr val="accent1">
                  <a:lumMod val="20000"/>
                  <a:lumOff val="80000"/>
                  <a:alpha val="100000"/>
                </a:schemeClr>
              </a:gs>
            </a:gsLst>
            <a:path path="circle">
              <a:fillToRect l="50000" t="50000" r="50000" b="50000"/>
            </a:path>
          </a:gradFill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79" name="标题 1"/>
          <p:cNvSpPr txBox="1"/>
          <p:nvPr/>
        </p:nvSpPr>
        <p:spPr>
          <a:xfrm>
            <a:off x="-3995" y="0"/>
            <a:ext cx="6096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2700000" scaled="0"/>
          </a:gra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>
              <a:solidFill>
                <a:schemeClr val="accent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0" name="标题 1"/>
          <p:cNvSpPr txBox="1"/>
          <p:nvPr/>
        </p:nvSpPr>
        <p:spPr>
          <a:xfrm>
            <a:off x="3269079" y="626568"/>
            <a:ext cx="8714113" cy="5775342"/>
          </a:xfrm>
          <a:prstGeom prst="roundRect">
            <a:avLst>
              <a:gd name="adj" fmla="val 2047"/>
            </a:avLst>
          </a:prstGeom>
          <a:solidFill>
            <a:schemeClr val="bg1"/>
          </a:solidFill>
          <a:ln w="12700" cap="sq">
            <a:solidFill>
              <a:schemeClr val="accent1">
                <a:lumMod val="75000"/>
              </a:schemeClr>
            </a:solidFill>
            <a:miter/>
          </a:ln>
          <a:effectLst>
            <a:outerShdw blurRad="393700" dist="228600" sx="102000" sy="102000" algn="ctr" rotWithShape="0">
              <a:schemeClr val="accent1">
                <a:lumMod val="50000"/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sz="2400" b="1">
              <a:latin typeface="+mn-ea"/>
            </a:endParaRPr>
          </a:p>
        </p:txBody>
      </p:sp>
      <p:sp>
        <p:nvSpPr>
          <p:cNvPr id="1048581" name="标题 1"/>
          <p:cNvSpPr txBox="1"/>
          <p:nvPr/>
        </p:nvSpPr>
        <p:spPr>
          <a:xfrm>
            <a:off x="461031" y="2790662"/>
            <a:ext cx="2209800" cy="11057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sz="6000" b="1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等线" panose="02010600030101010101" pitchFamily="2" charset="-122"/>
                <a:ea typeface="等线" panose="02010600030101010101" pitchFamily="2" charset="-122"/>
                <a:cs typeface="OPPOSans H"/>
              </a:rPr>
              <a:t>目 录</a:t>
            </a:r>
            <a:endParaRPr kumimoji="1" lang="zh-CN" altLang="en-US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2" name="标题 1"/>
          <p:cNvSpPr txBox="1"/>
          <p:nvPr/>
        </p:nvSpPr>
        <p:spPr>
          <a:xfrm>
            <a:off x="801274" y="719340"/>
            <a:ext cx="130290" cy="1302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3" name="标题 1"/>
          <p:cNvSpPr txBox="1"/>
          <p:nvPr/>
        </p:nvSpPr>
        <p:spPr>
          <a:xfrm>
            <a:off x="1036824" y="719340"/>
            <a:ext cx="130290" cy="1302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048584" name="标题 1"/>
          <p:cNvSpPr txBox="1"/>
          <p:nvPr/>
        </p:nvSpPr>
        <p:spPr>
          <a:xfrm>
            <a:off x="1272374" y="719340"/>
            <a:ext cx="130290" cy="130290"/>
          </a:xfrm>
          <a:prstGeom prst="ellipse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25" name="组合 65"/>
          <p:cNvGrpSpPr/>
          <p:nvPr>
            <p:custDataLst>
              <p:tags r:id="rId1"/>
            </p:custDataLst>
          </p:nvPr>
        </p:nvGrpSpPr>
        <p:grpSpPr>
          <a:xfrm>
            <a:off x="3380284" y="1512999"/>
            <a:ext cx="3621243" cy="530826"/>
            <a:chOff x="3380284" y="1512999"/>
            <a:chExt cx="3621243" cy="530826"/>
          </a:xfrm>
        </p:grpSpPr>
        <p:sp>
          <p:nvSpPr>
            <p:cNvPr id="1048585" name="标题 1"/>
            <p:cNvSpPr txBox="1"/>
            <p:nvPr>
              <p:custDataLst>
                <p:tags r:id="rId30"/>
              </p:custDataLst>
            </p:nvPr>
          </p:nvSpPr>
          <p:spPr>
            <a:xfrm>
              <a:off x="3751401" y="1513001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86" name="标题 1"/>
            <p:cNvSpPr txBox="1"/>
            <p:nvPr>
              <p:custDataLst>
                <p:tags r:id="rId31"/>
              </p:custDataLst>
            </p:nvPr>
          </p:nvSpPr>
          <p:spPr>
            <a:xfrm>
              <a:off x="6921436" y="1513001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87" name="标题 1"/>
            <p:cNvSpPr txBox="1"/>
            <p:nvPr>
              <p:custDataLst>
                <p:tags r:id="rId32"/>
              </p:custDataLst>
            </p:nvPr>
          </p:nvSpPr>
          <p:spPr>
            <a:xfrm>
              <a:off x="3380284" y="1513001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88" name="标题 1"/>
            <p:cNvSpPr txBox="1"/>
            <p:nvPr>
              <p:custDataLst>
                <p:tags r:id="rId33"/>
              </p:custDataLst>
            </p:nvPr>
          </p:nvSpPr>
          <p:spPr>
            <a:xfrm>
              <a:off x="3474995" y="1607712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89" name="标题 1"/>
            <p:cNvSpPr txBox="1"/>
            <p:nvPr>
              <p:custDataLst>
                <p:tags r:id="rId34"/>
              </p:custDataLst>
            </p:nvPr>
          </p:nvSpPr>
          <p:spPr>
            <a:xfrm>
              <a:off x="4190446" y="1512999"/>
              <a:ext cx="2604359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2400" b="1" dirty="0">
                  <a:ln w="12700">
                    <a:noFill/>
                  </a:ln>
                  <a:solidFill>
                    <a:srgbClr val="262626">
                      <a:alpha val="100000"/>
                    </a:srgbClr>
                  </a:solidFill>
                  <a:latin typeface="+mn-ea"/>
                  <a:cs typeface="OPPOSans H"/>
                  <a:sym typeface="+mn-ea"/>
                </a:rPr>
                <a:t>背景</a:t>
              </a:r>
              <a:endParaRPr kumimoji="1" lang="zh-CN" altLang="en-US" sz="2400" b="1" dirty="0">
                <a:latin typeface="+mn-ea"/>
              </a:endParaRPr>
            </a:p>
          </p:txBody>
        </p:sp>
        <p:sp>
          <p:nvSpPr>
            <p:cNvPr id="1048590" name="标题 1"/>
            <p:cNvSpPr txBox="1"/>
            <p:nvPr>
              <p:custDataLst>
                <p:tags r:id="rId35"/>
              </p:custDataLst>
            </p:nvPr>
          </p:nvSpPr>
          <p:spPr>
            <a:xfrm>
              <a:off x="3472063" y="1607712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sz="2400" b="1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+mn-ea"/>
                  <a:cs typeface="OPPOSans H"/>
                </a:rPr>
                <a:t>1</a:t>
              </a:r>
              <a:endParaRPr kumimoji="1" lang="zh-CN" altLang="en-US" sz="2400" b="1" dirty="0">
                <a:latin typeface="+mn-ea"/>
              </a:endParaRPr>
            </a:p>
          </p:txBody>
        </p:sp>
      </p:grpSp>
      <p:grpSp>
        <p:nvGrpSpPr>
          <p:cNvPr id="26" name="组合 60"/>
          <p:cNvGrpSpPr/>
          <p:nvPr>
            <p:custDataLst>
              <p:tags r:id="rId2"/>
            </p:custDataLst>
          </p:nvPr>
        </p:nvGrpSpPr>
        <p:grpSpPr>
          <a:xfrm>
            <a:off x="7716172" y="1512999"/>
            <a:ext cx="3621243" cy="530826"/>
            <a:chOff x="7680810" y="1512999"/>
            <a:chExt cx="3621243" cy="530826"/>
          </a:xfrm>
        </p:grpSpPr>
        <p:sp>
          <p:nvSpPr>
            <p:cNvPr id="1048591" name="标题 1"/>
            <p:cNvSpPr txBox="1"/>
            <p:nvPr>
              <p:custDataLst>
                <p:tags r:id="rId24"/>
              </p:custDataLst>
            </p:nvPr>
          </p:nvSpPr>
          <p:spPr>
            <a:xfrm>
              <a:off x="8051927" y="1513001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2" name="标题 1"/>
            <p:cNvSpPr txBox="1"/>
            <p:nvPr>
              <p:custDataLst>
                <p:tags r:id="rId25"/>
              </p:custDataLst>
            </p:nvPr>
          </p:nvSpPr>
          <p:spPr>
            <a:xfrm>
              <a:off x="11221962" y="1513001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3" name="标题 1"/>
            <p:cNvSpPr txBox="1"/>
            <p:nvPr>
              <p:custDataLst>
                <p:tags r:id="rId26"/>
              </p:custDataLst>
            </p:nvPr>
          </p:nvSpPr>
          <p:spPr>
            <a:xfrm>
              <a:off x="7680810" y="1513001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4" name="标题 1"/>
            <p:cNvSpPr txBox="1"/>
            <p:nvPr>
              <p:custDataLst>
                <p:tags r:id="rId27"/>
              </p:custDataLst>
            </p:nvPr>
          </p:nvSpPr>
          <p:spPr>
            <a:xfrm>
              <a:off x="7775521" y="1607712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5" name="标题 1"/>
            <p:cNvSpPr txBox="1"/>
            <p:nvPr>
              <p:custDataLst>
                <p:tags r:id="rId28"/>
              </p:custDataLst>
            </p:nvPr>
          </p:nvSpPr>
          <p:spPr>
            <a:xfrm>
              <a:off x="8490972" y="1512999"/>
              <a:ext cx="2694734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altLang="zh-CN" sz="2400" b="1" dirty="0">
                  <a:latin typeface="+mn-ea"/>
                </a:rPr>
                <a:t>SelMo</a:t>
              </a:r>
              <a:r>
                <a:rPr lang="zh-CN" altLang="en-US" sz="2400" b="1" dirty="0">
                  <a:latin typeface="+mn-ea"/>
                </a:rPr>
                <a:t>框架</a:t>
              </a:r>
              <a:endParaRPr kumimoji="1" lang="zh-CN" altLang="en-US" sz="2400" b="1" dirty="0">
                <a:latin typeface="+mn-ea"/>
              </a:endParaRPr>
            </a:p>
          </p:txBody>
        </p:sp>
        <p:sp>
          <p:nvSpPr>
            <p:cNvPr id="1048596" name="标题 1"/>
            <p:cNvSpPr txBox="1"/>
            <p:nvPr>
              <p:custDataLst>
                <p:tags r:id="rId29"/>
              </p:custDataLst>
            </p:nvPr>
          </p:nvSpPr>
          <p:spPr>
            <a:xfrm>
              <a:off x="7772589" y="1607712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sz="2400" b="1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+mn-ea"/>
                  <a:cs typeface="OPPOSans H"/>
                </a:rPr>
                <a:t>2</a:t>
              </a:r>
              <a:endParaRPr kumimoji="1" lang="zh-CN" altLang="en-US" sz="2400" b="1" dirty="0">
                <a:latin typeface="+mn-ea"/>
              </a:endParaRPr>
            </a:p>
          </p:txBody>
        </p:sp>
      </p:grpSp>
      <p:grpSp>
        <p:nvGrpSpPr>
          <p:cNvPr id="27" name="组合 64"/>
          <p:cNvGrpSpPr/>
          <p:nvPr>
            <p:custDataLst>
              <p:tags r:id="rId3"/>
            </p:custDataLst>
          </p:nvPr>
        </p:nvGrpSpPr>
        <p:grpSpPr>
          <a:xfrm>
            <a:off x="3380284" y="3248828"/>
            <a:ext cx="3621243" cy="530824"/>
            <a:chOff x="3380284" y="2748860"/>
            <a:chExt cx="3621243" cy="530824"/>
          </a:xfrm>
        </p:grpSpPr>
        <p:sp>
          <p:nvSpPr>
            <p:cNvPr id="1048597" name="标题 1"/>
            <p:cNvSpPr txBox="1"/>
            <p:nvPr>
              <p:custDataLst>
                <p:tags r:id="rId18"/>
              </p:custDataLst>
            </p:nvPr>
          </p:nvSpPr>
          <p:spPr>
            <a:xfrm>
              <a:off x="3751401" y="2748860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8" name="标题 1"/>
            <p:cNvSpPr txBox="1"/>
            <p:nvPr>
              <p:custDataLst>
                <p:tags r:id="rId19"/>
              </p:custDataLst>
            </p:nvPr>
          </p:nvSpPr>
          <p:spPr>
            <a:xfrm>
              <a:off x="6921436" y="2748860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599" name="标题 1"/>
            <p:cNvSpPr txBox="1"/>
            <p:nvPr>
              <p:custDataLst>
                <p:tags r:id="rId20"/>
              </p:custDataLst>
            </p:nvPr>
          </p:nvSpPr>
          <p:spPr>
            <a:xfrm>
              <a:off x="3380284" y="2748860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0" name="标题 1"/>
            <p:cNvSpPr txBox="1"/>
            <p:nvPr>
              <p:custDataLst>
                <p:tags r:id="rId21"/>
              </p:custDataLst>
            </p:nvPr>
          </p:nvSpPr>
          <p:spPr>
            <a:xfrm>
              <a:off x="3474995" y="2843571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1" name="标题 1"/>
            <p:cNvSpPr txBox="1"/>
            <p:nvPr>
              <p:custDataLst>
                <p:tags r:id="rId22"/>
              </p:custDataLst>
            </p:nvPr>
          </p:nvSpPr>
          <p:spPr>
            <a:xfrm>
              <a:off x="4190446" y="2748860"/>
              <a:ext cx="2604359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2400" b="1" dirty="0">
                  <a:latin typeface="+mn-ea"/>
                </a:rPr>
                <a:t>实验</a:t>
              </a:r>
            </a:p>
          </p:txBody>
        </p:sp>
        <p:sp>
          <p:nvSpPr>
            <p:cNvPr id="1048602" name="标题 1"/>
            <p:cNvSpPr txBox="1"/>
            <p:nvPr>
              <p:custDataLst>
                <p:tags r:id="rId23"/>
              </p:custDataLst>
            </p:nvPr>
          </p:nvSpPr>
          <p:spPr>
            <a:xfrm>
              <a:off x="3472063" y="2843571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sz="2400" b="1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+mn-ea"/>
                  <a:cs typeface="OPPOSans H"/>
                </a:rPr>
                <a:t>3</a:t>
              </a:r>
              <a:endParaRPr kumimoji="1" lang="zh-CN" altLang="en-US" sz="2400" b="1" dirty="0">
                <a:latin typeface="+mn-ea"/>
              </a:endParaRPr>
            </a:p>
          </p:txBody>
        </p:sp>
      </p:grpSp>
      <p:grpSp>
        <p:nvGrpSpPr>
          <p:cNvPr id="28" name="组合 61"/>
          <p:cNvGrpSpPr/>
          <p:nvPr>
            <p:custDataLst>
              <p:tags r:id="rId4"/>
            </p:custDataLst>
          </p:nvPr>
        </p:nvGrpSpPr>
        <p:grpSpPr>
          <a:xfrm>
            <a:off x="7706655" y="3248827"/>
            <a:ext cx="3621243" cy="530824"/>
            <a:chOff x="7680810" y="2748860"/>
            <a:chExt cx="3621243" cy="530824"/>
          </a:xfrm>
        </p:grpSpPr>
        <p:sp>
          <p:nvSpPr>
            <p:cNvPr id="1048603" name="标题 1"/>
            <p:cNvSpPr txBox="1"/>
            <p:nvPr>
              <p:custDataLst>
                <p:tags r:id="rId12"/>
              </p:custDataLst>
            </p:nvPr>
          </p:nvSpPr>
          <p:spPr>
            <a:xfrm>
              <a:off x="8051927" y="2748860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4" name="标题 1"/>
            <p:cNvSpPr txBox="1"/>
            <p:nvPr>
              <p:custDataLst>
                <p:tags r:id="rId13"/>
              </p:custDataLst>
            </p:nvPr>
          </p:nvSpPr>
          <p:spPr>
            <a:xfrm>
              <a:off x="11221962" y="2748860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5" name="标题 1"/>
            <p:cNvSpPr txBox="1"/>
            <p:nvPr>
              <p:custDataLst>
                <p:tags r:id="rId14"/>
              </p:custDataLst>
            </p:nvPr>
          </p:nvSpPr>
          <p:spPr>
            <a:xfrm>
              <a:off x="7680810" y="2748860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6" name="标题 1"/>
            <p:cNvSpPr txBox="1"/>
            <p:nvPr>
              <p:custDataLst>
                <p:tags r:id="rId15"/>
              </p:custDataLst>
            </p:nvPr>
          </p:nvSpPr>
          <p:spPr>
            <a:xfrm>
              <a:off x="7775521" y="2843571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07" name="标题 1"/>
            <p:cNvSpPr txBox="1"/>
            <p:nvPr>
              <p:custDataLst>
                <p:tags r:id="rId16"/>
              </p:custDataLst>
            </p:nvPr>
          </p:nvSpPr>
          <p:spPr>
            <a:xfrm>
              <a:off x="8490972" y="2748860"/>
              <a:ext cx="2694734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2400" b="1" dirty="0">
                  <a:ln w="12700">
                    <a:noFill/>
                  </a:ln>
                  <a:solidFill>
                    <a:srgbClr val="262626">
                      <a:alpha val="100000"/>
                    </a:srgbClr>
                  </a:solidFill>
                  <a:latin typeface="+mn-ea"/>
                  <a:cs typeface="OPPOSans H"/>
                </a:rPr>
                <a:t>讨论</a:t>
              </a:r>
            </a:p>
          </p:txBody>
        </p:sp>
        <p:sp>
          <p:nvSpPr>
            <p:cNvPr id="1048608" name="标题 1"/>
            <p:cNvSpPr txBox="1"/>
            <p:nvPr>
              <p:custDataLst>
                <p:tags r:id="rId17"/>
              </p:custDataLst>
            </p:nvPr>
          </p:nvSpPr>
          <p:spPr>
            <a:xfrm>
              <a:off x="7772589" y="2843571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sz="2400" b="1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+mn-ea"/>
                  <a:cs typeface="OPPOSans H"/>
                </a:rPr>
                <a:t>4</a:t>
              </a:r>
              <a:endParaRPr kumimoji="1" lang="zh-CN" altLang="en-US" sz="2400" b="1" dirty="0">
                <a:latin typeface="+mn-ea"/>
              </a:endParaRPr>
            </a:p>
          </p:txBody>
        </p:sp>
      </p:grpSp>
      <p:grpSp>
        <p:nvGrpSpPr>
          <p:cNvPr id="29" name="组合 63"/>
          <p:cNvGrpSpPr/>
          <p:nvPr>
            <p:custDataLst>
              <p:tags r:id="rId5"/>
            </p:custDataLst>
          </p:nvPr>
        </p:nvGrpSpPr>
        <p:grpSpPr>
          <a:xfrm>
            <a:off x="3380524" y="4984654"/>
            <a:ext cx="3621243" cy="531267"/>
            <a:chOff x="3380284" y="3984719"/>
            <a:chExt cx="3621243" cy="531267"/>
          </a:xfrm>
        </p:grpSpPr>
        <p:sp>
          <p:nvSpPr>
            <p:cNvPr id="1048609" name="标题 1"/>
            <p:cNvSpPr txBox="1"/>
            <p:nvPr>
              <p:custDataLst>
                <p:tags r:id="rId6"/>
              </p:custDataLst>
            </p:nvPr>
          </p:nvSpPr>
          <p:spPr>
            <a:xfrm>
              <a:off x="3751401" y="3984719"/>
              <a:ext cx="3250126" cy="530824"/>
            </a:xfrm>
            <a:prstGeom prst="rect">
              <a:avLst/>
            </a:prstGeom>
            <a:solidFill>
              <a:schemeClr val="bg1"/>
            </a:solidFill>
            <a:ln w="12700" cap="sq">
              <a:gradFill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10" name="标题 1"/>
            <p:cNvSpPr txBox="1"/>
            <p:nvPr>
              <p:custDataLst>
                <p:tags r:id="rId7"/>
              </p:custDataLst>
            </p:nvPr>
          </p:nvSpPr>
          <p:spPr>
            <a:xfrm>
              <a:off x="6921436" y="3984719"/>
              <a:ext cx="80091" cy="530824"/>
            </a:xfrm>
            <a:prstGeom prst="rect">
              <a:avLst/>
            </a:prstGeom>
            <a:solidFill>
              <a:schemeClr val="accent1"/>
            </a:solidFill>
            <a:ln w="12700" cap="sq">
              <a:gradFill>
                <a:gsLst>
                  <a:gs pos="0">
                    <a:schemeClr val="accent1"/>
                  </a:gs>
                  <a:gs pos="100000">
                    <a:schemeClr val="accent1"/>
                  </a:gs>
                </a:gsLst>
                <a:lin ang="0" scaled="0"/>
              </a:gra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11" name="标题 1"/>
            <p:cNvSpPr txBox="1"/>
            <p:nvPr>
              <p:custDataLst>
                <p:tags r:id="rId8"/>
              </p:custDataLst>
            </p:nvPr>
          </p:nvSpPr>
          <p:spPr>
            <a:xfrm>
              <a:off x="3380284" y="3984719"/>
              <a:ext cx="530824" cy="530824"/>
            </a:xfrm>
            <a:prstGeom prst="donut">
              <a:avLst>
                <a:gd name="adj" fmla="val 9441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12" name="标题 1"/>
            <p:cNvSpPr txBox="1"/>
            <p:nvPr>
              <p:custDataLst>
                <p:tags r:id="rId9"/>
              </p:custDataLst>
            </p:nvPr>
          </p:nvSpPr>
          <p:spPr>
            <a:xfrm>
              <a:off x="3474995" y="4079431"/>
              <a:ext cx="341403" cy="3414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0" scaled="0"/>
            </a:gradFill>
            <a:ln w="12700" cap="sq">
              <a:noFill/>
              <a:miter/>
            </a:ln>
            <a:effectLst>
              <a:outerShdw blurRad="114300" dist="76200" dir="2700000" algn="tl" rotWithShape="0">
                <a:schemeClr val="accent1">
                  <a:lumMod val="75000"/>
                  <a:alpha val="33000"/>
                </a:schemeClr>
              </a:outerShdw>
            </a:effectLst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 sz="2400" b="1">
                <a:latin typeface="+mn-ea"/>
              </a:endParaRPr>
            </a:p>
          </p:txBody>
        </p:sp>
        <p:sp>
          <p:nvSpPr>
            <p:cNvPr id="1048613" name="标题 1"/>
            <p:cNvSpPr txBox="1"/>
            <p:nvPr>
              <p:custDataLst>
                <p:tags r:id="rId10"/>
              </p:custDataLst>
            </p:nvPr>
          </p:nvSpPr>
          <p:spPr>
            <a:xfrm>
              <a:off x="4190446" y="3985163"/>
              <a:ext cx="2604359" cy="53082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l">
                <a:lnSpc>
                  <a:spcPct val="130000"/>
                </a:lnSpc>
              </a:pPr>
              <a:r>
                <a:rPr kumimoji="1" lang="zh-CN" altLang="en-US" sz="2400" b="1" dirty="0">
                  <a:latin typeface="+mn-ea"/>
                </a:rPr>
                <a:t>总结与展望</a:t>
              </a:r>
            </a:p>
          </p:txBody>
        </p:sp>
        <p:sp>
          <p:nvSpPr>
            <p:cNvPr id="1048614" name="标题 1"/>
            <p:cNvSpPr txBox="1"/>
            <p:nvPr>
              <p:custDataLst>
                <p:tags r:id="rId11"/>
              </p:custDataLst>
            </p:nvPr>
          </p:nvSpPr>
          <p:spPr>
            <a:xfrm>
              <a:off x="3472063" y="4079431"/>
              <a:ext cx="344335" cy="341403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ct val="130000"/>
                </a:lnSpc>
              </a:pPr>
              <a:r>
                <a:rPr kumimoji="1" lang="en-US" altLang="zh-CN" sz="2400" b="1" dirty="0">
                  <a:ln w="12700">
                    <a:noFill/>
                  </a:ln>
                  <a:solidFill>
                    <a:srgbClr val="FFFFFF">
                      <a:alpha val="100000"/>
                    </a:srgbClr>
                  </a:solidFill>
                  <a:latin typeface="+mn-ea"/>
                  <a:cs typeface="OPPOSans H"/>
                </a:rPr>
                <a:t>5</a:t>
              </a:r>
              <a:endParaRPr kumimoji="1" lang="zh-CN" altLang="en-US" sz="2400" b="1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40E3F-1753-CF16-9186-40CD0DC9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标题 1">
            <a:extLst>
              <a:ext uri="{FF2B5EF4-FFF2-40B4-BE49-F238E27FC236}">
                <a16:creationId xmlns:a16="http://schemas.microsoft.com/office/drawing/2014/main" id="{88830F1B-E4BA-D687-3015-DEE4CE431701}"/>
              </a:ext>
            </a:extLst>
          </p:cNvPr>
          <p:cNvSpPr txBox="1"/>
          <p:nvPr/>
        </p:nvSpPr>
        <p:spPr>
          <a:xfrm>
            <a:off x="783520" y="467040"/>
            <a:ext cx="10671175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8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挑战：</a:t>
            </a:r>
            <a:endParaRPr lang="zh-CN" altLang="zh-CN" sz="12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sz="900" dirty="0"/>
          </a:p>
        </p:txBody>
      </p:sp>
      <p:pic>
        <p:nvPicPr>
          <p:cNvPr id="2097171" name="图片 1">
            <a:extLst>
              <a:ext uri="{FF2B5EF4-FFF2-40B4-BE49-F238E27FC236}">
                <a16:creationId xmlns:a16="http://schemas.microsoft.com/office/drawing/2014/main" id="{7C9BCFE4-1BDB-3144-7AF6-004D31DB9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A941D80-0034-8E23-A1F7-EA477498CA92}"/>
              </a:ext>
            </a:extLst>
          </p:cNvPr>
          <p:cNvSpPr txBox="1"/>
          <p:nvPr/>
        </p:nvSpPr>
        <p:spPr>
          <a:xfrm>
            <a:off x="737305" y="935040"/>
            <a:ext cx="10671175" cy="6260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buClr>
                <a:srgbClr val="561F5C"/>
              </a:buClr>
            </a:pPr>
            <a:r>
              <a:rPr lang="zh-CN" altLang="zh-CN" sz="24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有价值的中间行为被遗忘</a:t>
            </a:r>
            <a:r>
              <a:rPr lang="zh-CN" altLang="en-US" sz="2400" b="1" dirty="0">
                <a:solidFill>
                  <a:srgbClr val="1F2937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：</a:t>
            </a:r>
            <a:r>
              <a:rPr kumimoji="1" lang="zh-CN" altLang="en-US" sz="2400" dirty="0">
                <a:latin typeface="+mn-ea"/>
              </a:rPr>
              <a:t>智能体在学习新动作时，极易迅速遗忘通往最终目标的关键中间步骤。许多对任务完成至关重要的行为，在初次探索后便失去了好奇心激励，最终导致探索过程反复而低效</a:t>
            </a:r>
            <a:r>
              <a:rPr kumimoji="1" lang="zh-CN" altLang="en-US" sz="2400" dirty="0">
                <a:solidFill>
                  <a:srgbClr val="330066"/>
                </a:solidFill>
                <a:latin typeface="+mn-ea"/>
              </a:rPr>
              <a:t>。</a:t>
            </a:r>
            <a:endParaRPr kumimoji="1" lang="en-US" altLang="zh-CN" sz="2400" dirty="0">
              <a:solidFill>
                <a:srgbClr val="330066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</a:rPr>
              <a:t>单一信号难辨“探索”与“价值”：</a:t>
            </a:r>
            <a:r>
              <a:rPr kumimoji="1" lang="zh-CN" altLang="en-US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</a:rPr>
              <a:t>传统方法的探索过程是整体性的，智能体最终学习到的往往是一个单一的整体策略，而非一套可灵活组合的模块化技能。这导致它在面对新任务时泛化能力极差，无法有效利用过往经验，整体学习效率低下。</a:t>
            </a:r>
            <a:endParaRPr kumimoji="1" lang="en-US" altLang="zh-CN" sz="2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400" b="1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</a:rPr>
              <a:t>数据效率低，工程落地难：</a:t>
            </a:r>
            <a:r>
              <a:rPr kumimoji="1" lang="zh-CN" altLang="en-US" sz="2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+mn-ea"/>
              </a:rPr>
              <a:t>依赖随机探索来发现新奇状态，导致样本复杂度极高。大量无目标的随机尝试让训练过程既不稳定又难以预测，在真实世界中高昂的数据采集成本下。</a:t>
            </a:r>
          </a:p>
          <a:p>
            <a:pPr marL="342900" indent="-342900">
              <a:lnSpc>
                <a:spcPct val="130000"/>
              </a:lnSpc>
              <a:buClr>
                <a:srgbClr val="561F5C"/>
              </a:buClr>
              <a:buFont typeface="Wingdings" panose="05000000000000000000" charset="0"/>
              <a:buChar char="n"/>
            </a:pPr>
            <a:endParaRPr kumimoji="1" lang="zh-CN" altLang="en-US" sz="2400" dirty="0">
              <a:solidFill>
                <a:srgbClr val="330066"/>
              </a:solidFill>
              <a:latin typeface="+mn-ea"/>
            </a:endParaRP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98407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5FA71-D7F4-AD1A-6FD0-8C9BBC35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>
            <a:extLst>
              <a:ext uri="{FF2B5EF4-FFF2-40B4-BE49-F238E27FC236}">
                <a16:creationId xmlns:a16="http://schemas.microsoft.com/office/drawing/2014/main" id="{6D91E705-414A-5761-BE55-4CD24794A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321A88-17EF-2AA6-054D-46022B46F443}"/>
              </a:ext>
            </a:extLst>
          </p:cNvPr>
          <p:cNvSpPr txBox="1"/>
          <p:nvPr/>
        </p:nvSpPr>
        <p:spPr>
          <a:xfrm>
            <a:off x="753034" y="935040"/>
            <a:ext cx="977870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SELMO</a:t>
            </a: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基础部件详解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模型重放缓冲区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(DM)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固定大小，存储智能体与环境交互的完整轨迹（状态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-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动作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-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下一状态）。采用随机替换策略，每条轨迹最多采样</a:t>
            </a:r>
            <a:r>
              <a:rPr lang="en-US" altLang="zh-CN" sz="2000" dirty="0" err="1">
                <a:solidFill>
                  <a:srgbClr val="4B5563"/>
                </a:solidFill>
                <a:effectLst/>
                <a:latin typeface="+mj-ea"/>
                <a:ea typeface="+mj-ea"/>
              </a:rPr>
              <a:t>n_max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次，以保证样本多样性。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世界模型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(</a:t>
            </a:r>
            <a:r>
              <a:rPr lang="en-US" altLang="zh-CN" sz="2000" b="1" dirty="0" err="1">
                <a:solidFill>
                  <a:srgbClr val="1F2937"/>
                </a:solidFill>
                <a:effectLst/>
                <a:latin typeface="+mj-ea"/>
                <a:ea typeface="+mj-ea"/>
              </a:rPr>
              <a:t>fdyn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)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一个前向预测模型（两层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MLP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），用于近似环境的状态转移函数 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st+1≈ </a:t>
            </a:r>
            <a:r>
              <a:rPr lang="en-US" altLang="zh-CN" sz="2000" dirty="0" err="1">
                <a:solidFill>
                  <a:srgbClr val="4B5563"/>
                </a:solidFill>
                <a:effectLst/>
                <a:latin typeface="+mj-ea"/>
                <a:ea typeface="+mj-ea"/>
              </a:rPr>
              <a:t>fdyn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(st, at)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。其预测误差（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MSE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）用于计算好奇心奖励。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策略重放缓冲区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(Dπ)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固定大小，存储被世界模型标注过好奇心奖励的轨迹。采用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FIFO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替换策略，确保奖励与最新模型版本大致匹配。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策略网络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(π) </a:t>
            </a: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与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Q</a:t>
            </a: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网络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分别用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MLP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实现，采用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MPO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（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Maximum a Posteriori Policy Optimization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）进行离策略优化。策略的目标是最大化好奇心奖励（即探索预测误差高的状态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-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动作对）。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好奇心奖励函数 </a:t>
            </a:r>
            <a:r>
              <a:rPr lang="en-US" altLang="zh-CN" sz="2000" b="1" dirty="0">
                <a:solidFill>
                  <a:srgbClr val="1F2937"/>
                </a:solidFill>
                <a:effectLst/>
                <a:latin typeface="+mj-ea"/>
                <a:ea typeface="+mj-ea"/>
              </a:rPr>
              <a:t>(r)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基于当前世界模型 </a:t>
            </a:r>
            <a:r>
              <a:rPr lang="en-US" altLang="zh-CN" sz="2000" dirty="0" err="1">
                <a:solidFill>
                  <a:srgbClr val="4B5563"/>
                </a:solidFill>
                <a:effectLst/>
                <a:latin typeface="+mj-ea"/>
                <a:ea typeface="+mj-ea"/>
              </a:rPr>
              <a:t>fdyn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的预测误差计算：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en-US" altLang="zh-CN" sz="2000" b="1" dirty="0">
                <a:solidFill>
                  <a:srgbClr val="F97316"/>
                </a:solidFill>
                <a:effectLst/>
                <a:latin typeface="+mj-ea"/>
                <a:ea typeface="+mj-ea"/>
              </a:rPr>
              <a:t>r = tanh(</a:t>
            </a:r>
            <a:r>
              <a:rPr lang="en-US" altLang="zh-CN" sz="2000" b="1" dirty="0" err="1">
                <a:solidFill>
                  <a:srgbClr val="F97316"/>
                </a:solidFill>
                <a:effectLst/>
                <a:latin typeface="+mj-ea"/>
                <a:ea typeface="+mj-ea"/>
              </a:rPr>
              <a:t>ηr</a:t>
            </a:r>
            <a:r>
              <a:rPr lang="en-US" altLang="zh-CN" sz="2000" b="1" dirty="0">
                <a:solidFill>
                  <a:srgbClr val="F97316"/>
                </a:solidFill>
                <a:effectLst/>
                <a:latin typeface="+mj-ea"/>
                <a:ea typeface="+mj-ea"/>
              </a:rPr>
              <a:t>⋅ (</a:t>
            </a:r>
            <a:r>
              <a:rPr lang="en-US" altLang="zh-CN" sz="2000" b="1" dirty="0" err="1">
                <a:solidFill>
                  <a:srgbClr val="F97316"/>
                </a:solidFill>
                <a:effectLst/>
                <a:latin typeface="+mj-ea"/>
                <a:ea typeface="+mj-ea"/>
              </a:rPr>
              <a:t>fdyn</a:t>
            </a:r>
            <a:r>
              <a:rPr lang="en-US" altLang="zh-CN" sz="2000" b="1" dirty="0">
                <a:solidFill>
                  <a:srgbClr val="F97316"/>
                </a:solidFill>
                <a:effectLst/>
                <a:latin typeface="+mj-ea"/>
                <a:ea typeface="+mj-ea"/>
              </a:rPr>
              <a:t>(st, at) − st+1)²)</a:t>
            </a:r>
            <a:endParaRPr lang="zh-CN" altLang="en-US" sz="2000" dirty="0">
              <a:effectLst/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使用 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tanh 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函数将奖励值映射到 </a:t>
            </a:r>
            <a:r>
              <a:rPr lang="en-US" altLang="zh-CN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[-1, 1] </a:t>
            </a:r>
            <a:r>
              <a:rPr lang="zh-CN" altLang="en-US" sz="2000" dirty="0">
                <a:solidFill>
                  <a:srgbClr val="4B5563"/>
                </a:solidFill>
                <a:effectLst/>
                <a:latin typeface="+mj-ea"/>
                <a:ea typeface="+mj-ea"/>
              </a:rPr>
              <a:t>区间，以保持奖励有界且稳定。</a:t>
            </a:r>
            <a:endParaRPr lang="zh-CN" altLang="en-US" sz="2000" dirty="0">
              <a:effectLst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80305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39355-4BB5-5FC8-A4B6-25B60E333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>
            <a:extLst>
              <a:ext uri="{FF2B5EF4-FFF2-40B4-BE49-F238E27FC236}">
                <a16:creationId xmlns:a16="http://schemas.microsoft.com/office/drawing/2014/main" id="{E214BE92-D380-8F72-12EE-29A66779D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218" y="258850"/>
            <a:ext cx="2114286" cy="6761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2D5897C-D703-2F70-7A49-4482588C8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69" y="596945"/>
            <a:ext cx="8471014" cy="313612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876938E-E798-6D6C-3DBE-73B5476A3297}"/>
              </a:ext>
            </a:extLst>
          </p:cNvPr>
          <p:cNvSpPr txBox="1"/>
          <p:nvPr/>
        </p:nvSpPr>
        <p:spPr>
          <a:xfrm>
            <a:off x="720763" y="3952731"/>
            <a:ext cx="103596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SelMo</a:t>
            </a:r>
            <a:r>
              <a:rPr lang="zh-CN" altLang="en-US" dirty="0"/>
              <a:t>系统架构概述。智能体利用其当前策略在环境中收集轨迹</a:t>
            </a:r>
            <a:r>
              <a:rPr lang="en-US" altLang="zh-CN" dirty="0"/>
              <a:t>\(\tau^{k}\)</a:t>
            </a:r>
            <a:r>
              <a:rPr lang="zh-CN" altLang="en-US" dirty="0"/>
              <a:t>、</a:t>
            </a:r>
            <a:r>
              <a:rPr lang="en-US" altLang="zh-CN" dirty="0"/>
              <a:t>τₖ₊₁……</a:t>
            </a:r>
            <a:r>
              <a:rPr lang="zh-CN" altLang="en-US" dirty="0"/>
              <a:t>，并将其存储在模型回放缓冲区</a:t>
            </a:r>
            <a:r>
              <a:rPr lang="en-US" altLang="zh-CN" dirty="0"/>
              <a:t>D_M</a:t>
            </a:r>
            <a:r>
              <a:rPr lang="zh-CN" altLang="en-US" dirty="0"/>
              <a:t>中。当</a:t>
            </a:r>
            <a:r>
              <a:rPr lang="en-US" altLang="zh-CN" dirty="0"/>
              <a:t>D_M</a:t>
            </a:r>
            <a:r>
              <a:rPr lang="zh-CN" altLang="en-US" dirty="0"/>
              <a:t>满时，采用均匀移除策略替换轨迹。动力学模型</a:t>
            </a:r>
            <a:r>
              <a:rPr lang="en-US" altLang="zh-CN" dirty="0"/>
              <a:t>\(f_{d y n}\)</a:t>
            </a:r>
            <a:r>
              <a:rPr lang="zh-CN" altLang="en-US" dirty="0"/>
              <a:t>从该缓冲区中均匀采样，并通过随机梯度下降（</a:t>
            </a:r>
            <a:r>
              <a:rPr lang="en-US" altLang="zh-CN" dirty="0"/>
              <a:t>SGD</a:t>
            </a:r>
            <a:r>
              <a:rPr lang="zh-CN" altLang="en-US" dirty="0"/>
              <a:t>）更新其前向预测参数。随后，为采样得到的轨迹</a:t>
            </a:r>
            <a:r>
              <a:rPr lang="en-US" altLang="zh-CN" dirty="0"/>
              <a:t>\(\tau^{j}, \tau^{j+1}, ...\)</a:t>
            </a:r>
            <a:r>
              <a:rPr lang="zh-CN" altLang="en-US" dirty="0"/>
              <a:t>分配好奇心奖励</a:t>
            </a:r>
            <a:r>
              <a:rPr lang="en-US" altLang="zh-CN" dirty="0"/>
              <a:t>\(r^{j}, r^{j+1}, ...\)</a:t>
            </a:r>
            <a:r>
              <a:rPr lang="zh-CN" altLang="en-US" dirty="0"/>
              <a:t>，该奖励根据其在当前</a:t>
            </a:r>
            <a:r>
              <a:rPr lang="en-US" altLang="zh-CN" dirty="0"/>
              <a:t>\(f_{d y n}^{(j)}\)</a:t>
            </a:r>
            <a:r>
              <a:rPr lang="zh-CN" altLang="en-US" dirty="0"/>
              <a:t>下的预测误差进行缩放。带标签的轨迹被传递至采用</a:t>
            </a:r>
            <a:r>
              <a:rPr lang="en-US" altLang="zh-CN" dirty="0"/>
              <a:t>\(FIFO\)</a:t>
            </a:r>
            <a:r>
              <a:rPr lang="zh-CN" altLang="en-US" dirty="0"/>
              <a:t>移除策略的策略回放缓冲区</a:t>
            </a:r>
            <a:r>
              <a:rPr lang="en-US" altLang="zh-CN" dirty="0"/>
              <a:t>\(D_{\pi}\)</a:t>
            </a:r>
            <a:r>
              <a:rPr lang="zh-CN" altLang="en-US" dirty="0"/>
              <a:t>中。最大后验策略优化（</a:t>
            </a:r>
            <a:r>
              <a:rPr lang="en-US" altLang="zh-CN" dirty="0"/>
              <a:t>MPO</a:t>
            </a:r>
            <a:r>
              <a:rPr lang="zh-CN" altLang="en-US" dirty="0"/>
              <a:t>）用于基于从策略回放中均匀抽取的样本拟合</a:t>
            </a:r>
            <a:r>
              <a:rPr lang="en-US" altLang="zh-CN" dirty="0"/>
              <a:t>Q</a:t>
            </a:r>
            <a:r>
              <a:rPr lang="zh-CN" altLang="en-US" dirty="0"/>
              <a:t>函数和策略</a:t>
            </a:r>
            <a:r>
              <a:rPr lang="en-US" altLang="zh-CN" dirty="0"/>
              <a:t>π</a:t>
            </a:r>
            <a:r>
              <a:rPr lang="zh-CN" altLang="en-US" dirty="0"/>
              <a:t>。最终得到的策略</a:t>
            </a:r>
            <a:r>
              <a:rPr lang="en-US" altLang="zh-CN" dirty="0"/>
              <a:t>\(\pi^{i+1}\)</a:t>
            </a:r>
            <a:r>
              <a:rPr lang="zh-CN" altLang="en-US" dirty="0"/>
              <a:t>随后被同步回执行器。需注意，模型学习和策略学习均在独立的循环中执行。</a:t>
            </a:r>
          </a:p>
        </p:txBody>
      </p:sp>
    </p:spTree>
    <p:extLst>
      <p:ext uri="{BB962C8B-B14F-4D97-AF65-F5344CB8AC3E}">
        <p14:creationId xmlns:p14="http://schemas.microsoft.com/office/powerpoint/2010/main" val="1932222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9" name="矩形 2"/>
          <p:cNvSpPr/>
          <p:nvPr/>
        </p:nvSpPr>
        <p:spPr>
          <a:xfrm>
            <a:off x="596900" y="549275"/>
            <a:ext cx="10909300" cy="5643880"/>
          </a:xfrm>
          <a:prstGeom prst="rect">
            <a:avLst/>
          </a:prstGeom>
          <a:solidFill>
            <a:schemeClr val="bg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80" name="矩形 4"/>
          <p:cNvSpPr/>
          <p:nvPr/>
        </p:nvSpPr>
        <p:spPr>
          <a:xfrm>
            <a:off x="2153285" y="2705100"/>
            <a:ext cx="9057005" cy="1106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敬请各位老师批评指正</a:t>
            </a:r>
            <a:r>
              <a:rPr lang="en-US" altLang="zh-CN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 </a:t>
            </a:r>
            <a:r>
              <a:rPr lang="zh-CN" altLang="en-US" sz="66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lt"/>
              </a:rPr>
              <a:t> </a:t>
            </a:r>
          </a:p>
        </p:txBody>
      </p:sp>
      <p:sp>
        <p:nvSpPr>
          <p:cNvPr id="1048781" name="矩形 5"/>
          <p:cNvSpPr/>
          <p:nvPr/>
        </p:nvSpPr>
        <p:spPr>
          <a:xfrm>
            <a:off x="3123871" y="2258042"/>
            <a:ext cx="271781" cy="447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7177" name="图片 52" descr="校徽紫色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255" y="549275"/>
            <a:ext cx="3704590" cy="2393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2479,331241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1907086614173,&quot;left&quot;:266.164094488189,&quot;top&quot;:119.13377952755904,&quot;width&quot;:626.545748031496}"/>
</p:tagLst>
</file>

<file path=ppt/theme/theme1.xml><?xml version="1.0" encoding="utf-8"?>
<a:theme xmlns:a="http://schemas.openxmlformats.org/drawingml/2006/main" name="Office 主题​​">
  <a:themeElements>
    <a:clrScheme name="鸢尾">
      <a:dk1>
        <a:srgbClr val="000000"/>
      </a:dk1>
      <a:lt1>
        <a:srgbClr val="FFFFFF"/>
      </a:lt1>
      <a:dk2>
        <a:srgbClr val="412B40"/>
      </a:dk2>
      <a:lt2>
        <a:srgbClr val="F9F0FA"/>
      </a:lt2>
      <a:accent1>
        <a:srgbClr val="AD84C6"/>
      </a:accent1>
      <a:accent2>
        <a:srgbClr val="FFC000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EDEDEC"/>
      </a:hlink>
      <a:folHlink>
        <a:srgbClr val="C8C7C6"/>
      </a:folHlink>
    </a:clrScheme>
    <a:fontScheme name="bvdb00dd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鸢尾">
      <a:dk1>
        <a:srgbClr val="000000"/>
      </a:dk1>
      <a:lt1>
        <a:srgbClr val="FFFFFF"/>
      </a:lt1>
      <a:dk2>
        <a:srgbClr val="412B40"/>
      </a:dk2>
      <a:lt2>
        <a:srgbClr val="F9F0FA"/>
      </a:lt2>
      <a:accent1>
        <a:srgbClr val="AD84C6"/>
      </a:accent1>
      <a:accent2>
        <a:srgbClr val="FFC000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EDEDEC"/>
      </a:hlink>
      <a:folHlink>
        <a:srgbClr val="C8C7C6"/>
      </a:folHlink>
    </a:clrScheme>
    <a:fontScheme name="bvdb00dd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666</Words>
  <Application>Microsoft Office PowerPoint</Application>
  <PresentationFormat>宽屏</PresentationFormat>
  <Paragraphs>35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Noto Sans SC</vt:lpstr>
      <vt:lpstr>等线</vt:lpstr>
      <vt:lpstr>Arial</vt:lpstr>
      <vt:lpstr>Impact</vt:lpstr>
      <vt:lpstr>Wingdings</vt:lpstr>
      <vt:lpstr>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office2016mac10413</dc:creator>
  <cp:lastModifiedBy>振毫 刘</cp:lastModifiedBy>
  <cp:revision>66</cp:revision>
  <dcterms:created xsi:type="dcterms:W3CDTF">2025-04-19T01:49:00Z</dcterms:created>
  <dcterms:modified xsi:type="dcterms:W3CDTF">2026-04-28T05:26:28Z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KSOTemplateUUID">
    <vt:lpwstr>v1.0_mb_znHGC65DvJoUAL1zlx+X1w==</vt:lpwstr>
  </property>
  <property fmtid="{D5CDD505-2E9C-101B-9397-08002B2CF9AE}" pid="4" name="ICV">
    <vt:lpwstr>73D6946E5FE14DDAB07C309D4EA5DD93_13</vt:lpwstr>
  </property>
</Properties>
</file>