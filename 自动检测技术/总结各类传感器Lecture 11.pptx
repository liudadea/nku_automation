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443" r:id="rId2"/>
    <p:sldId id="421" r:id="rId3"/>
    <p:sldId id="398" r:id="rId4"/>
    <p:sldId id="365" r:id="rId5"/>
    <p:sldId id="422" r:id="rId6"/>
    <p:sldId id="354" r:id="rId7"/>
    <p:sldId id="383" r:id="rId8"/>
    <p:sldId id="388" r:id="rId9"/>
    <p:sldId id="362" r:id="rId10"/>
    <p:sldId id="346" r:id="rId11"/>
    <p:sldId id="347" r:id="rId12"/>
    <p:sldId id="423" r:id="rId13"/>
    <p:sldId id="338" r:id="rId14"/>
    <p:sldId id="426" r:id="rId15"/>
    <p:sldId id="424" r:id="rId16"/>
    <p:sldId id="363" r:id="rId17"/>
    <p:sldId id="367" r:id="rId18"/>
    <p:sldId id="259" r:id="rId19"/>
    <p:sldId id="341" r:id="rId20"/>
    <p:sldId id="317" r:id="rId21"/>
    <p:sldId id="303" r:id="rId22"/>
    <p:sldId id="420" r:id="rId23"/>
    <p:sldId id="444" r:id="rId24"/>
    <p:sldId id="258" r:id="rId25"/>
    <p:sldId id="262" r:id="rId26"/>
    <p:sldId id="263" r:id="rId27"/>
    <p:sldId id="264" r:id="rId28"/>
    <p:sldId id="265" r:id="rId29"/>
    <p:sldId id="277" r:id="rId30"/>
    <p:sldId id="266" r:id="rId31"/>
    <p:sldId id="267" r:id="rId32"/>
    <p:sldId id="268" r:id="rId33"/>
    <p:sldId id="269" r:id="rId34"/>
    <p:sldId id="271" r:id="rId35"/>
    <p:sldId id="272" r:id="rId36"/>
    <p:sldId id="273" r:id="rId37"/>
    <p:sldId id="278" r:id="rId38"/>
    <p:sldId id="279" r:id="rId39"/>
    <p:sldId id="290" r:id="rId40"/>
    <p:sldId id="291" r:id="rId41"/>
    <p:sldId id="292" r:id="rId42"/>
    <p:sldId id="276" r:id="rId43"/>
    <p:sldId id="293" r:id="rId44"/>
    <p:sldId id="294" r:id="rId45"/>
    <p:sldId id="284" r:id="rId46"/>
    <p:sldId id="285" r:id="rId47"/>
    <p:sldId id="295" r:id="rId48"/>
    <p:sldId id="288" r:id="rId49"/>
    <p:sldId id="296" r:id="rId50"/>
    <p:sldId id="297" r:id="rId51"/>
    <p:sldId id="289" r:id="rId52"/>
    <p:sldId id="298" r:id="rId53"/>
    <p:sldId id="299" r:id="rId54"/>
    <p:sldId id="300" r:id="rId55"/>
    <p:sldId id="315" r:id="rId56"/>
    <p:sldId id="316" r:id="rId57"/>
    <p:sldId id="319" r:id="rId58"/>
    <p:sldId id="320" r:id="rId59"/>
    <p:sldId id="321" r:id="rId60"/>
    <p:sldId id="310" r:id="rId61"/>
    <p:sldId id="322" r:id="rId62"/>
    <p:sldId id="311" r:id="rId63"/>
    <p:sldId id="312" r:id="rId6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54F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5" autoAdjust="0"/>
    <p:restoredTop sz="94660"/>
  </p:normalViewPr>
  <p:slideViewPr>
    <p:cSldViewPr snapToGrid="0">
      <p:cViewPr varScale="1">
        <p:scale>
          <a:sx n="127" d="100"/>
          <a:sy n="127" d="100"/>
        </p:scale>
        <p:origin x="1416" y="192"/>
      </p:cViewPr>
      <p:guideLst>
        <p:guide orient="horz" pos="2160"/>
        <p:guide pos="2880"/>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4BFE69-A663-48FE-847E-961ADB1B89B2}" type="datetimeFigureOut">
              <a:rPr lang="zh-CN" altLang="en-US" smtClean="0"/>
              <a:t>2023/11/28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8BAB27-5BFC-45E6-A928-A1804196FCF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CC164E-2498-4040-BA87-856957E333D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ChangeArrowheads="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9"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4100"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fld id="{38DE2139-AB59-43C1-AE2B-438BB9D944B0}" type="slidenum">
              <a:rPr lang="zh-CN" altLang="en-US" sz="1200"/>
              <a:t>17</a:t>
            </a:fld>
            <a:endParaRPr lang="zh-CN"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19</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21</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25</a:t>
            </a:fld>
            <a:endParaRPr lang="zh-CN" altLang="en-US"/>
          </a:p>
        </p:txBody>
      </p:sp>
    </p:spTree>
    <p:extLst>
      <p:ext uri="{BB962C8B-B14F-4D97-AF65-F5344CB8AC3E}">
        <p14:creationId xmlns:p14="http://schemas.microsoft.com/office/powerpoint/2010/main" val="25842664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26</a:t>
            </a:fld>
            <a:endParaRPr lang="zh-CN" altLang="en-US"/>
          </a:p>
        </p:txBody>
      </p:sp>
    </p:spTree>
    <p:extLst>
      <p:ext uri="{BB962C8B-B14F-4D97-AF65-F5344CB8AC3E}">
        <p14:creationId xmlns:p14="http://schemas.microsoft.com/office/powerpoint/2010/main" val="34865977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27</a:t>
            </a:fld>
            <a:endParaRPr lang="zh-CN" altLang="en-US"/>
          </a:p>
        </p:txBody>
      </p:sp>
    </p:spTree>
    <p:extLst>
      <p:ext uri="{BB962C8B-B14F-4D97-AF65-F5344CB8AC3E}">
        <p14:creationId xmlns:p14="http://schemas.microsoft.com/office/powerpoint/2010/main" val="7151667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28</a:t>
            </a:fld>
            <a:endParaRPr lang="zh-CN" altLang="en-US"/>
          </a:p>
        </p:txBody>
      </p:sp>
    </p:spTree>
    <p:extLst>
      <p:ext uri="{BB962C8B-B14F-4D97-AF65-F5344CB8AC3E}">
        <p14:creationId xmlns:p14="http://schemas.microsoft.com/office/powerpoint/2010/main" val="350463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29</a:t>
            </a:fld>
            <a:endParaRPr lang="zh-CN" altLang="en-US"/>
          </a:p>
        </p:txBody>
      </p:sp>
    </p:spTree>
    <p:extLst>
      <p:ext uri="{BB962C8B-B14F-4D97-AF65-F5344CB8AC3E}">
        <p14:creationId xmlns:p14="http://schemas.microsoft.com/office/powerpoint/2010/main" val="24581294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30</a:t>
            </a:fld>
            <a:endParaRPr lang="zh-CN" altLang="en-US"/>
          </a:p>
        </p:txBody>
      </p:sp>
    </p:spTree>
    <p:extLst>
      <p:ext uri="{BB962C8B-B14F-4D97-AF65-F5344CB8AC3E}">
        <p14:creationId xmlns:p14="http://schemas.microsoft.com/office/powerpoint/2010/main" val="2242955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31</a:t>
            </a:fld>
            <a:endParaRPr lang="zh-CN" altLang="en-US"/>
          </a:p>
        </p:txBody>
      </p:sp>
    </p:spTree>
    <p:extLst>
      <p:ext uri="{BB962C8B-B14F-4D97-AF65-F5344CB8AC3E}">
        <p14:creationId xmlns:p14="http://schemas.microsoft.com/office/powerpoint/2010/main" val="203468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32</a:t>
            </a:fld>
            <a:endParaRPr lang="zh-CN" altLang="en-US"/>
          </a:p>
        </p:txBody>
      </p:sp>
    </p:spTree>
    <p:extLst>
      <p:ext uri="{BB962C8B-B14F-4D97-AF65-F5344CB8AC3E}">
        <p14:creationId xmlns:p14="http://schemas.microsoft.com/office/powerpoint/2010/main" val="528861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39</a:t>
            </a:fld>
            <a:endParaRPr lang="zh-CN" altLang="en-US"/>
          </a:p>
        </p:txBody>
      </p:sp>
    </p:spTree>
    <p:extLst>
      <p:ext uri="{BB962C8B-B14F-4D97-AF65-F5344CB8AC3E}">
        <p14:creationId xmlns:p14="http://schemas.microsoft.com/office/powerpoint/2010/main" val="20050849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40</a:t>
            </a:fld>
            <a:endParaRPr lang="zh-CN" altLang="en-US"/>
          </a:p>
        </p:txBody>
      </p:sp>
    </p:spTree>
    <p:extLst>
      <p:ext uri="{BB962C8B-B14F-4D97-AF65-F5344CB8AC3E}">
        <p14:creationId xmlns:p14="http://schemas.microsoft.com/office/powerpoint/2010/main" val="1381948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41</a:t>
            </a:fld>
            <a:endParaRPr lang="zh-CN" altLang="en-US"/>
          </a:p>
        </p:txBody>
      </p:sp>
    </p:spTree>
    <p:extLst>
      <p:ext uri="{BB962C8B-B14F-4D97-AF65-F5344CB8AC3E}">
        <p14:creationId xmlns:p14="http://schemas.microsoft.com/office/powerpoint/2010/main" val="26937505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42</a:t>
            </a:fld>
            <a:endParaRPr lang="zh-CN" altLang="en-US"/>
          </a:p>
        </p:txBody>
      </p:sp>
    </p:spTree>
    <p:extLst>
      <p:ext uri="{BB962C8B-B14F-4D97-AF65-F5344CB8AC3E}">
        <p14:creationId xmlns:p14="http://schemas.microsoft.com/office/powerpoint/2010/main" val="1151144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43</a:t>
            </a:fld>
            <a:endParaRPr lang="zh-CN" altLang="en-US"/>
          </a:p>
        </p:txBody>
      </p:sp>
    </p:spTree>
    <p:extLst>
      <p:ext uri="{BB962C8B-B14F-4D97-AF65-F5344CB8AC3E}">
        <p14:creationId xmlns:p14="http://schemas.microsoft.com/office/powerpoint/2010/main" val="41794019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45</a:t>
            </a:fld>
            <a:endParaRPr lang="zh-CN" altLang="en-US"/>
          </a:p>
        </p:txBody>
      </p:sp>
    </p:spTree>
    <p:extLst>
      <p:ext uri="{BB962C8B-B14F-4D97-AF65-F5344CB8AC3E}">
        <p14:creationId xmlns:p14="http://schemas.microsoft.com/office/powerpoint/2010/main" val="9904866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47</a:t>
            </a:fld>
            <a:endParaRPr lang="zh-CN" altLang="en-US"/>
          </a:p>
        </p:txBody>
      </p:sp>
    </p:spTree>
    <p:extLst>
      <p:ext uri="{BB962C8B-B14F-4D97-AF65-F5344CB8AC3E}">
        <p14:creationId xmlns:p14="http://schemas.microsoft.com/office/powerpoint/2010/main" val="4006347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48</a:t>
            </a:fld>
            <a:endParaRPr lang="zh-CN" altLang="en-US"/>
          </a:p>
        </p:txBody>
      </p:sp>
    </p:spTree>
    <p:extLst>
      <p:ext uri="{BB962C8B-B14F-4D97-AF65-F5344CB8AC3E}">
        <p14:creationId xmlns:p14="http://schemas.microsoft.com/office/powerpoint/2010/main" val="34753097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52</a:t>
            </a:fld>
            <a:endParaRPr lang="zh-CN" altLang="en-US"/>
          </a:p>
        </p:txBody>
      </p:sp>
    </p:spTree>
    <p:extLst>
      <p:ext uri="{BB962C8B-B14F-4D97-AF65-F5344CB8AC3E}">
        <p14:creationId xmlns:p14="http://schemas.microsoft.com/office/powerpoint/2010/main" val="32404367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53</a:t>
            </a:fld>
            <a:endParaRPr lang="zh-CN" altLang="en-US"/>
          </a:p>
        </p:txBody>
      </p:sp>
    </p:spTree>
    <p:extLst>
      <p:ext uri="{BB962C8B-B14F-4D97-AF65-F5344CB8AC3E}">
        <p14:creationId xmlns:p14="http://schemas.microsoft.com/office/powerpoint/2010/main" val="15902430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54</a:t>
            </a:fld>
            <a:endParaRPr lang="zh-CN" altLang="en-US"/>
          </a:p>
        </p:txBody>
      </p:sp>
    </p:spTree>
    <p:extLst>
      <p:ext uri="{BB962C8B-B14F-4D97-AF65-F5344CB8AC3E}">
        <p14:creationId xmlns:p14="http://schemas.microsoft.com/office/powerpoint/2010/main" val="1043786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55</a:t>
            </a:fld>
            <a:endParaRPr lang="zh-CN" altLang="en-US"/>
          </a:p>
        </p:txBody>
      </p:sp>
    </p:spTree>
    <p:extLst>
      <p:ext uri="{BB962C8B-B14F-4D97-AF65-F5344CB8AC3E}">
        <p14:creationId xmlns:p14="http://schemas.microsoft.com/office/powerpoint/2010/main" val="1811624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56</a:t>
            </a:fld>
            <a:endParaRPr lang="zh-CN" altLang="en-US"/>
          </a:p>
        </p:txBody>
      </p:sp>
    </p:spTree>
    <p:extLst>
      <p:ext uri="{BB962C8B-B14F-4D97-AF65-F5344CB8AC3E}">
        <p14:creationId xmlns:p14="http://schemas.microsoft.com/office/powerpoint/2010/main" val="19101725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57</a:t>
            </a:fld>
            <a:endParaRPr lang="zh-CN" altLang="en-US"/>
          </a:p>
        </p:txBody>
      </p:sp>
    </p:spTree>
    <p:extLst>
      <p:ext uri="{BB962C8B-B14F-4D97-AF65-F5344CB8AC3E}">
        <p14:creationId xmlns:p14="http://schemas.microsoft.com/office/powerpoint/2010/main" val="9922595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58</a:t>
            </a:fld>
            <a:endParaRPr lang="zh-CN" altLang="en-US"/>
          </a:p>
        </p:txBody>
      </p:sp>
    </p:spTree>
    <p:extLst>
      <p:ext uri="{BB962C8B-B14F-4D97-AF65-F5344CB8AC3E}">
        <p14:creationId xmlns:p14="http://schemas.microsoft.com/office/powerpoint/2010/main" val="1281655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60</a:t>
            </a:fld>
            <a:endParaRPr lang="zh-CN" altLang="en-US"/>
          </a:p>
        </p:txBody>
      </p:sp>
    </p:spTree>
    <p:extLst>
      <p:ext uri="{BB962C8B-B14F-4D97-AF65-F5344CB8AC3E}">
        <p14:creationId xmlns:p14="http://schemas.microsoft.com/office/powerpoint/2010/main" val="17271699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61</a:t>
            </a:fld>
            <a:endParaRPr lang="zh-CN" altLang="en-US"/>
          </a:p>
        </p:txBody>
      </p:sp>
    </p:spTree>
    <p:extLst>
      <p:ext uri="{BB962C8B-B14F-4D97-AF65-F5344CB8AC3E}">
        <p14:creationId xmlns:p14="http://schemas.microsoft.com/office/powerpoint/2010/main" val="13592170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62</a:t>
            </a:fld>
            <a:endParaRPr lang="zh-CN" altLang="en-US"/>
          </a:p>
        </p:txBody>
      </p:sp>
    </p:spTree>
    <p:extLst>
      <p:ext uri="{BB962C8B-B14F-4D97-AF65-F5344CB8AC3E}">
        <p14:creationId xmlns:p14="http://schemas.microsoft.com/office/powerpoint/2010/main" val="38008635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48BAB27-5BFC-45E6-A928-A1804196FCF3}" type="slidenum">
              <a:rPr lang="zh-CN" altLang="en-US" smtClean="0"/>
              <a:t>63</a:t>
            </a:fld>
            <a:endParaRPr lang="zh-CN" altLang="en-US"/>
          </a:p>
        </p:txBody>
      </p:sp>
    </p:spTree>
    <p:extLst>
      <p:ext uri="{BB962C8B-B14F-4D97-AF65-F5344CB8AC3E}">
        <p14:creationId xmlns:p14="http://schemas.microsoft.com/office/powerpoint/2010/main" val="27534173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90F5DB5A-9BC4-40A7-9095-A8F3D85AAF3A}" type="datetimeFigureOut">
              <a:rPr lang="zh-CN" altLang="en-US" smtClean="0"/>
              <a:t>2023/11/28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53602B4-F12B-41CD-B648-531F86B2CC9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F5DB5A-9BC4-40A7-9095-A8F3D85AAF3A}" type="datetimeFigureOut">
              <a:rPr lang="zh-CN" altLang="en-US" smtClean="0"/>
              <a:t>2023/11/28</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602B4-F12B-41CD-B648-531F86B2CC9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slide" Target="slide25.xml"/><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slide" Target="slide35.xml"/><Relationship Id="rId4" Type="http://schemas.openxmlformats.org/officeDocument/2006/relationships/slide" Target="slide3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3.bin"/><Relationship Id="rId4" Type="http://schemas.openxmlformats.org/officeDocument/2006/relationships/image" Target="NUL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6.w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39.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slide" Target="slide4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slide" Target="slide51.xml"/><Relationship Id="rId1" Type="http://schemas.openxmlformats.org/officeDocument/2006/relationships/slideLayout" Target="../slideLayouts/slideLayout2.xml"/><Relationship Id="rId4" Type="http://schemas.openxmlformats.org/officeDocument/2006/relationships/slide" Target="slide5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3" name="直接连接符 82"/>
          <p:cNvCxnSpPr/>
          <p:nvPr/>
        </p:nvCxnSpPr>
        <p:spPr>
          <a:xfrm flipH="1">
            <a:off x="5072963" y="1329564"/>
            <a:ext cx="1" cy="5492811"/>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a:off x="4885091" y="35626"/>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87" name="文本框 86"/>
          <p:cNvSpPr txBox="1"/>
          <p:nvPr/>
        </p:nvSpPr>
        <p:spPr>
          <a:xfrm>
            <a:off x="1233398" y="1357946"/>
            <a:ext cx="3744928" cy="4478145"/>
          </a:xfrm>
          <a:prstGeom prst="rect">
            <a:avLst/>
          </a:prstGeom>
          <a:noFill/>
        </p:spPr>
        <p:txBody>
          <a:bodyPr wrap="none" lIns="91436" tIns="45718" rIns="91436" bIns="45718" rtlCol="0">
            <a:spAutoFit/>
          </a:bodyPr>
          <a:lstStyle/>
          <a:p>
            <a:pPr>
              <a:spcBef>
                <a:spcPts val="575"/>
              </a:spcBef>
            </a:pPr>
            <a:r>
              <a:rPr lang="en-US" altLang="zh-CN" sz="2400" b="1" dirty="0">
                <a:solidFill>
                  <a:schemeClr val="tx2"/>
                </a:solidFill>
                <a:latin typeface="SimSun" pitchFamily="2" charset="-122"/>
                <a:ea typeface="SimSun" pitchFamily="2" charset="-122"/>
              </a:rPr>
              <a:t>0 </a:t>
            </a:r>
            <a:r>
              <a:rPr lang="zh-CN" altLang="en-US" sz="2400" b="1" dirty="0">
                <a:solidFill>
                  <a:schemeClr val="tx2"/>
                </a:solidFill>
                <a:latin typeface="SimSun" pitchFamily="2" charset="-122"/>
                <a:ea typeface="SimSun" pitchFamily="2" charset="-122"/>
              </a:rPr>
              <a:t>传感器与检测技术概念 </a:t>
            </a:r>
          </a:p>
          <a:p>
            <a:pPr>
              <a:spcBef>
                <a:spcPts val="575"/>
              </a:spcBef>
            </a:pPr>
            <a:r>
              <a:rPr lang="en-US" altLang="zh-CN" sz="2400" b="1" dirty="0">
                <a:solidFill>
                  <a:schemeClr val="tx2"/>
                </a:solidFill>
                <a:latin typeface="SimSun" pitchFamily="2" charset="-122"/>
                <a:ea typeface="SimSun" pitchFamily="2" charset="-122"/>
              </a:rPr>
              <a:t>1 </a:t>
            </a:r>
            <a:r>
              <a:rPr lang="zh-CN" altLang="en-US" sz="2400" b="1" dirty="0">
                <a:solidFill>
                  <a:schemeClr val="tx2"/>
                </a:solidFill>
                <a:latin typeface="SimSun" pitchFamily="2" charset="-122"/>
                <a:ea typeface="SimSun" pitchFamily="2" charset="-122"/>
              </a:rPr>
              <a:t>传感器的特性</a:t>
            </a:r>
          </a:p>
          <a:p>
            <a:pPr>
              <a:spcBef>
                <a:spcPts val="575"/>
              </a:spcBef>
            </a:pPr>
            <a:r>
              <a:rPr lang="en-US" altLang="zh-CN" sz="2400" b="1" dirty="0">
                <a:solidFill>
                  <a:schemeClr val="tx2"/>
                </a:solidFill>
                <a:latin typeface="SimSun" pitchFamily="2" charset="-122"/>
                <a:ea typeface="SimSun" pitchFamily="2" charset="-122"/>
              </a:rPr>
              <a:t>2 </a:t>
            </a:r>
            <a:r>
              <a:rPr lang="zh-CN" altLang="en-US" sz="2400" b="1" dirty="0">
                <a:solidFill>
                  <a:schemeClr val="tx2"/>
                </a:solidFill>
                <a:latin typeface="SimSun" pitchFamily="2" charset="-122"/>
                <a:ea typeface="SimSun" pitchFamily="2" charset="-122"/>
              </a:rPr>
              <a:t>电阻式传感器</a:t>
            </a:r>
          </a:p>
          <a:p>
            <a:pPr>
              <a:spcBef>
                <a:spcPts val="575"/>
              </a:spcBef>
            </a:pPr>
            <a:r>
              <a:rPr lang="en-US" altLang="zh-CN" sz="2400" b="1" dirty="0">
                <a:solidFill>
                  <a:schemeClr val="tx2"/>
                </a:solidFill>
                <a:latin typeface="SimSun" pitchFamily="2" charset="-122"/>
                <a:ea typeface="SimSun" pitchFamily="2" charset="-122"/>
              </a:rPr>
              <a:t>3 </a:t>
            </a:r>
            <a:r>
              <a:rPr lang="zh-CN" altLang="en-US" sz="2400" b="1" dirty="0">
                <a:solidFill>
                  <a:schemeClr val="tx2"/>
                </a:solidFill>
                <a:latin typeface="SimSun" pitchFamily="2" charset="-122"/>
                <a:ea typeface="SimSun" pitchFamily="2" charset="-122"/>
              </a:rPr>
              <a:t>电感式传感器</a:t>
            </a:r>
          </a:p>
          <a:p>
            <a:pPr>
              <a:spcBef>
                <a:spcPts val="575"/>
              </a:spcBef>
            </a:pPr>
            <a:r>
              <a:rPr lang="en-US" altLang="zh-CN" sz="2400" b="1" dirty="0">
                <a:solidFill>
                  <a:schemeClr val="tx2"/>
                </a:solidFill>
                <a:latin typeface="SimSun" pitchFamily="2" charset="-122"/>
                <a:ea typeface="SimSun" pitchFamily="2" charset="-122"/>
              </a:rPr>
              <a:t>4 </a:t>
            </a:r>
            <a:r>
              <a:rPr lang="zh-CN" altLang="en-US" sz="2400" b="1" dirty="0">
                <a:solidFill>
                  <a:schemeClr val="tx2"/>
                </a:solidFill>
                <a:latin typeface="SimSun" pitchFamily="2" charset="-122"/>
                <a:ea typeface="SimSun" pitchFamily="2" charset="-122"/>
              </a:rPr>
              <a:t>电容式传感器</a:t>
            </a:r>
          </a:p>
          <a:p>
            <a:pPr>
              <a:spcBef>
                <a:spcPts val="575"/>
              </a:spcBef>
            </a:pPr>
            <a:r>
              <a:rPr lang="en-US" altLang="zh-CN" sz="2400" b="1" dirty="0">
                <a:solidFill>
                  <a:schemeClr val="tx2"/>
                </a:solidFill>
                <a:latin typeface="SimSun" pitchFamily="2" charset="-122"/>
                <a:ea typeface="SimSun" pitchFamily="2" charset="-122"/>
              </a:rPr>
              <a:t>5 </a:t>
            </a:r>
            <a:r>
              <a:rPr lang="zh-CN" altLang="en-US" sz="2400" b="1" dirty="0">
                <a:solidFill>
                  <a:schemeClr val="tx2"/>
                </a:solidFill>
                <a:latin typeface="SimSun" pitchFamily="2" charset="-122"/>
                <a:ea typeface="SimSun" pitchFamily="2" charset="-122"/>
              </a:rPr>
              <a:t>磁电式传感器</a:t>
            </a:r>
          </a:p>
          <a:p>
            <a:pPr>
              <a:spcBef>
                <a:spcPts val="575"/>
              </a:spcBef>
            </a:pPr>
            <a:r>
              <a:rPr lang="en-US" altLang="zh-CN" sz="2400" b="1" dirty="0">
                <a:solidFill>
                  <a:schemeClr val="tx2"/>
                </a:solidFill>
                <a:latin typeface="SimSun" pitchFamily="2" charset="-122"/>
                <a:ea typeface="SimSun" pitchFamily="2" charset="-122"/>
              </a:rPr>
              <a:t>6 </a:t>
            </a:r>
            <a:r>
              <a:rPr lang="zh-CN" altLang="en-US" sz="2400" b="1" dirty="0">
                <a:solidFill>
                  <a:schemeClr val="tx2"/>
                </a:solidFill>
                <a:latin typeface="SimSun" pitchFamily="2" charset="-122"/>
                <a:ea typeface="SimSun" pitchFamily="2" charset="-122"/>
              </a:rPr>
              <a:t>压电式传感器</a:t>
            </a:r>
          </a:p>
          <a:p>
            <a:pPr>
              <a:spcBef>
                <a:spcPts val="575"/>
              </a:spcBef>
            </a:pPr>
            <a:r>
              <a:rPr lang="en-US" altLang="zh-CN" sz="2400" b="1" dirty="0">
                <a:solidFill>
                  <a:schemeClr val="tx2"/>
                </a:solidFill>
                <a:latin typeface="SimSun" pitchFamily="2" charset="-122"/>
                <a:ea typeface="SimSun" pitchFamily="2" charset="-122"/>
              </a:rPr>
              <a:t>7 </a:t>
            </a:r>
            <a:r>
              <a:rPr lang="zh-CN" altLang="en-US" sz="2400" b="1" dirty="0">
                <a:solidFill>
                  <a:schemeClr val="tx2"/>
                </a:solidFill>
                <a:latin typeface="SimSun" pitchFamily="2" charset="-122"/>
                <a:ea typeface="SimSun" pitchFamily="2" charset="-122"/>
              </a:rPr>
              <a:t>光电式传感器</a:t>
            </a:r>
          </a:p>
          <a:p>
            <a:pPr>
              <a:spcBef>
                <a:spcPts val="575"/>
              </a:spcBef>
            </a:pPr>
            <a:r>
              <a:rPr lang="en-US" altLang="zh-CN" sz="2400" b="1" dirty="0">
                <a:solidFill>
                  <a:schemeClr val="tx2"/>
                </a:solidFill>
                <a:latin typeface="SimSun" pitchFamily="2" charset="-122"/>
                <a:ea typeface="SimSun" pitchFamily="2" charset="-122"/>
              </a:rPr>
              <a:t>8 </a:t>
            </a:r>
            <a:r>
              <a:rPr lang="zh-CN" altLang="en-US" sz="2400" b="1" dirty="0">
                <a:solidFill>
                  <a:schemeClr val="tx2"/>
                </a:solidFill>
                <a:latin typeface="SimSun" pitchFamily="2" charset="-122"/>
                <a:ea typeface="SimSun" pitchFamily="2" charset="-122"/>
              </a:rPr>
              <a:t>热电式传感器</a:t>
            </a:r>
            <a:endParaRPr lang="en-US" altLang="zh-CN" sz="2400" b="1" dirty="0">
              <a:solidFill>
                <a:schemeClr val="tx2"/>
              </a:solidFill>
              <a:latin typeface="SimSun" pitchFamily="2" charset="-122"/>
              <a:ea typeface="SimSun" pitchFamily="2" charset="-122"/>
            </a:endParaRPr>
          </a:p>
          <a:p>
            <a:pPr>
              <a:spcBef>
                <a:spcPts val="575"/>
              </a:spcBef>
            </a:pPr>
            <a:r>
              <a:rPr lang="en-US" altLang="zh-CN" sz="2400" b="1" dirty="0">
                <a:solidFill>
                  <a:schemeClr val="tx2"/>
                </a:solidFill>
                <a:latin typeface="SimSun" pitchFamily="2" charset="-122"/>
                <a:ea typeface="SimSun" pitchFamily="2" charset="-122"/>
              </a:rPr>
              <a:t>9 </a:t>
            </a:r>
            <a:r>
              <a:rPr lang="zh-CN" altLang="en-US" sz="2400" b="1" dirty="0">
                <a:solidFill>
                  <a:schemeClr val="tx2"/>
                </a:solidFill>
                <a:latin typeface="SimSun" pitchFamily="2" charset="-122"/>
                <a:ea typeface="SimSun" pitchFamily="2" charset="-122"/>
              </a:rPr>
              <a:t>波式传感器</a:t>
            </a:r>
            <a:endParaRPr lang="en-US" altLang="zh-CN" sz="2400" b="1" dirty="0">
              <a:solidFill>
                <a:schemeClr val="tx2"/>
              </a:solidFill>
              <a:latin typeface="SimSun" pitchFamily="2" charset="-122"/>
              <a:ea typeface="SimSun" pitchFamily="2" charset="-122"/>
            </a:endParaRPr>
          </a:p>
        </p:txBody>
      </p:sp>
      <p:sp>
        <p:nvSpPr>
          <p:cNvPr id="88" name="文本框 87">
            <a:hlinkClick r:id="rId3" action="ppaction://hlinksldjump"/>
          </p:cNvPr>
          <p:cNvSpPr txBox="1"/>
          <p:nvPr/>
        </p:nvSpPr>
        <p:spPr>
          <a:xfrm>
            <a:off x="5262238" y="1357946"/>
            <a:ext cx="3617595" cy="2674620"/>
          </a:xfrm>
          <a:prstGeom prst="rect">
            <a:avLst/>
          </a:prstGeom>
          <a:noFill/>
        </p:spPr>
        <p:txBody>
          <a:bodyPr wrap="none" lIns="91436" tIns="45718" rIns="91436" bIns="45718" rtlCol="0">
            <a:spAutoFit/>
          </a:bodyPr>
          <a:lstStyle/>
          <a:p>
            <a:pPr>
              <a:spcBef>
                <a:spcPts val="575"/>
              </a:spcBef>
            </a:pPr>
            <a:r>
              <a:rPr lang="en-US" altLang="zh-CN" sz="2400" b="1" dirty="0">
                <a:solidFill>
                  <a:schemeClr val="tx2"/>
                </a:solidFill>
                <a:latin typeface="SimSun" pitchFamily="2" charset="-122"/>
                <a:ea typeface="SimSun" pitchFamily="2" charset="-122"/>
              </a:rPr>
              <a:t>10 </a:t>
            </a:r>
            <a:r>
              <a:rPr lang="zh-CN" altLang="en-US" sz="2400" b="1" dirty="0">
                <a:solidFill>
                  <a:schemeClr val="tx2"/>
                </a:solidFill>
                <a:latin typeface="SimSun" pitchFamily="2" charset="-122"/>
                <a:ea typeface="SimSun" pitchFamily="2" charset="-122"/>
              </a:rPr>
              <a:t>核辐射传感器</a:t>
            </a:r>
          </a:p>
          <a:p>
            <a:pPr>
              <a:spcBef>
                <a:spcPts val="575"/>
              </a:spcBef>
            </a:pPr>
            <a:r>
              <a:rPr lang="en-US" altLang="zh-CN" sz="2400" b="1" dirty="0">
                <a:solidFill>
                  <a:schemeClr val="tx2"/>
                </a:solidFill>
                <a:latin typeface="SimSun" pitchFamily="2" charset="-122"/>
                <a:ea typeface="SimSun" pitchFamily="2" charset="-122"/>
              </a:rPr>
              <a:t>11 </a:t>
            </a:r>
            <a:r>
              <a:rPr lang="zh-CN" altLang="en-US" sz="2400" b="1" dirty="0">
                <a:solidFill>
                  <a:schemeClr val="tx2"/>
                </a:solidFill>
                <a:latin typeface="SimSun" pitchFamily="2" charset="-122"/>
                <a:ea typeface="SimSun" pitchFamily="2" charset="-122"/>
              </a:rPr>
              <a:t>生物传感器</a:t>
            </a:r>
          </a:p>
          <a:p>
            <a:pPr>
              <a:spcBef>
                <a:spcPts val="575"/>
              </a:spcBef>
            </a:pPr>
            <a:r>
              <a:rPr lang="en-US" altLang="zh-CN" sz="2400" b="1" dirty="0">
                <a:solidFill>
                  <a:schemeClr val="tx2"/>
                </a:solidFill>
                <a:latin typeface="SimSun" pitchFamily="2" charset="-122"/>
                <a:ea typeface="SimSun" pitchFamily="2" charset="-122"/>
              </a:rPr>
              <a:t>12 </a:t>
            </a:r>
            <a:r>
              <a:rPr lang="zh-CN" altLang="en-US" sz="2400" b="1" dirty="0">
                <a:solidFill>
                  <a:schemeClr val="tx2"/>
                </a:solidFill>
                <a:latin typeface="SimSun" pitchFamily="2" charset="-122"/>
                <a:ea typeface="SimSun" pitchFamily="2" charset="-122"/>
              </a:rPr>
              <a:t>集成智能传感器</a:t>
            </a:r>
          </a:p>
          <a:p>
            <a:pPr>
              <a:spcBef>
                <a:spcPts val="575"/>
              </a:spcBef>
            </a:pPr>
            <a:r>
              <a:rPr lang="en-US" altLang="zh-CN" sz="2400" b="1" dirty="0">
                <a:solidFill>
                  <a:schemeClr val="tx2"/>
                </a:solidFill>
                <a:latin typeface="SimSun" pitchFamily="2" charset="-122"/>
                <a:ea typeface="SimSun" pitchFamily="2" charset="-122"/>
              </a:rPr>
              <a:t>13 </a:t>
            </a:r>
            <a:r>
              <a:rPr lang="zh-CN" altLang="en-US" sz="2400" b="1" dirty="0">
                <a:solidFill>
                  <a:schemeClr val="tx2"/>
                </a:solidFill>
                <a:latin typeface="SimSun" pitchFamily="2" charset="-122"/>
                <a:ea typeface="SimSun" pitchFamily="2" charset="-122"/>
              </a:rPr>
              <a:t>传感器的标定</a:t>
            </a:r>
          </a:p>
          <a:p>
            <a:pPr>
              <a:spcBef>
                <a:spcPts val="575"/>
              </a:spcBef>
            </a:pPr>
            <a:r>
              <a:rPr lang="en-US" altLang="zh-CN" sz="2400" b="1" dirty="0">
                <a:solidFill>
                  <a:schemeClr val="tx2"/>
                </a:solidFill>
                <a:latin typeface="SimSun" pitchFamily="2" charset="-122"/>
                <a:ea typeface="SimSun" pitchFamily="2" charset="-122"/>
              </a:rPr>
              <a:t>14 </a:t>
            </a:r>
            <a:r>
              <a:rPr lang="zh-CN" altLang="en-US" sz="2400" b="1" dirty="0">
                <a:solidFill>
                  <a:schemeClr val="tx2"/>
                </a:solidFill>
                <a:latin typeface="SimSun" pitchFamily="2" charset="-122"/>
                <a:ea typeface="SimSun" pitchFamily="2" charset="-122"/>
              </a:rPr>
              <a:t>检测技术基础</a:t>
            </a:r>
          </a:p>
          <a:p>
            <a:pPr>
              <a:spcBef>
                <a:spcPts val="575"/>
              </a:spcBef>
            </a:pPr>
            <a:r>
              <a:rPr lang="en-US" altLang="zh-CN" sz="2400" b="1" dirty="0">
                <a:solidFill>
                  <a:schemeClr val="tx2"/>
                </a:solidFill>
                <a:latin typeface="SimSun" pitchFamily="2" charset="-122"/>
                <a:ea typeface="SimSun" pitchFamily="2" charset="-122"/>
              </a:rPr>
              <a:t>15 </a:t>
            </a:r>
            <a:r>
              <a:rPr lang="zh-CN" altLang="en-US" sz="2400" b="1" dirty="0">
                <a:solidFill>
                  <a:schemeClr val="tx2"/>
                </a:solidFill>
                <a:latin typeface="SimSun" pitchFamily="2" charset="-122"/>
                <a:ea typeface="SimSun" pitchFamily="2" charset="-122"/>
              </a:rPr>
              <a:t>多传感器信息融合技术</a:t>
            </a: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wipe(up)">
                                      <p:cBhvr>
                                        <p:cTn id="7" dur="500"/>
                                        <p:tgtEl>
                                          <p:spTgt spid="8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88"/>
                                        </p:tgtEl>
                                        <p:attrNameLst>
                                          <p:attrName>style.visibility</p:attrName>
                                        </p:attrNameLst>
                                      </p:cBhvr>
                                      <p:to>
                                        <p:strVal val="visible"/>
                                      </p:to>
                                    </p:set>
                                    <p:animEffect transition="in" filter="wipe(up)">
                                      <p:cBhvr>
                                        <p:cTn id="11"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8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969900"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测轴心轨迹的传感器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592053" y="5361188"/>
            <a:ext cx="395989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r>
              <a:rPr lang="zh-CN" altLang="en-US" b="1" dirty="0">
                <a:solidFill>
                  <a:srgbClr val="000099"/>
                </a:solidFill>
              </a:rPr>
              <a:t>图</a:t>
            </a:r>
            <a:r>
              <a:rPr lang="en-US" altLang="zh-CN" b="1" dirty="0">
                <a:solidFill>
                  <a:srgbClr val="000099"/>
                </a:solidFill>
              </a:rPr>
              <a:t>3-34  </a:t>
            </a:r>
            <a:r>
              <a:rPr lang="zh-CN" altLang="en-US" b="1" dirty="0">
                <a:solidFill>
                  <a:srgbClr val="000099"/>
                </a:solidFill>
              </a:rPr>
              <a:t>轨迹仪的原理结构</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920" y="1783458"/>
            <a:ext cx="8422010" cy="3082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3.3.3</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涡流式传感器的特性及应用</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92275" y="5445125"/>
            <a:ext cx="619209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rPr>
              <a:t>图</a:t>
            </a:r>
            <a:r>
              <a:rPr lang="en-US" altLang="zh-CN" b="1" dirty="0">
                <a:solidFill>
                  <a:srgbClr val="000099"/>
                </a:solidFill>
              </a:rPr>
              <a:t>4-24  </a:t>
            </a:r>
            <a:r>
              <a:rPr lang="zh-CN" altLang="en-US" b="1" dirty="0">
                <a:solidFill>
                  <a:srgbClr val="000099"/>
                </a:solidFill>
              </a:rPr>
              <a:t>电容式振动位移传感器的应用示意图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068" y="1852011"/>
            <a:ext cx="7815834" cy="3153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969900"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测量加速度的传感器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306414"/>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057400" y="5440014"/>
            <a:ext cx="5791200" cy="49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2-16 </a:t>
            </a:r>
            <a:r>
              <a:rPr lang="zh-CN" altLang="en-US" b="1" dirty="0">
                <a:solidFill>
                  <a:srgbClr val="000099"/>
                </a:solidFill>
              </a:rPr>
              <a:t>电位器式加速度传感器示意图</a:t>
            </a:r>
          </a:p>
        </p:txBody>
      </p:sp>
      <p:pic>
        <p:nvPicPr>
          <p:cNvPr id="2" name="图片 1"/>
          <p:cNvPicPr>
            <a:picLocks noChangeAspect="1"/>
          </p:cNvPicPr>
          <p:nvPr/>
        </p:nvPicPr>
        <p:blipFill>
          <a:blip r:embed="rId2"/>
          <a:stretch>
            <a:fillRect/>
          </a:stretch>
        </p:blipFill>
        <p:spPr>
          <a:xfrm>
            <a:off x="1201256" y="1455166"/>
            <a:ext cx="7203631" cy="3731865"/>
          </a:xfrm>
          <a:prstGeom prst="rect">
            <a:avLst/>
          </a:prstGeom>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2.1.5</a:t>
            </a:r>
          </a:p>
        </p:txBody>
      </p:sp>
      <p:sp>
        <p:nvSpPr>
          <p:cNvPr id="9" name="矩形 45"/>
          <p:cNvSpPr/>
          <p:nvPr/>
        </p:nvSpPr>
        <p:spPr>
          <a:xfrm>
            <a:off x="1960200" y="329520"/>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电位器式传感器应用举例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2051720" y="5334000"/>
            <a:ext cx="5791200"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lang="zh-CN" altLang="en-US" b="1" dirty="0">
                <a:solidFill>
                  <a:srgbClr val="000099"/>
                </a:solidFill>
              </a:rPr>
              <a:t>图</a:t>
            </a:r>
            <a:r>
              <a:rPr lang="en-US" altLang="zh-CN" b="1" dirty="0">
                <a:solidFill>
                  <a:srgbClr val="000099"/>
                </a:solidFill>
              </a:rPr>
              <a:t>2-36  </a:t>
            </a:r>
            <a:r>
              <a:rPr lang="zh-CN" altLang="en-US" b="1" dirty="0">
                <a:solidFill>
                  <a:srgbClr val="000099"/>
                </a:solidFill>
              </a:rPr>
              <a:t>应变式加速度传感器的基本原理</a:t>
            </a:r>
          </a:p>
        </p:txBody>
      </p:sp>
      <p:pic>
        <p:nvPicPr>
          <p:cNvPr id="2" name="图片 1"/>
          <p:cNvPicPr>
            <a:picLocks noChangeAspect="1"/>
          </p:cNvPicPr>
          <p:nvPr/>
        </p:nvPicPr>
        <p:blipFill>
          <a:blip r:embed="rId2"/>
          <a:stretch>
            <a:fillRect/>
          </a:stretch>
        </p:blipFill>
        <p:spPr>
          <a:xfrm>
            <a:off x="2839431" y="1789439"/>
            <a:ext cx="3649288" cy="3500716"/>
          </a:xfrm>
          <a:prstGeom prst="rect">
            <a:avLst/>
          </a:prstGeom>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2.2.5</a:t>
            </a:r>
          </a:p>
        </p:txBody>
      </p:sp>
      <p:sp>
        <p:nvSpPr>
          <p:cNvPr id="9" name="矩形 45"/>
          <p:cNvSpPr/>
          <p:nvPr/>
        </p:nvSpPr>
        <p:spPr>
          <a:xfrm>
            <a:off x="1960201" y="360001"/>
            <a:ext cx="631133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应变片式电阻传感器的应用举例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Rectangle 2"/>
          <p:cNvSpPr/>
          <p:nvPr/>
        </p:nvSpPr>
        <p:spPr>
          <a:xfrm>
            <a:off x="6711518" y="2553835"/>
            <a:ext cx="1958009" cy="1200329"/>
          </a:xfrm>
          <a:prstGeom prst="rect">
            <a:avLst/>
          </a:prstGeom>
        </p:spPr>
        <p:txBody>
          <a:bodyPr wrap="square">
            <a:spAutoFit/>
          </a:bodyPr>
          <a:lstStyle/>
          <a:p>
            <a:r>
              <a:rPr lang="en-US" altLang="zh-CN" b="1" dirty="0">
                <a:solidFill>
                  <a:schemeClr val="accent1"/>
                </a:solidFill>
                <a:latin typeface="UICTFontTextStyleBody"/>
              </a:rPr>
              <a:t>1</a:t>
            </a:r>
            <a:r>
              <a:rPr lang="zh-CN" altLang="en-US" b="1" dirty="0">
                <a:solidFill>
                  <a:schemeClr val="accent1"/>
                </a:solidFill>
                <a:latin typeface=".PingFangSC-Semibold"/>
              </a:rPr>
              <a:t>一惯性质量；</a:t>
            </a:r>
            <a:endParaRPr lang="zh-CN" altLang="en-US" dirty="0">
              <a:solidFill>
                <a:schemeClr val="accent1"/>
              </a:solidFill>
              <a:latin typeface=".PingFang SC"/>
            </a:endParaRPr>
          </a:p>
          <a:p>
            <a:r>
              <a:rPr lang="en-US" altLang="zh-CN" b="1" dirty="0">
                <a:solidFill>
                  <a:schemeClr val="accent1"/>
                </a:solidFill>
                <a:latin typeface="UICTFontTextStyleBody"/>
              </a:rPr>
              <a:t>2—</a:t>
            </a:r>
            <a:r>
              <a:rPr lang="zh-CN" altLang="en-US" b="1" dirty="0">
                <a:solidFill>
                  <a:schemeClr val="accent1"/>
                </a:solidFill>
                <a:latin typeface=".PingFangSC-Semibold"/>
              </a:rPr>
              <a:t>弹性元件；</a:t>
            </a:r>
            <a:endParaRPr lang="zh-CN" altLang="en-US" dirty="0">
              <a:solidFill>
                <a:schemeClr val="accent1"/>
              </a:solidFill>
              <a:latin typeface=".PingFang SC"/>
            </a:endParaRPr>
          </a:p>
          <a:p>
            <a:r>
              <a:rPr lang="en-US" altLang="zh-CN" b="1" dirty="0">
                <a:solidFill>
                  <a:schemeClr val="accent1"/>
                </a:solidFill>
                <a:latin typeface="UICTFontTextStyleBody"/>
              </a:rPr>
              <a:t>3</a:t>
            </a:r>
            <a:r>
              <a:rPr lang="zh-CN" altLang="en-US" b="1" dirty="0">
                <a:solidFill>
                  <a:schemeClr val="accent1"/>
                </a:solidFill>
                <a:latin typeface=".PingFangSC-Semibold"/>
              </a:rPr>
              <a:t>一壳体及基座；</a:t>
            </a:r>
            <a:endParaRPr lang="zh-CN" altLang="en-US" dirty="0">
              <a:solidFill>
                <a:schemeClr val="accent1"/>
              </a:solidFill>
              <a:latin typeface=".PingFang SC"/>
            </a:endParaRPr>
          </a:p>
          <a:p>
            <a:r>
              <a:rPr lang="en-US" altLang="zh-CN" b="1" dirty="0">
                <a:solidFill>
                  <a:schemeClr val="accent1"/>
                </a:solidFill>
                <a:latin typeface="UICTFontTextStyleBody"/>
              </a:rPr>
              <a:t>4—</a:t>
            </a:r>
            <a:r>
              <a:rPr lang="zh-CN" altLang="en-US" b="1" dirty="0">
                <a:solidFill>
                  <a:schemeClr val="accent1"/>
                </a:solidFill>
                <a:latin typeface=".PingFangSC-Semibold"/>
              </a:rPr>
              <a:t>应变片：</a:t>
            </a:r>
            <a:endParaRPr lang="zh-CN" altLang="en-US" dirty="0">
              <a:solidFill>
                <a:schemeClr val="accent1"/>
              </a:solidFill>
              <a:latin typeface=".PingFang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3098800" y="5334000"/>
            <a:ext cx="436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r>
              <a:rPr lang="zh-CN" altLang="en-US" b="1">
                <a:solidFill>
                  <a:srgbClr val="000099"/>
                </a:solidFill>
              </a:rPr>
              <a:t>图</a:t>
            </a:r>
            <a:r>
              <a:rPr lang="en-US" altLang="zh-CN" b="1">
                <a:solidFill>
                  <a:srgbClr val="000099"/>
                </a:solidFill>
              </a:rPr>
              <a:t>3-26  </a:t>
            </a:r>
            <a:r>
              <a:rPr lang="zh-CN" altLang="en-US" b="1">
                <a:solidFill>
                  <a:srgbClr val="000099"/>
                </a:solidFill>
              </a:rPr>
              <a:t>加速度传感器</a:t>
            </a:r>
          </a:p>
        </p:txBody>
      </p:sp>
      <p:graphicFrame>
        <p:nvGraphicFramePr>
          <p:cNvPr id="2076" name="Object 28"/>
          <p:cNvGraphicFramePr>
            <a:graphicFrameLocks noChangeAspect="1"/>
          </p:cNvGraphicFramePr>
          <p:nvPr/>
        </p:nvGraphicFramePr>
        <p:xfrm>
          <a:off x="2143539" y="1122000"/>
          <a:ext cx="5643563" cy="4064000"/>
        </p:xfrm>
        <a:graphic>
          <a:graphicData uri="http://schemas.openxmlformats.org/presentationml/2006/ole">
            <mc:AlternateContent xmlns:mc="http://schemas.openxmlformats.org/markup-compatibility/2006">
              <mc:Choice xmlns:v="urn:schemas-microsoft-com:vml" Requires="v">
                <p:oleObj spid="_x0000_s48150" name="Image" r:id="rId3" imgW="16233140" imgH="11690350" progId="Photoshop.Image.7">
                  <p:embed/>
                </p:oleObj>
              </mc:Choice>
              <mc:Fallback>
                <p:oleObj name="Image" r:id="rId3" imgW="16233140" imgH="11690350" progId="Photoshop.Image.7">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3539" y="1122000"/>
                        <a:ext cx="5643563"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3.2.5</a:t>
            </a:r>
          </a:p>
        </p:txBody>
      </p:sp>
      <p:sp>
        <p:nvSpPr>
          <p:cNvPr id="9" name="矩形 45"/>
          <p:cNvSpPr/>
          <p:nvPr/>
        </p:nvSpPr>
        <p:spPr>
          <a:xfrm>
            <a:off x="1960201" y="360001"/>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变压器式传感器的应用举例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076"/>
                                        </p:tgtEl>
                                        <p:attrNameLst>
                                          <p:attrName>style.visibility</p:attrName>
                                        </p:attrNameLst>
                                      </p:cBhvr>
                                      <p:to>
                                        <p:strVal val="visible"/>
                                      </p:to>
                                    </p:set>
                                    <p:animEffect transition="in" filter="strips(downRight)">
                                      <p:cBhvr>
                                        <p:cTn id="7" dur="500"/>
                                        <p:tgtEl>
                                          <p:spTgt spid="2076"/>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2057"/>
                                        </p:tgtEl>
                                        <p:attrNameLst>
                                          <p:attrName>style.visibility</p:attrName>
                                        </p:attrNameLst>
                                      </p:cBhvr>
                                      <p:to>
                                        <p:strVal val="visible"/>
                                      </p:to>
                                    </p:set>
                                    <p:animEffect transition="in" filter="dissolve">
                                      <p:cBhvr>
                                        <p:cTn id="11"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kumimoji="1" lang="zh-CN" altLang="zh-CN" sz="4400" b="0">
              <a:solidFill>
                <a:schemeClr val="tx2"/>
              </a:solidFill>
              <a:latin typeface="Times New Roman" panose="02020603050405020304" pitchFamily="18" charset="0"/>
              <a:ea typeface="SimSun" panose="02010600030101010101" pitchFamily="2" charset="-122"/>
            </a:endParaRPr>
          </a:p>
        </p:txBody>
      </p:sp>
      <p:sp>
        <p:nvSpPr>
          <p:cNvPr id="2057" name="Text Box 9"/>
          <p:cNvSpPr txBox="1">
            <a:spLocks noChangeArrowheads="1"/>
          </p:cNvSpPr>
          <p:nvPr/>
        </p:nvSpPr>
        <p:spPr bwMode="auto">
          <a:xfrm>
            <a:off x="1908175" y="5373688"/>
            <a:ext cx="583217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50000"/>
              </a:spcBef>
              <a:defRPr b="1">
                <a:solidFill>
                  <a:srgbClr val="000066"/>
                </a:solidFill>
                <a:latin typeface="Arial" panose="020B0604020202090204" pitchFamily="34" charset="0"/>
                <a:ea typeface="华文细黑" pitchFamily="2" charset="-122"/>
              </a:defRPr>
            </a:lvl1pPr>
            <a:lvl2pPr marL="742950" indent="-285750">
              <a:spcBef>
                <a:spcPct val="50000"/>
              </a:spcBef>
              <a:defRPr b="1">
                <a:solidFill>
                  <a:srgbClr val="000066"/>
                </a:solidFill>
                <a:latin typeface="Arial" panose="020B0604020202090204" pitchFamily="34" charset="0"/>
                <a:ea typeface="华文细黑" pitchFamily="2" charset="-122"/>
              </a:defRPr>
            </a:lvl2pPr>
            <a:lvl3pPr marL="1143000" indent="-228600">
              <a:spcBef>
                <a:spcPct val="50000"/>
              </a:spcBef>
              <a:defRPr b="1">
                <a:solidFill>
                  <a:srgbClr val="000066"/>
                </a:solidFill>
                <a:latin typeface="Arial" panose="020B0604020202090204" pitchFamily="34" charset="0"/>
                <a:ea typeface="华文细黑" pitchFamily="2" charset="-122"/>
              </a:defRPr>
            </a:lvl3pPr>
            <a:lvl4pPr marL="1600200" indent="-228600">
              <a:spcBef>
                <a:spcPct val="50000"/>
              </a:spcBef>
              <a:defRPr b="1">
                <a:solidFill>
                  <a:srgbClr val="000066"/>
                </a:solidFill>
                <a:latin typeface="Arial" panose="020B0604020202090204" pitchFamily="34" charset="0"/>
                <a:ea typeface="华文细黑" pitchFamily="2" charset="-122"/>
              </a:defRPr>
            </a:lvl4pPr>
            <a:lvl5pPr marL="2057400" indent="-228600">
              <a:spcBef>
                <a:spcPct val="50000"/>
              </a:spcBef>
              <a:defRPr b="1">
                <a:solidFill>
                  <a:srgbClr val="000066"/>
                </a:solidFill>
                <a:latin typeface="Arial" panose="020B0604020202090204" pitchFamily="34" charset="0"/>
                <a:ea typeface="华文细黑" pitchFamily="2" charset="-122"/>
              </a:defRPr>
            </a:lvl5pPr>
            <a:lvl6pPr marL="25146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6pPr>
            <a:lvl7pPr marL="29718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7pPr>
            <a:lvl8pPr marL="34290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8pPr>
            <a:lvl9pPr marL="3886200" indent="-228600" eaLnBrk="0" fontAlgn="base" hangingPunct="0">
              <a:spcBef>
                <a:spcPct val="50000"/>
              </a:spcBef>
              <a:spcAft>
                <a:spcPct val="0"/>
              </a:spcAft>
              <a:defRPr b="1">
                <a:solidFill>
                  <a:srgbClr val="000066"/>
                </a:solidFill>
                <a:latin typeface="Arial" panose="020B0604020202090204" pitchFamily="34" charset="0"/>
                <a:ea typeface="华文细黑" pitchFamily="2" charset="-122"/>
              </a:defRPr>
            </a:lvl9pPr>
          </a:lstStyle>
          <a:p>
            <a:pPr eaLnBrk="1" hangingPunct="1">
              <a:spcBef>
                <a:spcPct val="0"/>
              </a:spcBef>
            </a:pPr>
            <a:r>
              <a:rPr kumimoji="1" lang="zh-CN" altLang="en-US" sz="2400" dirty="0">
                <a:solidFill>
                  <a:srgbClr val="000099"/>
                </a:solidFill>
                <a:latin typeface="Times New Roman" panose="02020603050405020304" pitchFamily="18" charset="0"/>
                <a:ea typeface="SimSun" panose="02010600030101010101" pitchFamily="2" charset="-122"/>
              </a:rPr>
              <a:t>图</a:t>
            </a:r>
            <a:r>
              <a:rPr kumimoji="1" lang="en-US" altLang="zh-CN" sz="2400" dirty="0">
                <a:solidFill>
                  <a:srgbClr val="000099"/>
                </a:solidFill>
                <a:latin typeface="Times New Roman" panose="02020603050405020304" pitchFamily="18" charset="0"/>
                <a:ea typeface="SimSun" panose="02010600030101010101" pitchFamily="2" charset="-122"/>
              </a:rPr>
              <a:t>4-21 </a:t>
            </a:r>
            <a:r>
              <a:rPr kumimoji="1" lang="zh-CN" altLang="en-US" sz="2400" dirty="0">
                <a:solidFill>
                  <a:srgbClr val="000099"/>
                </a:solidFill>
                <a:latin typeface="Times New Roman" panose="02020603050405020304" pitchFamily="18" charset="0"/>
                <a:ea typeface="SimSun" panose="02010600030101010101" pitchFamily="2" charset="-122"/>
              </a:rPr>
              <a:t>电容式加速度传感器的结构示意图</a:t>
            </a:r>
          </a:p>
        </p:txBody>
      </p:sp>
      <p:pic>
        <p:nvPicPr>
          <p:cNvPr id="2058" name="Picture 1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46701" y="1425751"/>
            <a:ext cx="4034748" cy="378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887636" y="5233402"/>
            <a:ext cx="5202026"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marL="1075055" indent="-1075055" eaLnBrk="1" hangingPunct="1"/>
            <a:r>
              <a:rPr lang="zh-CN" altLang="en-US" b="1" dirty="0">
                <a:solidFill>
                  <a:srgbClr val="000099"/>
                </a:solidFill>
                <a:latin typeface="SimSun" panose="02010600030101010101" pitchFamily="2" charset="-122"/>
                <a:ea typeface="SimSun" panose="02010600030101010101" pitchFamily="2" charset="-122"/>
              </a:rPr>
              <a:t>图</a:t>
            </a:r>
            <a:r>
              <a:rPr lang="en-US" altLang="zh-CN" b="1" dirty="0">
                <a:solidFill>
                  <a:srgbClr val="000099"/>
                </a:solidFill>
                <a:latin typeface="SimSun" panose="02010600030101010101" pitchFamily="2" charset="-122"/>
                <a:ea typeface="SimSun" panose="02010600030101010101" pitchFamily="2" charset="-122"/>
              </a:rPr>
              <a:t>6-15 </a:t>
            </a:r>
            <a:r>
              <a:rPr lang="zh-CN" altLang="en-US" b="1" dirty="0">
                <a:solidFill>
                  <a:srgbClr val="000099"/>
                </a:solidFill>
                <a:latin typeface="SimSun" panose="02010600030101010101" pitchFamily="2" charset="-122"/>
                <a:ea typeface="SimSun" panose="02010600030101010101" pitchFamily="2" charset="-122"/>
              </a:rPr>
              <a:t>消除振动加速度影响的压电式压力传感器的结构原理图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337" y="1467439"/>
            <a:ext cx="5035325" cy="3689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6.5</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压电式传感器的应用举例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0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19672" y="5131917"/>
            <a:ext cx="601582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latin typeface="SimSun" panose="02010600030101010101" pitchFamily="2" charset="-122"/>
                <a:ea typeface="SimSun" panose="02010600030101010101" pitchFamily="2" charset="-122"/>
              </a:rPr>
              <a:t>图</a:t>
            </a:r>
            <a:r>
              <a:rPr lang="en-US" altLang="zh-CN" b="1" dirty="0">
                <a:solidFill>
                  <a:srgbClr val="000099"/>
                </a:solidFill>
                <a:latin typeface="SimSun" panose="02010600030101010101" pitchFamily="2" charset="-122"/>
                <a:ea typeface="SimSun" panose="02010600030101010101" pitchFamily="2" charset="-122"/>
              </a:rPr>
              <a:t>6-16 </a:t>
            </a:r>
            <a:r>
              <a:rPr lang="zh-CN" altLang="en-US" b="1" dirty="0">
                <a:solidFill>
                  <a:srgbClr val="000099"/>
                </a:solidFill>
                <a:latin typeface="SimSun" panose="02010600030101010101" pitchFamily="2" charset="-122"/>
                <a:ea typeface="SimSun" panose="02010600030101010101" pitchFamily="2" charset="-122"/>
              </a:rPr>
              <a:t>压电式加速度传感器的结构原理图</a:t>
            </a:r>
          </a:p>
        </p:txBody>
      </p:sp>
      <p:sp>
        <p:nvSpPr>
          <p:cNvPr id="2053" name="Text Box 89"/>
          <p:cNvSpPr txBox="1">
            <a:spLocks noChangeArrowheads="1"/>
          </p:cNvSpPr>
          <p:nvPr/>
        </p:nvSpPr>
        <p:spPr bwMode="auto">
          <a:xfrm>
            <a:off x="5867400" y="4292600"/>
            <a:ext cx="43180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spcBef>
                <a:spcPct val="50000"/>
              </a:spcBef>
            </a:pPr>
            <a:endParaRPr lang="zh-CN" altLang="zh-CN"/>
          </a:p>
        </p:txBody>
      </p:sp>
      <p:pic>
        <p:nvPicPr>
          <p:cNvPr id="2060"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4833" y="1620078"/>
            <a:ext cx="5515048" cy="3260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9"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6.5</a:t>
            </a:r>
          </a:p>
        </p:txBody>
      </p:sp>
      <p:sp>
        <p:nvSpPr>
          <p:cNvPr id="10"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压电式传感器的应用举例</a:t>
            </a:r>
          </a:p>
        </p:txBody>
      </p:sp>
      <p:grpSp>
        <p:nvGrpSpPr>
          <p:cNvPr id="11" name="组 42"/>
          <p:cNvGrpSpPr/>
          <p:nvPr/>
        </p:nvGrpSpPr>
        <p:grpSpPr>
          <a:xfrm>
            <a:off x="8590580" y="252857"/>
            <a:ext cx="553419" cy="484288"/>
            <a:chOff x="11454105" y="252856"/>
            <a:chExt cx="737892" cy="484288"/>
          </a:xfrm>
        </p:grpSpPr>
        <p:grpSp>
          <p:nvGrpSpPr>
            <p:cNvPr id="12" name="组 49"/>
            <p:cNvGrpSpPr/>
            <p:nvPr/>
          </p:nvGrpSpPr>
          <p:grpSpPr>
            <a:xfrm>
              <a:off x="12039604" y="252856"/>
              <a:ext cx="152393" cy="484287"/>
              <a:chOff x="12039604" y="252856"/>
              <a:chExt cx="152393" cy="484287"/>
            </a:xfrm>
          </p:grpSpPr>
          <p:sp>
            <p:nvSpPr>
              <p:cNvPr id="16"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99"/>
            <p:cNvGrpSpPr/>
            <p:nvPr/>
          </p:nvGrpSpPr>
          <p:grpSpPr>
            <a:xfrm>
              <a:off x="11454105" y="252857"/>
              <a:ext cx="491115" cy="484287"/>
              <a:chOff x="1528923" y="220268"/>
              <a:chExt cx="1284096" cy="1266241"/>
            </a:xfrm>
          </p:grpSpPr>
          <p:sp>
            <p:nvSpPr>
              <p:cNvPr id="14"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 calcmode="lin" valueType="num">
                                      <p:cBhvr additive="base">
                                        <p:cTn id="7" dur="500" fill="hold"/>
                                        <p:tgtEl>
                                          <p:spTgt spid="2057"/>
                                        </p:tgtEl>
                                        <p:attrNameLst>
                                          <p:attrName>ppt_x</p:attrName>
                                        </p:attrNameLst>
                                      </p:cBhvr>
                                      <p:tavLst>
                                        <p:tav tm="0">
                                          <p:val>
                                            <p:strVal val="0-#ppt_w/2"/>
                                          </p:val>
                                        </p:tav>
                                        <p:tav tm="100000">
                                          <p:val>
                                            <p:strVal val="#ppt_x"/>
                                          </p:val>
                                        </p:tav>
                                      </p:tavLst>
                                    </p:anim>
                                    <p:anim calcmode="lin" valueType="num">
                                      <p:cBhvr additive="base">
                                        <p:cTn id="8" dur="500" fill="hold"/>
                                        <p:tgtEl>
                                          <p:spTgt spid="205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405643"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测量转速的传感器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9" name="Text Box 111"/>
          <p:cNvSpPr txBox="1">
            <a:spLocks noChangeArrowheads="1"/>
          </p:cNvSpPr>
          <p:nvPr/>
        </p:nvSpPr>
        <p:spPr bwMode="auto">
          <a:xfrm>
            <a:off x="1363255" y="5386248"/>
            <a:ext cx="6336704"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5-19  </a:t>
            </a:r>
            <a:r>
              <a:rPr kumimoji="0" lang="zh-CN" altLang="en-US" b="1" dirty="0">
                <a:solidFill>
                  <a:srgbClr val="3333CC"/>
                </a:solidFill>
                <a:latin typeface="SimSun" panose="02010600030101010101" pitchFamily="2" charset="-122"/>
                <a:ea typeface="SimSun" panose="02010600030101010101" pitchFamily="2" charset="-122"/>
              </a:rPr>
              <a:t>磁电感应式转速传感器的结构原理图</a:t>
            </a:r>
          </a:p>
        </p:txBody>
      </p:sp>
      <p:pic>
        <p:nvPicPr>
          <p:cNvPr id="2057"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80135" y="1471256"/>
            <a:ext cx="3748047" cy="3281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885812" y="4782585"/>
            <a:ext cx="5749686" cy="442878"/>
          </a:xfrm>
          <a:prstGeom prst="rect">
            <a:avLst/>
          </a:prstGeom>
          <a:noFill/>
        </p:spPr>
        <p:txBody>
          <a:bodyPr wrap="square" rtlCol="0">
            <a:spAutoFit/>
          </a:bodyPr>
          <a:lstStyle/>
          <a:p>
            <a:pPr>
              <a:lnSpc>
                <a:spcPct val="150000"/>
              </a:lnSpc>
            </a:pPr>
            <a:r>
              <a:rPr lang="en-US" altLang="zh-CN" b="1" dirty="0">
                <a:latin typeface="SimSun" panose="02010600030101010101" pitchFamily="2" charset="-122"/>
                <a:ea typeface="SimSun" panose="02010600030101010101" pitchFamily="2" charset="-122"/>
              </a:rPr>
              <a:t>1—</a:t>
            </a:r>
            <a:r>
              <a:rPr lang="zh-CN" altLang="en-US" b="1" dirty="0">
                <a:latin typeface="SimSun" panose="02010600030101010101" pitchFamily="2" charset="-122"/>
                <a:ea typeface="SimSun" panose="02010600030101010101" pitchFamily="2" charset="-122"/>
              </a:rPr>
              <a:t>转轴；</a:t>
            </a:r>
            <a:r>
              <a:rPr lang="en-US" altLang="zh-CN" b="1" dirty="0">
                <a:latin typeface="SimSun" panose="02010600030101010101" pitchFamily="2" charset="-122"/>
                <a:ea typeface="SimSun" panose="02010600030101010101" pitchFamily="2" charset="-122"/>
              </a:rPr>
              <a:t>2—</a:t>
            </a:r>
            <a:r>
              <a:rPr lang="zh-CN" altLang="en-US" b="1" dirty="0">
                <a:latin typeface="SimSun" panose="02010600030101010101" pitchFamily="2" charset="-122"/>
                <a:ea typeface="SimSun" panose="02010600030101010101" pitchFamily="2" charset="-122"/>
              </a:rPr>
              <a:t>转子；</a:t>
            </a:r>
            <a:r>
              <a:rPr lang="en-US" altLang="zh-CN" b="1" dirty="0">
                <a:latin typeface="SimSun" panose="02010600030101010101" pitchFamily="2" charset="-122"/>
                <a:ea typeface="SimSun" panose="02010600030101010101" pitchFamily="2" charset="-122"/>
              </a:rPr>
              <a:t>3—</a:t>
            </a:r>
            <a:r>
              <a:rPr lang="zh-CN" altLang="en-US" b="1" dirty="0">
                <a:latin typeface="SimSun" panose="02010600030101010101" pitchFamily="2" charset="-122"/>
                <a:ea typeface="SimSun" panose="02010600030101010101" pitchFamily="2" charset="-122"/>
              </a:rPr>
              <a:t>永久磁铁；</a:t>
            </a:r>
            <a:r>
              <a:rPr lang="en-US" altLang="zh-CN" b="1" dirty="0">
                <a:latin typeface="SimSun" panose="02010600030101010101" pitchFamily="2" charset="-122"/>
                <a:ea typeface="SimSun" panose="02010600030101010101" pitchFamily="2" charset="-122"/>
              </a:rPr>
              <a:t>4—</a:t>
            </a:r>
            <a:r>
              <a:rPr lang="zh-CN" altLang="en-US" b="1" dirty="0">
                <a:latin typeface="SimSun" panose="02010600030101010101" pitchFamily="2" charset="-122"/>
                <a:ea typeface="SimSun" panose="02010600030101010101" pitchFamily="2" charset="-122"/>
              </a:rPr>
              <a:t>线圈；</a:t>
            </a:r>
            <a:r>
              <a:rPr lang="en-US" altLang="zh-CN" b="1" dirty="0">
                <a:latin typeface="SimSun" panose="02010600030101010101" pitchFamily="2" charset="-122"/>
                <a:ea typeface="SimSun" panose="02010600030101010101" pitchFamily="2" charset="-122"/>
              </a:rPr>
              <a:t>5—</a:t>
            </a:r>
            <a:r>
              <a:rPr lang="zh-CN" altLang="en-US" b="1" dirty="0">
                <a:latin typeface="SimSun" panose="02010600030101010101" pitchFamily="2" charset="-122"/>
                <a:ea typeface="SimSun" panose="02010600030101010101" pitchFamily="2" charset="-122"/>
              </a:rPr>
              <a:t>定子</a:t>
            </a:r>
          </a:p>
        </p:txBody>
      </p:sp>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5.1.4</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45"/>
          <p:cNvSpPr/>
          <p:nvPr/>
        </p:nvSpPr>
        <p:spPr>
          <a:xfrm>
            <a:off x="1960201" y="329520"/>
            <a:ext cx="5436095"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磁电感应式传感器应用举例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159"/>
                                        </p:tgtEl>
                                        <p:attrNameLst>
                                          <p:attrName>style.visibility</p:attrName>
                                        </p:attrNameLst>
                                      </p:cBhvr>
                                      <p:to>
                                        <p:strVal val="visible"/>
                                      </p:to>
                                    </p:set>
                                    <p:animEffect transition="in" filter="dissolve">
                                      <p:cBhvr>
                                        <p:cTn id="7" dur="500"/>
                                        <p:tgtEl>
                                          <p:spTgt spid="2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7" name="Text Box 179"/>
          <p:cNvSpPr txBox="1">
            <a:spLocks noChangeArrowheads="1"/>
          </p:cNvSpPr>
          <p:nvPr/>
        </p:nvSpPr>
        <p:spPr bwMode="auto">
          <a:xfrm>
            <a:off x="2051720" y="5091741"/>
            <a:ext cx="5184576" cy="476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7-23 </a:t>
            </a:r>
            <a:r>
              <a:rPr kumimoji="0" lang="zh-CN" altLang="en-US" b="1" dirty="0">
                <a:solidFill>
                  <a:srgbClr val="3333CC"/>
                </a:solidFill>
                <a:latin typeface="SimSun" panose="02010600030101010101" pitchFamily="2" charset="-122"/>
                <a:ea typeface="SimSun" panose="02010600030101010101" pitchFamily="2" charset="-122"/>
              </a:rPr>
              <a:t>光电式转速计的结构示意图</a:t>
            </a:r>
          </a:p>
        </p:txBody>
      </p:sp>
      <p:pic>
        <p:nvPicPr>
          <p:cNvPr id="205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516114"/>
            <a:ext cx="7277100" cy="3333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7"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7.4.2</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8" name="矩形 26"/>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脉冲式光电传感器</a:t>
            </a:r>
          </a:p>
        </p:txBody>
      </p:sp>
      <p:grpSp>
        <p:nvGrpSpPr>
          <p:cNvPr id="9" name="组 42"/>
          <p:cNvGrpSpPr/>
          <p:nvPr/>
        </p:nvGrpSpPr>
        <p:grpSpPr>
          <a:xfrm>
            <a:off x="8590580" y="252857"/>
            <a:ext cx="553419" cy="484288"/>
            <a:chOff x="11454105" y="252856"/>
            <a:chExt cx="737892" cy="484288"/>
          </a:xfrm>
        </p:grpSpPr>
        <p:grpSp>
          <p:nvGrpSpPr>
            <p:cNvPr id="10" name="组 49"/>
            <p:cNvGrpSpPr/>
            <p:nvPr/>
          </p:nvGrpSpPr>
          <p:grpSpPr>
            <a:xfrm>
              <a:off x="12039604" y="252856"/>
              <a:ext cx="152393" cy="484287"/>
              <a:chOff x="12039604" y="252856"/>
              <a:chExt cx="152393" cy="484287"/>
            </a:xfrm>
          </p:grpSpPr>
          <p:sp>
            <p:nvSpPr>
              <p:cNvPr id="14"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99"/>
            <p:cNvGrpSpPr/>
            <p:nvPr/>
          </p:nvGrpSpPr>
          <p:grpSpPr>
            <a:xfrm>
              <a:off x="11454105" y="252857"/>
              <a:ext cx="491115" cy="484287"/>
              <a:chOff x="1528923" y="220268"/>
              <a:chExt cx="1284096" cy="1266241"/>
            </a:xfrm>
          </p:grpSpPr>
          <p:sp>
            <p:nvSpPr>
              <p:cNvPr id="12"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227"/>
                                        </p:tgtEl>
                                        <p:attrNameLst>
                                          <p:attrName>style.visibility</p:attrName>
                                        </p:attrNameLst>
                                      </p:cBhvr>
                                      <p:to>
                                        <p:strVal val="visible"/>
                                      </p:to>
                                    </p:set>
                                    <p:anim calcmode="lin" valueType="num">
                                      <p:cBhvr additive="base">
                                        <p:cTn id="7" dur="500" fill="hold"/>
                                        <p:tgtEl>
                                          <p:spTgt spid="2227"/>
                                        </p:tgtEl>
                                        <p:attrNameLst>
                                          <p:attrName>ppt_x</p:attrName>
                                        </p:attrNameLst>
                                      </p:cBhvr>
                                      <p:tavLst>
                                        <p:tav tm="0">
                                          <p:val>
                                            <p:strVal val="0-#ppt_w/2"/>
                                          </p:val>
                                        </p:tav>
                                        <p:tav tm="100000">
                                          <p:val>
                                            <p:strVal val="#ppt_x"/>
                                          </p:val>
                                        </p:tav>
                                      </p:tavLst>
                                    </p:anim>
                                    <p:anim calcmode="lin" valueType="num">
                                      <p:cBhvr additive="base">
                                        <p:cTn id="8" dur="500" fill="hold"/>
                                        <p:tgtEl>
                                          <p:spTgt spid="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7"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070011" y="3130202"/>
            <a:ext cx="532709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测量物料的传感器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479925" y="3048000"/>
            <a:ext cx="1841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endParaRPr lang="zh-CN" altLang="zh-CN" sz="4400">
              <a:solidFill>
                <a:schemeClr val="tx2"/>
              </a:solidFill>
            </a:endParaRPr>
          </a:p>
        </p:txBody>
      </p:sp>
      <p:sp>
        <p:nvSpPr>
          <p:cNvPr id="2057" name="Text Box 9"/>
          <p:cNvSpPr txBox="1">
            <a:spLocks noChangeArrowheads="1"/>
          </p:cNvSpPr>
          <p:nvPr/>
        </p:nvSpPr>
        <p:spPr bwMode="auto">
          <a:xfrm>
            <a:off x="1691680" y="5373688"/>
            <a:ext cx="572732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r>
              <a:rPr lang="zh-CN" altLang="en-US" b="1" dirty="0">
                <a:solidFill>
                  <a:srgbClr val="000099"/>
                </a:solidFill>
              </a:rPr>
              <a:t>图</a:t>
            </a:r>
            <a:r>
              <a:rPr lang="en-US" altLang="zh-CN" b="1" dirty="0">
                <a:solidFill>
                  <a:srgbClr val="000099"/>
                </a:solidFill>
              </a:rPr>
              <a:t>4-22  </a:t>
            </a:r>
            <a:r>
              <a:rPr lang="zh-CN" altLang="en-US" b="1" dirty="0">
                <a:solidFill>
                  <a:srgbClr val="000099"/>
                </a:solidFill>
              </a:rPr>
              <a:t>电容式料位传感器的结构示意图</a:t>
            </a:r>
          </a:p>
        </p:txBody>
      </p:sp>
      <p:pic>
        <p:nvPicPr>
          <p:cNvPr id="2058"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0253" y="1676898"/>
            <a:ext cx="5050176" cy="3504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4.6</a:t>
            </a:r>
          </a:p>
        </p:txBody>
      </p:sp>
      <p:sp>
        <p:nvSpPr>
          <p:cNvPr id="9" name="矩形 45"/>
          <p:cNvSpPr/>
          <p:nvPr/>
        </p:nvSpPr>
        <p:spPr>
          <a:xfrm>
            <a:off x="1960200" y="360001"/>
            <a:ext cx="499847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电容式传感器的应用举例</a:t>
            </a:r>
          </a:p>
        </p:txBody>
      </p:sp>
      <p:grpSp>
        <p:nvGrpSpPr>
          <p:cNvPr id="10" name="组 42"/>
          <p:cNvGrpSpPr/>
          <p:nvPr/>
        </p:nvGrpSpPr>
        <p:grpSpPr>
          <a:xfrm>
            <a:off x="8590580" y="252857"/>
            <a:ext cx="553419" cy="484288"/>
            <a:chOff x="11454105" y="252856"/>
            <a:chExt cx="737892" cy="484288"/>
          </a:xfrm>
        </p:grpSpPr>
        <p:grpSp>
          <p:nvGrpSpPr>
            <p:cNvPr id="11" name="组 49"/>
            <p:cNvGrpSpPr/>
            <p:nvPr/>
          </p:nvGrpSpPr>
          <p:grpSpPr>
            <a:xfrm>
              <a:off x="12039604" y="252856"/>
              <a:ext cx="152393" cy="484287"/>
              <a:chOff x="12039604" y="252856"/>
              <a:chExt cx="152393" cy="484287"/>
            </a:xfrm>
          </p:grpSpPr>
          <p:sp>
            <p:nvSpPr>
              <p:cNvPr id="15"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2" name="组合 99"/>
            <p:cNvGrpSpPr/>
            <p:nvPr/>
          </p:nvGrpSpPr>
          <p:grpSpPr>
            <a:xfrm>
              <a:off x="11454105" y="252857"/>
              <a:ext cx="491115" cy="484287"/>
              <a:chOff x="1528923" y="220268"/>
              <a:chExt cx="1284096" cy="1266241"/>
            </a:xfrm>
          </p:grpSpPr>
          <p:sp>
            <p:nvSpPr>
              <p:cNvPr id="13"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dissolve">
                                      <p:cBhvr>
                                        <p:cTn id="7" dur="500"/>
                                        <p:tgtEl>
                                          <p:spTgt spid="20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7"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7" name="Text Box 59"/>
          <p:cNvSpPr txBox="1">
            <a:spLocks noChangeArrowheads="1"/>
          </p:cNvSpPr>
          <p:nvPr/>
        </p:nvSpPr>
        <p:spPr bwMode="auto">
          <a:xfrm>
            <a:off x="2685163" y="4933549"/>
            <a:ext cx="3969635" cy="53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SimSun"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SimSun"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SimSun"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SimSun"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buFontTx/>
              <a:buNone/>
            </a:pPr>
            <a:r>
              <a:rPr kumimoji="0" lang="zh-CN" altLang="en-US" sz="2400" b="1" dirty="0">
                <a:solidFill>
                  <a:srgbClr val="3333CC"/>
                </a:solidFill>
                <a:latin typeface="SimSun" panose="02010600030101010101" pitchFamily="2" charset="-122"/>
              </a:rPr>
              <a:t>图</a:t>
            </a:r>
            <a:r>
              <a:rPr kumimoji="0" lang="en-US" altLang="zh-CN" sz="2400" b="1" dirty="0">
                <a:solidFill>
                  <a:srgbClr val="3333CC"/>
                </a:solidFill>
                <a:latin typeface="SimSun" panose="02010600030101010101" pitchFamily="2" charset="-122"/>
              </a:rPr>
              <a:t>9-9 </a:t>
            </a:r>
            <a:r>
              <a:rPr kumimoji="0" lang="zh-CN" altLang="en-US" sz="2400" b="1" dirty="0">
                <a:solidFill>
                  <a:srgbClr val="3333CC"/>
                </a:solidFill>
                <a:latin typeface="SimSun" panose="02010600030101010101" pitchFamily="2" charset="-122"/>
              </a:rPr>
              <a:t>微波液位计原理图</a:t>
            </a:r>
          </a:p>
        </p:txBody>
      </p:sp>
      <p:sp>
        <p:nvSpPr>
          <p:cNvPr id="3" name="矩形 2"/>
          <p:cNvSpPr/>
          <p:nvPr/>
        </p:nvSpPr>
        <p:spPr>
          <a:xfrm>
            <a:off x="1518052" y="4128928"/>
            <a:ext cx="6303859" cy="705834"/>
          </a:xfrm>
          <a:prstGeom prst="rect">
            <a:avLst/>
          </a:prstGeom>
        </p:spPr>
        <p:txBody>
          <a:bodyPr wrap="square">
            <a:spAutoFit/>
          </a:bodyPr>
          <a:lstStyle/>
          <a:p>
            <a:pPr algn="ctr">
              <a:lnSpc>
                <a:spcPct val="150000"/>
              </a:lnSpc>
            </a:pPr>
            <a:r>
              <a:rPr lang="en-US" altLang="zh-CN" sz="1400" b="1" i="1" dirty="0">
                <a:cs typeface="Times New Roman" panose="02020603050405020304" pitchFamily="18" charset="0"/>
              </a:rPr>
              <a:t>d</a:t>
            </a:r>
            <a:r>
              <a:rPr lang="zh-CN" altLang="en-US" sz="1400" b="1" dirty="0">
                <a:cs typeface="Times New Roman" panose="02020603050405020304" pitchFamily="18" charset="0"/>
              </a:rPr>
              <a:t>为两天线与被测液面间的垂直距离；</a:t>
            </a:r>
            <a:endParaRPr lang="en-US" altLang="zh-CN" sz="1400" b="1" dirty="0">
              <a:cs typeface="Times New Roman" panose="02020603050405020304" pitchFamily="18" charset="0"/>
            </a:endParaRPr>
          </a:p>
          <a:p>
            <a:pPr algn="ctr">
              <a:lnSpc>
                <a:spcPct val="150000"/>
              </a:lnSpc>
            </a:pPr>
            <a:r>
              <a:rPr lang="en-US" altLang="zh-CN" sz="1400" b="1" i="1" dirty="0">
                <a:cs typeface="Times New Roman" panose="02020603050405020304" pitchFamily="18" charset="0"/>
              </a:rPr>
              <a:t>s</a:t>
            </a:r>
            <a:r>
              <a:rPr lang="zh-CN" altLang="en-US" sz="1400" b="1" dirty="0">
                <a:cs typeface="Times New Roman" panose="02020603050405020304" pitchFamily="18" charset="0"/>
              </a:rPr>
              <a:t>为两天线间的水平距离。</a:t>
            </a:r>
            <a:endParaRPr lang="zh-CN" altLang="en-US" sz="1400" dirty="0"/>
          </a:p>
        </p:txBody>
      </p:sp>
      <p:sp>
        <p:nvSpPr>
          <p:cNvPr id="7" name="矩形 33"/>
          <p:cNvSpPr/>
          <p:nvPr/>
        </p:nvSpPr>
        <p:spPr>
          <a:xfrm>
            <a:off x="1571711" y="258777"/>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grpSp>
        <p:nvGrpSpPr>
          <p:cNvPr id="8" name="组 42"/>
          <p:cNvGrpSpPr/>
          <p:nvPr/>
        </p:nvGrpSpPr>
        <p:grpSpPr>
          <a:xfrm>
            <a:off x="8590580" y="252857"/>
            <a:ext cx="553419" cy="484288"/>
            <a:chOff x="11454105" y="252856"/>
            <a:chExt cx="737892" cy="484288"/>
          </a:xfrm>
        </p:grpSpPr>
        <p:grpSp>
          <p:nvGrpSpPr>
            <p:cNvPr id="9" name="组 49"/>
            <p:cNvGrpSpPr/>
            <p:nvPr/>
          </p:nvGrpSpPr>
          <p:grpSpPr>
            <a:xfrm>
              <a:off x="12039604" y="252856"/>
              <a:ext cx="152393" cy="484287"/>
              <a:chOff x="12039604" y="252856"/>
              <a:chExt cx="152393" cy="484287"/>
            </a:xfrm>
          </p:grpSpPr>
          <p:sp>
            <p:nvSpPr>
              <p:cNvPr id="13" name="圆角矩形 3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4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4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4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4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9"/>
            <p:cNvGrpSpPr/>
            <p:nvPr/>
          </p:nvGrpSpPr>
          <p:grpSpPr>
            <a:xfrm>
              <a:off x="11454105" y="252857"/>
              <a:ext cx="491115" cy="484287"/>
              <a:chOff x="1528923" y="220268"/>
              <a:chExt cx="1284096" cy="1266241"/>
            </a:xfrm>
          </p:grpSpPr>
          <p:sp>
            <p:nvSpPr>
              <p:cNvPr id="11" name="圆角矩形 3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圆角矩形 43"/>
          <p:cNvSpPr/>
          <p:nvPr/>
        </p:nvSpPr>
        <p:spPr>
          <a:xfrm rot="10800000" flipV="1">
            <a:off x="185084" y="242948"/>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90204" pitchFamily="34" charset="0"/>
                <a:ea typeface="SimSun" panose="02010600030101010101" pitchFamily="2" charset="-122"/>
                <a:cs typeface="Arial" panose="020B0604020202090204" pitchFamily="34" charset="0"/>
              </a:rPr>
              <a:t>9.4</a:t>
            </a:r>
            <a:endParaRPr lang="zh-CN" altLang="en-US" sz="3600" b="1" dirty="0">
              <a:latin typeface="Arial" panose="020B0604020202090204" pitchFamily="34" charset="0"/>
              <a:ea typeface="SimSun" panose="02010600030101010101" pitchFamily="2" charset="-122"/>
              <a:cs typeface="Arial" panose="020B0604020202090204" pitchFamily="34" charset="0"/>
            </a:endParaRPr>
          </a:p>
        </p:txBody>
      </p:sp>
      <p:sp>
        <p:nvSpPr>
          <p:cNvPr id="19" name="矩形 45"/>
          <p:cNvSpPr/>
          <p:nvPr/>
        </p:nvSpPr>
        <p:spPr>
          <a:xfrm>
            <a:off x="1919968" y="240301"/>
            <a:ext cx="3685616" cy="615549"/>
          </a:xfrm>
          <a:prstGeom prst="rect">
            <a:avLst/>
          </a:prstGeom>
        </p:spPr>
        <p:txBody>
          <a:bodyPr wrap="none" lIns="91436" tIns="45718" rIns="91436" bIns="45718">
            <a:spAutoFit/>
          </a:bodyPr>
          <a:lstStyle/>
          <a:p>
            <a:pPr algn="ctr"/>
            <a:r>
              <a:rPr lang="zh-CN" altLang="en-US" sz="3400" b="1" dirty="0">
                <a:solidFill>
                  <a:schemeClr val="bg1"/>
                </a:solidFill>
                <a:latin typeface="SimSun" panose="02010600030101010101" pitchFamily="2" charset="-122"/>
                <a:ea typeface="SimSun" panose="02010600030101010101" pitchFamily="2" charset="-122"/>
              </a:rPr>
              <a:t>声波传感器的应用</a:t>
            </a:r>
            <a:endParaRPr lang="en-US" altLang="zh-CN" sz="3400" b="1" dirty="0">
              <a:solidFill>
                <a:schemeClr val="bg1"/>
              </a:solidFill>
              <a:latin typeface="SimSun" panose="02010600030101010101" pitchFamily="2" charset="-122"/>
              <a:ea typeface="SimSun" panose="02010600030101010101" pitchFamily="2" charset="-122"/>
            </a:endParaRPr>
          </a:p>
        </p:txBody>
      </p:sp>
      <p:pic>
        <p:nvPicPr>
          <p:cNvPr id="2" name="Picture 1"/>
          <p:cNvPicPr>
            <a:picLocks noChangeAspect="1"/>
          </p:cNvPicPr>
          <p:nvPr/>
        </p:nvPicPr>
        <p:blipFill>
          <a:blip r:embed="rId3"/>
          <a:stretch>
            <a:fillRect/>
          </a:stretch>
        </p:blipFill>
        <p:spPr>
          <a:xfrm>
            <a:off x="1839515" y="1349164"/>
            <a:ext cx="5288103" cy="27797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107"/>
                                        </p:tgtEl>
                                        <p:attrNameLst>
                                          <p:attrName>style.visibility</p:attrName>
                                        </p:attrNameLst>
                                      </p:cBhvr>
                                      <p:to>
                                        <p:strVal val="visible"/>
                                      </p:to>
                                    </p:set>
                                    <p:anim calcmode="lin" valueType="num">
                                      <p:cBhvr additive="base">
                                        <p:cTn id="7" dur="500" fill="hold"/>
                                        <p:tgtEl>
                                          <p:spTgt spid="2107"/>
                                        </p:tgtEl>
                                        <p:attrNameLst>
                                          <p:attrName>ppt_x</p:attrName>
                                        </p:attrNameLst>
                                      </p:cBhvr>
                                      <p:tavLst>
                                        <p:tav tm="0">
                                          <p:val>
                                            <p:strVal val="0-#ppt_w/2"/>
                                          </p:val>
                                        </p:tav>
                                        <p:tav tm="100000">
                                          <p:val>
                                            <p:strVal val="#ppt_x"/>
                                          </p:val>
                                        </p:tav>
                                      </p:tavLst>
                                    </p:anim>
                                    <p:anim calcmode="lin" valueType="num">
                                      <p:cBhvr additive="base">
                                        <p:cTn id="8" dur="500" fill="hold"/>
                                        <p:tgtEl>
                                          <p:spTgt spid="21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7"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p:nvPr/>
        </p:nvSpPr>
        <p:spPr>
          <a:xfrm flipH="1">
            <a:off x="1303497" y="2872106"/>
            <a:ext cx="7840504" cy="1271905"/>
          </a:xfrm>
          <a:prstGeom prst="rect">
            <a:avLst/>
          </a:prstGeom>
          <a:solidFill>
            <a:schemeClr val="accent5"/>
          </a:soli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rot="10800000" flipV="1">
            <a:off x="348139" y="2847341"/>
            <a:ext cx="955358" cy="1290955"/>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SimSun" panose="02010600030101010101" pitchFamily="2" charset="-122"/>
                <a:cs typeface="Arial" panose="020B0604020202090204" pitchFamily="34" charset="0"/>
                <a:sym typeface="+mn-ea"/>
              </a:rPr>
              <a:t>X</a:t>
            </a:r>
            <a:endParaRPr lang="zh-CN" altLang="en-US" sz="6000" b="1" dirty="0">
              <a:latin typeface="Arial" panose="020B0604020202090204" pitchFamily="34" charset="0"/>
              <a:cs typeface="Arial" panose="020B0604020202090204" pitchFamily="34" charset="0"/>
            </a:endParaRPr>
          </a:p>
        </p:txBody>
      </p:sp>
      <p:sp>
        <p:nvSpPr>
          <p:cNvPr id="42" name="文本框 41"/>
          <p:cNvSpPr txBox="1"/>
          <p:nvPr/>
        </p:nvSpPr>
        <p:spPr>
          <a:xfrm>
            <a:off x="2258855" y="3115204"/>
            <a:ext cx="5327095" cy="769439"/>
          </a:xfrm>
          <a:prstGeom prst="rect">
            <a:avLst/>
          </a:prstGeom>
          <a:noFill/>
        </p:spPr>
        <p:txBody>
          <a:bodyPr wrap="none" lIns="91438" tIns="45719" rIns="91438" bIns="45719" rtlCol="0">
            <a:spAutoFit/>
          </a:bodyPr>
          <a:lstStyle/>
          <a:p>
            <a:r>
              <a:rPr lang="zh-CN" altLang="en-US" sz="4400" b="1" spc="600" dirty="0">
                <a:solidFill>
                  <a:schemeClr val="bg1"/>
                </a:solidFill>
                <a:latin typeface="SimSun" panose="02010600030101010101" pitchFamily="2" charset="-122"/>
                <a:ea typeface="SimSun" panose="02010600030101010101" pitchFamily="2" charset="-122"/>
                <a:sym typeface="+mn-ea"/>
              </a:rPr>
              <a:t>测量温度的传感器</a:t>
            </a:r>
            <a:endParaRPr lang="zh-CN" altLang="en-US" sz="4400" b="1" spc="600" dirty="0">
              <a:solidFill>
                <a:schemeClr val="bg1"/>
              </a:solidFill>
              <a:latin typeface="SimSun" panose="02010600030101010101" pitchFamily="2" charset="-122"/>
              <a:ea typeface="SimSun" panose="02010600030101010101" pitchFamily="2" charset="-122"/>
            </a:endParaRPr>
          </a:p>
        </p:txBody>
      </p:sp>
      <p:grpSp>
        <p:nvGrpSpPr>
          <p:cNvPr id="3" name="组 2"/>
          <p:cNvGrpSpPr/>
          <p:nvPr/>
        </p:nvGrpSpPr>
        <p:grpSpPr>
          <a:xfrm>
            <a:off x="-15717" y="2858770"/>
            <a:ext cx="181928" cy="1285240"/>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8.1.1</a:t>
            </a:r>
          </a:p>
        </p:txBody>
      </p:sp>
      <p:sp>
        <p:nvSpPr>
          <p:cNvPr id="46" name="矩形 45"/>
          <p:cNvSpPr/>
          <p:nvPr/>
        </p:nvSpPr>
        <p:spPr>
          <a:xfrm>
            <a:off x="1960200"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SimSun" panose="02010600030101010101" pitchFamily="2" charset="-122"/>
                <a:ea typeface="SimSun" panose="02010600030101010101" pitchFamily="2" charset="-122"/>
                <a:sym typeface="+mn-ea"/>
              </a:rPr>
              <a:t>热电阻的材料及工作原理</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6" name="Rectangle 6"/>
          <p:cNvSpPr>
            <a:spLocks noRot="1" noChangeArrowheads="1"/>
          </p:cNvSpPr>
          <p:nvPr/>
        </p:nvSpPr>
        <p:spPr bwMode="auto">
          <a:xfrm>
            <a:off x="1483745" y="1676400"/>
            <a:ext cx="6890684"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热电阻测温的基础：</a:t>
            </a:r>
          </a:p>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电阻率随温度升高而增大，具有</a:t>
            </a:r>
            <a:r>
              <a:rPr lang="zh-CN" altLang="en-US" sz="2400" b="1" dirty="0">
                <a:solidFill>
                  <a:srgbClr val="FF0000"/>
                </a:solidFill>
                <a:ea typeface="SimSun" panose="02010600030101010101" pitchFamily="2" charset="-122"/>
              </a:rPr>
              <a:t>正</a:t>
            </a:r>
            <a:r>
              <a:rPr lang="zh-CN" altLang="en-US" sz="2400" b="1" dirty="0">
                <a:ea typeface="SimSun" panose="02010600030101010101" pitchFamily="2" charset="-122"/>
              </a:rPr>
              <a:t>的温度系数</a:t>
            </a:r>
          </a:p>
          <a:p>
            <a:pPr marL="990600" indent="-9906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材料：电阻温度系数大，电阻率大，热容量小，化学、物理性质稳定。</a:t>
            </a:r>
          </a:p>
          <a:p>
            <a:pPr marL="342900" indent="-342900" eaLnBrk="1" hangingPunct="1">
              <a:lnSpc>
                <a:spcPct val="150000"/>
              </a:lnSpc>
              <a:spcBef>
                <a:spcPct val="20000"/>
              </a:spcBef>
              <a:buClr>
                <a:schemeClr val="folHlink"/>
              </a:buClr>
              <a:buFont typeface="Wingdings" panose="05000000000000000000" pitchFamily="2" charset="2"/>
              <a:buNone/>
            </a:pPr>
            <a:r>
              <a:rPr lang="zh-CN" altLang="en-US" sz="2400" b="1" dirty="0">
                <a:ea typeface="SimSun" panose="02010600030101010101" pitchFamily="2" charset="-122"/>
              </a:rPr>
              <a:t>特点</a:t>
            </a:r>
            <a:r>
              <a:rPr lang="en-US" altLang="zh-CN" sz="2400" b="1" dirty="0">
                <a:ea typeface="SimSun" panose="02010600030101010101" pitchFamily="2" charset="-122"/>
              </a:rPr>
              <a:t>: </a:t>
            </a:r>
            <a:r>
              <a:rPr lang="zh-CN" altLang="en-US" sz="2400" b="1" dirty="0">
                <a:ea typeface="SimSun" panose="02010600030101010101" pitchFamily="2" charset="-122"/>
              </a:rPr>
              <a:t>精度高，适宜于测低温</a:t>
            </a:r>
          </a:p>
        </p:txBody>
      </p:sp>
      <p:sp>
        <p:nvSpPr>
          <p:cNvPr id="27" name="Rectangle 30"/>
          <p:cNvSpPr>
            <a:spLocks noChangeArrowheads="1"/>
          </p:cNvSpPr>
          <p:nvPr/>
        </p:nvSpPr>
        <p:spPr bwMode="auto">
          <a:xfrm>
            <a:off x="2423317" y="4838700"/>
            <a:ext cx="2262158" cy="574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hangingPunct="1">
              <a:lnSpc>
                <a:spcPct val="150000"/>
              </a:lnSpc>
            </a:pPr>
            <a:r>
              <a:rPr lang="en-US" altLang="zh-CN" sz="2400" b="1" dirty="0">
                <a:latin typeface="SimSun" panose="02010600030101010101" pitchFamily="2" charset="-122"/>
                <a:ea typeface="SimSun" panose="02010600030101010101" pitchFamily="2" charset="-122"/>
              </a:rPr>
              <a:t>-260℃∼1000℃</a:t>
            </a:r>
          </a:p>
        </p:txBody>
      </p:sp>
      <p:sp>
        <p:nvSpPr>
          <p:cNvPr id="2" name="矩形 1"/>
          <p:cNvSpPr/>
          <p:nvPr/>
        </p:nvSpPr>
        <p:spPr>
          <a:xfrm>
            <a:off x="1571711" y="5457284"/>
            <a:ext cx="7308259" cy="576248"/>
          </a:xfrm>
          <a:prstGeom prst="rect">
            <a:avLst/>
          </a:prstGeom>
        </p:spPr>
        <p:txBody>
          <a:bodyPr wrap="square">
            <a:spAutoFit/>
          </a:bodyPr>
          <a:lstStyle/>
          <a:p>
            <a:pPr lvl="0">
              <a:lnSpc>
                <a:spcPct val="150000"/>
              </a:lnSpc>
            </a:pPr>
            <a:r>
              <a:rPr lang="zh-CN" altLang="en-US" sz="2400" b="1" dirty="0">
                <a:solidFill>
                  <a:prstClr val="black"/>
                </a:solidFill>
                <a:latin typeface="SimSun" panose="02010600030101010101" pitchFamily="2" charset="-122"/>
                <a:ea typeface="SimSun" panose="02010600030101010101" pitchFamily="2" charset="-122"/>
              </a:rPr>
              <a:t>响应时间：</a:t>
            </a:r>
            <a:r>
              <a:rPr lang="en-US" altLang="zh-CN" sz="2400" b="1" dirty="0">
                <a:solidFill>
                  <a:prstClr val="black"/>
                </a:solidFill>
                <a:latin typeface="SimSun" panose="02010600030101010101" pitchFamily="2" charset="-122"/>
                <a:ea typeface="SimSun" panose="02010600030101010101" pitchFamily="2" charset="-122"/>
              </a:rPr>
              <a:t>5</a:t>
            </a:r>
            <a:r>
              <a:rPr lang="zh-CN" altLang="en-US" sz="2400" b="1" dirty="0">
                <a:solidFill>
                  <a:prstClr val="black"/>
                </a:solidFill>
                <a:latin typeface="SimSun" panose="02010600030101010101" pitchFamily="2" charset="-122"/>
                <a:ea typeface="SimSun" panose="02010600030101010101" pitchFamily="2" charset="-122"/>
              </a:rPr>
              <a:t>∼</a:t>
            </a:r>
            <a:r>
              <a:rPr lang="en-US" altLang="zh-CN" sz="2400" b="1" dirty="0">
                <a:solidFill>
                  <a:prstClr val="black"/>
                </a:solidFill>
                <a:latin typeface="SimSun" panose="02010600030101010101" pitchFamily="2" charset="-122"/>
                <a:ea typeface="SimSun" panose="02010600030101010101" pitchFamily="2" charset="-122"/>
              </a:rPr>
              <a:t>90</a:t>
            </a:r>
            <a:r>
              <a:rPr lang="zh-CN" altLang="en-US" sz="2400" b="1" dirty="0">
                <a:solidFill>
                  <a:prstClr val="black"/>
                </a:solidFill>
                <a:latin typeface="SimSun" panose="02010600030101010101" pitchFamily="2" charset="-122"/>
                <a:ea typeface="SimSun" panose="02010600030101010101" pitchFamily="2" charset="-122"/>
              </a:rPr>
              <a:t>秒（带保护管）；</a:t>
            </a:r>
            <a:r>
              <a:rPr lang="en-US" altLang="zh-CN" sz="2400" b="1" dirty="0">
                <a:solidFill>
                  <a:prstClr val="black"/>
                </a:solidFill>
                <a:latin typeface="Times New Roman" panose="02020603050405020304" pitchFamily="18" charset="0"/>
                <a:ea typeface="SimSun" panose="02010600030101010101" pitchFamily="2" charset="-122"/>
                <a:cs typeface="Times New Roman" panose="02020603050405020304" pitchFamily="18" charset="0"/>
              </a:rPr>
              <a:t>&lt;</a:t>
            </a:r>
            <a:r>
              <a:rPr lang="en-US" altLang="zh-CN" sz="2400" b="1" dirty="0">
                <a:solidFill>
                  <a:prstClr val="black"/>
                </a:solidFill>
                <a:latin typeface="SimSun" panose="02010600030101010101" pitchFamily="2" charset="-122"/>
                <a:ea typeface="SimSun" panose="02010600030101010101" pitchFamily="2" charset="-122"/>
              </a:rPr>
              <a:t>1</a:t>
            </a:r>
            <a:r>
              <a:rPr lang="zh-CN" altLang="en-US" sz="2400" b="1" dirty="0">
                <a:solidFill>
                  <a:prstClr val="black"/>
                </a:solidFill>
                <a:latin typeface="SimSun" panose="02010600030101010101" pitchFamily="2" charset="-122"/>
                <a:ea typeface="SimSun" panose="02010600030101010101" pitchFamily="2" charset="-122"/>
              </a:rPr>
              <a:t>秒（暴露时）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200" b="1" dirty="0">
                <a:latin typeface="Arial" panose="020B0604020202090204" pitchFamily="34" charset="0"/>
                <a:ea typeface="SimSun" panose="02010600030101010101" pitchFamily="2" charset="-122"/>
                <a:cs typeface="Arial" panose="020B0604020202090204" pitchFamily="34" charset="0"/>
              </a:rPr>
              <a:t>8.2.6</a:t>
            </a:r>
          </a:p>
        </p:txBody>
      </p:sp>
      <p:sp>
        <p:nvSpPr>
          <p:cNvPr id="46" name="矩形 45"/>
          <p:cNvSpPr/>
          <p:nvPr/>
        </p:nvSpPr>
        <p:spPr>
          <a:xfrm>
            <a:off x="1960200" y="360001"/>
            <a:ext cx="2810377"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热电偶的应用</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975360" y="1271905"/>
            <a:ext cx="7407275" cy="4521835"/>
          </a:xfrm>
          <a:prstGeom prst="rect">
            <a:avLst/>
          </a:prstGeom>
        </p:spPr>
        <p:txBody>
          <a:bodyPr wrap="square" lIns="91438" tIns="45719" rIns="91438" bIns="45719">
            <a:spAutoFit/>
          </a:bodyPr>
          <a:lstStyle/>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①结构简单：其主体实际上是由两种不同性质的导体或半导体互相绝缘并将一端焊接在一起而成的；</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②具有较高的准确度 ；</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③测量范围宽，常用的热电偶，低温可测到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-50℃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a:t>
            </a:r>
            <a:r>
              <a:rPr lang="zh-CN" altLang="en-US" sz="2400"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sym typeface="+mn-ea"/>
              </a:rPr>
              <a:t>高温</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可以达到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1600℃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左右，配用特殊材料的热电极，最低可测到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-180℃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，最高可达到</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sym typeface="+mn-ea"/>
              </a:rPr>
              <a:t>+2800℃</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的温度；</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④具有良好的敏感度；</a:t>
            </a:r>
          </a:p>
          <a:p>
            <a:pPr>
              <a:lnSpc>
                <a:spcPct val="150000"/>
              </a:lnSpc>
            </a:pPr>
            <a:r>
              <a:rPr lang="zh-CN" altLang="en-US" sz="2400" b="1" dirty="0">
                <a:latin typeface="Times New Roman" panose="02020603050405020304" pitchFamily="18" charset="0"/>
                <a:ea typeface="SimSun" panose="02010600030101010101" pitchFamily="2" charset="-122"/>
                <a:cs typeface="Times New Roman" panose="02020603050405020304" pitchFamily="18" charset="0"/>
                <a:sym typeface="+mn-ea"/>
              </a:rPr>
              <a:t>⑤使用方便等。</a:t>
            </a:r>
          </a:p>
        </p:txBody>
      </p:sp>
      <p:sp>
        <p:nvSpPr>
          <p:cNvPr id="28" name="Text Box 2"/>
          <p:cNvSpPr txBox="1">
            <a:spLocks noChangeArrowheads="1"/>
          </p:cNvSpPr>
          <p:nvPr/>
        </p:nvSpPr>
        <p:spPr bwMode="auto">
          <a:xfrm>
            <a:off x="1068937" y="5889901"/>
            <a:ext cx="624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a:solidFill>
                  <a:schemeClr val="tx1"/>
                </a:solidFill>
                <a:latin typeface="Arial" panose="020B0604020202090204" pitchFamily="34" charset="0"/>
                <a:ea typeface="SimSun" panose="02010600030101010101" pitchFamily="2" charset="-122"/>
              </a:defRPr>
            </a:lvl1pPr>
            <a:lvl2pPr>
              <a:defRPr sz="2800">
                <a:solidFill>
                  <a:schemeClr val="tx1"/>
                </a:solidFill>
                <a:latin typeface="Arial" panose="020B0604020202090204" pitchFamily="34" charset="0"/>
                <a:ea typeface="SimSun" panose="02010600030101010101" pitchFamily="2" charset="-122"/>
              </a:defRPr>
            </a:lvl2pPr>
            <a:lvl3pPr>
              <a:defRPr sz="2400">
                <a:solidFill>
                  <a:schemeClr val="tx1"/>
                </a:solidFill>
                <a:latin typeface="Arial" panose="020B0604020202090204" pitchFamily="34" charset="0"/>
                <a:ea typeface="SimSun" panose="02010600030101010101" pitchFamily="2" charset="-122"/>
              </a:defRPr>
            </a:lvl3pPr>
            <a:lvl4pPr>
              <a:defRPr sz="2000">
                <a:solidFill>
                  <a:schemeClr val="tx1"/>
                </a:solidFill>
                <a:latin typeface="Arial" panose="020B0604020202090204" pitchFamily="34" charset="0"/>
                <a:ea typeface="SimSun" panose="02010600030101010101" pitchFamily="2" charset="-122"/>
              </a:defRPr>
            </a:lvl4pPr>
            <a:lvl5pPr>
              <a:defRPr sz="2000">
                <a:solidFill>
                  <a:schemeClr val="tx1"/>
                </a:solidFill>
                <a:latin typeface="Arial" panose="020B0604020202090204" pitchFamily="34" charset="0"/>
                <a:ea typeface="SimSun" panose="02010600030101010101" pitchFamily="2" charset="-122"/>
              </a:defRPr>
            </a:lvl5pPr>
            <a:lvl6pPr eaLnBrk="0" hangingPunct="0">
              <a:defRPr sz="2000">
                <a:solidFill>
                  <a:schemeClr val="tx1"/>
                </a:solidFill>
                <a:latin typeface="Arial" panose="020B0604020202090204" pitchFamily="34" charset="0"/>
                <a:ea typeface="SimSun" panose="02010600030101010101" pitchFamily="2" charset="-122"/>
              </a:defRPr>
            </a:lvl6pPr>
            <a:lvl7pPr eaLnBrk="0" hangingPunct="0">
              <a:defRPr sz="2000">
                <a:solidFill>
                  <a:schemeClr val="tx1"/>
                </a:solidFill>
                <a:latin typeface="Arial" panose="020B0604020202090204" pitchFamily="34" charset="0"/>
                <a:ea typeface="SimSun" panose="02010600030101010101" pitchFamily="2" charset="-122"/>
              </a:defRPr>
            </a:lvl7pPr>
            <a:lvl8pPr eaLnBrk="0" hangingPunct="0">
              <a:defRPr sz="2000">
                <a:solidFill>
                  <a:schemeClr val="tx1"/>
                </a:solidFill>
                <a:latin typeface="Arial" panose="020B0604020202090204" pitchFamily="34" charset="0"/>
                <a:ea typeface="SimSun" panose="02010600030101010101" pitchFamily="2" charset="-122"/>
              </a:defRPr>
            </a:lvl8pPr>
            <a:lvl9pPr eaLnBrk="0" hangingPunct="0">
              <a:defRPr sz="2000">
                <a:solidFill>
                  <a:schemeClr val="tx1"/>
                </a:solidFill>
                <a:latin typeface="Arial" panose="020B0604020202090204" pitchFamily="34" charset="0"/>
                <a:ea typeface="SimSun" panose="02010600030101010101" pitchFamily="2" charset="-122"/>
              </a:defRPr>
            </a:lvl9pPr>
          </a:lstStyle>
          <a:p>
            <a:pPr eaLnBrk="1" hangingPunct="1">
              <a:spcBef>
                <a:spcPct val="50000"/>
              </a:spcBef>
            </a:pPr>
            <a:r>
              <a:rPr lang="zh-CN" altLang="en-US" sz="2400" b="1" dirty="0">
                <a:solidFill>
                  <a:srgbClr val="FF0000"/>
                </a:solidFill>
              </a:rPr>
              <a:t>远距离测量，受引线长度影响小。</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4" name="圆角矩形 4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sz="3400" b="1" dirty="0">
                <a:latin typeface="Arial" panose="020B0604020202090204" pitchFamily="34" charset="0"/>
                <a:ea typeface="SimSun" panose="02010600030101010101" pitchFamily="2" charset="-122"/>
                <a:cs typeface="Arial" panose="020B0604020202090204" pitchFamily="34" charset="0"/>
              </a:rPr>
              <a:t>8.3</a:t>
            </a:r>
          </a:p>
        </p:txBody>
      </p:sp>
      <p:sp>
        <p:nvSpPr>
          <p:cNvPr id="46" name="矩形 45"/>
          <p:cNvSpPr/>
          <p:nvPr/>
        </p:nvSpPr>
        <p:spPr>
          <a:xfrm>
            <a:off x="1960200" y="360001"/>
            <a:ext cx="2593972"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热 敏 电 阻</a:t>
            </a:r>
          </a:p>
        </p:txBody>
      </p:sp>
      <p:grpSp>
        <p:nvGrpSpPr>
          <p:cNvPr id="43" name="组 42"/>
          <p:cNvGrpSpPr/>
          <p:nvPr/>
        </p:nvGrpSpPr>
        <p:grpSpPr>
          <a:xfrm>
            <a:off x="8590580" y="252857"/>
            <a:ext cx="553419" cy="484288"/>
            <a:chOff x="11454105" y="252856"/>
            <a:chExt cx="737892" cy="484288"/>
          </a:xfrm>
        </p:grpSpPr>
        <p:grpSp>
          <p:nvGrpSpPr>
            <p:cNvPr id="50" name="组 49"/>
            <p:cNvGrpSpPr/>
            <p:nvPr/>
          </p:nvGrpSpPr>
          <p:grpSpPr>
            <a:xfrm>
              <a:off x="12039604" y="252856"/>
              <a:ext cx="152393" cy="484287"/>
              <a:chOff x="12039604" y="252856"/>
              <a:chExt cx="152393" cy="484287"/>
            </a:xfrm>
          </p:grpSpPr>
          <p:sp>
            <p:nvSpPr>
              <p:cNvPr id="54" name="圆角矩形 5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 72"/>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99"/>
            <p:cNvGrpSpPr/>
            <p:nvPr/>
          </p:nvGrpSpPr>
          <p:grpSpPr>
            <a:xfrm>
              <a:off x="11454105" y="252857"/>
              <a:ext cx="491115" cy="484287"/>
              <a:chOff x="1528923" y="220268"/>
              <a:chExt cx="1284096" cy="1266241"/>
            </a:xfrm>
          </p:grpSpPr>
          <p:sp>
            <p:nvSpPr>
              <p:cNvPr id="52" name="圆角矩形 5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8" name="Rectangle 3"/>
          <p:cNvSpPr txBox="1">
            <a:spLocks noRot="1" noChangeArrowheads="1"/>
          </p:cNvSpPr>
          <p:nvPr/>
        </p:nvSpPr>
        <p:spPr>
          <a:xfrm>
            <a:off x="1092200" y="1516732"/>
            <a:ext cx="6959600" cy="4322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zh-CN" altLang="en-US" sz="2400" b="1" dirty="0">
                <a:latin typeface="SimSun" panose="02010600030101010101" pitchFamily="2" charset="-122"/>
                <a:ea typeface="SimSun" panose="02010600030101010101" pitchFamily="2" charset="-122"/>
              </a:rPr>
              <a:t>热敏电阻是用一种半导体材料制成的敏感元件，其特点是电阻随温度变化而显著变化，能直接将温度的变化转换为能量的变化。（</a:t>
            </a:r>
            <a:r>
              <a:rPr lang="en-US" altLang="zh-CN" sz="2400" b="1" dirty="0">
                <a:solidFill>
                  <a:srgbClr val="0070C0"/>
                </a:solidFill>
                <a:latin typeface="SimSun" panose="02010600030101010101" pitchFamily="2" charset="-122"/>
                <a:ea typeface="SimSun" panose="02010600030101010101" pitchFamily="2" charset="-122"/>
              </a:rPr>
              <a:t>-60℃</a:t>
            </a:r>
            <a:r>
              <a:rPr lang="zh-CN" altLang="en-US" sz="2400" b="1" dirty="0">
                <a:solidFill>
                  <a:srgbClr val="0070C0"/>
                </a:solidFill>
                <a:latin typeface="SimSun" panose="02010600030101010101" pitchFamily="2" charset="-122"/>
                <a:ea typeface="SimSun" panose="02010600030101010101" pitchFamily="2" charset="-122"/>
              </a:rPr>
              <a:t>～</a:t>
            </a:r>
            <a:r>
              <a:rPr lang="en-US" altLang="zh-CN" sz="2400" b="1" dirty="0">
                <a:solidFill>
                  <a:srgbClr val="0070C0"/>
                </a:solidFill>
                <a:latin typeface="SimSun" panose="02010600030101010101" pitchFamily="2" charset="-122"/>
                <a:ea typeface="SimSun" panose="02010600030101010101" pitchFamily="2" charset="-122"/>
              </a:rPr>
              <a:t>300℃</a:t>
            </a:r>
            <a:r>
              <a:rPr lang="zh-CN" altLang="en-US" sz="2400" b="1" dirty="0">
                <a:latin typeface="SimSun" panose="02010600030101010101" pitchFamily="2" charset="-122"/>
                <a:ea typeface="SimSun" panose="02010600030101010101" pitchFamily="2" charset="-122"/>
              </a:rPr>
              <a:t>）</a:t>
            </a:r>
          </a:p>
          <a:p>
            <a:pPr>
              <a:lnSpc>
                <a:spcPct val="150000"/>
              </a:lnSpc>
            </a:pPr>
            <a:r>
              <a:rPr lang="zh-CN" altLang="en-US" sz="2400" b="1" dirty="0">
                <a:latin typeface="SimSun" panose="02010600030101010101" pitchFamily="2" charset="-122"/>
                <a:ea typeface="SimSun" panose="02010600030101010101" pitchFamily="2" charset="-122"/>
              </a:rPr>
              <a:t>温度系数很大，比温差电偶和线绕电阻测温元件的灵敏度高几十倍，适用于测量</a:t>
            </a:r>
            <a:r>
              <a:rPr lang="zh-CN" altLang="en-US" sz="2400" b="1" dirty="0">
                <a:solidFill>
                  <a:srgbClr val="FF0000"/>
                </a:solidFill>
                <a:latin typeface="SimSun" panose="02010600030101010101" pitchFamily="2" charset="-122"/>
                <a:ea typeface="SimSun" panose="02010600030101010101" pitchFamily="2" charset="-122"/>
              </a:rPr>
              <a:t>微小的温度变化</a:t>
            </a:r>
            <a:r>
              <a:rPr lang="zh-CN" altLang="en-US" sz="2400" b="1" dirty="0">
                <a:latin typeface="SimSun" panose="02010600030101010101" pitchFamily="2" charset="-122"/>
                <a:ea typeface="SimSun" panose="02010600030101010101" pitchFamily="2" charset="-122"/>
              </a:rPr>
              <a:t>。体积小、热容量小、响应速度快，阻值高，测量结果受引线的影响小，可用于</a:t>
            </a:r>
            <a:r>
              <a:rPr lang="zh-CN" altLang="en-US" sz="2400" b="1" dirty="0">
                <a:solidFill>
                  <a:srgbClr val="FF0000"/>
                </a:solidFill>
                <a:latin typeface="SimSun" panose="02010600030101010101" pitchFamily="2" charset="-122"/>
                <a:ea typeface="SimSun" panose="02010600030101010101" pitchFamily="2" charset="-122"/>
              </a:rPr>
              <a:t>远距离测量</a:t>
            </a:r>
            <a:r>
              <a:rPr lang="zh-CN" altLang="en-US" sz="2400" b="1" dirty="0">
                <a:latin typeface="SimSun" panose="02010600030101010101" pitchFamily="2" charset="-122"/>
                <a:ea typeface="SimSun"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7" name="Text Box 179"/>
          <p:cNvSpPr txBox="1">
            <a:spLocks noChangeArrowheads="1"/>
          </p:cNvSpPr>
          <p:nvPr/>
        </p:nvSpPr>
        <p:spPr bwMode="auto">
          <a:xfrm>
            <a:off x="1632809" y="5350023"/>
            <a:ext cx="5496272" cy="491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SimSun" panose="02010600030101010101" pitchFamily="2" charset="-122"/>
              </a:defRPr>
            </a:lvl1pPr>
            <a:lvl2pPr marL="742950" indent="-285750">
              <a:defRPr kumimoji="1" sz="2400">
                <a:solidFill>
                  <a:schemeClr val="tx1"/>
                </a:solidFill>
                <a:latin typeface="Times New Roman" panose="02020603050405020304" pitchFamily="18" charset="0"/>
                <a:ea typeface="SimSun" panose="02010600030101010101" pitchFamily="2" charset="-122"/>
              </a:defRPr>
            </a:lvl2pPr>
            <a:lvl3pPr marL="1143000" indent="-228600">
              <a:defRPr kumimoji="1" sz="2400">
                <a:solidFill>
                  <a:schemeClr val="tx1"/>
                </a:solidFill>
                <a:latin typeface="Times New Roman" panose="02020603050405020304" pitchFamily="18" charset="0"/>
                <a:ea typeface="SimSun" panose="02010600030101010101" pitchFamily="2" charset="-122"/>
              </a:defRPr>
            </a:lvl3pPr>
            <a:lvl4pPr marL="1600200" indent="-228600">
              <a:defRPr kumimoji="1" sz="2400">
                <a:solidFill>
                  <a:schemeClr val="tx1"/>
                </a:solidFill>
                <a:latin typeface="Times New Roman" panose="02020603050405020304" pitchFamily="18" charset="0"/>
                <a:ea typeface="SimSun" panose="02010600030101010101" pitchFamily="2" charset="-122"/>
              </a:defRPr>
            </a:lvl4pPr>
            <a:lvl5pPr marL="2057400" indent="-228600">
              <a:defRPr kumimoji="1" sz="2400">
                <a:solidFill>
                  <a:schemeClr val="tx1"/>
                </a:solidFill>
                <a:latin typeface="Times New Roman" panose="02020603050405020304" pitchFamily="18" charset="0"/>
                <a:ea typeface="SimSun"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SimSun" panose="02010600030101010101" pitchFamily="2" charset="-122"/>
              </a:defRPr>
            </a:lvl9pPr>
          </a:lstStyle>
          <a:p>
            <a:pPr eaLnBrk="1" hangingPunct="1">
              <a:lnSpc>
                <a:spcPct val="120000"/>
              </a:lnSpc>
              <a:spcBef>
                <a:spcPct val="20000"/>
              </a:spcBef>
            </a:pPr>
            <a:r>
              <a:rPr kumimoji="0" lang="zh-CN" altLang="en-US" b="1" dirty="0">
                <a:solidFill>
                  <a:srgbClr val="3333CC"/>
                </a:solidFill>
                <a:latin typeface="SimSun" panose="02010600030101010101" pitchFamily="2" charset="-122"/>
                <a:ea typeface="SimSun" panose="02010600030101010101" pitchFamily="2" charset="-122"/>
              </a:rPr>
              <a:t>图</a:t>
            </a:r>
            <a:r>
              <a:rPr kumimoji="0" lang="en-US" altLang="zh-CN" b="1" dirty="0">
                <a:solidFill>
                  <a:srgbClr val="3333CC"/>
                </a:solidFill>
                <a:latin typeface="SimSun" panose="02010600030101010101" pitchFamily="2" charset="-122"/>
                <a:ea typeface="SimSun" panose="02010600030101010101" pitchFamily="2" charset="-122"/>
              </a:rPr>
              <a:t>7-22 WDS</a:t>
            </a:r>
            <a:r>
              <a:rPr kumimoji="0" lang="zh-CN" altLang="en-US" b="1" dirty="0">
                <a:solidFill>
                  <a:srgbClr val="3333CC"/>
                </a:solidFill>
                <a:latin typeface="SimSun" panose="02010600030101010101" pitchFamily="2" charset="-122"/>
                <a:ea typeface="SimSun" panose="02010600030101010101" pitchFamily="2" charset="-122"/>
              </a:rPr>
              <a:t>型光电比色高温计原理图</a:t>
            </a:r>
          </a:p>
        </p:txBody>
      </p:sp>
      <p:graphicFrame>
        <p:nvGraphicFramePr>
          <p:cNvPr id="2228" name="Object 180"/>
          <p:cNvGraphicFramePr>
            <a:graphicFrameLocks noChangeAspect="1"/>
          </p:cNvGraphicFramePr>
          <p:nvPr/>
        </p:nvGraphicFramePr>
        <p:xfrm>
          <a:off x="49695" y="1630703"/>
          <a:ext cx="7924800" cy="3276600"/>
        </p:xfrm>
        <a:graphic>
          <a:graphicData uri="http://schemas.openxmlformats.org/presentationml/2006/ole">
            <mc:AlternateContent xmlns:mc="http://schemas.openxmlformats.org/markup-compatibility/2006">
              <mc:Choice xmlns:v="urn:schemas-microsoft-com:vml" Requires="v">
                <p:oleObj spid="_x0000_s49173" name="Image" r:id="rId3" imgW="32525335" imgH="13450570" progId="Photoshop.Image.7">
                  <p:embed/>
                </p:oleObj>
              </mc:Choice>
              <mc:Fallback>
                <p:oleObj name="Image" r:id="rId3" imgW="32525335" imgH="13450570" progId="Photoshop.Image.7">
                  <p:embed/>
                  <p:pic>
                    <p:nvPicPr>
                      <p:cNvPr id="0" name="Object 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95" y="1630703"/>
                        <a:ext cx="79248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8"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200" b="1" dirty="0">
                <a:latin typeface="Arial" panose="020B0604020202090204" pitchFamily="34" charset="0"/>
                <a:ea typeface="SimSun" panose="02010600030101010101" pitchFamily="2" charset="-122"/>
                <a:cs typeface="Arial" panose="020B0604020202090204" pitchFamily="34" charset="0"/>
              </a:rPr>
              <a:t>7.4.1</a:t>
            </a:r>
            <a:endParaRPr lang="en-US" sz="3200" b="1" dirty="0">
              <a:latin typeface="Arial" panose="020B0604020202090204" pitchFamily="34" charset="0"/>
              <a:ea typeface="SimSun" panose="02010600030101010101" pitchFamily="2" charset="-122"/>
              <a:cs typeface="Arial" panose="020B0604020202090204" pitchFamily="34" charset="0"/>
            </a:endParaRPr>
          </a:p>
        </p:txBody>
      </p:sp>
      <p:sp>
        <p:nvSpPr>
          <p:cNvPr id="9" name="矩形 23"/>
          <p:cNvSpPr/>
          <p:nvPr/>
        </p:nvSpPr>
        <p:spPr>
          <a:xfrm>
            <a:off x="1960200" y="329520"/>
            <a:ext cx="3685616" cy="615549"/>
          </a:xfrm>
          <a:prstGeom prst="rect">
            <a:avLst/>
          </a:prstGeom>
        </p:spPr>
        <p:txBody>
          <a:bodyPr wrap="none" lIns="91436" tIns="45718" rIns="91436" bIns="45718">
            <a:spAutoFit/>
          </a:bodyPr>
          <a:lstStyle/>
          <a:p>
            <a:r>
              <a:rPr lang="zh-CN" altLang="en-US" sz="3400" b="1" dirty="0">
                <a:solidFill>
                  <a:schemeClr val="bg1"/>
                </a:solidFill>
                <a:latin typeface="SimSun" panose="02010600030101010101" pitchFamily="2" charset="-122"/>
                <a:ea typeface="SimSun" panose="02010600030101010101" pitchFamily="2" charset="-122"/>
                <a:sym typeface="+mn-ea"/>
              </a:rPr>
              <a:t>模拟式光电传感器</a:t>
            </a:r>
          </a:p>
        </p:txBody>
      </p:sp>
      <p:sp>
        <p:nvSpPr>
          <p:cNvPr id="2" name="Rectangle 1"/>
          <p:cNvSpPr/>
          <p:nvPr/>
        </p:nvSpPr>
        <p:spPr>
          <a:xfrm>
            <a:off x="7555984" y="1837842"/>
            <a:ext cx="1450722" cy="2862322"/>
          </a:xfrm>
          <a:prstGeom prst="rect">
            <a:avLst/>
          </a:prstGeom>
        </p:spPr>
        <p:txBody>
          <a:bodyPr wrap="square">
            <a:spAutoFit/>
          </a:bodyPr>
          <a:lstStyle/>
          <a:p>
            <a:r>
              <a:rPr lang="en-US" altLang="zh-CN" sz="1200" b="1" dirty="0">
                <a:solidFill>
                  <a:schemeClr val="accent1"/>
                </a:solidFill>
                <a:latin typeface="UICTFontTextStyleBody"/>
              </a:rPr>
              <a:t>1</a:t>
            </a:r>
            <a:r>
              <a:rPr lang="zh-CN" altLang="en-US" sz="1200" b="1" dirty="0">
                <a:solidFill>
                  <a:schemeClr val="accent1"/>
                </a:solidFill>
                <a:latin typeface=".PingFangSC-Semibold"/>
              </a:rPr>
              <a:t>一物镜；</a:t>
            </a:r>
            <a:endParaRPr lang="zh-CN" altLang="en-US" sz="1200" dirty="0">
              <a:solidFill>
                <a:schemeClr val="accent1"/>
              </a:solidFill>
              <a:latin typeface=".PingFang SC"/>
            </a:endParaRPr>
          </a:p>
          <a:p>
            <a:r>
              <a:rPr lang="en-US" altLang="zh-CN" sz="1200" b="1" dirty="0">
                <a:solidFill>
                  <a:schemeClr val="accent1"/>
                </a:solidFill>
                <a:latin typeface="UICTFontTextStyleBody"/>
              </a:rPr>
              <a:t>2—</a:t>
            </a:r>
            <a:r>
              <a:rPr lang="zh-CN" altLang="en-US" sz="1200" b="1" dirty="0">
                <a:solidFill>
                  <a:schemeClr val="accent1"/>
                </a:solidFill>
                <a:latin typeface=".PingFangSC-Semibold"/>
              </a:rPr>
              <a:t>平行平面玻璃；</a:t>
            </a:r>
            <a:endParaRPr lang="zh-CN" altLang="en-US" sz="1200" dirty="0">
              <a:solidFill>
                <a:schemeClr val="accent1"/>
              </a:solidFill>
              <a:latin typeface=".PingFang SC"/>
            </a:endParaRPr>
          </a:p>
          <a:p>
            <a:r>
              <a:rPr lang="en-US" altLang="zh-CN" sz="1200" b="1" dirty="0">
                <a:solidFill>
                  <a:schemeClr val="accent1"/>
                </a:solidFill>
                <a:latin typeface="UICTFontTextStyleBody"/>
              </a:rPr>
              <a:t>3</a:t>
            </a:r>
            <a:r>
              <a:rPr lang="zh-CN" altLang="en-US" sz="1200" b="1" dirty="0">
                <a:solidFill>
                  <a:schemeClr val="accent1"/>
                </a:solidFill>
                <a:latin typeface=".PingFangSC-Semibold"/>
              </a:rPr>
              <a:t>一光阑；</a:t>
            </a:r>
            <a:endParaRPr lang="zh-CN" altLang="en-US" sz="1200" dirty="0">
              <a:solidFill>
                <a:schemeClr val="accent1"/>
              </a:solidFill>
              <a:latin typeface=".PingFang SC"/>
            </a:endParaRPr>
          </a:p>
          <a:p>
            <a:r>
              <a:rPr lang="en-US" altLang="zh-CN" sz="1200" b="1" dirty="0">
                <a:solidFill>
                  <a:schemeClr val="accent1"/>
                </a:solidFill>
                <a:latin typeface="UICTFontTextStyleBody"/>
              </a:rPr>
              <a:t>4—</a:t>
            </a:r>
            <a:r>
              <a:rPr lang="zh-CN" altLang="en-US" sz="1200" b="1" dirty="0">
                <a:solidFill>
                  <a:schemeClr val="accent1"/>
                </a:solidFill>
                <a:latin typeface=".PingFangSC-Semibold"/>
              </a:rPr>
              <a:t>光导棒：</a:t>
            </a:r>
            <a:endParaRPr lang="zh-CN" altLang="en-US" sz="1200" dirty="0">
              <a:solidFill>
                <a:schemeClr val="accent1"/>
              </a:solidFill>
              <a:latin typeface=".PingFang SC"/>
            </a:endParaRPr>
          </a:p>
          <a:p>
            <a:r>
              <a:rPr lang="en-US" altLang="zh-CN" sz="1200" b="1" dirty="0">
                <a:solidFill>
                  <a:schemeClr val="accent1"/>
                </a:solidFill>
                <a:latin typeface="UICTFontTextStyleBody"/>
              </a:rPr>
              <a:t>5—</a:t>
            </a:r>
            <a:r>
              <a:rPr lang="zh-CN" altLang="en-US" sz="1200" b="1" dirty="0">
                <a:solidFill>
                  <a:schemeClr val="accent1"/>
                </a:solidFill>
                <a:latin typeface=".PingFangSC-Semibold"/>
              </a:rPr>
              <a:t>瞄准反射镜；</a:t>
            </a:r>
            <a:endParaRPr lang="zh-CN" altLang="en-US" sz="1200" dirty="0">
              <a:solidFill>
                <a:schemeClr val="accent1"/>
              </a:solidFill>
              <a:latin typeface=".PingFang SC"/>
            </a:endParaRPr>
          </a:p>
          <a:p>
            <a:r>
              <a:rPr lang="en-US" altLang="zh-CN" sz="1200" b="1" dirty="0">
                <a:solidFill>
                  <a:schemeClr val="accent1"/>
                </a:solidFill>
                <a:latin typeface="UICTFontTextStyleBody"/>
              </a:rPr>
              <a:t>6</a:t>
            </a:r>
            <a:r>
              <a:rPr lang="zh-CN" altLang="en-US" sz="1200" b="1" dirty="0">
                <a:solidFill>
                  <a:schemeClr val="accent1"/>
                </a:solidFill>
                <a:latin typeface=".PingFangSC-Semibold"/>
              </a:rPr>
              <a:t>一分光镜；</a:t>
            </a:r>
            <a:endParaRPr lang="zh-CN" altLang="en-US" sz="1200" dirty="0">
              <a:solidFill>
                <a:schemeClr val="accent1"/>
              </a:solidFill>
              <a:latin typeface=".PingFang SC"/>
            </a:endParaRPr>
          </a:p>
          <a:p>
            <a:r>
              <a:rPr lang="en-US" altLang="zh-CN" sz="1200" b="1" dirty="0">
                <a:solidFill>
                  <a:schemeClr val="accent1"/>
                </a:solidFill>
                <a:latin typeface="UICTFontTextStyleBody"/>
              </a:rPr>
              <a:t>7</a:t>
            </a:r>
            <a:r>
              <a:rPr lang="zh-CN" altLang="en-US" sz="1200" b="1" dirty="0">
                <a:solidFill>
                  <a:schemeClr val="accent1"/>
                </a:solidFill>
                <a:latin typeface=".PingFangSC-Semibold"/>
              </a:rPr>
              <a:t>、</a:t>
            </a:r>
            <a:r>
              <a:rPr lang="en-US" altLang="zh-CN" sz="1200" b="1" dirty="0">
                <a:solidFill>
                  <a:schemeClr val="accent1"/>
                </a:solidFill>
                <a:latin typeface="UICTFontTextStyleBody"/>
              </a:rPr>
              <a:t>9</a:t>
            </a:r>
            <a:r>
              <a:rPr lang="zh-CN" altLang="en-US" sz="1200" b="1" dirty="0">
                <a:solidFill>
                  <a:schemeClr val="accent1"/>
                </a:solidFill>
                <a:latin typeface=".PingFangSC-Semibold"/>
              </a:rPr>
              <a:t>一滤光片；</a:t>
            </a:r>
            <a:endParaRPr lang="zh-CN" altLang="en-US" sz="1200" dirty="0">
              <a:solidFill>
                <a:schemeClr val="accent1"/>
              </a:solidFill>
              <a:latin typeface=".PingFang SC"/>
            </a:endParaRPr>
          </a:p>
          <a:p>
            <a:r>
              <a:rPr lang="en-US" altLang="zh-CN" sz="1200" b="1" dirty="0">
                <a:solidFill>
                  <a:schemeClr val="accent1"/>
                </a:solidFill>
                <a:latin typeface="UICTFontTextStyleBody"/>
              </a:rPr>
              <a:t>8</a:t>
            </a:r>
            <a:r>
              <a:rPr lang="zh-CN" altLang="en-US" sz="1200" b="1" dirty="0">
                <a:solidFill>
                  <a:schemeClr val="accent1"/>
                </a:solidFill>
                <a:latin typeface=".PingFangSC-Semibold"/>
              </a:rPr>
              <a:t>一硒光电池；</a:t>
            </a:r>
            <a:endParaRPr lang="zh-CN" altLang="en-US" sz="1200" dirty="0">
              <a:solidFill>
                <a:schemeClr val="accent1"/>
              </a:solidFill>
              <a:latin typeface=".PingFang SC"/>
            </a:endParaRPr>
          </a:p>
          <a:p>
            <a:r>
              <a:rPr lang="en-US" altLang="zh-CN" sz="1200" b="1" dirty="0">
                <a:solidFill>
                  <a:schemeClr val="accent1"/>
                </a:solidFill>
                <a:latin typeface="UICTFontTextStyleBody"/>
              </a:rPr>
              <a:t>10</a:t>
            </a:r>
            <a:r>
              <a:rPr lang="zh-CN" altLang="en-US" sz="1200" b="1" dirty="0">
                <a:solidFill>
                  <a:schemeClr val="accent1"/>
                </a:solidFill>
                <a:latin typeface=".PingFangSC-Semibold"/>
              </a:rPr>
              <a:t>一硅光电池；</a:t>
            </a:r>
            <a:endParaRPr lang="zh-CN" altLang="en-US" sz="1200" dirty="0">
              <a:solidFill>
                <a:schemeClr val="accent1"/>
              </a:solidFill>
              <a:latin typeface=".PingFang SC"/>
            </a:endParaRPr>
          </a:p>
          <a:p>
            <a:r>
              <a:rPr lang="en-US" altLang="zh-CN" sz="1200" b="1" dirty="0">
                <a:solidFill>
                  <a:schemeClr val="accent1"/>
                </a:solidFill>
                <a:latin typeface="UICTFontTextStyleBody"/>
              </a:rPr>
              <a:t>11</a:t>
            </a:r>
            <a:r>
              <a:rPr lang="zh-CN" altLang="en-US" sz="1200" b="1" dirty="0">
                <a:solidFill>
                  <a:schemeClr val="accent1"/>
                </a:solidFill>
                <a:latin typeface=".PingFangSC-Semibold"/>
              </a:rPr>
              <a:t>一圆柱反射镜；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12</a:t>
            </a:r>
            <a:r>
              <a:rPr lang="zh-CN" altLang="en-US" sz="1200" b="1" dirty="0">
                <a:solidFill>
                  <a:schemeClr val="accent1"/>
                </a:solidFill>
                <a:latin typeface=".PingFangSC-Semibold"/>
              </a:rPr>
              <a:t>一目镜：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13</a:t>
            </a:r>
            <a:r>
              <a:rPr lang="zh-CN" altLang="en-US" sz="1200" b="1" dirty="0">
                <a:solidFill>
                  <a:schemeClr val="accent1"/>
                </a:solidFill>
                <a:latin typeface=".PingFangSC-Semibold"/>
              </a:rPr>
              <a:t>一棱镜；</a:t>
            </a:r>
            <a:endParaRPr lang="zh-CN" altLang="en-US" sz="1200" dirty="0">
              <a:solidFill>
                <a:schemeClr val="accent1"/>
              </a:solidFill>
              <a:latin typeface=".PingFang SC"/>
            </a:endParaRPr>
          </a:p>
          <a:p>
            <a:r>
              <a:rPr lang="en-US" altLang="zh-CN" sz="1200" b="1" dirty="0">
                <a:solidFill>
                  <a:schemeClr val="accent1"/>
                </a:solidFill>
                <a:latin typeface="UICTFontTextStyleBody"/>
              </a:rPr>
              <a:t>14</a:t>
            </a:r>
            <a:r>
              <a:rPr lang="zh-CN" altLang="en-US" sz="1200" b="1" dirty="0">
                <a:solidFill>
                  <a:schemeClr val="accent1"/>
                </a:solidFill>
                <a:latin typeface="UICTFontTextStyleBody"/>
              </a:rPr>
              <a:t>、</a:t>
            </a:r>
            <a:r>
              <a:rPr lang="en-US" altLang="zh-CN" sz="1200" b="1" dirty="0">
                <a:solidFill>
                  <a:schemeClr val="accent1"/>
                </a:solidFill>
                <a:latin typeface="UICTFontTextStyleBody"/>
              </a:rPr>
              <a:t>15</a:t>
            </a:r>
            <a:r>
              <a:rPr lang="zh-CN" altLang="en-US" sz="1200" b="1" dirty="0">
                <a:solidFill>
                  <a:schemeClr val="accent1"/>
                </a:solidFill>
                <a:latin typeface=".PingFangSC-Semibold"/>
              </a:rPr>
              <a:t>一负载电阻；</a:t>
            </a:r>
            <a:endParaRPr lang="zh-CN" altLang="en-US" sz="1200" dirty="0">
              <a:solidFill>
                <a:schemeClr val="accent1"/>
              </a:solidFill>
              <a:latin typeface=".PingFang SC"/>
            </a:endParaRPr>
          </a:p>
          <a:p>
            <a:r>
              <a:rPr lang="en-US" altLang="zh-CN" sz="1200" b="1" dirty="0">
                <a:solidFill>
                  <a:schemeClr val="accent1"/>
                </a:solidFill>
                <a:latin typeface="UICTFontTextStyleBody"/>
              </a:rPr>
              <a:t>16—</a:t>
            </a:r>
            <a:r>
              <a:rPr lang="zh-CN" altLang="en-US" sz="1200" b="1" dirty="0">
                <a:solidFill>
                  <a:schemeClr val="accent1"/>
                </a:solidFill>
                <a:latin typeface=".PingFangSC-Semibold"/>
              </a:rPr>
              <a:t>可逆电动机；</a:t>
            </a:r>
            <a:endParaRPr lang="zh-CN" altLang="en-US" sz="1200" dirty="0">
              <a:solidFill>
                <a:schemeClr val="accent1"/>
              </a:solidFill>
              <a:latin typeface=".PingFang SC"/>
            </a:endParaRPr>
          </a:p>
          <a:p>
            <a:r>
              <a:rPr lang="en-US" altLang="zh-CN" sz="1200" b="1" dirty="0">
                <a:solidFill>
                  <a:schemeClr val="accent1"/>
                </a:solidFill>
                <a:latin typeface="UICTFontTextStyleBody"/>
              </a:rPr>
              <a:t>17—</a:t>
            </a:r>
            <a:r>
              <a:rPr lang="zh-CN" altLang="en-US" sz="1200" b="1" dirty="0">
                <a:solidFill>
                  <a:schemeClr val="accent1"/>
                </a:solidFill>
                <a:latin typeface=".PingFangSC-Semibold"/>
              </a:rPr>
              <a:t>电位差计</a:t>
            </a:r>
            <a:endParaRPr lang="zh-CN" altLang="en-US" sz="1200" dirty="0">
              <a:solidFill>
                <a:schemeClr val="accent1"/>
              </a:solidFill>
              <a:effectLst/>
              <a:latin typeface=".PingFang S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228"/>
                                        </p:tgtEl>
                                        <p:attrNameLst>
                                          <p:attrName>style.visibility</p:attrName>
                                        </p:attrNameLst>
                                      </p:cBhvr>
                                      <p:to>
                                        <p:strVal val="visible"/>
                                      </p:to>
                                    </p:set>
                                    <p:animEffect transition="in" filter="strips(downRight)">
                                      <p:cBhvr>
                                        <p:cTn id="7" dur="500"/>
                                        <p:tgtEl>
                                          <p:spTgt spid="2228"/>
                                        </p:tgtEl>
                                      </p:cBhvr>
                                    </p:animEffect>
                                  </p:childTnLst>
                                </p:cTn>
                              </p:par>
                            </p:childTnLst>
                          </p:cTn>
                        </p:par>
                        <p:par>
                          <p:cTn id="8" fill="hold">
                            <p:stCondLst>
                              <p:cond delay="500"/>
                            </p:stCondLst>
                            <p:childTnLst>
                              <p:par>
                                <p:cTn id="9" presetID="2" presetClass="entr" presetSubtype="8" fill="hold" grpId="0" nodeType="afterEffect">
                                  <p:stCondLst>
                                    <p:cond delay="0"/>
                                  </p:stCondLst>
                                  <p:childTnLst>
                                    <p:set>
                                      <p:cBhvr>
                                        <p:cTn id="10" dur="1" fill="hold">
                                          <p:stCondLst>
                                            <p:cond delay="0"/>
                                          </p:stCondLst>
                                        </p:cTn>
                                        <p:tgtEl>
                                          <p:spTgt spid="2227"/>
                                        </p:tgtEl>
                                        <p:attrNameLst>
                                          <p:attrName>style.visibility</p:attrName>
                                        </p:attrNameLst>
                                      </p:cBhvr>
                                      <p:to>
                                        <p:strVal val="visible"/>
                                      </p:to>
                                    </p:set>
                                    <p:anim calcmode="lin" valueType="num">
                                      <p:cBhvr additive="base">
                                        <p:cTn id="11" dur="500" fill="hold"/>
                                        <p:tgtEl>
                                          <p:spTgt spid="2227"/>
                                        </p:tgtEl>
                                        <p:attrNameLst>
                                          <p:attrName>ppt_x</p:attrName>
                                        </p:attrNameLst>
                                      </p:cBhvr>
                                      <p:tavLst>
                                        <p:tav tm="0">
                                          <p:val>
                                            <p:strVal val="0-#ppt_w/2"/>
                                          </p:val>
                                        </p:tav>
                                        <p:tav tm="100000">
                                          <p:val>
                                            <p:strVal val="#ppt_x"/>
                                          </p:val>
                                        </p:tav>
                                      </p:tavLst>
                                    </p:anim>
                                    <p:anim calcmode="lin" valueType="num">
                                      <p:cBhvr additive="base">
                                        <p:cTn id="12" dur="500" fill="hold"/>
                                        <p:tgtEl>
                                          <p:spTgt spid="22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7" grpId="0" bldLvl="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0" y="2847433"/>
              <a:ext cx="1459828"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10</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5388649"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核辐射传感器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39208376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378014" y="11462"/>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1762691" y="1290760"/>
            <a:ext cx="1187427"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1762691" y="2275978"/>
            <a:ext cx="1174944"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237949" y="1179730"/>
            <a:ext cx="3890801" cy="646327"/>
          </a:xfrm>
          <a:prstGeom prst="rect">
            <a:avLst/>
          </a:prstGeom>
          <a:noFill/>
        </p:spPr>
        <p:txBody>
          <a:bodyPr wrap="none" lIns="91436" tIns="45718" rIns="91436" bIns="45718" rtlCol="0">
            <a:spAutoFit/>
          </a:bodyPr>
          <a:lstStyle/>
          <a:p>
            <a:r>
              <a:rPr lang="zh-CN" altLang="en-US" sz="3600" b="1" dirty="0">
                <a:solidFill>
                  <a:srgbClr val="0070C0"/>
                </a:solidFill>
                <a:latin typeface="宋体" panose="02010600030101010101" pitchFamily="2" charset="-122"/>
                <a:ea typeface="宋体" panose="02010600030101010101" pitchFamily="2" charset="-122"/>
                <a:hlinkClick r:id="rId2" action="ppaction://hlinksldjump">
                  <a:extLst>
                    <a:ext uri="{A12FA001-AC4F-418D-AE19-62706E023703}">
                      <ahyp:hlinkClr xmlns:ahyp="http://schemas.microsoft.com/office/drawing/2018/hyperlinkcolor" val="tx"/>
                    </a:ext>
                  </a:extLst>
                </a:hlinkClick>
              </a:rPr>
              <a:t>核辐射的基本特性</a:t>
            </a:r>
            <a:endParaRPr lang="zh-CN" altLang="en-US" sz="3600" b="1" dirty="0">
              <a:solidFill>
                <a:srgbClr val="0070C0"/>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237949" y="2182106"/>
            <a:ext cx="296426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核辐射传感器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5" name="圆角矩形 72">
            <a:extLst>
              <a:ext uri="{FF2B5EF4-FFF2-40B4-BE49-F238E27FC236}">
                <a16:creationId xmlns:a16="http://schemas.microsoft.com/office/drawing/2014/main" id="{7FC6BBF0-77C3-40AF-86D3-A85CAF66AA58}"/>
              </a:ext>
            </a:extLst>
          </p:cNvPr>
          <p:cNvSpPr/>
          <p:nvPr/>
        </p:nvSpPr>
        <p:spPr>
          <a:xfrm rot="10800000" flipV="1">
            <a:off x="1762691" y="3261199"/>
            <a:ext cx="1167774"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6" name="圆角矩形 73">
            <a:extLst>
              <a:ext uri="{FF2B5EF4-FFF2-40B4-BE49-F238E27FC236}">
                <a16:creationId xmlns:a16="http://schemas.microsoft.com/office/drawing/2014/main" id="{A6A7388D-AAB1-408E-B0BD-1DF172475E27}"/>
              </a:ext>
            </a:extLst>
          </p:cNvPr>
          <p:cNvSpPr/>
          <p:nvPr/>
        </p:nvSpPr>
        <p:spPr>
          <a:xfrm rot="10800000" flipV="1">
            <a:off x="1762690" y="4246018"/>
            <a:ext cx="1174945"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10.4</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3237949" y="3081256"/>
            <a:ext cx="5280605"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核辐射传感器的应用举例</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13" name="文本框 12">
            <a:extLst>
              <a:ext uri="{FF2B5EF4-FFF2-40B4-BE49-F238E27FC236}">
                <a16:creationId xmlns:a16="http://schemas.microsoft.com/office/drawing/2014/main" id="{E1AF24DF-6C4E-44DB-902F-37F655CF0FEC}"/>
              </a:ext>
            </a:extLst>
          </p:cNvPr>
          <p:cNvSpPr txBox="1"/>
          <p:nvPr/>
        </p:nvSpPr>
        <p:spPr>
          <a:xfrm>
            <a:off x="3237949" y="4141079"/>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6" action="ppaction://hlinksldjump"/>
              </a:rPr>
              <a:t>放射性辐射的防护</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1550863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60451" y="2730059"/>
            <a:ext cx="6217884" cy="3685622"/>
          </a:xfrm>
          <a:prstGeom prst="rect">
            <a:avLst/>
          </a:prstGeom>
        </p:spPr>
        <p:txBody>
          <a:bodyPr wrap="square" lIns="91438" tIns="45719" rIns="91438" bIns="45719">
            <a:spAutoFit/>
          </a:bodyPr>
          <a:lstStyle/>
          <a:p>
            <a:pPr>
              <a:lnSpc>
                <a:spcPct val="150000"/>
              </a:lnSpc>
              <a:spcBef>
                <a:spcPts val="672"/>
              </a:spcBef>
            </a:pPr>
            <a:r>
              <a:rPr lang="en-US" altLang="zh-CN" sz="2400" b="1" i="1" dirty="0">
                <a:solidFill>
                  <a:srgbClr val="FF0000"/>
                </a:solidFill>
                <a:latin typeface="Times New Roman" pitchFamily="18" charset="0"/>
                <a:ea typeface="宋体" panose="02010600030101010101" pitchFamily="2" charset="-122"/>
                <a:cs typeface="Times New Roman" pitchFamily="18" charset="0"/>
              </a:rPr>
              <a:t>α</a:t>
            </a:r>
            <a:r>
              <a:rPr lang="zh-CN" altLang="en-US" sz="2400" b="1" dirty="0">
                <a:solidFill>
                  <a:srgbClr val="FF000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，带正电荷的高速粒子流；</a:t>
            </a:r>
            <a:endParaRPr lang="en-US" altLang="zh-CN" sz="2400" b="1" dirty="0">
              <a:latin typeface="Times New Roman" pitchFamily="18" charset="0"/>
              <a:ea typeface="宋体" panose="02010600030101010101" pitchFamily="2" charset="-122"/>
              <a:cs typeface="Times New Roman" pitchFamily="18" charset="0"/>
            </a:endParaRPr>
          </a:p>
          <a:p>
            <a:pPr marL="1255713" indent="-1255713">
              <a:lnSpc>
                <a:spcPct val="150000"/>
              </a:lnSpc>
              <a:spcBef>
                <a:spcPts val="672"/>
              </a:spcBef>
            </a:pPr>
            <a:r>
              <a:rPr lang="en-US" altLang="zh-CN" sz="2400" b="1" i="1" dirty="0">
                <a:solidFill>
                  <a:srgbClr val="0070C0"/>
                </a:solidFill>
                <a:latin typeface="Times New Roman" pitchFamily="18" charset="0"/>
                <a:ea typeface="宋体" panose="02010600030101010101" pitchFamily="2" charset="-122"/>
                <a:cs typeface="Times New Roman" pitchFamily="18" charset="0"/>
              </a:rPr>
              <a:t>β</a:t>
            </a:r>
            <a:r>
              <a:rPr lang="zh-CN" altLang="en-US" sz="2400" b="1" dirty="0">
                <a:solidFill>
                  <a:srgbClr val="0070C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，带负电荷的高速粒子流（电子流）；</a:t>
            </a:r>
            <a:endParaRPr lang="en-US" altLang="zh-CN" sz="2400" b="1" dirty="0">
              <a:latin typeface="Times New Roman" pitchFamily="18" charset="0"/>
              <a:ea typeface="宋体" panose="02010600030101010101" pitchFamily="2" charset="-122"/>
              <a:cs typeface="Times New Roman" pitchFamily="18" charset="0"/>
            </a:endParaRPr>
          </a:p>
          <a:p>
            <a:pPr marL="1079500" indent="-1079500">
              <a:lnSpc>
                <a:spcPct val="150000"/>
              </a:lnSpc>
              <a:spcBef>
                <a:spcPts val="672"/>
              </a:spcBef>
            </a:pPr>
            <a:r>
              <a:rPr lang="en-US" altLang="zh-CN" sz="2400" b="1" i="1" dirty="0">
                <a:solidFill>
                  <a:srgbClr val="00B050"/>
                </a:solidFill>
                <a:latin typeface="Times New Roman" pitchFamily="18" charset="0"/>
                <a:ea typeface="宋体" panose="02010600030101010101" pitchFamily="2" charset="-122"/>
                <a:cs typeface="Times New Roman" pitchFamily="18" charset="0"/>
              </a:rPr>
              <a:t>γ</a:t>
            </a:r>
            <a:r>
              <a:rPr lang="zh-CN" altLang="en-US" sz="2400" b="1" dirty="0">
                <a:solidFill>
                  <a:srgbClr val="00B05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，一种光子流，不带电，以光速运动，由原子核内放射出；</a:t>
            </a:r>
            <a:endParaRPr lang="en-US" altLang="zh-CN" sz="2400" b="1" dirty="0">
              <a:latin typeface="Times New Roman" pitchFamily="18" charset="0"/>
              <a:ea typeface="宋体" panose="02010600030101010101" pitchFamily="2" charset="-122"/>
              <a:cs typeface="Times New Roman" pitchFamily="18" charset="0"/>
            </a:endParaRPr>
          </a:p>
          <a:p>
            <a:pPr marL="1168400" indent="-1168400">
              <a:lnSpc>
                <a:spcPct val="150000"/>
              </a:lnSpc>
              <a:spcBef>
                <a:spcPts val="672"/>
              </a:spcBef>
            </a:pPr>
            <a:r>
              <a:rPr lang="en-US" altLang="zh-CN" sz="2400" b="1" i="1" dirty="0">
                <a:solidFill>
                  <a:srgbClr val="7030A0"/>
                </a:solidFill>
                <a:latin typeface="Times New Roman" pitchFamily="18" charset="0"/>
                <a:ea typeface="宋体" panose="02010600030101010101" pitchFamily="2" charset="-122"/>
                <a:cs typeface="Times New Roman" pitchFamily="18" charset="0"/>
              </a:rPr>
              <a:t>X</a:t>
            </a:r>
            <a:r>
              <a:rPr lang="zh-CN" altLang="en-US" sz="2400" b="1" dirty="0">
                <a:solidFill>
                  <a:srgbClr val="7030A0"/>
                </a:solidFill>
                <a:latin typeface="Times New Roman" pitchFamily="18" charset="0"/>
                <a:ea typeface="宋体" panose="02010600030101010101" pitchFamily="2" charset="-122"/>
                <a:cs typeface="Times New Roman" pitchFamily="18" charset="0"/>
              </a:rPr>
              <a:t>射线</a:t>
            </a:r>
            <a:r>
              <a:rPr lang="zh-CN" altLang="en-US" sz="2400" b="1" dirty="0">
                <a:latin typeface="Times New Roman" pitchFamily="18" charset="0"/>
                <a:ea typeface="宋体" panose="02010600030101010101" pitchFamily="2" charset="-122"/>
                <a:cs typeface="Times New Roman" pitchFamily="18" charset="0"/>
              </a:rPr>
              <a:t>，由原子核外的内层电子被激发而放出的电磁波能量。</a:t>
            </a:r>
            <a:endParaRPr lang="en-US" altLang="zh-CN" sz="1400" dirty="0">
              <a:latin typeface="Times New Roman" pitchFamily="18" charset="0"/>
              <a:ea typeface="微软雅黑" panose="020B0503020204020204" pitchFamily="34" charset="-122"/>
              <a:cs typeface="Times New Roman" pitchFamily="18" charset="0"/>
            </a:endParaRPr>
          </a:p>
        </p:txBody>
      </p:sp>
      <p:sp>
        <p:nvSpPr>
          <p:cNvPr id="3" name="矩形 2">
            <a:extLst>
              <a:ext uri="{FF2B5EF4-FFF2-40B4-BE49-F238E27FC236}">
                <a16:creationId xmlns:a16="http://schemas.microsoft.com/office/drawing/2014/main" id="{D34396BB-6050-4734-BFC1-1F29E2A6538B}"/>
              </a:ext>
            </a:extLst>
          </p:cNvPr>
          <p:cNvSpPr/>
          <p:nvPr/>
        </p:nvSpPr>
        <p:spPr>
          <a:xfrm>
            <a:off x="1211534" y="1986616"/>
            <a:ext cx="7457993" cy="576246"/>
          </a:xfrm>
          <a:prstGeom prst="rect">
            <a:avLst/>
          </a:prstGeom>
        </p:spPr>
        <p:txBody>
          <a:bodyPr wrap="square" lIns="91438" tIns="45719" rIns="91438" bIns="45719">
            <a:spAutoFit/>
          </a:bodyPr>
          <a:lstStyle/>
          <a:p>
            <a:pPr>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测量技术常用四种核辐射源</a:t>
            </a:r>
            <a:r>
              <a:rPr lang="en-US" altLang="zh-CN" sz="2400" b="1" dirty="0">
                <a:latin typeface="Times New Roman" pitchFamily="18" charset="0"/>
                <a:ea typeface="宋体" panose="02010600030101010101" pitchFamily="2" charset="-122"/>
                <a:cs typeface="Times New Roman" pitchFamily="18" charset="0"/>
              </a:rPr>
              <a:t>:</a:t>
            </a: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α</a:t>
            </a:r>
            <a:r>
              <a:rPr lang="zh-CN" altLang="en-US"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β</a:t>
            </a:r>
            <a:r>
              <a:rPr lang="zh-CN" altLang="en-US" sz="2400" b="1" dirty="0">
                <a:latin typeface="Times New Roman" pitchFamily="18" charset="0"/>
                <a:ea typeface="宋体" pitchFamily="2" charset="-122"/>
                <a:cs typeface="Times New Roman" pitchFamily="18" charset="0"/>
              </a:rPr>
              <a:t>、</a:t>
            </a:r>
            <a:r>
              <a:rPr lang="en-US" altLang="zh-CN" sz="2400" b="1" i="1" dirty="0">
                <a:latin typeface="Times New Roman" pitchFamily="18" charset="0"/>
                <a:ea typeface="宋体" pitchFamily="2" charset="-122"/>
                <a:cs typeface="Times New Roman" pitchFamily="18" charset="0"/>
              </a:rPr>
              <a:t>γ</a:t>
            </a:r>
            <a:r>
              <a:rPr lang="zh-CN" altLang="en-US" sz="2400" b="1" dirty="0">
                <a:latin typeface="Times New Roman" pitchFamily="18" charset="0"/>
                <a:ea typeface="宋体" panose="02010600030101010101" pitchFamily="2" charset="-122"/>
                <a:cs typeface="Times New Roman" pitchFamily="18" charset="0"/>
              </a:rPr>
              <a:t>射线源和</a:t>
            </a:r>
            <a:r>
              <a:rPr lang="en-US" altLang="zh-CN" sz="2400" b="1" i="1" dirty="0">
                <a:latin typeface="Times New Roman" pitchFamily="18" charset="0"/>
                <a:ea typeface="宋体" pitchFamily="2" charset="-122"/>
                <a:cs typeface="Times New Roman" pitchFamily="18" charset="0"/>
              </a:rPr>
              <a:t>X</a:t>
            </a:r>
            <a:r>
              <a:rPr lang="zh-CN" altLang="en-US" sz="2400" b="1" dirty="0">
                <a:latin typeface="Times New Roman" pitchFamily="18" charset="0"/>
                <a:ea typeface="宋体" panose="02010600030101010101" pitchFamily="2" charset="-122"/>
                <a:cs typeface="Times New Roman" pitchFamily="18" charset="0"/>
              </a:rPr>
              <a:t>射线管。</a:t>
            </a:r>
            <a:endParaRPr lang="en-US" altLang="zh-CN" sz="1400" dirty="0">
              <a:latin typeface="Times New Roman" pitchFamily="18" charset="0"/>
              <a:ea typeface="宋体" pitchFamily="2" charset="-122"/>
              <a:cs typeface="Times New Roman" pitchFamily="18" charset="0"/>
            </a:endParaRP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7" name="矩形 6">
            <a:extLst>
              <a:ext uri="{FF2B5EF4-FFF2-40B4-BE49-F238E27FC236}">
                <a16:creationId xmlns:a16="http://schemas.microsoft.com/office/drawing/2014/main" id="{F2F14B22-C915-154C-9DF1-EED0C4FCE5FB}"/>
              </a:ext>
            </a:extLst>
          </p:cNvPr>
          <p:cNvSpPr/>
          <p:nvPr/>
        </p:nvSpPr>
        <p:spPr>
          <a:xfrm>
            <a:off x="674176" y="1379798"/>
            <a:ext cx="5706747" cy="523220"/>
          </a:xfrm>
          <a:prstGeom prst="rect">
            <a:avLst/>
          </a:prstGeom>
        </p:spPr>
        <p:txBody>
          <a:bodyPr wrap="square">
            <a:spAutoFit/>
          </a:bodyPr>
          <a:lstStyle/>
          <a:p>
            <a:r>
              <a:rPr lang="zh-CN" altLang="en-US" sz="2800" b="1" dirty="0">
                <a:solidFill>
                  <a:prstClr val="black"/>
                </a:solidFill>
                <a:latin typeface="宋体" panose="02010600030101010101" pitchFamily="2" charset="-122"/>
                <a:ea typeface="宋体" panose="02010600030101010101" pitchFamily="2" charset="-122"/>
              </a:rPr>
              <a:t>一、核辐射线的基本特性</a:t>
            </a:r>
            <a:endParaRPr lang="zh-CN" altLang="en-US" dirty="0"/>
          </a:p>
        </p:txBody>
      </p:sp>
    </p:spTree>
    <p:extLst>
      <p:ext uri="{BB962C8B-B14F-4D97-AF65-F5344CB8AC3E}">
        <p14:creationId xmlns:p14="http://schemas.microsoft.com/office/powerpoint/2010/main" val="377934381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69499" y="2093494"/>
            <a:ext cx="8000028" cy="2971774"/>
          </a:xfrm>
          <a:prstGeom prst="rect">
            <a:avLst/>
          </a:prstGeom>
        </p:spPr>
        <p:txBody>
          <a:bodyPr wrap="square" lIns="91438" tIns="45719" rIns="91438" bIns="45719">
            <a:spAutoFit/>
          </a:bodyPr>
          <a:lstStyle/>
          <a:p>
            <a:pPr indent="628650">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它用单位时间内发生的裂变数来表示，用居里作为强度单位。</a:t>
            </a:r>
            <a:endParaRPr lang="en-US" altLang="zh-CN" sz="2400" b="1" dirty="0">
              <a:latin typeface="Times New Roman" pitchFamily="18" charset="0"/>
              <a:ea typeface="宋体" pitchFamily="2" charset="-122"/>
              <a:cs typeface="Times New Roman" pitchFamily="18" charset="0"/>
            </a:endParaRPr>
          </a:p>
          <a:p>
            <a:pPr indent="628650">
              <a:lnSpc>
                <a:spcPct val="150000"/>
              </a:lnSpc>
              <a:spcBef>
                <a:spcPts val="672"/>
              </a:spcBef>
            </a:pPr>
            <a:r>
              <a:rPr lang="en-US" altLang="zh-CN" sz="2400" b="1" dirty="0">
                <a:latin typeface="Times New Roman" pitchFamily="18" charset="0"/>
                <a:ea typeface="宋体"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居里对应于每秒内有</a:t>
            </a:r>
            <a:r>
              <a:rPr lang="en-US" altLang="zh-CN" sz="2400" b="1" dirty="0">
                <a:latin typeface="Times New Roman" pitchFamily="18" charset="0"/>
                <a:ea typeface="宋体" pitchFamily="2" charset="-122"/>
                <a:cs typeface="Times New Roman" pitchFamily="18" charset="0"/>
              </a:rPr>
              <a:t>3.7×10</a:t>
            </a:r>
            <a:r>
              <a:rPr lang="en-US" altLang="zh-CN" sz="2400" b="1" baseline="30000" dirty="0">
                <a:latin typeface="Times New Roman" pitchFamily="18" charset="0"/>
                <a:ea typeface="宋体" pitchFamily="2" charset="-122"/>
                <a:cs typeface="Times New Roman" pitchFamily="18" charset="0"/>
              </a:rPr>
              <a:t>10</a:t>
            </a:r>
            <a:r>
              <a:rPr lang="zh-CN" altLang="en-US" sz="2400" b="1" dirty="0">
                <a:latin typeface="Times New Roman" pitchFamily="18" charset="0"/>
                <a:ea typeface="宋体" panose="02010600030101010101" pitchFamily="2" charset="-122"/>
                <a:cs typeface="Times New Roman" pitchFamily="18" charset="0"/>
              </a:rPr>
              <a:t>个原子核衰变。每秒产生</a:t>
            </a:r>
            <a:r>
              <a:rPr lang="en-US" altLang="zh-CN" sz="2400" b="1" dirty="0">
                <a:latin typeface="Times New Roman" pitchFamily="18" charset="0"/>
                <a:ea typeface="宋体" pitchFamily="2" charset="-122"/>
                <a:cs typeface="Times New Roman" pitchFamily="18" charset="0"/>
              </a:rPr>
              <a:t>3.7×10</a:t>
            </a:r>
            <a:r>
              <a:rPr lang="en-US" altLang="zh-CN" sz="2400" b="1" baseline="30000" dirty="0">
                <a:latin typeface="Times New Roman" pitchFamily="18" charset="0"/>
                <a:ea typeface="宋体" pitchFamily="2" charset="-122"/>
                <a:cs typeface="Times New Roman" pitchFamily="18" charset="0"/>
              </a:rPr>
              <a:t>10</a:t>
            </a:r>
            <a:r>
              <a:rPr lang="zh-CN" altLang="en-US" sz="2400" b="1" dirty="0">
                <a:latin typeface="Times New Roman" pitchFamily="18" charset="0"/>
                <a:ea typeface="宋体" panose="02010600030101010101" pitchFamily="2" charset="-122"/>
                <a:cs typeface="Times New Roman" pitchFamily="18" charset="0"/>
              </a:rPr>
              <a:t>次核衰变的放射性物质，称其源强度</a:t>
            </a:r>
            <a:r>
              <a:rPr lang="en-US" altLang="zh-CN" sz="2400" b="1" dirty="0">
                <a:latin typeface="Times New Roman" pitchFamily="18" charset="0"/>
                <a:ea typeface="宋体" pitchFamily="2" charset="-122"/>
                <a:cs typeface="Times New Roman" pitchFamily="18" charset="0"/>
              </a:rPr>
              <a:t>A</a:t>
            </a:r>
            <a:r>
              <a:rPr lang="zh-CN" altLang="en-US" sz="2400" b="1" dirty="0">
                <a:latin typeface="Times New Roman" pitchFamily="18" charset="0"/>
                <a:ea typeface="宋体" panose="02010600030101010101" pitchFamily="2" charset="-122"/>
                <a:cs typeface="Times New Roman" pitchFamily="18" charset="0"/>
              </a:rPr>
              <a:t>为</a:t>
            </a:r>
            <a:r>
              <a:rPr lang="en-US" altLang="zh-CN" sz="2400" b="1" dirty="0">
                <a:latin typeface="Times New Roman" pitchFamily="18" charset="0"/>
                <a:ea typeface="宋体"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a:t>
            </a:r>
            <a:endParaRPr lang="en-US" altLang="zh-CN" sz="2400" b="1" dirty="0">
              <a:latin typeface="Times New Roman" pitchFamily="18" charset="0"/>
              <a:ea typeface="宋体" panose="02010600030101010101" pitchFamily="2" charset="-122"/>
              <a:cs typeface="Times New Roman" pitchFamily="18" charset="0"/>
            </a:endParaRPr>
          </a:p>
          <a:p>
            <a:pPr indent="628650">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居里的单位太大，因此也常用毫居或微居里来表示。</a:t>
            </a:r>
            <a:endParaRPr lang="en-US" altLang="zh-CN" sz="1400" dirty="0">
              <a:latin typeface="Times New Roman" pitchFamily="18" charset="0"/>
              <a:ea typeface="宋体" pitchFamily="2" charset="-122"/>
              <a:cs typeface="Times New Roman" pitchFamily="18" charset="0"/>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8" name="矩形 27"/>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396098" y="1464745"/>
            <a:ext cx="1816523" cy="461665"/>
          </a:xfrm>
          <a:prstGeom prst="rect">
            <a:avLst/>
          </a:prstGeom>
        </p:spPr>
        <p:txBody>
          <a:bodyPr wrap="none">
            <a:spAutoFit/>
          </a:bodyPr>
          <a:lstStyle/>
          <a:p>
            <a:pPr lvl="0">
              <a:spcBef>
                <a:spcPts val="672"/>
              </a:spcBef>
            </a:pP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rPr>
              <a:t>1</a:t>
            </a:r>
            <a:r>
              <a:rPr lang="zh-CN" altLang="en-US" sz="2400" b="1" dirty="0">
                <a:solidFill>
                  <a:prstClr val="black"/>
                </a:solidFill>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prstClr val="black"/>
                </a:solidFill>
                <a:latin typeface="宋体" panose="02010600030101010101" pitchFamily="2" charset="-122"/>
                <a:ea typeface="宋体" panose="02010600030101010101" pitchFamily="2" charset="-122"/>
              </a:rPr>
              <a:t>源强度</a:t>
            </a:r>
            <a:r>
              <a:rPr lang="en-US" altLang="zh-CN" sz="2400" b="1" dirty="0">
                <a:solidFill>
                  <a:prstClr val="black"/>
                </a:solidFill>
                <a:latin typeface="Arial" panose="020B0604020202020204" pitchFamily="34" charset="0"/>
                <a:ea typeface="宋体" panose="02010600030101010101" pitchFamily="2" charset="-122"/>
                <a:cs typeface="Arial" panose="020B0604020202020204" pitchFamily="34" charset="0"/>
              </a:rPr>
              <a:t>A</a:t>
            </a:r>
          </a:p>
        </p:txBody>
      </p:sp>
    </p:spTree>
    <p:extLst>
      <p:ext uri="{BB962C8B-B14F-4D97-AF65-F5344CB8AC3E}">
        <p14:creationId xmlns:p14="http://schemas.microsoft.com/office/powerpoint/2010/main" val="108755485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267697" y="1822982"/>
            <a:ext cx="4304303" cy="3023068"/>
          </a:xfrm>
          <a:prstGeom prst="rect">
            <a:avLst/>
          </a:prstGeom>
          <a:noFill/>
        </p:spPr>
        <p:txBody>
          <a:bodyPr wrap="square" lIns="91436" tIns="45718" rIns="91436" bIns="45718" rtlCol="0">
            <a:spAutoFit/>
          </a:bodyPr>
          <a:lstStyle/>
          <a:p>
            <a:pPr>
              <a:lnSpc>
                <a:spcPct val="150000"/>
              </a:lnSpc>
              <a:spcBef>
                <a:spcPts val="672"/>
              </a:spcBef>
            </a:pPr>
            <a:r>
              <a:rPr lang="zh-CN" altLang="en-US" sz="2400" b="1" dirty="0">
                <a:latin typeface="Times New Roman" pitchFamily="18" charset="0"/>
                <a:ea typeface="宋体" panose="02010600030101010101" pitchFamily="2" charset="-122"/>
                <a:cs typeface="Times New Roman" pitchFamily="18" charset="0"/>
              </a:rPr>
              <a:t>单位时间内在垂直于射线前进方向的单位截面积上穿过的能量的大小，称为核辐射强度</a:t>
            </a: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endParaRPr lang="en-US" altLang="zh-CN" sz="2400" b="1" dirty="0">
              <a:latin typeface="Times New Roman" pitchFamily="18" charset="0"/>
              <a:ea typeface="宋体" pitchFamily="2" charset="-122"/>
              <a:cs typeface="Times New Roman" pitchFamily="18" charset="0"/>
            </a:endParaRPr>
          </a:p>
          <a:p>
            <a:pPr>
              <a:lnSpc>
                <a:spcPct val="150000"/>
              </a:lnSpc>
              <a:spcBef>
                <a:spcPts val="1800"/>
              </a:spcBef>
            </a:pPr>
            <a:r>
              <a:rPr lang="zh-CN" altLang="en-US" sz="2400" b="1" dirty="0">
                <a:latin typeface="Times New Roman" pitchFamily="18" charset="0"/>
                <a:ea typeface="宋体" panose="02010600030101010101" pitchFamily="2" charset="-122"/>
                <a:cs typeface="Times New Roman" pitchFamily="18" charset="0"/>
              </a:rPr>
              <a:t>一个点源照射在面积为</a:t>
            </a:r>
            <a:r>
              <a:rPr lang="en-US" altLang="zh-CN" sz="2400" b="1" i="1" dirty="0">
                <a:latin typeface="Times New Roman" pitchFamily="18" charset="0"/>
                <a:ea typeface="宋体" pitchFamily="2" charset="-122"/>
                <a:cs typeface="Times New Roman" pitchFamily="18" charset="0"/>
              </a:rPr>
              <a:t>S</a:t>
            </a:r>
            <a:r>
              <a:rPr lang="zh-CN" altLang="en-US" sz="2400" b="1" dirty="0">
                <a:latin typeface="Times New Roman" pitchFamily="18" charset="0"/>
                <a:ea typeface="宋体" panose="02010600030101010101" pitchFamily="2" charset="-122"/>
                <a:cs typeface="Times New Roman" pitchFamily="18" charset="0"/>
              </a:rPr>
              <a:t>的检测器上，其辐射强度</a:t>
            </a: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r>
              <a:rPr lang="zh-CN" altLang="en-US" sz="2400" b="1" dirty="0">
                <a:latin typeface="Times New Roman" pitchFamily="18" charset="0"/>
                <a:ea typeface="宋体" panose="02010600030101010101" pitchFamily="2" charset="-122"/>
                <a:cs typeface="Times New Roman" pitchFamily="18" charset="0"/>
              </a:rPr>
              <a:t>为</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8" name="矩形 7"/>
          <p:cNvSpPr/>
          <p:nvPr/>
        </p:nvSpPr>
        <p:spPr>
          <a:xfrm>
            <a:off x="267697" y="1237286"/>
            <a:ext cx="2887803" cy="461665"/>
          </a:xfrm>
          <a:prstGeom prst="rect">
            <a:avLst/>
          </a:prstGeom>
        </p:spPr>
        <p:txBody>
          <a:bodyPr wrap="square">
            <a:spAutoFit/>
          </a:bodyPr>
          <a:lstStyle/>
          <a:p>
            <a:pPr lvl="0">
              <a:spcBef>
                <a:spcPts val="672"/>
              </a:spcBef>
            </a:pPr>
            <a:r>
              <a:rPr lang="en-US" altLang="zh-CN" sz="2400" b="1" i="1" dirty="0">
                <a:solidFill>
                  <a:prstClr val="black"/>
                </a:solidFill>
                <a:latin typeface="Arial" panose="020B0604020202020204" pitchFamily="34" charset="0"/>
                <a:ea typeface="宋体" panose="02010600030101010101" pitchFamily="2" charset="-122"/>
                <a:cs typeface="Arial" panose="020B0604020202020204" pitchFamily="34" charset="0"/>
              </a:rPr>
              <a:t>2</a:t>
            </a:r>
            <a:r>
              <a:rPr lang="zh-CN" altLang="en-US" sz="2400" b="1" i="1" dirty="0">
                <a:solidFill>
                  <a:prstClr val="black"/>
                </a:solidFill>
                <a:latin typeface="Arial" panose="020B0604020202020204" pitchFamily="34" charset="0"/>
                <a:ea typeface="宋体" panose="02010600030101010101" pitchFamily="2" charset="-122"/>
                <a:cs typeface="Arial" panose="020B0604020202020204" pitchFamily="34" charset="0"/>
              </a:rPr>
              <a:t>．</a:t>
            </a:r>
            <a:r>
              <a:rPr lang="zh-CN" altLang="en-US" sz="2400" b="1" dirty="0">
                <a:solidFill>
                  <a:prstClr val="black"/>
                </a:solidFill>
                <a:latin typeface="宋体" panose="02010600030101010101" pitchFamily="2" charset="-122"/>
                <a:ea typeface="宋体" panose="02010600030101010101" pitchFamily="2" charset="-122"/>
              </a:rPr>
              <a:t>核辐射强度</a:t>
            </a:r>
            <a:r>
              <a:rPr lang="en-US" altLang="zh-CN" sz="2400" b="1" i="1" dirty="0">
                <a:solidFill>
                  <a:prstClr val="black"/>
                </a:solidFill>
                <a:latin typeface="Times New Roman" pitchFamily="18" charset="0"/>
                <a:ea typeface="宋体" panose="02010600030101010101" pitchFamily="2" charset="-122"/>
                <a:cs typeface="Times New Roman" pitchFamily="18" charset="0"/>
              </a:rPr>
              <a:t>J</a:t>
            </a:r>
          </a:p>
        </p:txBody>
      </p:sp>
      <mc:AlternateContent xmlns:mc="http://schemas.openxmlformats.org/markup-compatibility/2006" xmlns:a14="http://schemas.microsoft.com/office/drawing/2010/main">
        <mc:Choice Requires="a14">
          <p:sp>
            <p:nvSpPr>
              <p:cNvPr id="9" name="矩形 8"/>
              <p:cNvSpPr/>
              <p:nvPr/>
            </p:nvSpPr>
            <p:spPr>
              <a:xfrm>
                <a:off x="721372" y="5175303"/>
                <a:ext cx="2434128" cy="890821"/>
              </a:xfrm>
              <a:prstGeom prst="rect">
                <a:avLst/>
              </a:prstGeom>
            </p:spPr>
            <p:style>
              <a:lnRef idx="0">
                <a:schemeClr val="accent6"/>
              </a:lnRef>
              <a:fillRef idx="3">
                <a:schemeClr val="accent6"/>
              </a:fillRef>
              <a:effectRef idx="3">
                <a:schemeClr val="accent6"/>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r>
                        <a:rPr lang="en-US" altLang="zh-CN" sz="2400" i="1">
                          <a:latin typeface="Cambria Math" panose="02040503050406030204" pitchFamily="18" charset="0"/>
                        </a:rPr>
                        <m:t>=</m:t>
                      </m:r>
                      <m:r>
                        <a:rPr lang="en-US" altLang="zh-CN" sz="2400" i="1">
                          <a:latin typeface="Cambria Math" panose="02040503050406030204" pitchFamily="18" charset="0"/>
                        </a:rPr>
                        <m:t>𝐴</m:t>
                      </m:r>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𝐾𝑆</m:t>
                          </m:r>
                        </m:num>
                        <m:den>
                          <m:r>
                            <a:rPr lang="en-US" altLang="zh-CN" sz="2400" i="1">
                              <a:latin typeface="Cambria Math" panose="02040503050406030204" pitchFamily="18" charset="0"/>
                            </a:rPr>
                            <m:t>4</m:t>
                          </m:r>
                          <m:r>
                            <a:rPr lang="en-US" altLang="zh-CN" sz="2400" i="1">
                              <a:latin typeface="Cambria Math" panose="02040503050406030204" pitchFamily="18" charset="0"/>
                            </a:rPr>
                            <m:t>𝜋</m:t>
                          </m:r>
                          <m:sSubSup>
                            <m:sSubSupPr>
                              <m:ctrlPr>
                                <a:rPr lang="zh-CN" altLang="zh-CN" sz="2400" i="1">
                                  <a:latin typeface="Cambria Math" panose="02040503050406030204" pitchFamily="18" charset="0"/>
                                </a:rPr>
                              </m:ctrlPr>
                            </m:sSubSupPr>
                            <m:e>
                              <m:r>
                                <a:rPr lang="en-US" altLang="zh-CN" sz="2400" i="1">
                                  <a:latin typeface="Cambria Math" panose="02040503050406030204" pitchFamily="18" charset="0"/>
                                </a:rPr>
                                <m:t>𝑟</m:t>
                              </m:r>
                            </m:e>
                            <m:sub>
                              <m:r>
                                <a:rPr lang="en-US" altLang="zh-CN" sz="2400" i="1">
                                  <a:latin typeface="Cambria Math" panose="02040503050406030204" pitchFamily="18" charset="0"/>
                                </a:rPr>
                                <m:t>0</m:t>
                              </m:r>
                            </m:sub>
                            <m:sup>
                              <m:r>
                                <a:rPr lang="en-US" altLang="zh-CN" sz="2400" i="1">
                                  <a:latin typeface="Cambria Math" panose="02040503050406030204" pitchFamily="18" charset="0"/>
                                </a:rPr>
                                <m:t>2</m:t>
                              </m:r>
                            </m:sup>
                          </m:sSubSup>
                        </m:den>
                      </m:f>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721372" y="5175303"/>
                <a:ext cx="2434128" cy="890821"/>
              </a:xfrm>
              <a:prstGeom prst="rect">
                <a:avLst/>
              </a:prstGeom>
              <a:blipFill>
                <a:blip r:embed="rId3"/>
                <a:stretch>
                  <a:fillRect/>
                </a:stretch>
              </a:blipFill>
            </p:spPr>
            <p:txBody>
              <a:bodyPr/>
              <a:lstStyle/>
              <a:p>
                <a:r>
                  <a:rPr lang="en-US">
                    <a:noFill/>
                  </a:rPr>
                  <a:t> </a:t>
                </a:r>
              </a:p>
            </p:txBody>
          </p:sp>
        </mc:Fallback>
      </mc:AlternateContent>
      <p:sp>
        <p:nvSpPr>
          <p:cNvPr id="21" name="文本框 4">
            <a:extLst>
              <a:ext uri="{FF2B5EF4-FFF2-40B4-BE49-F238E27FC236}">
                <a16:creationId xmlns:a16="http://schemas.microsoft.com/office/drawing/2014/main" id="{62FA5FEF-2659-4448-86D9-DD8AB5791BDF}"/>
              </a:ext>
            </a:extLst>
          </p:cNvPr>
          <p:cNvSpPr txBox="1"/>
          <p:nvPr/>
        </p:nvSpPr>
        <p:spPr>
          <a:xfrm>
            <a:off x="4804108" y="1953835"/>
            <a:ext cx="4225596" cy="2803905"/>
          </a:xfrm>
          <a:prstGeom prst="rect">
            <a:avLst/>
          </a:prstGeom>
          <a:noFill/>
        </p:spPr>
        <p:txBody>
          <a:bodyPr wrap="square" lIns="91436" tIns="45718" rIns="91436" bIns="45718" rtlCol="0">
            <a:spAutoFit/>
          </a:bodyPr>
          <a:lstStyle/>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r</a:t>
            </a:r>
            <a:r>
              <a:rPr lang="en-US" altLang="zh-CN" sz="2000" b="1" baseline="-25000" dirty="0">
                <a:latin typeface="Times New Roman" pitchFamily="18" charset="0"/>
                <a:ea typeface="宋体" panose="02010600030101010101" pitchFamily="2" charset="-122"/>
                <a:cs typeface="Times New Roman" pitchFamily="18" charset="0"/>
              </a:rPr>
              <a:t>0</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辐射源到检测器之间的距离；</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A</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源强度；</a:t>
            </a:r>
          </a:p>
          <a:p>
            <a:pPr marL="981075" indent="-981075">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C</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在源强度为</a:t>
            </a:r>
            <a:r>
              <a:rPr lang="en-US" altLang="zh-CN" sz="2000" b="1" dirty="0">
                <a:latin typeface="Times New Roman" pitchFamily="18" charset="0"/>
                <a:ea typeface="宋体" pitchFamily="2" charset="-122"/>
                <a:cs typeface="Times New Roman" pitchFamily="18" charset="0"/>
              </a:rPr>
              <a:t>1</a:t>
            </a:r>
            <a:r>
              <a:rPr lang="zh-CN" altLang="en-US" sz="2000" b="1" dirty="0">
                <a:latin typeface="Times New Roman" pitchFamily="18" charset="0"/>
                <a:ea typeface="宋体" panose="02010600030101010101" pitchFamily="2" charset="-122"/>
                <a:cs typeface="Times New Roman" pitchFamily="18" charset="0"/>
              </a:rPr>
              <a:t>居里时，每秒放射出的粒子数；</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K</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次裂变放射出的射线数；  </a:t>
            </a:r>
          </a:p>
          <a:p>
            <a:pPr>
              <a:lnSpc>
                <a:spcPct val="150000"/>
              </a:lnSpc>
            </a:pPr>
            <a:r>
              <a:rPr lang="zh-CN" altLang="en-US"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itchFamily="2" charset="-122"/>
                <a:cs typeface="Times New Roman" pitchFamily="18" charset="0"/>
              </a:rPr>
              <a:t>S</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检测器的工作面积。</a:t>
            </a:r>
          </a:p>
        </p:txBody>
      </p:sp>
      <mc:AlternateContent xmlns:mc="http://schemas.openxmlformats.org/markup-compatibility/2006" xmlns:a14="http://schemas.microsoft.com/office/drawing/2010/main">
        <mc:Choice Requires="a14">
          <p:sp>
            <p:nvSpPr>
              <p:cNvPr id="26" name="文本框 5">
                <a:extLst>
                  <a:ext uri="{FF2B5EF4-FFF2-40B4-BE49-F238E27FC236}">
                    <a16:creationId xmlns:a16="http://schemas.microsoft.com/office/drawing/2014/main" id="{44D28DC8-C8F4-45D5-861B-76BEDA1058A4}"/>
                  </a:ext>
                </a:extLst>
              </p:cNvPr>
              <p:cNvSpPr txBox="1"/>
              <p:nvPr/>
            </p:nvSpPr>
            <p:spPr>
              <a:xfrm>
                <a:off x="4383157" y="4995369"/>
                <a:ext cx="4872368" cy="1508999"/>
              </a:xfrm>
              <a:prstGeom prst="rect">
                <a:avLst/>
              </a:prstGeom>
              <a:noFill/>
            </p:spPr>
            <p:txBody>
              <a:bodyPr wrap="square" lIns="91436" tIns="45718" rIns="91436" bIns="45718" rtlCol="0">
                <a:spAutoFit/>
              </a:bodyPr>
              <a:lstStyle/>
              <a:p>
                <a:pPr>
                  <a:spcBef>
                    <a:spcPts val="672"/>
                  </a:spcBef>
                </a:pPr>
                <a:r>
                  <a:rPr lang="zh-CN" altLang="en-US" sz="2000" b="1" dirty="0">
                    <a:latin typeface="Times New Roman" pitchFamily="18" charset="0"/>
                    <a:ea typeface="宋体" panose="02010600030101010101" pitchFamily="2" charset="-122"/>
                    <a:cs typeface="Times New Roman" pitchFamily="18" charset="0"/>
                  </a:rPr>
                  <a:t>如果知道粒子的能量，则辐射强度的计算公式为</a:t>
                </a:r>
              </a:p>
              <a:p>
                <a:pPr>
                  <a:spcBef>
                    <a:spcPts val="672"/>
                  </a:spcBef>
                </a:pPr>
                <a:r>
                  <a:rPr lang="en-US" altLang="zh-CN" sz="2000" b="1" i="1" dirty="0">
                    <a:latin typeface="Times New Roman" pitchFamily="18" charset="0"/>
                    <a:ea typeface="宋体" panose="02010600030101010101" pitchFamily="2" charset="-122"/>
                    <a:cs typeface="Times New Roman" pitchFamily="18" charset="0"/>
                  </a:rPr>
                  <a:t>J</a:t>
                </a:r>
                <a:r>
                  <a:rPr lang="en-US" altLang="zh-CN" sz="2000" b="1" baseline="-25000" dirty="0">
                    <a:latin typeface="Times New Roman" pitchFamily="18" charset="0"/>
                    <a:ea typeface="宋体" panose="02010600030101010101" pitchFamily="2" charset="-122"/>
                    <a:cs typeface="Times New Roman" pitchFamily="18" charset="0"/>
                  </a:rPr>
                  <a:t>0</a:t>
                </a:r>
                <a:r>
                  <a:rPr lang="en-US" altLang="zh-CN" sz="2000" b="1" dirty="0">
                    <a:latin typeface="Times New Roman" pitchFamily="18" charset="0"/>
                    <a:ea typeface="宋体" panose="02010600030101010101" pitchFamily="2" charset="-122"/>
                    <a:cs typeface="Times New Roman" pitchFamily="18" charset="0"/>
                  </a:rPr>
                  <a:t> =</a:t>
                </a:r>
                <a:r>
                  <a:rPr lang="en-US" altLang="zh-CN" sz="2000" b="1" i="1" dirty="0">
                    <a:latin typeface="Times New Roman" pitchFamily="18" charset="0"/>
                    <a:ea typeface="宋体" panose="02010600030101010101" pitchFamily="2" charset="-122"/>
                    <a:cs typeface="Times New Roman" pitchFamily="18" charset="0"/>
                  </a:rPr>
                  <a:t>A</a:t>
                </a:r>
                <a:r>
                  <a:rPr lang="en-US" altLang="zh-CN" sz="2000" b="1" dirty="0">
                    <a:latin typeface="Times New Roman" pitchFamily="18" charset="0"/>
                    <a:ea typeface="宋体" panose="02010600030101010101" pitchFamily="2" charset="-122"/>
                    <a:cs typeface="Times New Roman" pitchFamily="18" charset="0"/>
                  </a:rPr>
                  <a:t>×</a:t>
                </a:r>
                <a:r>
                  <a:rPr lang="en-US" altLang="zh-CN" sz="2000" b="1" i="1" dirty="0">
                    <a:latin typeface="Times New Roman" pitchFamily="18" charset="0"/>
                    <a:ea typeface="宋体" panose="02010600030101010101" pitchFamily="2" charset="-122"/>
                    <a:cs typeface="Times New Roman" pitchFamily="18" charset="0"/>
                  </a:rPr>
                  <a:t>C</a:t>
                </a:r>
                <a:r>
                  <a:rPr lang="en-US" altLang="zh-CN" sz="2000" b="1" dirty="0">
                    <a:latin typeface="Times New Roman" pitchFamily="18" charset="0"/>
                    <a:ea typeface="宋体" panose="02010600030101010101" pitchFamily="2" charset="-122"/>
                    <a:cs typeface="Times New Roman" pitchFamily="18" charset="0"/>
                  </a:rPr>
                  <a:t>×</a:t>
                </a:r>
                <a:r>
                  <a:rPr lang="en-US" altLang="zh-CN" sz="2000" b="1" i="1" dirty="0">
                    <a:latin typeface="Times New Roman" pitchFamily="18" charset="0"/>
                    <a:ea typeface="宋体" panose="02010600030101010101" pitchFamily="2" charset="-122"/>
                    <a:cs typeface="Times New Roman" pitchFamily="18" charset="0"/>
                  </a:rPr>
                  <a:t>E</a:t>
                </a:r>
                <a:r>
                  <a:rPr lang="en-US" altLang="zh-CN" sz="2000" b="1" dirty="0">
                    <a:latin typeface="Times New Roman" pitchFamily="18" charset="0"/>
                    <a:ea typeface="宋体" panose="02010600030101010101" pitchFamily="2" charset="-122"/>
                    <a:cs typeface="Times New Roman" pitchFamily="18" charset="0"/>
                  </a:rPr>
                  <a:t>×1.6</a:t>
                </a:r>
                <a:r>
                  <a:rPr lang="en-US" altLang="zh-CN" sz="2000" dirty="0">
                    <a:latin typeface="Times New Roman" pitchFamily="18" charset="0"/>
                    <a:ea typeface="宋体" panose="02010600030101010101" pitchFamily="2" charset="-122"/>
                    <a:cs typeface="Times New Roman" pitchFamily="18" charset="0"/>
                  </a:rPr>
                  <a:t>×</a:t>
                </a:r>
                <a:r>
                  <a:rPr lang="en-US" altLang="zh-CN" sz="2000" b="1" dirty="0">
                    <a:latin typeface="Times New Roman" pitchFamily="18" charset="0"/>
                    <a:ea typeface="宋体" panose="02010600030101010101" pitchFamily="2" charset="-122"/>
                    <a:cs typeface="Times New Roman" pitchFamily="18" charset="0"/>
                  </a:rPr>
                  <a:t> 10</a:t>
                </a:r>
                <a:r>
                  <a:rPr lang="en-US" altLang="zh-CN" sz="2000" b="1" baseline="30000" dirty="0">
                    <a:latin typeface="Times New Roman" pitchFamily="18" charset="0"/>
                    <a:ea typeface="宋体" panose="02010600030101010101" pitchFamily="2" charset="-122"/>
                    <a:cs typeface="Times New Roman" pitchFamily="18" charset="0"/>
                  </a:rPr>
                  <a:t>-13 </a:t>
                </a:r>
                <a:r>
                  <a:rPr lang="en-US" altLang="zh-CN" sz="2000" dirty="0">
                    <a:latin typeface="Times New Roman" pitchFamily="18" charset="0"/>
                    <a:ea typeface="宋体" panose="02010600030101010101" pitchFamily="2" charset="-122"/>
                    <a:cs typeface="Times New Roman" pitchFamily="18" charset="0"/>
                  </a:rPr>
                  <a:t>/</a:t>
                </a:r>
                <a14:m>
                  <m:oMath xmlns:m="http://schemas.openxmlformats.org/officeDocument/2006/math">
                    <m:r>
                      <a:rPr lang="en-US" altLang="zh-CN" sz="2000" i="1">
                        <a:latin typeface="Cambria Math" panose="02040503050406030204" pitchFamily="18" charset="0"/>
                      </a:rPr>
                      <m:t>4</m:t>
                    </m:r>
                    <m:r>
                      <a:rPr lang="en-US" altLang="zh-CN" sz="2000" i="1">
                        <a:latin typeface="Cambria Math" panose="02040503050406030204" pitchFamily="18" charset="0"/>
                      </a:rPr>
                      <m:t>𝜋</m:t>
                    </m:r>
                    <m:sSubSup>
                      <m:sSubSupPr>
                        <m:ctrlPr>
                          <a:rPr lang="zh-CN" altLang="zh-CN" sz="2000" i="1">
                            <a:latin typeface="Cambria Math" panose="02040503050406030204" pitchFamily="18" charset="0"/>
                          </a:rPr>
                        </m:ctrlPr>
                      </m:sSubSupPr>
                      <m:e>
                        <m:r>
                          <a:rPr lang="en-US" altLang="zh-CN" sz="2000" i="1">
                            <a:latin typeface="Cambria Math" panose="02040503050406030204" pitchFamily="18" charset="0"/>
                          </a:rPr>
                          <m:t>𝑟</m:t>
                        </m:r>
                      </m:e>
                      <m:sub>
                        <m:r>
                          <a:rPr lang="en-US" altLang="zh-CN" sz="2000" i="1">
                            <a:latin typeface="Cambria Math" panose="02040503050406030204" pitchFamily="18" charset="0"/>
                          </a:rPr>
                          <m:t>0</m:t>
                        </m:r>
                      </m:sub>
                      <m:sup>
                        <m:r>
                          <a:rPr lang="en-US" altLang="zh-CN" sz="2000" i="1">
                            <a:latin typeface="Cambria Math" panose="02040503050406030204" pitchFamily="18" charset="0"/>
                          </a:rPr>
                          <m:t>2</m:t>
                        </m:r>
                      </m:sup>
                    </m:sSubSup>
                    <m:r>
                      <a:rPr lang="en-US" altLang="zh-CN" sz="2000" i="1">
                        <a:latin typeface="Cambria Math" panose="02040503050406030204" pitchFamily="18" charset="0"/>
                      </a:rPr>
                      <m:t> </m:t>
                    </m:r>
                  </m:oMath>
                </a14:m>
                <a:r>
                  <a:rPr lang="en-US" altLang="zh-CN" sz="2000" dirty="0">
                    <a:latin typeface="Times New Roman" pitchFamily="18" charset="0"/>
                    <a:ea typeface="宋体" panose="02010600030101010101" pitchFamily="2" charset="-122"/>
                    <a:cs typeface="Times New Roman" pitchFamily="18" charset="0"/>
                  </a:rPr>
                  <a:t>(</a:t>
                </a:r>
                <a:r>
                  <a:rPr lang="en-US" altLang="zh-CN" sz="2000" b="1" dirty="0">
                    <a:latin typeface="Times New Roman" pitchFamily="18" charset="0"/>
                    <a:ea typeface="宋体" panose="02010600030101010101" pitchFamily="2" charset="-122"/>
                    <a:cs typeface="Times New Roman" pitchFamily="18" charset="0"/>
                  </a:rPr>
                  <a:t>W/m</a:t>
                </a:r>
                <a:r>
                  <a:rPr lang="en-US" altLang="zh-CN" sz="2000" b="1" baseline="30000" dirty="0">
                    <a:latin typeface="Times New Roman" pitchFamily="18" charset="0"/>
                    <a:ea typeface="宋体" panose="02010600030101010101" pitchFamily="2" charset="-122"/>
                    <a:cs typeface="Times New Roman" pitchFamily="18" charset="0"/>
                  </a:rPr>
                  <a:t>2</a:t>
                </a:r>
                <a:r>
                  <a:rPr lang="en-US" altLang="zh-CN" sz="2000" dirty="0">
                    <a:latin typeface="Times New Roman" pitchFamily="18" charset="0"/>
                    <a:ea typeface="宋体" panose="02010600030101010101" pitchFamily="2" charset="-122"/>
                    <a:cs typeface="Times New Roman" pitchFamily="18" charset="0"/>
                  </a:rPr>
                  <a:t>) </a:t>
                </a:r>
              </a:p>
              <a:p>
                <a:pPr>
                  <a:spcBef>
                    <a:spcPts val="672"/>
                  </a:spcBef>
                </a:pPr>
                <a:r>
                  <a:rPr lang="en-US" altLang="zh-CN" sz="2000" b="1" i="1" dirty="0">
                    <a:latin typeface="Times New Roman" pitchFamily="18" charset="0"/>
                    <a:ea typeface="宋体" panose="02010600030101010101" pitchFamily="2" charset="-122"/>
                    <a:cs typeface="Times New Roman" pitchFamily="18" charset="0"/>
                  </a:rPr>
                  <a:t>E</a:t>
                </a:r>
                <a:r>
                  <a:rPr lang="en-US" altLang="zh-CN" sz="2000" b="1" dirty="0">
                    <a:latin typeface="Times New Roman" pitchFamily="18" charset="0"/>
                    <a:ea typeface="宋体" panose="02010600030101010101" pitchFamily="2" charset="-122"/>
                    <a:cs typeface="Times New Roman" pitchFamily="18" charset="0"/>
                  </a:rPr>
                  <a:t> ━ </a:t>
                </a:r>
                <a:r>
                  <a:rPr lang="zh-CN" altLang="en-US" sz="2000" b="1" dirty="0">
                    <a:latin typeface="Times New Roman" pitchFamily="18" charset="0"/>
                    <a:ea typeface="宋体" panose="02010600030101010101" pitchFamily="2" charset="-122"/>
                    <a:cs typeface="Times New Roman" pitchFamily="18" charset="0"/>
                  </a:rPr>
                  <a:t>粒子的能量</a:t>
                </a:r>
                <a:r>
                  <a:rPr lang="en-US" altLang="zh-CN" sz="2000" b="1" dirty="0">
                    <a:latin typeface="Times New Roman" pitchFamily="18" charset="0"/>
                    <a:ea typeface="宋体" panose="02010600030101010101" pitchFamily="2" charset="-122"/>
                    <a:cs typeface="Times New Roman" pitchFamily="18" charset="0"/>
                  </a:rPr>
                  <a:t>(MeV) </a:t>
                </a:r>
              </a:p>
            </p:txBody>
          </p:sp>
        </mc:Choice>
        <mc:Fallback xmlns="">
          <p:sp>
            <p:nvSpPr>
              <p:cNvPr id="26" name="文本框 5">
                <a:extLst>
                  <a:ext uri="{FF2B5EF4-FFF2-40B4-BE49-F238E27FC236}">
                    <a16:creationId xmlns:a16="http://schemas.microsoft.com/office/drawing/2014/main" id="{44D28DC8-C8F4-45D5-861B-76BEDA1058A4}"/>
                  </a:ext>
                </a:extLst>
              </p:cNvPr>
              <p:cNvSpPr txBox="1">
                <a:spLocks noRot="1" noChangeAspect="1" noMove="1" noResize="1" noEditPoints="1" noAdjustHandles="1" noChangeArrowheads="1" noChangeShapeType="1" noTextEdit="1"/>
              </p:cNvSpPr>
              <p:nvPr/>
            </p:nvSpPr>
            <p:spPr>
              <a:xfrm>
                <a:off x="4383157" y="4995369"/>
                <a:ext cx="4872368" cy="1508999"/>
              </a:xfrm>
              <a:prstGeom prst="rect">
                <a:avLst/>
              </a:prstGeom>
              <a:blipFill>
                <a:blip r:embed="rId4"/>
                <a:stretch>
                  <a:fillRect l="-1039" t="-1667" b="-6667"/>
                </a:stretch>
              </a:blipFill>
            </p:spPr>
            <p:txBody>
              <a:bodyPr/>
              <a:lstStyle/>
              <a:p>
                <a:r>
                  <a:rPr lang="en-US">
                    <a:noFill/>
                  </a:rPr>
                  <a:t> </a:t>
                </a:r>
              </a:p>
            </p:txBody>
          </p:sp>
        </mc:Fallback>
      </mc:AlternateContent>
    </p:spTree>
    <p:extLst>
      <p:ext uri="{BB962C8B-B14F-4D97-AF65-F5344CB8AC3E}">
        <p14:creationId xmlns:p14="http://schemas.microsoft.com/office/powerpoint/2010/main" val="312793696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584723" y="2337211"/>
            <a:ext cx="7745953" cy="3293205"/>
          </a:xfrm>
          <a:prstGeom prst="rect">
            <a:avLst/>
          </a:prstGeom>
          <a:noFill/>
        </p:spPr>
        <p:txBody>
          <a:bodyPr wrap="square" lIns="91436" tIns="45718" rIns="91436" bIns="45718" rtlCol="0">
            <a:spAutoFit/>
          </a:bodyPr>
          <a:lstStyle/>
          <a:p>
            <a:pPr>
              <a:spcBef>
                <a:spcPts val="672"/>
              </a:spcBef>
            </a:pPr>
            <a:r>
              <a:rPr lang="en-US" altLang="zh-CN" sz="2400" b="1" dirty="0">
                <a:solidFill>
                  <a:srgbClr val="C00000"/>
                </a:solidFill>
                <a:latin typeface="Times New Roman" pitchFamily="18" charset="0"/>
                <a:ea typeface="宋体" panose="02010600030101010101" pitchFamily="2" charset="-122"/>
                <a:cs typeface="Times New Roman" pitchFamily="18" charset="0"/>
              </a:rPr>
              <a:t>1</a:t>
            </a:r>
            <a:r>
              <a:rPr lang="zh-CN" altLang="en-US" sz="2400" b="1" dirty="0">
                <a:solidFill>
                  <a:srgbClr val="C00000"/>
                </a:solidFill>
                <a:latin typeface="Times New Roman" pitchFamily="18" charset="0"/>
                <a:ea typeface="宋体" panose="02010600030101010101" pitchFamily="2" charset="-122"/>
                <a:cs typeface="Times New Roman" pitchFamily="18" charset="0"/>
              </a:rPr>
              <a:t>．电离作用</a:t>
            </a:r>
            <a:r>
              <a:rPr lang="zh-CN" altLang="en-US" sz="2400" b="1" dirty="0">
                <a:latin typeface="Times New Roman" pitchFamily="18" charset="0"/>
                <a:ea typeface="宋体" panose="02010600030101010101" pitchFamily="2" charset="-122"/>
                <a:cs typeface="Times New Roman" pitchFamily="18" charset="0"/>
              </a:rPr>
              <a:t>： 带电粒子和物质互相作用的主要形式。</a:t>
            </a:r>
          </a:p>
          <a:p>
            <a:pPr indent="628650">
              <a:spcBef>
                <a:spcPts val="1200"/>
              </a:spcBef>
            </a:pPr>
            <a:r>
              <a:rPr lang="zh-CN" altLang="en-US" sz="2400" b="1" dirty="0">
                <a:latin typeface="Times New Roman" pitchFamily="18" charset="0"/>
                <a:ea typeface="宋体" panose="02010600030101010101" pitchFamily="2" charset="-122"/>
                <a:cs typeface="Times New Roman" pitchFamily="18" charset="0"/>
              </a:rPr>
              <a:t>射程：</a:t>
            </a:r>
            <a:r>
              <a:rPr lang="zh-CN" altLang="en-US" sz="2400" b="1" dirty="0">
                <a:solidFill>
                  <a:srgbClr val="C00000"/>
                </a:solidFill>
                <a:latin typeface="Times New Roman" pitchFamily="18" charset="0"/>
                <a:ea typeface="宋体" panose="02010600030101010101" pitchFamily="2" charset="-122"/>
                <a:cs typeface="Times New Roman" pitchFamily="18" charset="0"/>
              </a:rPr>
              <a:t>带电粒子在物质中穿行时其能量逐渐耗尽而停止运动，其穿行的一段直线距离叫粒子的射程。</a:t>
            </a:r>
            <a:endParaRPr lang="en-US" altLang="zh-CN" sz="2400" b="1" dirty="0">
              <a:solidFill>
                <a:srgbClr val="C00000"/>
              </a:solidFill>
              <a:latin typeface="Times New Roman" pitchFamily="18" charset="0"/>
              <a:ea typeface="宋体" panose="02010600030101010101" pitchFamily="2" charset="-122"/>
              <a:cs typeface="Times New Roman" pitchFamily="18" charset="0"/>
            </a:endParaRP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α</a:t>
            </a:r>
            <a:r>
              <a:rPr lang="zh-CN" altLang="en-US" sz="2400" b="1" dirty="0">
                <a:latin typeface="Times New Roman" pitchFamily="18" charset="0"/>
                <a:ea typeface="宋体" panose="02010600030101010101" pitchFamily="2" charset="-122"/>
                <a:cs typeface="Times New Roman" pitchFamily="18" charset="0"/>
              </a:rPr>
              <a:t>粒子质量大，电荷也大，在物质中引起很强的电离，射程很短。</a:t>
            </a: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β</a:t>
            </a:r>
            <a:r>
              <a:rPr lang="zh-CN" altLang="en-US" sz="2400" b="1" dirty="0">
                <a:latin typeface="Times New Roman" pitchFamily="18" charset="0"/>
                <a:ea typeface="宋体" panose="02010600030101010101" pitchFamily="2" charset="-122"/>
                <a:cs typeface="Times New Roman" pitchFamily="18" charset="0"/>
              </a:rPr>
              <a:t>粒子质量小，其电离能力比同样能量的</a:t>
            </a:r>
            <a:r>
              <a:rPr lang="en-US" altLang="zh-CN" sz="2400" b="1" i="1" dirty="0">
                <a:latin typeface="Times New Roman" pitchFamily="18" charset="0"/>
                <a:ea typeface="宋体" panose="02010600030101010101" pitchFamily="2" charset="-122"/>
                <a:cs typeface="Times New Roman" pitchFamily="18" charset="0"/>
              </a:rPr>
              <a:t>α</a:t>
            </a:r>
            <a:r>
              <a:rPr lang="zh-CN" altLang="en-US" sz="2400" b="1" dirty="0">
                <a:latin typeface="Times New Roman" pitchFamily="18" charset="0"/>
                <a:ea typeface="宋体" panose="02010600030101010101" pitchFamily="2" charset="-122"/>
                <a:cs typeface="Times New Roman" pitchFamily="18" charset="0"/>
              </a:rPr>
              <a:t>粒子要弱。</a:t>
            </a:r>
          </a:p>
          <a:p>
            <a:pPr indent="628650">
              <a:spcBef>
                <a:spcPts val="1200"/>
              </a:spcBef>
            </a:pPr>
            <a:r>
              <a:rPr lang="en-US" altLang="zh-CN" sz="2400" b="1" i="1" dirty="0">
                <a:latin typeface="Times New Roman" pitchFamily="18" charset="0"/>
                <a:ea typeface="宋体" panose="02010600030101010101" pitchFamily="2" charset="-122"/>
                <a:cs typeface="Times New Roman" pitchFamily="18" charset="0"/>
              </a:rPr>
              <a:t>γ</a:t>
            </a:r>
            <a:r>
              <a:rPr lang="zh-CN" altLang="en-US" sz="2400" b="1" dirty="0">
                <a:latin typeface="Times New Roman" pitchFamily="18" charset="0"/>
                <a:ea typeface="宋体" panose="02010600030101010101" pitchFamily="2" charset="-122"/>
                <a:cs typeface="Times New Roman" pitchFamily="18" charset="0"/>
              </a:rPr>
              <a:t>光子电离的能力就更小了。</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41" name="圆角矩形 4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7" name="矩形 6"/>
          <p:cNvSpPr/>
          <p:nvPr/>
        </p:nvSpPr>
        <p:spPr>
          <a:xfrm>
            <a:off x="584723" y="1394383"/>
            <a:ext cx="5706747" cy="523220"/>
          </a:xfrm>
          <a:prstGeom prst="rect">
            <a:avLst/>
          </a:prstGeom>
        </p:spPr>
        <p:txBody>
          <a:bodyPr wrap="square">
            <a:spAutoFit/>
          </a:bodyPr>
          <a:lstStyle/>
          <a:p>
            <a:r>
              <a:rPr lang="zh-CN" altLang="en-US" sz="2800" b="1" dirty="0">
                <a:solidFill>
                  <a:prstClr val="black"/>
                </a:solidFill>
                <a:latin typeface="宋体" panose="02010600030101010101" pitchFamily="2" charset="-122"/>
                <a:ea typeface="宋体" panose="02010600030101010101" pitchFamily="2" charset="-122"/>
              </a:rPr>
              <a:t>二、核辐射线与物质的相互作用</a:t>
            </a:r>
            <a:endParaRPr lang="zh-CN" altLang="en-US" dirty="0"/>
          </a:p>
        </p:txBody>
      </p:sp>
    </p:spTree>
    <p:extLst>
      <p:ext uri="{BB962C8B-B14F-4D97-AF65-F5344CB8AC3E}">
        <p14:creationId xmlns:p14="http://schemas.microsoft.com/office/powerpoint/2010/main" val="18338652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825164" y="1124623"/>
            <a:ext cx="7839637" cy="1774008"/>
          </a:xfrm>
          <a:prstGeom prst="rect">
            <a:avLst/>
          </a:prstGeom>
          <a:noFill/>
        </p:spPr>
        <p:txBody>
          <a:bodyPr wrap="square" lIns="91436" tIns="45718" rIns="91436" bIns="45718" rtlCol="0">
            <a:spAutoFit/>
          </a:bodyPr>
          <a:lstStyle/>
          <a:p>
            <a:pPr marL="457200" indent="-457200">
              <a:lnSpc>
                <a:spcPct val="150000"/>
              </a:lnSpc>
              <a:spcBef>
                <a:spcPts val="672"/>
              </a:spcBef>
              <a:buAutoNum type="arabicPeriod"/>
            </a:pPr>
            <a:r>
              <a:rPr lang="zh-CN" altLang="en-US" sz="2400" b="1" dirty="0">
                <a:latin typeface="宋体" panose="02010600030101010101" pitchFamily="2" charset="-122"/>
                <a:ea typeface="宋体" panose="02010600030101010101" pitchFamily="2" charset="-122"/>
              </a:rPr>
              <a:t>电离作用</a:t>
            </a:r>
            <a:endParaRPr lang="en-US" altLang="zh-CN" sz="2400" b="1" dirty="0">
              <a:latin typeface="宋体" panose="02010600030101010101" pitchFamily="2" charset="-122"/>
              <a:ea typeface="宋体" panose="02010600030101010101" pitchFamily="2" charset="-122"/>
            </a:endParaRPr>
          </a:p>
          <a:p>
            <a:pPr>
              <a:lnSpc>
                <a:spcPct val="150000"/>
              </a:lnSpc>
              <a:spcBef>
                <a:spcPts val="672"/>
              </a:spcBef>
            </a:pPr>
            <a:r>
              <a:rPr lang="zh-CN" altLang="en-US" sz="2400" b="1" dirty="0">
                <a:latin typeface="宋体" panose="02010600030101010101" pitchFamily="2" charset="-122"/>
                <a:ea typeface="宋体" panose="02010600030101010101" pitchFamily="2" charset="-122"/>
              </a:rPr>
              <a:t>   在辐射线的电离作用下，每秒产生的离子对的总数，也就是离子对的形成频率</a:t>
            </a:r>
            <a:r>
              <a:rPr lang="en-US" altLang="zh-CN" sz="2400" b="1" i="1" dirty="0" err="1">
                <a:latin typeface="Times New Roman" pitchFamily="18" charset="0"/>
                <a:ea typeface="宋体" panose="02010600030101010101" pitchFamily="2" charset="-122"/>
                <a:cs typeface="Times New Roman" pitchFamily="18" charset="0"/>
              </a:rPr>
              <a:t>f</a:t>
            </a:r>
            <a:r>
              <a:rPr lang="en-US" altLang="zh-CN" sz="2400" b="1" i="1" baseline="-25000" dirty="0" err="1">
                <a:latin typeface="Times New Roman" pitchFamily="18" charset="0"/>
                <a:ea typeface="宋体" panose="02010600030101010101" pitchFamily="2" charset="-122"/>
                <a:cs typeface="Times New Roman" pitchFamily="18" charset="0"/>
              </a:rPr>
              <a:t>N</a:t>
            </a:r>
            <a:r>
              <a:rPr lang="zh-CN" altLang="en-US" sz="2400" b="1" dirty="0">
                <a:latin typeface="宋体" panose="02010600030101010101" pitchFamily="2" charset="-122"/>
                <a:ea typeface="宋体" panose="02010600030101010101" pitchFamily="2" charset="-122"/>
              </a:rPr>
              <a:t>可按下式计算：</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133561" y="4176713"/>
            <a:ext cx="6875219" cy="1762017"/>
          </a:xfrm>
          <a:prstGeom prst="rect">
            <a:avLst/>
          </a:prstGeom>
          <a:noFill/>
        </p:spPr>
        <p:txBody>
          <a:bodyPr wrap="square" lIns="91436" tIns="45718" rIns="91436" bIns="45718" rtlCol="0">
            <a:spAutoFit/>
          </a:bodyPr>
          <a:lstStyle/>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E</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带电粒子的能量；</a:t>
            </a:r>
          </a:p>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dirty="0">
                <a:latin typeface="Times New Roman" pitchFamily="18" charset="0"/>
                <a:ea typeface="宋体" pitchFamily="2" charset="-122"/>
                <a:cs typeface="Times New Roman" pitchFamily="18" charset="0"/>
              </a:rPr>
              <a:t>Δ</a:t>
            </a:r>
            <a:r>
              <a:rPr lang="en-US" altLang="zh-CN" sz="2400" b="1" i="1" dirty="0">
                <a:latin typeface="Times New Roman" pitchFamily="18" charset="0"/>
                <a:ea typeface="宋体" pitchFamily="2" charset="-122"/>
                <a:cs typeface="Times New Roman" pitchFamily="18" charset="0"/>
              </a:rPr>
              <a:t>E</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离子对的能量；</a:t>
            </a:r>
          </a:p>
          <a:p>
            <a:pPr>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A</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源强度；</a:t>
            </a:r>
          </a:p>
          <a:p>
            <a:pPr marL="709613" indent="-709613">
              <a:spcBef>
                <a:spcPts val="472"/>
              </a:spcBef>
            </a:pPr>
            <a:r>
              <a:rPr lang="zh-CN" altLang="en-US" sz="2400" b="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C</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在源强度为</a:t>
            </a:r>
            <a:r>
              <a:rPr lang="en-US" altLang="zh-CN" sz="2400" b="1" dirty="0">
                <a:latin typeface="Times New Roman" pitchFamily="18" charset="0"/>
                <a:ea typeface="宋体" panose="02010600030101010101" pitchFamily="2" charset="-122"/>
                <a:cs typeface="Times New Roman" pitchFamily="18" charset="0"/>
              </a:rPr>
              <a:t>1</a:t>
            </a:r>
            <a:r>
              <a:rPr lang="zh-CN" altLang="en-US" sz="2400" b="1" dirty="0">
                <a:latin typeface="Times New Roman" pitchFamily="18" charset="0"/>
                <a:ea typeface="宋体" panose="02010600030101010101" pitchFamily="2" charset="-122"/>
                <a:cs typeface="Times New Roman" pitchFamily="18" charset="0"/>
              </a:rPr>
              <a:t>居里时，每秒放射出的粒子数。</a:t>
            </a: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41" name="圆角矩形 4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4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2" name="矩形 1"/>
              <p:cNvSpPr/>
              <p:nvPr/>
            </p:nvSpPr>
            <p:spPr>
              <a:xfrm>
                <a:off x="3102214" y="3048480"/>
                <a:ext cx="2487091" cy="783804"/>
              </a:xfrm>
              <a:prstGeom prst="rect">
                <a:avLst/>
              </a:prstGeom>
              <a:ln w="38100"/>
            </p:spPr>
            <p:style>
              <a:lnRef idx="2">
                <a:schemeClr val="accent2"/>
              </a:lnRef>
              <a:fillRef idx="1">
                <a:schemeClr val="lt1"/>
              </a:fillRef>
              <a:effectRef idx="0">
                <a:schemeClr val="accent2"/>
              </a:effectRef>
              <a:fontRef idx="minor">
                <a:schemeClr val="dk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𝑓</m:t>
                          </m:r>
                        </m:e>
                        <m:sub>
                          <m:r>
                            <a:rPr lang="en-US" altLang="zh-CN" sz="2400" i="1">
                              <a:latin typeface="Cambria Math" panose="02040503050406030204" pitchFamily="18" charset="0"/>
                            </a:rPr>
                            <m:t>𝑁</m:t>
                          </m:r>
                        </m:sub>
                      </m:sSub>
                      <m:r>
                        <a:rPr lang="en-US" altLang="zh-CN" sz="2400" i="1">
                          <a:latin typeface="Cambria Math" panose="02040503050406030204" pitchFamily="18" charset="0"/>
                        </a:rPr>
                        <m:t>=</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2</m:t>
                          </m:r>
                        </m:den>
                      </m:f>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𝐸</m:t>
                          </m:r>
                        </m:num>
                        <m:den>
                          <m:r>
                            <a:rPr lang="en-US" altLang="zh-CN" sz="2400" i="1">
                              <a:latin typeface="Cambria Math" panose="02040503050406030204" pitchFamily="18" charset="0"/>
                            </a:rPr>
                            <m:t>∆</m:t>
                          </m:r>
                          <m:r>
                            <a:rPr lang="en-US" altLang="zh-CN" sz="2400" i="1">
                              <a:latin typeface="Cambria Math" panose="02040503050406030204" pitchFamily="18" charset="0"/>
                            </a:rPr>
                            <m:t>𝐸</m:t>
                          </m:r>
                        </m:den>
                      </m:f>
                      <m:r>
                        <a:rPr lang="en-US" altLang="zh-CN" sz="2400" i="1">
                          <a:latin typeface="Cambria Math" panose="02040503050406030204" pitchFamily="18" charset="0"/>
                        </a:rPr>
                        <m:t>∙</m:t>
                      </m:r>
                      <m:r>
                        <a:rPr lang="en-US" altLang="zh-CN" sz="2400" i="1">
                          <a:latin typeface="Cambria Math" panose="02040503050406030204" pitchFamily="18" charset="0"/>
                        </a:rPr>
                        <m:t>𝐶</m:t>
                      </m:r>
                      <m:r>
                        <a:rPr lang="en-US" altLang="zh-CN" sz="2400" i="1">
                          <a:latin typeface="Cambria Math" panose="02040503050406030204" pitchFamily="18" charset="0"/>
                        </a:rPr>
                        <m:t>∙</m:t>
                      </m:r>
                      <m:r>
                        <a:rPr lang="en-US" altLang="zh-CN" sz="2400" i="1">
                          <a:latin typeface="Cambria Math" panose="02040503050406030204" pitchFamily="18" charset="0"/>
                        </a:rPr>
                        <m:t>𝐴</m:t>
                      </m:r>
                    </m:oMath>
                  </m:oMathPara>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3102214" y="3048480"/>
                <a:ext cx="2487091" cy="783804"/>
              </a:xfrm>
              <a:prstGeom prst="rect">
                <a:avLst/>
              </a:prstGeom>
              <a:blipFill>
                <a:blip r:embed="rId3"/>
                <a:stretch>
                  <a:fillRect/>
                </a:stretch>
              </a:blipFill>
              <a:ln w="38100"/>
            </p:spPr>
            <p:txBody>
              <a:bodyPr/>
              <a:lstStyle/>
              <a:p>
                <a:r>
                  <a:rPr lang="en-US">
                    <a:noFill/>
                  </a:rPr>
                  <a:t> </a:t>
                </a:r>
              </a:p>
            </p:txBody>
          </p:sp>
        </mc:Fallback>
      </mc:AlternateContent>
    </p:spTree>
    <p:extLst>
      <p:ext uri="{BB962C8B-B14F-4D97-AF65-F5344CB8AC3E}">
        <p14:creationId xmlns:p14="http://schemas.microsoft.com/office/powerpoint/2010/main" val="232948553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447672" y="1314966"/>
            <a:ext cx="8639179" cy="1203531"/>
          </a:xfrm>
          <a:prstGeom prst="rect">
            <a:avLst/>
          </a:prstGeom>
          <a:noFill/>
        </p:spPr>
        <p:txBody>
          <a:bodyPr wrap="square" lIns="91436" tIns="45718" rIns="91436" bIns="45718" rtlCol="0">
            <a:spAutoFit/>
          </a:bodyPr>
          <a:lstStyle/>
          <a:p>
            <a:pPr>
              <a:lnSpc>
                <a:spcPct val="150000"/>
              </a:lnSpc>
              <a:spcBef>
                <a:spcPts val="672"/>
              </a:spcBef>
            </a:pP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．核辐射的吸收和散射</a:t>
            </a:r>
          </a:p>
          <a:p>
            <a:pPr>
              <a:lnSpc>
                <a:spcPct val="150000"/>
              </a:lnSpc>
              <a:spcBef>
                <a:spcPts val="672"/>
              </a:spcBef>
            </a:pPr>
            <a:r>
              <a:rPr lang="zh-CN" altLang="en-US" sz="2400" b="1" dirty="0">
                <a:latin typeface="宋体" panose="02010600030101010101" pitchFamily="2" charset="-122"/>
                <a:ea typeface="宋体" panose="02010600030101010101" pitchFamily="2" charset="-122"/>
              </a:rPr>
              <a:t>  一个细的平行的射线束穿过物质层后其强度衰减经验公式为：</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447801" y="3641180"/>
            <a:ext cx="6483236" cy="2541717"/>
          </a:xfrm>
          <a:prstGeom prst="rect">
            <a:avLst/>
          </a:prstGeom>
          <a:noFill/>
        </p:spPr>
        <p:txBody>
          <a:bodyPr wrap="square" lIns="91436" tIns="45718" rIns="91436" bIns="45718" rtlCol="0">
            <a:spAutoFit/>
          </a:bodyPr>
          <a:lstStyle/>
          <a:p>
            <a:pPr>
              <a:lnSpc>
                <a:spcPts val="3500"/>
              </a:lnSpc>
              <a:spcBef>
                <a:spcPts val="432"/>
              </a:spcBef>
            </a:pPr>
            <a:r>
              <a:rPr lang="en-US" altLang="zh-CN" sz="2400" b="1" i="1" dirty="0">
                <a:latin typeface="Times New Roman" pitchFamily="18" charset="0"/>
                <a:ea typeface="宋体" pitchFamily="2" charset="-122"/>
                <a:cs typeface="Times New Roman" pitchFamily="18" charset="0"/>
              </a:rPr>
              <a:t>J</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穿过厚度为</a:t>
            </a:r>
            <a:r>
              <a:rPr lang="en-US" altLang="zh-CN" sz="2400" b="1" i="1" dirty="0">
                <a:latin typeface="Times New Roman" pitchFamily="18" charset="0"/>
                <a:ea typeface="宋体" pitchFamily="2" charset="-122"/>
                <a:cs typeface="Times New Roman" pitchFamily="18" charset="0"/>
              </a:rPr>
              <a:t>x</a:t>
            </a:r>
            <a:r>
              <a:rPr lang="zh-CN" altLang="en-US" sz="2400" b="1" i="1" dirty="0">
                <a:latin typeface="Times New Roman" pitchFamily="18" charset="0"/>
                <a:ea typeface="宋体" pitchFamily="2" charset="-122"/>
                <a:cs typeface="Times New Roman" pitchFamily="18" charset="0"/>
              </a:rPr>
              <a:t> </a:t>
            </a:r>
            <a:r>
              <a:rPr lang="en-US" altLang="zh-CN" sz="2400" b="1" dirty="0">
                <a:latin typeface="Times New Roman" pitchFamily="18" charset="0"/>
                <a:ea typeface="宋体" pitchFamily="2" charset="-122"/>
                <a:cs typeface="Times New Roman" pitchFamily="18" charset="0"/>
              </a:rPr>
              <a:t>mm</a:t>
            </a:r>
            <a:r>
              <a:rPr lang="zh-CN" altLang="en-US" sz="2400" b="1" dirty="0">
                <a:latin typeface="Times New Roman" pitchFamily="18" charset="0"/>
                <a:ea typeface="宋体" panose="02010600030101010101" pitchFamily="2" charset="-122"/>
                <a:cs typeface="Times New Roman" pitchFamily="18" charset="0"/>
              </a:rPr>
              <a:t>的物质后的辐射强度；   </a:t>
            </a:r>
          </a:p>
          <a:p>
            <a:pPr>
              <a:lnSpc>
                <a:spcPts val="3500"/>
              </a:lnSpc>
              <a:spcBef>
                <a:spcPts val="432"/>
              </a:spcBef>
            </a:pPr>
            <a:r>
              <a:rPr lang="en-US" altLang="zh-CN" sz="2400" b="1" i="1" dirty="0">
                <a:latin typeface="Times New Roman" pitchFamily="18" charset="0"/>
                <a:ea typeface="宋体" pitchFamily="2" charset="-122"/>
                <a:cs typeface="Times New Roman" pitchFamily="18" charset="0"/>
              </a:rPr>
              <a:t>J</a:t>
            </a:r>
            <a:r>
              <a:rPr lang="en-US" altLang="zh-CN" sz="2400" b="1" baseline="-25000" dirty="0">
                <a:latin typeface="Times New Roman" pitchFamily="18" charset="0"/>
                <a:ea typeface="宋体" pitchFamily="2" charset="-122"/>
                <a:cs typeface="Times New Roman" pitchFamily="18" charset="0"/>
              </a:rPr>
              <a:t>0</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射入物质前的辐射强度；</a:t>
            </a:r>
          </a:p>
          <a:p>
            <a:pPr>
              <a:lnSpc>
                <a:spcPts val="3500"/>
              </a:lnSpc>
              <a:spcBef>
                <a:spcPts val="432"/>
              </a:spcBef>
            </a:pPr>
            <a:r>
              <a:rPr lang="zh-CN" altLang="en-US" sz="2400" b="1" i="1" dirty="0">
                <a:latin typeface="Times New Roman" pitchFamily="18" charset="0"/>
                <a:ea typeface="宋体" panose="02010600030101010101" pitchFamily="2" charset="-122"/>
                <a:cs typeface="Times New Roman" pitchFamily="18" charset="0"/>
              </a:rPr>
              <a:t> </a:t>
            </a:r>
            <a:r>
              <a:rPr lang="en-US" altLang="zh-CN" sz="2400" b="1" i="1" dirty="0">
                <a:latin typeface="Times New Roman" pitchFamily="18" charset="0"/>
                <a:ea typeface="宋体" pitchFamily="2" charset="-122"/>
                <a:cs typeface="Times New Roman" pitchFamily="18" charset="0"/>
              </a:rPr>
              <a:t>x</a:t>
            </a:r>
            <a:r>
              <a:rPr lang="en-US" altLang="zh-CN" sz="2400" b="1" dirty="0">
                <a:latin typeface="Times New Roman" pitchFamily="18" charset="0"/>
                <a:ea typeface="宋体" panose="02010600030101010101" pitchFamily="2" charset="-122"/>
                <a:cs typeface="Times New Roman" pitchFamily="18" charset="0"/>
              </a:rPr>
              <a:t> ━ </a:t>
            </a:r>
            <a:r>
              <a:rPr lang="zh-CN" altLang="en-US" sz="2400" b="1" dirty="0">
                <a:latin typeface="Times New Roman" pitchFamily="18" charset="0"/>
                <a:ea typeface="宋体" panose="02010600030101010101" pitchFamily="2" charset="-122"/>
                <a:cs typeface="Times New Roman" pitchFamily="18" charset="0"/>
              </a:rPr>
              <a:t>吸收物质的厚度；</a:t>
            </a:r>
          </a:p>
          <a:p>
            <a:pPr>
              <a:lnSpc>
                <a:spcPts val="3500"/>
              </a:lnSpc>
              <a:spcBef>
                <a:spcPts val="432"/>
              </a:spcBef>
            </a:pPr>
            <a:r>
              <a:rPr lang="en-US" altLang="zh-CN" sz="2400" b="1" i="1" dirty="0" err="1">
                <a:latin typeface="Times New Roman" pitchFamily="18" charset="0"/>
                <a:ea typeface="宋体" pitchFamily="2" charset="-122"/>
                <a:cs typeface="Times New Roman" pitchFamily="18" charset="0"/>
              </a:rPr>
              <a:t>μ</a:t>
            </a:r>
            <a:r>
              <a:rPr lang="en-US" altLang="zh-CN" sz="2400" b="1" i="1" baseline="-25000" dirty="0" err="1">
                <a:latin typeface="Times New Roman" pitchFamily="18" charset="0"/>
                <a:ea typeface="宋体" pitchFamily="2" charset="-122"/>
                <a:cs typeface="Times New Roman" pitchFamily="18" charset="0"/>
              </a:rPr>
              <a:t>m</a:t>
            </a:r>
            <a:r>
              <a:rPr lang="en-US" altLang="zh-CN" sz="2400" b="1" i="1" dirty="0">
                <a:latin typeface="Times New Roman" pitchFamily="18" charset="0"/>
                <a:ea typeface="宋体" panose="02010600030101010101" pitchFamily="2" charset="-122"/>
                <a:cs typeface="Times New Roman" pitchFamily="18" charset="0"/>
              </a:rPr>
              <a:t> </a:t>
            </a:r>
            <a:r>
              <a:rPr lang="en-US" altLang="zh-CN" sz="2400" b="1" dirty="0">
                <a:latin typeface="Times New Roman" pitchFamily="18" charset="0"/>
                <a:ea typeface="宋体" panose="02010600030101010101" pitchFamily="2" charset="-122"/>
                <a:cs typeface="Times New Roman" pitchFamily="18" charset="0"/>
              </a:rPr>
              <a:t>━ </a:t>
            </a:r>
            <a:r>
              <a:rPr lang="zh-CN" altLang="en-US" sz="2400" b="1" dirty="0">
                <a:latin typeface="Times New Roman" pitchFamily="18" charset="0"/>
                <a:ea typeface="宋体" panose="02010600030101010101" pitchFamily="2" charset="-122"/>
                <a:cs typeface="Times New Roman" pitchFamily="18" charset="0"/>
              </a:rPr>
              <a:t>物质的质量吸收系数；</a:t>
            </a:r>
          </a:p>
          <a:p>
            <a:pPr>
              <a:lnSpc>
                <a:spcPts val="3500"/>
              </a:lnSpc>
              <a:spcBef>
                <a:spcPts val="432"/>
              </a:spcBef>
            </a:pPr>
            <a:r>
              <a:rPr lang="en-US" altLang="zh-CN" sz="2400" b="1" i="1" dirty="0">
                <a:latin typeface="Times New Roman" pitchFamily="18" charset="0"/>
                <a:ea typeface="宋体" pitchFamily="2" charset="-122"/>
                <a:cs typeface="Times New Roman" pitchFamily="18" charset="0"/>
              </a:rPr>
              <a:t>ρ</a:t>
            </a:r>
            <a:r>
              <a:rPr lang="en-US" altLang="zh-CN" sz="2400" b="1" dirty="0">
                <a:latin typeface="Times New Roman" pitchFamily="18" charset="0"/>
                <a:ea typeface="宋体" panose="02010600030101010101" pitchFamily="2" charset="-122"/>
                <a:cs typeface="Times New Roman" pitchFamily="18" charset="0"/>
              </a:rPr>
              <a:t> ━</a:t>
            </a:r>
            <a:r>
              <a:rPr lang="zh-CN" altLang="en-US" sz="2400" b="1" dirty="0">
                <a:latin typeface="Times New Roman" pitchFamily="18" charset="0"/>
                <a:ea typeface="宋体" panose="02010600030101010101" pitchFamily="2" charset="-122"/>
                <a:cs typeface="Times New Roman" pitchFamily="18" charset="0"/>
              </a:rPr>
              <a:t>物质的密度。</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6" name="圆角矩形 25"/>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7" name="矩形 26"/>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mc:AlternateContent xmlns:mc="http://schemas.openxmlformats.org/markup-compatibility/2006" xmlns:a14="http://schemas.microsoft.com/office/drawing/2010/main">
        <mc:Choice Requires="a14">
          <p:sp>
            <p:nvSpPr>
              <p:cNvPr id="9" name="矩形 8"/>
              <p:cNvSpPr/>
              <p:nvPr/>
            </p:nvSpPr>
            <p:spPr>
              <a:xfrm>
                <a:off x="2907550" y="2858688"/>
                <a:ext cx="1979003" cy="492764"/>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i="1">
                          <a:latin typeface="Cambria Math" panose="02040503050406030204" pitchFamily="18" charset="0"/>
                        </a:rPr>
                        <m:t>𝐽</m:t>
                      </m:r>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0</m:t>
                          </m:r>
                        </m:sub>
                      </m:sSub>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𝜇</m:t>
                              </m:r>
                            </m:e>
                            <m:sub>
                              <m:r>
                                <a:rPr lang="en-US" altLang="zh-CN" sz="2400" i="1">
                                  <a:latin typeface="Cambria Math" panose="02040503050406030204" pitchFamily="18" charset="0"/>
                                </a:rPr>
                                <m:t>𝑚</m:t>
                              </m:r>
                            </m:sub>
                          </m:sSub>
                          <m:r>
                            <a:rPr lang="en-US" altLang="zh-CN" sz="2400" i="1">
                              <a:latin typeface="Cambria Math" panose="02040503050406030204" pitchFamily="18" charset="0"/>
                            </a:rPr>
                            <m:t>𝜌</m:t>
                          </m:r>
                          <m:r>
                            <a:rPr lang="en-US" altLang="zh-CN" sz="2400" i="1">
                              <a:latin typeface="Cambria Math" panose="02040503050406030204" pitchFamily="18" charset="0"/>
                            </a:rPr>
                            <m:t>𝑥</m:t>
                          </m:r>
                        </m:sup>
                      </m:sSup>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2907550" y="2858688"/>
                <a:ext cx="1979003" cy="492764"/>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81417899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9142242-5E57-4D15-A0DD-17CB598A023D}"/>
              </a:ext>
            </a:extLst>
          </p:cNvPr>
          <p:cNvSpPr txBox="1"/>
          <p:nvPr/>
        </p:nvSpPr>
        <p:spPr>
          <a:xfrm>
            <a:off x="424538" y="3661382"/>
            <a:ext cx="8147373" cy="1536507"/>
          </a:xfrm>
          <a:prstGeom prst="rect">
            <a:avLst/>
          </a:prstGeom>
          <a:noFill/>
        </p:spPr>
        <p:txBody>
          <a:bodyPr wrap="square" lIns="91436" tIns="45718" rIns="91436" bIns="45718" rtlCol="0">
            <a:spAutoFit/>
          </a:bodyPr>
          <a:lstStyle/>
          <a:p>
            <a:pPr indent="628650">
              <a:lnSpc>
                <a:spcPct val="150000"/>
              </a:lnSpc>
            </a:pPr>
            <a:r>
              <a:rPr lang="en-US" altLang="zh-CN" sz="2200" b="1" i="1" dirty="0">
                <a:latin typeface="Times New Roman" pitchFamily="18" charset="0"/>
                <a:ea typeface="宋体" panose="02010600030101010101" pitchFamily="2" charset="-122"/>
                <a:cs typeface="Times New Roman" pitchFamily="18" charset="0"/>
              </a:rPr>
              <a:t>β</a:t>
            </a:r>
            <a:r>
              <a:rPr lang="zh-CN" altLang="en-US" sz="2200" b="1" dirty="0">
                <a:latin typeface="Arial" panose="020B0604020202020204" pitchFamily="34" charset="0"/>
                <a:ea typeface="宋体" panose="02010600030101010101" pitchFamily="2" charset="-122"/>
                <a:cs typeface="Arial" panose="020B0604020202020204" pitchFamily="34" charset="0"/>
              </a:rPr>
              <a:t>射线在物质中穿行时容易改变运动方向而产生散射现象。 向反方向的散射即反射。</a:t>
            </a:r>
          </a:p>
          <a:p>
            <a:pPr indent="628650">
              <a:lnSpc>
                <a:spcPct val="150000"/>
              </a:lnSpc>
            </a:pPr>
            <a:r>
              <a:rPr lang="zh-CN" altLang="en-US" sz="2200" b="1" dirty="0">
                <a:latin typeface="宋体" panose="02010600030101010101" pitchFamily="2" charset="-122"/>
                <a:ea typeface="宋体" panose="02010600030101010101" pitchFamily="2" charset="-122"/>
              </a:rPr>
              <a:t>反射的大小与反射板的厚度关系：</a:t>
            </a:r>
          </a:p>
        </p:txBody>
      </p:sp>
      <p:sp>
        <p:nvSpPr>
          <p:cNvPr id="5" name="文本框 4">
            <a:extLst>
              <a:ext uri="{FF2B5EF4-FFF2-40B4-BE49-F238E27FC236}">
                <a16:creationId xmlns:a16="http://schemas.microsoft.com/office/drawing/2014/main" id="{84359990-C8DA-4AAB-B899-E843E9DDD752}"/>
              </a:ext>
            </a:extLst>
          </p:cNvPr>
          <p:cNvSpPr txBox="1"/>
          <p:nvPr/>
        </p:nvSpPr>
        <p:spPr>
          <a:xfrm>
            <a:off x="1149617" y="5317896"/>
            <a:ext cx="6593665" cy="1210584"/>
          </a:xfrm>
          <a:prstGeom prst="rect">
            <a:avLst/>
          </a:prstGeom>
          <a:noFill/>
        </p:spPr>
        <p:txBody>
          <a:bodyPr wrap="square" lIns="91436" tIns="45718" rIns="91436" bIns="45718" rtlCol="0">
            <a:spAutoFit/>
          </a:bodyPr>
          <a:lstStyle/>
          <a:p>
            <a:pPr>
              <a:spcBef>
                <a:spcPts val="432"/>
              </a:spcBef>
            </a:pPr>
            <a:r>
              <a:rPr lang="en-US" altLang="zh-CN" sz="2200" i="1" dirty="0">
                <a:latin typeface="Times New Roman" pitchFamily="18" charset="0"/>
                <a:ea typeface="宋体" pitchFamily="2" charset="-122"/>
                <a:cs typeface="Times New Roman" pitchFamily="18" charset="0"/>
              </a:rPr>
              <a:t>J</a:t>
            </a:r>
            <a:r>
              <a:rPr lang="en-US" altLang="zh-CN" sz="2200" baseline="-25000" dirty="0">
                <a:latin typeface="Times New Roman" pitchFamily="18" charset="0"/>
                <a:ea typeface="宋体" pitchFamily="2" charset="-122"/>
                <a:cs typeface="Times New Roman" pitchFamily="18" charset="0"/>
              </a:rPr>
              <a:t>s</a:t>
            </a:r>
            <a:r>
              <a:rPr lang="en-US" altLang="zh-CN" sz="2200" b="1" dirty="0">
                <a:latin typeface="Times New Roman" pitchFamily="18" charset="0"/>
                <a:ea typeface="宋体" pitchFamily="2" charset="-122"/>
                <a:cs typeface="Times New Roman" pitchFamily="18" charset="0"/>
              </a:rPr>
              <a:t> ━ </a:t>
            </a:r>
            <a:r>
              <a:rPr lang="zh-CN" altLang="en-US" sz="2200" b="1" dirty="0">
                <a:latin typeface="Times New Roman" pitchFamily="18" charset="0"/>
                <a:ea typeface="宋体" pitchFamily="2" charset="-122"/>
                <a:cs typeface="Times New Roman" pitchFamily="18" charset="0"/>
              </a:rPr>
              <a:t>反射板为</a:t>
            </a:r>
            <a:r>
              <a:rPr lang="en-US" altLang="zh-CN" sz="2200" i="1" dirty="0">
                <a:latin typeface="Times New Roman" pitchFamily="18" charset="0"/>
                <a:ea typeface="宋体" pitchFamily="2" charset="-122"/>
                <a:cs typeface="Times New Roman" pitchFamily="18" charset="0"/>
              </a:rPr>
              <a:t>x</a:t>
            </a:r>
            <a:r>
              <a:rPr lang="zh-CN" altLang="en-US" sz="2200" i="1" dirty="0">
                <a:latin typeface="Times New Roman" pitchFamily="18" charset="0"/>
                <a:ea typeface="宋体" pitchFamily="2" charset="-122"/>
                <a:cs typeface="Times New Roman" pitchFamily="18" charset="0"/>
              </a:rPr>
              <a:t> </a:t>
            </a:r>
            <a:r>
              <a:rPr lang="en-US" altLang="zh-CN" sz="2200" dirty="0">
                <a:latin typeface="Times New Roman" pitchFamily="18" charset="0"/>
                <a:ea typeface="宋体" pitchFamily="2" charset="-122"/>
                <a:cs typeface="Times New Roman" pitchFamily="18" charset="0"/>
              </a:rPr>
              <a:t>mm</a:t>
            </a:r>
            <a:r>
              <a:rPr lang="zh-CN" altLang="en-US" sz="2200" b="1" dirty="0">
                <a:latin typeface="Times New Roman" pitchFamily="18" charset="0"/>
                <a:ea typeface="宋体" pitchFamily="2" charset="-122"/>
                <a:cs typeface="Times New Roman" pitchFamily="18" charset="0"/>
              </a:rPr>
              <a:t>时，放射线被反射的强度；</a:t>
            </a:r>
          </a:p>
          <a:p>
            <a:pPr>
              <a:spcBef>
                <a:spcPts val="432"/>
              </a:spcBef>
            </a:pPr>
            <a:r>
              <a:rPr lang="en-US" altLang="zh-CN" sz="2200" i="1" dirty="0" err="1">
                <a:latin typeface="Times New Roman" pitchFamily="18" charset="0"/>
                <a:ea typeface="宋体" pitchFamily="2" charset="-122"/>
                <a:cs typeface="Times New Roman" pitchFamily="18" charset="0"/>
              </a:rPr>
              <a:t>J</a:t>
            </a:r>
            <a:r>
              <a:rPr lang="en-US" altLang="zh-CN" sz="2200" baseline="-25000" dirty="0" err="1">
                <a:latin typeface="Times New Roman" pitchFamily="18" charset="0"/>
                <a:ea typeface="宋体" pitchFamily="2" charset="-122"/>
                <a:cs typeface="Times New Roman" pitchFamily="18" charset="0"/>
              </a:rPr>
              <a:t>smax</a:t>
            </a:r>
            <a:r>
              <a:rPr lang="en-US" altLang="zh-CN" sz="2200" dirty="0">
                <a:latin typeface="Times New Roman" pitchFamily="18" charset="0"/>
                <a:ea typeface="宋体" pitchFamily="2" charset="-122"/>
                <a:cs typeface="Times New Roman" pitchFamily="18" charset="0"/>
              </a:rPr>
              <a:t>=</a:t>
            </a:r>
            <a:r>
              <a:rPr lang="en-US" altLang="zh-CN" sz="2200" i="1" dirty="0">
                <a:latin typeface="Times New Roman" pitchFamily="18" charset="0"/>
                <a:ea typeface="宋体" pitchFamily="2" charset="-122"/>
                <a:cs typeface="Times New Roman" pitchFamily="18" charset="0"/>
              </a:rPr>
              <a:t>f</a:t>
            </a:r>
            <a:r>
              <a:rPr lang="en-US" altLang="zh-CN" sz="2200" dirty="0">
                <a:latin typeface="Times New Roman" pitchFamily="18" charset="0"/>
                <a:ea typeface="宋体" pitchFamily="2" charset="-122"/>
                <a:cs typeface="Times New Roman" pitchFamily="18" charset="0"/>
              </a:rPr>
              <a:t>(</a:t>
            </a:r>
            <a:r>
              <a:rPr lang="en-US" altLang="zh-CN" sz="2200" i="1" dirty="0">
                <a:latin typeface="Times New Roman" pitchFamily="18" charset="0"/>
                <a:ea typeface="宋体" pitchFamily="2" charset="-122"/>
                <a:cs typeface="Times New Roman" pitchFamily="18" charset="0"/>
              </a:rPr>
              <a:t>Z</a:t>
            </a:r>
            <a:r>
              <a:rPr lang="en-US" altLang="zh-CN" sz="2200" dirty="0">
                <a:latin typeface="Times New Roman" pitchFamily="18" charset="0"/>
                <a:ea typeface="宋体" pitchFamily="2" charset="-122"/>
                <a:cs typeface="Times New Roman" pitchFamily="18" charset="0"/>
              </a:rPr>
              <a:t>)  </a:t>
            </a:r>
            <a:r>
              <a:rPr lang="en-US" altLang="zh-CN" sz="2200" b="1" dirty="0">
                <a:latin typeface="Times New Roman" pitchFamily="18" charset="0"/>
                <a:ea typeface="宋体" pitchFamily="2" charset="-122"/>
                <a:cs typeface="Times New Roman" pitchFamily="18" charset="0"/>
              </a:rPr>
              <a:t>━</a:t>
            </a:r>
            <a:r>
              <a:rPr lang="zh-CN" altLang="en-US" sz="2200" b="1" dirty="0">
                <a:latin typeface="Times New Roman" pitchFamily="18" charset="0"/>
                <a:ea typeface="宋体" pitchFamily="2" charset="-122"/>
                <a:cs typeface="Times New Roman" pitchFamily="18" charset="0"/>
              </a:rPr>
              <a:t>当</a:t>
            </a:r>
            <a:r>
              <a:rPr lang="en-US" altLang="zh-CN" sz="2200" i="1" dirty="0">
                <a:latin typeface="Times New Roman" pitchFamily="18" charset="0"/>
                <a:ea typeface="宋体" pitchFamily="2" charset="-122"/>
                <a:cs typeface="Times New Roman" pitchFamily="18" charset="0"/>
              </a:rPr>
              <a:t>x</a:t>
            </a:r>
            <a:r>
              <a:rPr lang="zh-CN" altLang="en-US" sz="2200" b="1" dirty="0">
                <a:latin typeface="Times New Roman" pitchFamily="18" charset="0"/>
                <a:ea typeface="宋体" pitchFamily="2" charset="-122"/>
                <a:cs typeface="Times New Roman" pitchFamily="18" charset="0"/>
              </a:rPr>
              <a:t>趋于无穷大时的反射强度；</a:t>
            </a:r>
          </a:p>
          <a:p>
            <a:pPr>
              <a:spcBef>
                <a:spcPts val="432"/>
              </a:spcBef>
            </a:pPr>
            <a:r>
              <a:rPr lang="en-US" altLang="zh-CN" sz="2200" i="1" dirty="0" err="1">
                <a:latin typeface="Times New Roman" pitchFamily="18" charset="0"/>
                <a:ea typeface="宋体" pitchFamily="2" charset="-122"/>
                <a:cs typeface="Times New Roman" pitchFamily="18" charset="0"/>
              </a:rPr>
              <a:t>μ</a:t>
            </a:r>
            <a:r>
              <a:rPr lang="en-US" altLang="zh-CN" sz="2200" baseline="-25000" dirty="0" err="1">
                <a:latin typeface="Times New Roman" pitchFamily="18" charset="0"/>
                <a:ea typeface="宋体" pitchFamily="2" charset="-122"/>
                <a:cs typeface="Times New Roman" pitchFamily="18" charset="0"/>
              </a:rPr>
              <a:t>s</a:t>
            </a:r>
            <a:r>
              <a:rPr lang="en-US" altLang="zh-CN" sz="2200" dirty="0">
                <a:latin typeface="Times New Roman" pitchFamily="18" charset="0"/>
                <a:ea typeface="宋体" pitchFamily="2" charset="-122"/>
                <a:cs typeface="Times New Roman" pitchFamily="18" charset="0"/>
              </a:rPr>
              <a:t> </a:t>
            </a:r>
            <a:r>
              <a:rPr lang="en-US" altLang="zh-CN" sz="2200" b="1" dirty="0">
                <a:latin typeface="Times New Roman" pitchFamily="18" charset="0"/>
                <a:ea typeface="宋体" pitchFamily="2" charset="-122"/>
                <a:cs typeface="Times New Roman" pitchFamily="18" charset="0"/>
              </a:rPr>
              <a:t>━ </a:t>
            </a:r>
            <a:r>
              <a:rPr lang="zh-CN" altLang="en-US" sz="2200" b="1" dirty="0">
                <a:latin typeface="Times New Roman" pitchFamily="18" charset="0"/>
                <a:ea typeface="宋体" pitchFamily="2" charset="-122"/>
                <a:cs typeface="Times New Roman" pitchFamily="18" charset="0"/>
              </a:rPr>
              <a:t>取决于辐射能量的常数。</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10.1.1</a:t>
            </a:r>
          </a:p>
        </p:txBody>
      </p:sp>
      <p:sp>
        <p:nvSpPr>
          <p:cNvPr id="26" name="矩形 25"/>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核辐射的特性</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8" name="矩形 7"/>
          <p:cNvSpPr/>
          <p:nvPr/>
        </p:nvSpPr>
        <p:spPr>
          <a:xfrm>
            <a:off x="283034" y="1425861"/>
            <a:ext cx="1733167" cy="559769"/>
          </a:xfrm>
          <a:prstGeom prst="rect">
            <a:avLst/>
          </a:prstGeom>
        </p:spPr>
        <p:txBody>
          <a:bodyPr wrap="none">
            <a:spAutoFit/>
          </a:bodyPr>
          <a:lstStyle/>
          <a:p>
            <a:pPr lvl="0">
              <a:lnSpc>
                <a:spcPct val="150000"/>
              </a:lnSpc>
            </a:pPr>
            <a:r>
              <a:rPr lang="en-US" altLang="zh-CN" sz="2400" b="1" dirty="0">
                <a:solidFill>
                  <a:prstClr val="black"/>
                </a:solidFill>
                <a:latin typeface="宋体" panose="02010600030101010101" pitchFamily="2" charset="-122"/>
                <a:ea typeface="宋体" panose="02010600030101010101" pitchFamily="2" charset="-122"/>
              </a:rPr>
              <a:t>3.</a:t>
            </a:r>
            <a:r>
              <a:rPr lang="zh-CN" altLang="en-US" sz="2400" b="1" dirty="0">
                <a:solidFill>
                  <a:prstClr val="black"/>
                </a:solidFill>
                <a:latin typeface="宋体" panose="02010600030101010101" pitchFamily="2" charset="-122"/>
                <a:ea typeface="宋体" panose="02010600030101010101" pitchFamily="2" charset="-122"/>
              </a:rPr>
              <a:t>散射问题</a:t>
            </a:r>
          </a:p>
        </p:txBody>
      </p:sp>
      <mc:AlternateContent xmlns:mc="http://schemas.openxmlformats.org/markup-compatibility/2006" xmlns:a14="http://schemas.microsoft.com/office/drawing/2010/main">
        <mc:Choice Requires="a14">
          <p:sp>
            <p:nvSpPr>
              <p:cNvPr id="9" name="矩形 8"/>
              <p:cNvSpPr/>
              <p:nvPr/>
            </p:nvSpPr>
            <p:spPr>
              <a:xfrm>
                <a:off x="5491529" y="4666910"/>
                <a:ext cx="2671693" cy="530979"/>
              </a:xfrm>
              <a:prstGeom prst="rect">
                <a:avLst/>
              </a:prstGeom>
            </p:spPr>
            <p:style>
              <a:lnRef idx="3">
                <a:schemeClr val="lt1"/>
              </a:lnRef>
              <a:fillRef idx="1">
                <a:schemeClr val="accent2"/>
              </a:fillRef>
              <a:effectRef idx="1">
                <a:schemeClr val="accent2"/>
              </a:effectRef>
              <a:fontRef idx="minor">
                <a:schemeClr val="lt1"/>
              </a:fontRef>
            </p:style>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𝐽</m:t>
                          </m:r>
                        </m:e>
                        <m:sub>
                          <m:r>
                            <a:rPr lang="en-US" altLang="zh-CN" sz="2400" i="1">
                              <a:latin typeface="Cambria Math" panose="02040503050406030204" pitchFamily="18" charset="0"/>
                            </a:rPr>
                            <m:t>𝑠𝑚𝑎𝑥</m:t>
                          </m:r>
                          <m:d>
                            <m:dPr>
                              <m:ctrlPr>
                                <a:rPr lang="zh-CN" altLang="zh-CN" sz="2400" i="1">
                                  <a:latin typeface="Cambria Math" panose="02040503050406030204" pitchFamily="18" charset="0"/>
                                </a:rPr>
                              </m:ctrlPr>
                            </m:dPr>
                            <m:e>
                              <m:r>
                                <a:rPr lang="en-US" altLang="zh-CN" sz="2400" i="1">
                                  <a:latin typeface="Cambria Math" panose="02040503050406030204" pitchFamily="18" charset="0"/>
                                </a:rPr>
                                <m:t>1−</m:t>
                              </m:r>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𝑒</m:t>
                                  </m:r>
                                </m:e>
                                <m:sup>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𝜇</m:t>
                                      </m:r>
                                    </m:e>
                                    <m:sub>
                                      <m:r>
                                        <a:rPr lang="en-US" altLang="zh-CN" sz="2400" i="1">
                                          <a:latin typeface="Cambria Math" panose="02040503050406030204" pitchFamily="18" charset="0"/>
                                        </a:rPr>
                                        <m:t>𝑠</m:t>
                                      </m:r>
                                    </m:sub>
                                  </m:sSub>
                                  <m:r>
                                    <a:rPr lang="en-US" altLang="zh-CN" sz="2400" i="1">
                                      <a:latin typeface="Cambria Math" panose="02040503050406030204" pitchFamily="18" charset="0"/>
                                    </a:rPr>
                                    <m:t>𝑥</m:t>
                                  </m:r>
                                </m:sup>
                              </m:sSup>
                            </m:e>
                          </m:d>
                        </m:sub>
                      </m:sSub>
                    </m:oMath>
                  </m:oMathPara>
                </a14:m>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5491529" y="4666910"/>
                <a:ext cx="2671693" cy="530979"/>
              </a:xfrm>
              <a:prstGeom prst="rect">
                <a:avLst/>
              </a:prstGeom>
              <a:blipFill>
                <a:blip r:embed="rId4"/>
                <a:stretch>
                  <a:fillRect l="-454"/>
                </a:stretch>
              </a:blipFill>
            </p:spPr>
            <p:txBody>
              <a:bodyPr/>
              <a:lstStyle/>
              <a:p>
                <a:r>
                  <a:rPr lang="en-US">
                    <a:noFill/>
                  </a:rPr>
                  <a:t> </a:t>
                </a:r>
              </a:p>
            </p:txBody>
          </p:sp>
        </mc:Fallback>
      </mc:AlternateContent>
      <p:graphicFrame>
        <p:nvGraphicFramePr>
          <p:cNvPr id="22" name="Object 60">
            <a:extLst>
              <a:ext uri="{FF2B5EF4-FFF2-40B4-BE49-F238E27FC236}">
                <a16:creationId xmlns:a16="http://schemas.microsoft.com/office/drawing/2014/main" id="{03A45660-939A-4D15-BC03-D4692A008946}"/>
              </a:ext>
            </a:extLst>
          </p:cNvPr>
          <p:cNvGraphicFramePr>
            <a:graphicFrameLocks noChangeAspect="1"/>
          </p:cNvGraphicFramePr>
          <p:nvPr>
            <p:extLst>
              <p:ext uri="{D42A27DB-BD31-4B8C-83A1-F6EECF244321}">
                <p14:modId xmlns:p14="http://schemas.microsoft.com/office/powerpoint/2010/main" val="2454439010"/>
              </p:ext>
            </p:extLst>
          </p:nvPr>
        </p:nvGraphicFramePr>
        <p:xfrm>
          <a:off x="3527890" y="1365443"/>
          <a:ext cx="5141637" cy="2235936"/>
        </p:xfrm>
        <a:graphic>
          <a:graphicData uri="http://schemas.openxmlformats.org/presentationml/2006/ole">
            <mc:AlternateContent xmlns:mc="http://schemas.openxmlformats.org/markup-compatibility/2006">
              <mc:Choice xmlns:v="urn:schemas-microsoft-com:vml" Requires="v">
                <p:oleObj spid="_x0000_s51209" name="Flash 影片" r:id="rId5" imgW="10333800" imgH="4211280" progId="Flash.Movie">
                  <p:embed/>
                </p:oleObj>
              </mc:Choice>
              <mc:Fallback>
                <p:oleObj name="Flash 影片" r:id="rId5" imgW="10333800" imgH="4211280" progId="Flash.Movie">
                  <p:embed/>
                  <p:pic>
                    <p:nvPicPr>
                      <p:cNvPr id="22" name="Object 60">
                        <a:extLst>
                          <a:ext uri="{FF2B5EF4-FFF2-40B4-BE49-F238E27FC236}">
                            <a16:creationId xmlns:a16="http://schemas.microsoft.com/office/drawing/2014/main" id="{03A45660-939A-4D15-BC03-D4692A0089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7890" y="1365443"/>
                        <a:ext cx="5141637" cy="223593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77127759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strips(downRigh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57200" y="1485763"/>
            <a:ext cx="7962899" cy="3670233"/>
          </a:xfrm>
          <a:prstGeom prst="rect">
            <a:avLst/>
          </a:prstGeom>
        </p:spPr>
        <p:txBody>
          <a:bodyPr wrap="square" lIns="91438" tIns="45719" rIns="91438" bIns="45719">
            <a:spAutoFit/>
          </a:bodyPr>
          <a:lstStyle/>
          <a:p>
            <a:pPr indent="715963">
              <a:lnSpc>
                <a:spcPct val="200000"/>
              </a:lnSpc>
            </a:pPr>
            <a:r>
              <a:rPr lang="zh-CN" altLang="en-US" sz="2400" b="1" dirty="0">
                <a:latin typeface="宋体" panose="02010600030101010101" pitchFamily="2" charset="-122"/>
                <a:ea typeface="宋体" panose="02010600030101010101" pitchFamily="2" charset="-122"/>
              </a:rPr>
              <a:t>具有相同核电荷数，而有不同质量数的原子所构成的元素称为同位素。</a:t>
            </a:r>
            <a:endParaRPr lang="en-US" altLang="zh-CN" sz="2400" b="1" dirty="0">
              <a:latin typeface="宋体" panose="02010600030101010101" pitchFamily="2" charset="-122"/>
              <a:ea typeface="宋体" panose="02010600030101010101" pitchFamily="2" charset="-122"/>
            </a:endParaRPr>
          </a:p>
          <a:p>
            <a:pPr indent="715963">
              <a:lnSpc>
                <a:spcPct val="200000"/>
              </a:lnSpc>
            </a:pPr>
            <a:r>
              <a:rPr lang="zh-CN" altLang="en-US" sz="2400" b="1" dirty="0">
                <a:latin typeface="宋体" panose="02010600030101010101" pitchFamily="2" charset="-122"/>
                <a:ea typeface="宋体" panose="02010600030101010101" pitchFamily="2" charset="-122"/>
              </a:rPr>
              <a:t>假如某种同位素的原子核在没有任何外因作用下自动变化，衰变中将放射出射线，这种变化称为放射性衰变，这种同位素称为</a:t>
            </a:r>
            <a:r>
              <a:rPr lang="zh-CN" altLang="en-US" sz="2400" b="1" dirty="0">
                <a:solidFill>
                  <a:srgbClr val="C00000"/>
                </a:solidFill>
                <a:latin typeface="宋体" panose="02010600030101010101" pitchFamily="2" charset="-122"/>
                <a:ea typeface="宋体" panose="02010600030101010101" pitchFamily="2" charset="-122"/>
              </a:rPr>
              <a:t>放射性同位素</a:t>
            </a:r>
            <a:r>
              <a:rPr lang="zh-CN" altLang="en-US" sz="2400" b="1" dirty="0">
                <a:latin typeface="宋体" panose="02010600030101010101" pitchFamily="2" charset="-122"/>
                <a:ea typeface="宋体" panose="02010600030101010101" pitchFamily="2" charset="-122"/>
              </a:rPr>
              <a:t>。</a:t>
            </a:r>
            <a:endParaRPr lang="en-US" altLang="zh-CN" sz="1400" dirty="0">
              <a:latin typeface="微软雅黑" panose="020B0503020204020204" pitchFamily="34" charset="-122"/>
              <a:ea typeface="微软雅黑" panose="020B0503020204020204" pitchFamily="34"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10.1.2</a:t>
            </a:r>
          </a:p>
        </p:txBody>
      </p:sp>
      <p:sp>
        <p:nvSpPr>
          <p:cNvPr id="24" name="矩形 23"/>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测量中常用的同位素</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14165978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831103" y="1491292"/>
            <a:ext cx="7481793" cy="3875416"/>
          </a:xfrm>
          <a:prstGeom prst="rect">
            <a:avLst/>
          </a:prstGeom>
          <a:noFill/>
        </p:spPr>
        <p:txBody>
          <a:bodyPr wrap="square" lIns="91436" tIns="45718" rIns="91436" bIns="45718" rtlCol="0">
            <a:spAutoFit/>
          </a:bodyPr>
          <a:lstStyle/>
          <a:p>
            <a:pPr indent="628650">
              <a:lnSpc>
                <a:spcPct val="200000"/>
              </a:lnSpc>
              <a:spcBef>
                <a:spcPts val="720"/>
              </a:spcBef>
            </a:pPr>
            <a:r>
              <a:rPr lang="zh-CN" altLang="en-US" sz="2400" b="1" dirty="0">
                <a:latin typeface="宋体" panose="02010600030101010101" pitchFamily="2" charset="-122"/>
                <a:ea typeface="宋体" panose="02010600030101010101" pitchFamily="2" charset="-122"/>
              </a:rPr>
              <a:t>工作原理：</a:t>
            </a:r>
            <a:r>
              <a:rPr lang="zh-CN" altLang="en-US" sz="2400" b="1" dirty="0">
                <a:solidFill>
                  <a:srgbClr val="C00000"/>
                </a:solidFill>
                <a:latin typeface="宋体" panose="02010600030101010101" pitchFamily="2" charset="-122"/>
                <a:ea typeface="宋体" panose="02010600030101010101" pitchFamily="2" charset="-122"/>
              </a:rPr>
              <a:t>基于射线通过物质时产生的电离作用，或利用射线能使某些物质产生荧光，再配以光电元件，将光信号转变为电信号</a:t>
            </a:r>
            <a:r>
              <a:rPr lang="zh-CN" altLang="en-US" sz="2400" b="1" dirty="0">
                <a:latin typeface="宋体" panose="02010600030101010101" pitchFamily="2" charset="-122"/>
                <a:ea typeface="宋体" panose="02010600030101010101" pitchFamily="2" charset="-122"/>
              </a:rPr>
              <a:t>。</a:t>
            </a:r>
            <a:endParaRPr lang="en-US" altLang="zh-CN" sz="2400" b="1" dirty="0">
              <a:latin typeface="宋体" panose="02010600030101010101" pitchFamily="2" charset="-122"/>
              <a:ea typeface="宋体" panose="02010600030101010101" pitchFamily="2" charset="-122"/>
            </a:endParaRPr>
          </a:p>
          <a:p>
            <a:pPr indent="628650">
              <a:lnSpc>
                <a:spcPct val="200000"/>
              </a:lnSpc>
              <a:spcBef>
                <a:spcPts val="720"/>
              </a:spcBef>
            </a:pPr>
            <a:r>
              <a:rPr lang="zh-CN" altLang="en-US" sz="2400" b="1" dirty="0">
                <a:latin typeface="宋体" panose="02010600030101010101" pitchFamily="2" charset="-122"/>
                <a:ea typeface="宋体" panose="02010600030101010101" pitchFamily="2" charset="-122"/>
              </a:rPr>
              <a:t>核辐射传感器：电离室和比例计数器、气体放电计数器、闪烁计数器、半导体检测器。</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10.2</a:t>
            </a:r>
          </a:p>
        </p:txBody>
      </p:sp>
      <p:sp>
        <p:nvSpPr>
          <p:cNvPr id="25" name="矩形 24"/>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141305504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1" name="圆角矩形 40"/>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10.2</a:t>
            </a:r>
          </a:p>
        </p:txBody>
      </p:sp>
      <p:sp>
        <p:nvSpPr>
          <p:cNvPr id="42" name="矩形 41"/>
          <p:cNvSpPr/>
          <p:nvPr/>
        </p:nvSpPr>
        <p:spPr>
          <a:xfrm>
            <a:off x="1960201" y="329520"/>
            <a:ext cx="281037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a:t>
            </a:r>
          </a:p>
        </p:txBody>
      </p:sp>
      <p:grpSp>
        <p:nvGrpSpPr>
          <p:cNvPr id="43" name="组 42"/>
          <p:cNvGrpSpPr/>
          <p:nvPr/>
        </p:nvGrpSpPr>
        <p:grpSpPr>
          <a:xfrm>
            <a:off x="8590580" y="252857"/>
            <a:ext cx="553419" cy="484288"/>
            <a:chOff x="11454105" y="252856"/>
            <a:chExt cx="737892" cy="484288"/>
          </a:xfrm>
        </p:grpSpPr>
        <p:grpSp>
          <p:nvGrpSpPr>
            <p:cNvPr id="44" name="组 49"/>
            <p:cNvGrpSpPr/>
            <p:nvPr/>
          </p:nvGrpSpPr>
          <p:grpSpPr>
            <a:xfrm>
              <a:off x="12039604" y="252856"/>
              <a:ext cx="152393" cy="484287"/>
              <a:chOff x="12039604" y="252856"/>
              <a:chExt cx="152393" cy="484287"/>
            </a:xfrm>
          </p:grpSpPr>
          <p:sp>
            <p:nvSpPr>
              <p:cNvPr id="48" name="圆角矩形 47"/>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99"/>
            <p:cNvGrpSpPr/>
            <p:nvPr/>
          </p:nvGrpSpPr>
          <p:grpSpPr>
            <a:xfrm>
              <a:off x="11454105" y="252857"/>
              <a:ext cx="491115" cy="484287"/>
              <a:chOff x="1528923" y="220268"/>
              <a:chExt cx="1284096" cy="1266241"/>
            </a:xfrm>
          </p:grpSpPr>
          <p:sp>
            <p:nvSpPr>
              <p:cNvPr id="46" name="圆角矩形 45"/>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3" name="Text Box 63">
            <a:extLst>
              <a:ext uri="{FF2B5EF4-FFF2-40B4-BE49-F238E27FC236}">
                <a16:creationId xmlns:a16="http://schemas.microsoft.com/office/drawing/2014/main" id="{B8C217B0-DE96-4168-9BC2-5E63BDEB6B18}"/>
              </a:ext>
            </a:extLst>
          </p:cNvPr>
          <p:cNvSpPr txBox="1">
            <a:spLocks noChangeArrowheads="1"/>
          </p:cNvSpPr>
          <p:nvPr/>
        </p:nvSpPr>
        <p:spPr bwMode="auto">
          <a:xfrm>
            <a:off x="3020008" y="6046487"/>
            <a:ext cx="3103984"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charset="0"/>
                <a:ea typeface="宋体" pitchFamily="2" charset="-122"/>
              </a:defRPr>
            </a:lvl1pPr>
            <a:lvl2pPr marL="742950" indent="-285750">
              <a:defRPr kumimoji="1" sz="2400">
                <a:solidFill>
                  <a:schemeClr val="tx1"/>
                </a:solidFill>
                <a:latin typeface="Times New Roman" charset="0"/>
                <a:ea typeface="宋体" pitchFamily="2" charset="-122"/>
              </a:defRPr>
            </a:lvl2pPr>
            <a:lvl3pPr marL="1143000" indent="-228600">
              <a:defRPr kumimoji="1" sz="2400">
                <a:solidFill>
                  <a:schemeClr val="tx1"/>
                </a:solidFill>
                <a:latin typeface="Times New Roman" charset="0"/>
                <a:ea typeface="宋体" pitchFamily="2" charset="-122"/>
              </a:defRPr>
            </a:lvl3pPr>
            <a:lvl4pPr marL="1600200" indent="-228600">
              <a:defRPr kumimoji="1" sz="2400">
                <a:solidFill>
                  <a:schemeClr val="tx1"/>
                </a:solidFill>
                <a:latin typeface="Times New Roman" charset="0"/>
                <a:ea typeface="宋体" pitchFamily="2" charset="-122"/>
              </a:defRPr>
            </a:lvl4pPr>
            <a:lvl5pPr marL="2057400" indent="-228600">
              <a:defRPr kumimoji="1" sz="2400">
                <a:solidFill>
                  <a:schemeClr val="tx1"/>
                </a:solidFill>
                <a:latin typeface="Times New Roman" charset="0"/>
                <a:ea typeface="宋体" pitchFamily="2" charset="-122"/>
              </a:defRPr>
            </a:lvl5pPr>
            <a:lvl6pPr marL="2514600" indent="-228600" eaLnBrk="0" fontAlgn="base" hangingPunct="0">
              <a:spcBef>
                <a:spcPct val="0"/>
              </a:spcBef>
              <a:spcAft>
                <a:spcPct val="0"/>
              </a:spcAft>
              <a:defRPr kumimoji="1" sz="2400">
                <a:solidFill>
                  <a:schemeClr val="tx1"/>
                </a:solidFill>
                <a:latin typeface="Times New Roman" charset="0"/>
                <a:ea typeface="宋体" pitchFamily="2" charset="-122"/>
              </a:defRPr>
            </a:lvl6pPr>
            <a:lvl7pPr marL="2971800" indent="-228600" eaLnBrk="0" fontAlgn="base" hangingPunct="0">
              <a:spcBef>
                <a:spcPct val="0"/>
              </a:spcBef>
              <a:spcAft>
                <a:spcPct val="0"/>
              </a:spcAft>
              <a:defRPr kumimoji="1" sz="2400">
                <a:solidFill>
                  <a:schemeClr val="tx1"/>
                </a:solidFill>
                <a:latin typeface="Times New Roman" charset="0"/>
                <a:ea typeface="宋体" pitchFamily="2" charset="-122"/>
              </a:defRPr>
            </a:lvl7pPr>
            <a:lvl8pPr marL="3429000" indent="-228600" eaLnBrk="0" fontAlgn="base" hangingPunct="0">
              <a:spcBef>
                <a:spcPct val="0"/>
              </a:spcBef>
              <a:spcAft>
                <a:spcPct val="0"/>
              </a:spcAft>
              <a:defRPr kumimoji="1" sz="2400">
                <a:solidFill>
                  <a:schemeClr val="tx1"/>
                </a:solidFill>
                <a:latin typeface="Times New Roman" charset="0"/>
                <a:ea typeface="宋体" pitchFamily="2" charset="-122"/>
              </a:defRPr>
            </a:lvl8pPr>
            <a:lvl9pPr marL="3886200" indent="-228600" eaLnBrk="0" fontAlgn="base" hangingPunct="0">
              <a:spcBef>
                <a:spcPct val="0"/>
              </a:spcBef>
              <a:spcAft>
                <a:spcPct val="0"/>
              </a:spcAft>
              <a:defRPr kumimoji="1" sz="2400">
                <a:solidFill>
                  <a:schemeClr val="tx1"/>
                </a:solidFill>
                <a:latin typeface="Times New Roman" charset="0"/>
                <a:ea typeface="宋体" pitchFamily="2" charset="-122"/>
              </a:defRPr>
            </a:lvl9pPr>
          </a:lstStyle>
          <a:p>
            <a:pPr eaLnBrk="1" hangingPunct="1">
              <a:spcBef>
                <a:spcPct val="20000"/>
              </a:spcBef>
              <a:buClr>
                <a:schemeClr val="folHlink"/>
              </a:buClr>
              <a:buFont typeface="Wingdings" pitchFamily="2" charset="2"/>
              <a:buNone/>
            </a:pPr>
            <a:r>
              <a:rPr kumimoji="0" lang="zh-CN" altLang="en-US" b="1" dirty="0">
                <a:solidFill>
                  <a:srgbClr val="3333CC"/>
                </a:solidFill>
                <a:latin typeface="宋体" pitchFamily="2" charset="-122"/>
              </a:rPr>
              <a:t>图</a:t>
            </a:r>
            <a:r>
              <a:rPr kumimoji="0" lang="en-US" altLang="zh-CN" b="1" dirty="0">
                <a:solidFill>
                  <a:srgbClr val="3333CC"/>
                </a:solidFill>
                <a:latin typeface="宋体" pitchFamily="2" charset="-122"/>
              </a:rPr>
              <a:t>10-3 </a:t>
            </a:r>
            <a:r>
              <a:rPr kumimoji="0" lang="en-US" altLang="zh-CN" b="1" i="1" dirty="0">
                <a:solidFill>
                  <a:srgbClr val="3333CC"/>
                </a:solidFill>
                <a:latin typeface="宋体" pitchFamily="2" charset="-122"/>
              </a:rPr>
              <a:t>α</a:t>
            </a:r>
            <a:r>
              <a:rPr kumimoji="0" lang="zh-CN" altLang="en-US" b="1" dirty="0">
                <a:solidFill>
                  <a:srgbClr val="3333CC"/>
                </a:solidFill>
                <a:latin typeface="宋体" pitchFamily="2" charset="-122"/>
              </a:rPr>
              <a:t>辐射的测量</a:t>
            </a:r>
          </a:p>
        </p:txBody>
      </p:sp>
      <p:pic>
        <p:nvPicPr>
          <p:cNvPr id="25" name="Picture 8">
            <a:extLst>
              <a:ext uri="{FF2B5EF4-FFF2-40B4-BE49-F238E27FC236}">
                <a16:creationId xmlns:a16="http://schemas.microsoft.com/office/drawing/2014/main" id="{A91199CB-89B3-4711-BDE5-D617636FA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227" y="1362075"/>
            <a:ext cx="8115300" cy="4522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979701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0A9C74-D9E1-4814-8108-A57920507116}"/>
              </a:ext>
            </a:extLst>
          </p:cNvPr>
          <p:cNvSpPr txBox="1"/>
          <p:nvPr/>
        </p:nvSpPr>
        <p:spPr>
          <a:xfrm>
            <a:off x="1" y="1319553"/>
            <a:ext cx="9029704" cy="1074842"/>
          </a:xfrm>
          <a:prstGeom prst="rect">
            <a:avLst/>
          </a:prstGeom>
          <a:noFill/>
        </p:spPr>
        <p:txBody>
          <a:bodyPr wrap="square" lIns="91436" tIns="45718" rIns="91436" bIns="45718" rtlCol="0">
            <a:spAutoFit/>
          </a:bodyPr>
          <a:lstStyle/>
          <a:p>
            <a:pPr>
              <a:lnSpc>
                <a:spcPct val="150000"/>
              </a:lnSpc>
              <a:spcBef>
                <a:spcPts val="720"/>
              </a:spcBef>
            </a:pPr>
            <a:r>
              <a:rPr lang="zh-CN" altLang="en-US" sz="2400" b="1" dirty="0">
                <a:latin typeface="宋体" pitchFamily="2" charset="-122"/>
                <a:ea typeface="宋体" pitchFamily="2" charset="-122"/>
              </a:rPr>
              <a:t>    </a:t>
            </a:r>
            <a:r>
              <a:rPr lang="zh-CN" altLang="en-US" sz="2200" b="1" dirty="0">
                <a:latin typeface="宋体" pitchFamily="2" charset="-122"/>
                <a:ea typeface="宋体" pitchFamily="2" charset="-122"/>
              </a:rPr>
              <a:t>核辐射传感器用来检测厚度、液位、物位、转速、材料密度、重量、气体压力、流速、温度及湿度等参数，也可用于金属材料探伤。</a:t>
            </a:r>
          </a:p>
        </p:txBody>
      </p:sp>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10.3</a:t>
            </a:r>
          </a:p>
        </p:txBody>
      </p:sp>
      <p:sp>
        <p:nvSpPr>
          <p:cNvPr id="25" name="矩形 24"/>
          <p:cNvSpPr/>
          <p:nvPr/>
        </p:nvSpPr>
        <p:spPr>
          <a:xfrm>
            <a:off x="1960201"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核辐射传感器的应用举例</a:t>
            </a:r>
          </a:p>
        </p:txBody>
      </p:sp>
      <p:grpSp>
        <p:nvGrpSpPr>
          <p:cNvPr id="26" name="组 42"/>
          <p:cNvGrpSpPr/>
          <p:nvPr/>
        </p:nvGrpSpPr>
        <p:grpSpPr>
          <a:xfrm>
            <a:off x="8590580" y="252857"/>
            <a:ext cx="553419" cy="484288"/>
            <a:chOff x="11454105" y="252856"/>
            <a:chExt cx="737892" cy="484288"/>
          </a:xfrm>
        </p:grpSpPr>
        <p:grpSp>
          <p:nvGrpSpPr>
            <p:cNvPr id="27" name="组 49"/>
            <p:cNvGrpSpPr/>
            <p:nvPr/>
          </p:nvGrpSpPr>
          <p:grpSpPr>
            <a:xfrm>
              <a:off x="12039604" y="252856"/>
              <a:ext cx="152393" cy="484287"/>
              <a:chOff x="12039604" y="252856"/>
              <a:chExt cx="152393" cy="484287"/>
            </a:xfrm>
          </p:grpSpPr>
          <p:sp>
            <p:nvSpPr>
              <p:cNvPr id="31" name="圆角矩形 30"/>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99"/>
            <p:cNvGrpSpPr/>
            <p:nvPr/>
          </p:nvGrpSpPr>
          <p:grpSpPr>
            <a:xfrm>
              <a:off x="11454105" y="252857"/>
              <a:ext cx="491115" cy="484287"/>
              <a:chOff x="1528923" y="220268"/>
              <a:chExt cx="1284096" cy="1266241"/>
            </a:xfrm>
          </p:grpSpPr>
          <p:sp>
            <p:nvSpPr>
              <p:cNvPr id="29" name="圆角矩形 28"/>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Text Box 73">
            <a:extLst>
              <a:ext uri="{FF2B5EF4-FFF2-40B4-BE49-F238E27FC236}">
                <a16:creationId xmlns:a16="http://schemas.microsoft.com/office/drawing/2014/main" id="{73FEAF29-8B36-4AAE-BE58-E9ECFF8A1B31}"/>
              </a:ext>
            </a:extLst>
          </p:cNvPr>
          <p:cNvSpPr txBox="1">
            <a:spLocks noChangeArrowheads="1"/>
          </p:cNvSpPr>
          <p:nvPr/>
        </p:nvSpPr>
        <p:spPr bwMode="auto">
          <a:xfrm>
            <a:off x="631860" y="6181725"/>
            <a:ext cx="485966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b="1">
                <a:solidFill>
                  <a:schemeClr val="tx1"/>
                </a:solidFill>
                <a:latin typeface="Times New Roman" charset="0"/>
                <a:ea typeface="宋体" pitchFamily="2" charset="-122"/>
              </a:defRPr>
            </a:lvl1pPr>
            <a:lvl2pPr marL="742950" indent="-285750">
              <a:defRPr kumimoji="1" sz="2400" b="1">
                <a:solidFill>
                  <a:schemeClr val="tx1"/>
                </a:solidFill>
                <a:latin typeface="Times New Roman" charset="0"/>
                <a:ea typeface="宋体" pitchFamily="2" charset="-122"/>
              </a:defRPr>
            </a:lvl2pPr>
            <a:lvl3pPr marL="1143000" indent="-228600">
              <a:defRPr kumimoji="1" sz="2400" b="1">
                <a:solidFill>
                  <a:schemeClr val="tx1"/>
                </a:solidFill>
                <a:latin typeface="Times New Roman" charset="0"/>
                <a:ea typeface="宋体" pitchFamily="2" charset="-122"/>
              </a:defRPr>
            </a:lvl3pPr>
            <a:lvl4pPr marL="1600200" indent="-228600">
              <a:defRPr kumimoji="1" sz="2400" b="1">
                <a:solidFill>
                  <a:schemeClr val="tx1"/>
                </a:solidFill>
                <a:latin typeface="Times New Roman" charset="0"/>
                <a:ea typeface="宋体" pitchFamily="2" charset="-122"/>
              </a:defRPr>
            </a:lvl4pPr>
            <a:lvl5pPr marL="2057400" indent="-228600">
              <a:defRPr kumimoji="1" sz="2400" b="1">
                <a:solidFill>
                  <a:schemeClr val="tx1"/>
                </a:solidFill>
                <a:latin typeface="Times New Roman"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charset="0"/>
                <a:ea typeface="宋体" pitchFamily="2" charset="-122"/>
              </a:defRPr>
            </a:lvl9pPr>
          </a:lstStyle>
          <a:p>
            <a:pPr eaLnBrk="1" hangingPunct="1">
              <a:spcBef>
                <a:spcPct val="20000"/>
              </a:spcBef>
              <a:buClr>
                <a:schemeClr val="folHlink"/>
              </a:buClr>
              <a:buFont typeface="Wingdings" pitchFamily="2" charset="2"/>
              <a:buNone/>
            </a:pPr>
            <a:r>
              <a:rPr kumimoji="0" lang="zh-CN" altLang="en-US" dirty="0">
                <a:solidFill>
                  <a:srgbClr val="3333CC"/>
                </a:solidFill>
                <a:latin typeface="宋体" pitchFamily="2" charset="-122"/>
              </a:rPr>
              <a:t>图</a:t>
            </a:r>
            <a:r>
              <a:rPr kumimoji="0" lang="en-US" altLang="zh-CN" dirty="0">
                <a:solidFill>
                  <a:srgbClr val="3333CC"/>
                </a:solidFill>
                <a:latin typeface="宋体" pitchFamily="2" charset="-122"/>
              </a:rPr>
              <a:t>10-8  </a:t>
            </a:r>
            <a:r>
              <a:rPr kumimoji="0" lang="zh-CN" altLang="en-US" dirty="0">
                <a:solidFill>
                  <a:srgbClr val="3333CC"/>
                </a:solidFill>
                <a:latin typeface="宋体" pitchFamily="2" charset="-122"/>
              </a:rPr>
              <a:t>核辐射液位计的原理图</a:t>
            </a:r>
            <a:endParaRPr lang="zh-CN" altLang="en-US" dirty="0">
              <a:solidFill>
                <a:srgbClr val="3333CC"/>
              </a:solidFill>
              <a:latin typeface="宋体" pitchFamily="2" charset="-122"/>
            </a:endParaRPr>
          </a:p>
        </p:txBody>
      </p:sp>
      <p:graphicFrame>
        <p:nvGraphicFramePr>
          <p:cNvPr id="21" name="Object 74">
            <a:extLst>
              <a:ext uri="{FF2B5EF4-FFF2-40B4-BE49-F238E27FC236}">
                <a16:creationId xmlns:a16="http://schemas.microsoft.com/office/drawing/2014/main" id="{92FE651D-692C-4FAC-981D-AC9F70F4541E}"/>
              </a:ext>
            </a:extLst>
          </p:cNvPr>
          <p:cNvGraphicFramePr>
            <a:graphicFrameLocks noChangeAspect="1"/>
          </p:cNvGraphicFramePr>
          <p:nvPr>
            <p:extLst/>
          </p:nvPr>
        </p:nvGraphicFramePr>
        <p:xfrm>
          <a:off x="276219" y="2394395"/>
          <a:ext cx="4840611" cy="3787330"/>
        </p:xfrm>
        <a:graphic>
          <a:graphicData uri="http://schemas.openxmlformats.org/presentationml/2006/ole">
            <mc:AlternateContent xmlns:mc="http://schemas.openxmlformats.org/markup-compatibility/2006">
              <mc:Choice xmlns:v="urn:schemas-microsoft-com:vml" Requires="v">
                <p:oleObj spid="_x0000_s52232" name="Flash 影片" r:id="rId3" imgW="6172200" imgH="4828680" progId="Flash.Movie">
                  <p:embed/>
                </p:oleObj>
              </mc:Choice>
              <mc:Fallback>
                <p:oleObj name="Flash 影片" r:id="rId3" imgW="6172200" imgH="4828680" progId="Flash.Movie">
                  <p:embed/>
                  <p:pic>
                    <p:nvPicPr>
                      <p:cNvPr id="21" name="Object 74">
                        <a:extLst>
                          <a:ext uri="{FF2B5EF4-FFF2-40B4-BE49-F238E27FC236}">
                            <a16:creationId xmlns:a16="http://schemas.microsoft.com/office/drawing/2014/main" id="{92FE651D-692C-4FAC-981D-AC9F70F454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6219" y="2394395"/>
                        <a:ext cx="4840611" cy="3787330"/>
                      </a:xfrm>
                      <a:prstGeom prst="rect">
                        <a:avLst/>
                      </a:prstGeom>
                      <a:noFill/>
                      <a:ln>
                        <a:noFill/>
                      </a:ln>
                      <a:effectLst/>
                    </p:spPr>
                  </p:pic>
                </p:oleObj>
              </mc:Fallback>
            </mc:AlternateContent>
          </a:graphicData>
        </a:graphic>
      </p:graphicFrame>
      <p:sp>
        <p:nvSpPr>
          <p:cNvPr id="14" name="文本框 13">
            <a:extLst>
              <a:ext uri="{FF2B5EF4-FFF2-40B4-BE49-F238E27FC236}">
                <a16:creationId xmlns:a16="http://schemas.microsoft.com/office/drawing/2014/main" id="{366D43DB-825B-4199-8005-B396A7738909}"/>
              </a:ext>
            </a:extLst>
          </p:cNvPr>
          <p:cNvSpPr txBox="1"/>
          <p:nvPr/>
        </p:nvSpPr>
        <p:spPr>
          <a:xfrm>
            <a:off x="3198627" y="3599966"/>
            <a:ext cx="5831077" cy="2044338"/>
          </a:xfrm>
          <a:prstGeom prst="rect">
            <a:avLst/>
          </a:prstGeom>
          <a:noFill/>
        </p:spPr>
        <p:txBody>
          <a:bodyPr wrap="square" lIns="91436" tIns="45718" rIns="91436" bIns="45718" rtlCol="0">
            <a:spAutoFit/>
          </a:bodyPr>
          <a:lstStyle/>
          <a:p>
            <a:pPr indent="628650">
              <a:lnSpc>
                <a:spcPct val="150000"/>
              </a:lnSpc>
              <a:spcBef>
                <a:spcPts val="642"/>
              </a:spcBef>
            </a:pPr>
            <a:r>
              <a:rPr lang="zh-CN" altLang="en-US" sz="2200" b="1" dirty="0">
                <a:latin typeface="宋体" pitchFamily="2" charset="-122"/>
                <a:ea typeface="宋体" pitchFamily="2" charset="-122"/>
                <a:cs typeface="Arial" panose="020B0604020202020204" pitchFamily="34" charset="0"/>
              </a:rPr>
              <a:t>这是一种基于物质对射线的吸收程度的变化而对液位进行测量的物位计。当液面变化时，液体对射线的吸收也改变，从而可用探测器的输出信号大小来表达液位的高低。</a:t>
            </a:r>
          </a:p>
        </p:txBody>
      </p:sp>
    </p:spTree>
    <p:extLst>
      <p:ext uri="{BB962C8B-B14F-4D97-AF65-F5344CB8AC3E}">
        <p14:creationId xmlns:p14="http://schemas.microsoft.com/office/powerpoint/2010/main" val="6252774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50A9C74-D9E1-4814-8108-A57920507116}"/>
              </a:ext>
            </a:extLst>
          </p:cNvPr>
          <p:cNvSpPr txBox="1"/>
          <p:nvPr/>
        </p:nvSpPr>
        <p:spPr>
          <a:xfrm>
            <a:off x="635429" y="1702273"/>
            <a:ext cx="8244541" cy="3587517"/>
          </a:xfrm>
          <a:prstGeom prst="rect">
            <a:avLst/>
          </a:prstGeom>
          <a:noFill/>
        </p:spPr>
        <p:txBody>
          <a:bodyPr wrap="square" lIns="91436" tIns="45718" rIns="91436" bIns="45718" rtlCol="0">
            <a:spAutoFit/>
          </a:bodyPr>
          <a:lstStyle/>
          <a:p>
            <a:pPr>
              <a:lnSpc>
                <a:spcPts val="3800"/>
              </a:lnSpc>
              <a:spcBef>
                <a:spcPts val="624"/>
              </a:spcBef>
            </a:pPr>
            <a:r>
              <a:rPr lang="zh-CN" altLang="en-US" sz="2400" b="1" dirty="0">
                <a:latin typeface="宋体" panose="02010600030101010101" pitchFamily="2" charset="-122"/>
                <a:ea typeface="宋体" panose="02010600030101010101" pitchFamily="2" charset="-122"/>
              </a:rPr>
              <a:t>    放射性辐射过度地照射人体，能够引起多种放射性疾病，如皮炎、白血球减小症等，辐射的危害还可能污染周围环境。</a:t>
            </a:r>
          </a:p>
          <a:p>
            <a:pPr>
              <a:lnSpc>
                <a:spcPts val="3800"/>
              </a:lnSpc>
              <a:spcBef>
                <a:spcPts val="624"/>
              </a:spcBef>
            </a:pPr>
            <a:r>
              <a:rPr lang="zh-CN" altLang="en-US" sz="2400" b="1" dirty="0">
                <a:latin typeface="宋体" panose="02010600030101010101" pitchFamily="2" charset="-122"/>
                <a:ea typeface="宋体" panose="02010600030101010101" pitchFamily="2" charset="-122"/>
              </a:rPr>
              <a:t>    目前防护工作已逐步完善，很多问题的研究已形成专门的学科，如辐射医学、剂量学、防护学等。</a:t>
            </a:r>
          </a:p>
          <a:p>
            <a:pPr>
              <a:lnSpc>
                <a:spcPts val="3800"/>
              </a:lnSpc>
              <a:spcBef>
                <a:spcPts val="624"/>
              </a:spcBef>
            </a:pPr>
            <a:r>
              <a:rPr lang="zh-CN" altLang="en-US" sz="2400" b="1" dirty="0">
                <a:latin typeface="宋体" panose="02010600030101010101" pitchFamily="2" charset="-122"/>
                <a:ea typeface="宋体" panose="02010600030101010101" pitchFamily="2" charset="-122"/>
              </a:rPr>
              <a:t>    实际工作中要采取多种方式来减少射线的照射强度和照射时间，如采用屏蔽层，利用辅助工具，或是增加与辐射源的距离等各种措施。 </a:t>
            </a:r>
            <a:endParaRPr lang="zh-CN" altLang="en-US" sz="2800" b="1" dirty="0">
              <a:latin typeface="宋体" panose="02010600030101010101" pitchFamily="2" charset="-122"/>
              <a:ea typeface="宋体" panose="02010600030101010101" pitchFamily="2"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10.4</a:t>
            </a:r>
          </a:p>
        </p:txBody>
      </p:sp>
      <p:sp>
        <p:nvSpPr>
          <p:cNvPr id="24" name="矩形 23"/>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放射性辐射的防护</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49778051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1" y="2847433"/>
              <a:ext cx="1483101"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11</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4531577"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生物传感器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12521616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975646" y="63885"/>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2731324" y="1476220"/>
            <a:ext cx="1092989"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731324" y="2461438"/>
            <a:ext cx="1080506"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4112143" y="1365190"/>
            <a:ext cx="1111194"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概述</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4084932" y="2367566"/>
            <a:ext cx="3661572"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电化学</a:t>
            </a:r>
            <a:r>
              <a:rPr lang="en-US" altLang="zh-CN" sz="3600" b="1" dirty="0">
                <a:solidFill>
                  <a:schemeClr val="tx2"/>
                </a:solidFill>
                <a:latin typeface="宋体" panose="02010600030101010101" pitchFamily="2" charset="-122"/>
                <a:ea typeface="宋体" panose="02010600030101010101" pitchFamily="2" charset="-122"/>
                <a:hlinkClick r:id="rId4" action="ppaction://hlinksldjump"/>
              </a:rPr>
              <a:t>DNA</a:t>
            </a:r>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5" name="圆角矩形 72">
            <a:extLst>
              <a:ext uri="{FF2B5EF4-FFF2-40B4-BE49-F238E27FC236}">
                <a16:creationId xmlns:a16="http://schemas.microsoft.com/office/drawing/2014/main" id="{7FC6BBF0-77C3-40AF-86D3-A85CAF66AA58}"/>
              </a:ext>
            </a:extLst>
          </p:cNvPr>
          <p:cNvSpPr/>
          <p:nvPr/>
        </p:nvSpPr>
        <p:spPr>
          <a:xfrm rot="10800000" flipV="1">
            <a:off x="2731323" y="3446659"/>
            <a:ext cx="1073335"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11.3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 name="文本框 6">
            <a:extLst>
              <a:ext uri="{FF2B5EF4-FFF2-40B4-BE49-F238E27FC236}">
                <a16:creationId xmlns:a16="http://schemas.microsoft.com/office/drawing/2014/main" id="{2A710E0A-D4CD-4A00-B02F-5CC498406030}"/>
              </a:ext>
            </a:extLst>
          </p:cNvPr>
          <p:cNvSpPr txBox="1"/>
          <p:nvPr/>
        </p:nvSpPr>
        <p:spPr>
          <a:xfrm>
            <a:off x="4084932" y="3332310"/>
            <a:ext cx="3890801"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5" action="ppaction://hlinksldjump"/>
              </a:rPr>
              <a:t>半导体生物传感器</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8506980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185083" y="2301756"/>
            <a:ext cx="8553399" cy="2793070"/>
          </a:xfrm>
          <a:prstGeom prst="rect">
            <a:avLst/>
          </a:prstGeom>
        </p:spPr>
        <p:txBody>
          <a:bodyPr wrap="square" lIns="91438" tIns="45719" rIns="91438" bIns="45719">
            <a:spAutoFit/>
          </a:bodyPr>
          <a:lstStyle/>
          <a:p>
            <a:pPr indent="622300">
              <a:lnSpc>
                <a:spcPct val="150000"/>
              </a:lnSpc>
            </a:pPr>
            <a:r>
              <a:rPr lang="zh-CN" altLang="en-US" sz="2400" b="1" dirty="0">
                <a:latin typeface="宋体" panose="02010600030101010101" pitchFamily="2" charset="-122"/>
                <a:ea typeface="宋体" panose="02010600030101010101" pitchFamily="2" charset="-122"/>
              </a:rPr>
              <a:t>生物传感器通常将生物物质固定在高分子膜等固体载体上，例如酶、微生物组织、动物细胞、底物、抗原、抗体等。被识别的生物分子作用于生物功能性人工膜（生物传感器）时，将会产生生理变化或化学变化。换能器将此信号转换为电信号，从而检测出待测物质。</a:t>
            </a:r>
            <a:endParaRPr lang="en-US" altLang="zh-CN" sz="1400" b="1"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生物传感器的基本结构</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9" name="文本框 3"/>
          <p:cNvSpPr txBox="1"/>
          <p:nvPr/>
        </p:nvSpPr>
        <p:spPr>
          <a:xfrm>
            <a:off x="185083" y="1571636"/>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Biosensor</a:t>
            </a:r>
          </a:p>
        </p:txBody>
      </p:sp>
    </p:spTree>
    <p:extLst>
      <p:ext uri="{BB962C8B-B14F-4D97-AF65-F5344CB8AC3E}">
        <p14:creationId xmlns:p14="http://schemas.microsoft.com/office/powerpoint/2010/main" val="13190292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560610" y="1665154"/>
            <a:ext cx="7360037" cy="3901066"/>
          </a:xfrm>
          <a:prstGeom prst="rect">
            <a:avLst/>
          </a:prstGeom>
        </p:spPr>
        <p:txBody>
          <a:bodyPr wrap="square" lIns="91438" tIns="45719" rIns="91438" bIns="45719">
            <a:spAutoFit/>
          </a:bodyPr>
          <a:lstStyle/>
          <a:p>
            <a:pPr indent="622300">
              <a:lnSpc>
                <a:spcPct val="150000"/>
              </a:lnSpc>
            </a:pPr>
            <a:r>
              <a:rPr lang="zh-CN" altLang="en-US" sz="2400" b="1" dirty="0">
                <a:solidFill>
                  <a:srgbClr val="00B050"/>
                </a:solidFill>
                <a:latin typeface="宋体" panose="02010600030101010101" pitchFamily="2" charset="-122"/>
                <a:ea typeface="宋体" panose="02010600030101010101" pitchFamily="2" charset="-122"/>
              </a:rPr>
              <a:t>转换</a:t>
            </a:r>
            <a:r>
              <a:rPr lang="zh-CN" altLang="en-US" sz="2400" b="1" dirty="0">
                <a:latin typeface="宋体" panose="02010600030101010101" pitchFamily="2" charset="-122"/>
                <a:ea typeface="宋体" panose="02010600030101010101" pitchFamily="2" charset="-122"/>
              </a:rPr>
              <a:t>包括电化学反应、热反应、光反应等，输出为可处理的电信号。</a:t>
            </a:r>
            <a:endParaRPr lang="en-US" altLang="zh-CN" sz="2400" b="1" dirty="0">
              <a:latin typeface="宋体" panose="02010600030101010101" pitchFamily="2" charset="-122"/>
              <a:ea typeface="宋体" panose="02010600030101010101" pitchFamily="2" charset="-122"/>
            </a:endParaRPr>
          </a:p>
          <a:p>
            <a:pPr indent="622300">
              <a:lnSpc>
                <a:spcPct val="150000"/>
              </a:lnSpc>
            </a:pPr>
            <a:endParaRPr lang="en-US" altLang="zh-CN" sz="2400" b="1" dirty="0">
              <a:latin typeface="宋体" panose="02010600030101010101" pitchFamily="2" charset="-122"/>
              <a:ea typeface="宋体" panose="02010600030101010101" pitchFamily="2" charset="-122"/>
            </a:endParaRPr>
          </a:p>
          <a:p>
            <a:pPr indent="622300">
              <a:lnSpc>
                <a:spcPct val="150000"/>
              </a:lnSpc>
            </a:pPr>
            <a:r>
              <a:rPr lang="zh-CN" altLang="en-US" sz="2400" b="1" dirty="0">
                <a:latin typeface="宋体" panose="02010600030101010101" pitchFamily="2" charset="-122"/>
                <a:ea typeface="宋体" panose="02010600030101010101" pitchFamily="2" charset="-122"/>
              </a:rPr>
              <a:t>人们把这类</a:t>
            </a:r>
            <a:r>
              <a:rPr lang="zh-CN" altLang="en-US" sz="2400" b="1" dirty="0">
                <a:solidFill>
                  <a:srgbClr val="0070C0"/>
                </a:solidFill>
                <a:latin typeface="宋体" panose="02010600030101010101" pitchFamily="2" charset="-122"/>
                <a:ea typeface="宋体" panose="02010600030101010101" pitchFamily="2" charset="-122"/>
              </a:rPr>
              <a:t>固定化的生物物质</a:t>
            </a:r>
            <a:r>
              <a:rPr lang="zh-CN" altLang="en-US" sz="2400" b="1" dirty="0">
                <a:latin typeface="宋体" panose="02010600030101010101" pitchFamily="2" charset="-122"/>
                <a:ea typeface="宋体" panose="02010600030101010101" pitchFamily="2" charset="-122"/>
              </a:rPr>
              <a:t>（酶、抗原、抗体、激素等），或生物体本身</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细胞、细胞体（器）、组织</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作为</a:t>
            </a:r>
            <a:r>
              <a:rPr lang="zh-CN" altLang="en-US" sz="2400" b="1" dirty="0">
                <a:solidFill>
                  <a:srgbClr val="0070C0"/>
                </a:solidFill>
                <a:latin typeface="宋体" panose="02010600030101010101" pitchFamily="2" charset="-122"/>
                <a:ea typeface="宋体" panose="02010600030101010101" pitchFamily="2" charset="-122"/>
              </a:rPr>
              <a:t>敏感元件</a:t>
            </a:r>
            <a:r>
              <a:rPr lang="zh-CN" altLang="en-US" sz="2400" b="1" dirty="0">
                <a:latin typeface="宋体" panose="02010600030101010101" pitchFamily="2" charset="-122"/>
                <a:ea typeface="宋体" panose="02010600030101010101" pitchFamily="2" charset="-122"/>
              </a:rPr>
              <a:t>的传感器，称为生物分子传感器，或简称</a:t>
            </a:r>
            <a:r>
              <a:rPr lang="zh-CN" altLang="en-US" sz="2400" b="1" dirty="0">
                <a:solidFill>
                  <a:srgbClr val="FF0000"/>
                </a:solidFill>
                <a:latin typeface="宋体" panose="02010600030101010101" pitchFamily="2" charset="-122"/>
                <a:ea typeface="宋体" panose="02010600030101010101" pitchFamily="2" charset="-122"/>
              </a:rPr>
              <a:t>生物传感器</a:t>
            </a:r>
            <a:r>
              <a:rPr lang="zh-CN" altLang="en-US" sz="2400" b="1" dirty="0">
                <a:latin typeface="宋体" panose="02010600030101010101" pitchFamily="2" charset="-122"/>
                <a:ea typeface="宋体" panose="02010600030101010101" pitchFamily="2" charset="-122"/>
              </a:rPr>
              <a:t>。</a:t>
            </a:r>
            <a:endParaRPr lang="en-US" altLang="zh-CN" sz="1400" b="1"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生物传感器的基本结构</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12187291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9535" y="1646904"/>
            <a:ext cx="5296482" cy="4544832"/>
          </a:xfrm>
          <a:prstGeom prst="rect">
            <a:avLst/>
          </a:prstGeom>
        </p:spPr>
        <p:txBody>
          <a:bodyPr wrap="square" lIns="91438" tIns="45719" rIns="91438" bIns="45719">
            <a:spAutoFit/>
          </a:bodyPr>
          <a:lstStyle/>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生物传感器可以根据其分子识别元件的敏感物质分为：酶传感器、微生物传感器、组织传感器、细胞传感器和免疫传感器。</a:t>
            </a:r>
            <a:endParaRPr lang="en-US" altLang="zh-CN" sz="2400" b="1" dirty="0">
              <a:latin typeface="宋体" panose="02010600030101010101" pitchFamily="2" charset="-122"/>
              <a:ea typeface="宋体" panose="02010600030101010101" pitchFamily="2" charset="-122"/>
            </a:endParaRPr>
          </a:p>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还可以根据换能器不同分为：电极型生物传感器、测热型生物传感器、发光型生物传感器、半导体生物传感器和测声型生物传感器等。</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11.1.2</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生物传感器的类型</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Text Box 59">
            <a:extLst>
              <a:ext uri="{FF2B5EF4-FFF2-40B4-BE49-F238E27FC236}">
                <a16:creationId xmlns:a16="http://schemas.microsoft.com/office/drawing/2014/main" id="{346A7EC6-5222-4E91-988F-73BE3103502D}"/>
              </a:ext>
            </a:extLst>
          </p:cNvPr>
          <p:cNvSpPr txBox="1">
            <a:spLocks noChangeArrowheads="1"/>
          </p:cNvSpPr>
          <p:nvPr/>
        </p:nvSpPr>
        <p:spPr bwMode="auto">
          <a:xfrm>
            <a:off x="5645817" y="4213711"/>
            <a:ext cx="331309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algn="ctr"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11-1 </a:t>
            </a:r>
            <a:r>
              <a:rPr kumimoji="0" lang="zh-CN" altLang="en-US" sz="2400" b="1" dirty="0">
                <a:solidFill>
                  <a:srgbClr val="3333CC"/>
                </a:solidFill>
                <a:latin typeface="宋体" pitchFamily="2" charset="-122"/>
              </a:rPr>
              <a:t>生物传感器的基本结构</a:t>
            </a:r>
          </a:p>
        </p:txBody>
      </p:sp>
      <p:pic>
        <p:nvPicPr>
          <p:cNvPr id="19" name="图片 2">
            <a:extLst>
              <a:ext uri="{FF2B5EF4-FFF2-40B4-BE49-F238E27FC236}">
                <a16:creationId xmlns:a16="http://schemas.microsoft.com/office/drawing/2014/main" id="{40982224-1383-461F-A1A8-F72B0B88A11B}"/>
              </a:ext>
            </a:extLst>
          </p:cNvPr>
          <p:cNvPicPr>
            <a:picLocks noChangeAspect="1"/>
          </p:cNvPicPr>
          <p:nvPr/>
        </p:nvPicPr>
        <p:blipFill>
          <a:blip r:embed="rId3"/>
          <a:stretch>
            <a:fillRect/>
          </a:stretch>
        </p:blipFill>
        <p:spPr>
          <a:xfrm>
            <a:off x="5424459" y="1658756"/>
            <a:ext cx="3662392" cy="2260564"/>
          </a:xfrm>
          <a:prstGeom prst="rect">
            <a:avLst/>
          </a:prstGeom>
        </p:spPr>
      </p:pic>
    </p:spTree>
    <p:extLst>
      <p:ext uri="{BB962C8B-B14F-4D97-AF65-F5344CB8AC3E}">
        <p14:creationId xmlns:p14="http://schemas.microsoft.com/office/powerpoint/2010/main" val="174263410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1887" y="1341080"/>
            <a:ext cx="7539150" cy="1131077"/>
          </a:xfrm>
          <a:prstGeom prst="rect">
            <a:avLst/>
          </a:prstGeom>
        </p:spPr>
        <p:txBody>
          <a:bodyPr wrap="square" lIns="91438" tIns="45719" rIns="91438" bIns="45719">
            <a:spAutoFit/>
          </a:bodyPr>
          <a:lstStyle/>
          <a:p>
            <a:pPr>
              <a:lnSpc>
                <a:spcPct val="150000"/>
              </a:lnSpc>
              <a:spcBef>
                <a:spcPts val="672"/>
              </a:spcBef>
            </a:pPr>
            <a:r>
              <a:rPr lang="zh-CN" altLang="en-US" sz="2400" b="1" dirty="0">
                <a:latin typeface="宋体" panose="02010600030101010101" pitchFamily="2" charset="-122"/>
                <a:ea typeface="宋体" panose="02010600030101010101" pitchFamily="2" charset="-122"/>
              </a:rPr>
              <a:t>    生物传感器与传统的化学传感器和离线分析技术</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如分光光度计或质谱仪等</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相比，具有明显的优势：</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11.1.3</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生物传感器的优点</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1109162" y="2532543"/>
            <a:ext cx="6460348" cy="3416320"/>
          </a:xfrm>
          <a:prstGeom prst="rect">
            <a:avLst/>
          </a:prstGeom>
        </p:spPr>
        <p:txBody>
          <a:bodyPr wrap="square">
            <a:spAutoFit/>
          </a:bodyPr>
          <a:lstStyle/>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高度特异性，</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灵敏度高，</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稳定性好，</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成本低廉，</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体积小，</a:t>
            </a:r>
            <a:endParaRPr lang="en-US" altLang="zh-CN" sz="2400" b="1" dirty="0">
              <a:latin typeface="宋体" panose="02010600030101010101" pitchFamily="2" charset="-122"/>
              <a:ea typeface="宋体" panose="02010600030101010101" pitchFamily="2" charset="-122"/>
            </a:endParaRPr>
          </a:p>
          <a:p>
            <a:pPr marL="342900" indent="-342900">
              <a:lnSpc>
                <a:spcPct val="150000"/>
              </a:lnSpc>
              <a:buClr>
                <a:srgbClr val="7030A0"/>
              </a:buClr>
              <a:buFont typeface="Arial" panose="020B0604020202020204" pitchFamily="34" charset="0"/>
              <a:buChar char="•"/>
            </a:pPr>
            <a:r>
              <a:rPr lang="zh-CN" altLang="en-US" sz="2400" b="1" dirty="0">
                <a:latin typeface="宋体" panose="02010600030101010101" pitchFamily="2" charset="-122"/>
                <a:ea typeface="宋体" panose="02010600030101010101" pitchFamily="2" charset="-122"/>
              </a:rPr>
              <a:t>能在复杂的体系中进行快速实时的连续检测。</a:t>
            </a:r>
            <a:endParaRPr lang="zh-CN" altLang="en-US" sz="2400" dirty="0"/>
          </a:p>
        </p:txBody>
      </p:sp>
    </p:spTree>
    <p:extLst>
      <p:ext uri="{BB962C8B-B14F-4D97-AF65-F5344CB8AC3E}">
        <p14:creationId xmlns:p14="http://schemas.microsoft.com/office/powerpoint/2010/main" val="350208654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119716" y="1852499"/>
            <a:ext cx="8839200" cy="2882838"/>
          </a:xfrm>
          <a:prstGeom prst="rect">
            <a:avLst/>
          </a:prstGeom>
        </p:spPr>
        <p:txBody>
          <a:bodyPr wrap="square" lIns="91438" tIns="45719" rIns="91438" bIns="45719">
            <a:spAutoFit/>
          </a:bodyPr>
          <a:lstStyle/>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生物活性单元的</a:t>
            </a:r>
            <a:r>
              <a:rPr lang="zh-CN" altLang="en-US" sz="2400" b="1" dirty="0">
                <a:solidFill>
                  <a:srgbClr val="FF0000"/>
                </a:solidFill>
                <a:latin typeface="宋体" panose="02010600030101010101" pitchFamily="2" charset="-122"/>
                <a:ea typeface="宋体" panose="02010600030101010101" pitchFamily="2" charset="-122"/>
              </a:rPr>
              <a:t>固定化技术</a:t>
            </a:r>
            <a:r>
              <a:rPr lang="zh-CN" altLang="en-US" sz="2400" b="1" dirty="0">
                <a:latin typeface="宋体" panose="02010600030101010101" pitchFamily="2" charset="-122"/>
                <a:ea typeface="宋体" panose="02010600030101010101" pitchFamily="2" charset="-122"/>
              </a:rPr>
              <a:t>是生物传感器制作的</a:t>
            </a:r>
            <a:r>
              <a:rPr lang="zh-CN" altLang="en-US" sz="2400" b="1" dirty="0">
                <a:solidFill>
                  <a:srgbClr val="FF0000"/>
                </a:solidFill>
                <a:latin typeface="宋体" panose="02010600030101010101" pitchFamily="2" charset="-122"/>
                <a:ea typeface="宋体" panose="02010600030101010101" pitchFamily="2" charset="-122"/>
              </a:rPr>
              <a:t>核心</a:t>
            </a:r>
            <a:r>
              <a:rPr lang="zh-CN" altLang="en-US" sz="2400" b="1" dirty="0">
                <a:latin typeface="宋体" panose="02010600030101010101" pitchFamily="2" charset="-122"/>
                <a:ea typeface="宋体" panose="02010600030101010101" pitchFamily="2" charset="-122"/>
              </a:rPr>
              <a:t>部分，它要保持生物活性单元的固有特性，并避免自由活性单元应用上的缺陷。</a:t>
            </a:r>
            <a:endParaRPr lang="en-US" altLang="zh-CN" sz="2400" b="1" dirty="0">
              <a:latin typeface="宋体" panose="02010600030101010101" pitchFamily="2" charset="-122"/>
              <a:ea typeface="宋体" panose="02010600030101010101" pitchFamily="2" charset="-122"/>
            </a:endParaRPr>
          </a:p>
          <a:p>
            <a:pPr indent="622300">
              <a:lnSpc>
                <a:spcPct val="150000"/>
              </a:lnSpc>
              <a:spcBef>
                <a:spcPts val="672"/>
              </a:spcBef>
            </a:pPr>
            <a:r>
              <a:rPr lang="zh-CN" altLang="en-US" sz="2400" b="1" dirty="0">
                <a:latin typeface="宋体" panose="02010600030101010101" pitchFamily="2" charset="-122"/>
                <a:ea typeface="宋体" panose="02010600030101010101" pitchFamily="2" charset="-122"/>
              </a:rPr>
              <a:t>固定化技术决定着生物传感器的稳定性、灵敏度和选择性等主要性能。</a:t>
            </a:r>
            <a:endParaRPr lang="en-US" altLang="zh-CN" sz="1400" dirty="0">
              <a:latin typeface="微软雅黑" panose="020B0503020204020204" pitchFamily="34" charset="-122"/>
              <a:ea typeface="微软雅黑" panose="020B0503020204020204" pitchFamily="34"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11.1.4</a:t>
            </a:r>
          </a:p>
        </p:txBody>
      </p:sp>
      <p:sp>
        <p:nvSpPr>
          <p:cNvPr id="28" name="矩形 27"/>
          <p:cNvSpPr/>
          <p:nvPr/>
        </p:nvSpPr>
        <p:spPr>
          <a:xfrm>
            <a:off x="1960201" y="329520"/>
            <a:ext cx="499847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生物传感器的固定化技术</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5406035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329778" y="1635117"/>
            <a:ext cx="8484444" cy="3329754"/>
          </a:xfrm>
          <a:prstGeom prst="rect">
            <a:avLst/>
          </a:prstGeom>
          <a:noFill/>
        </p:spPr>
        <p:txBody>
          <a:bodyPr wrap="square" lIns="91436" tIns="45718" rIns="91436" bIns="45718" rtlCol="0">
            <a:spAutoFit/>
          </a:bodyPr>
          <a:lstStyle/>
          <a:p>
            <a:pPr>
              <a:lnSpc>
                <a:spcPct val="150000"/>
              </a:lnSpc>
            </a:pPr>
            <a:r>
              <a:rPr lang="zh-CN" altLang="en-US" sz="2400" b="1" dirty="0">
                <a:latin typeface="宋体" panose="02010600030101010101" pitchFamily="2" charset="-122"/>
                <a:ea typeface="宋体" panose="02010600030101010101" pitchFamily="2" charset="-122"/>
              </a:rPr>
              <a:t>    </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的化学研究工作始于</a:t>
            </a:r>
            <a:r>
              <a:rPr lang="en-US" altLang="zh-CN" sz="2400" b="1" dirty="0">
                <a:latin typeface="宋体" pitchFamily="2" charset="-122"/>
                <a:ea typeface="宋体" pitchFamily="2" charset="-122"/>
                <a:cs typeface="Arial" panose="020B0604020202020204" pitchFamily="34" charset="0"/>
              </a:rPr>
              <a:t>20</a:t>
            </a:r>
            <a:r>
              <a:rPr lang="zh-CN" altLang="en-US" sz="2400" b="1" dirty="0">
                <a:latin typeface="宋体" pitchFamily="2" charset="-122"/>
                <a:ea typeface="宋体" pitchFamily="2" charset="-122"/>
                <a:cs typeface="Arial" panose="020B0604020202020204" pitchFamily="34" charset="0"/>
              </a:rPr>
              <a:t>世纪</a:t>
            </a:r>
            <a:r>
              <a:rPr lang="en-US" altLang="zh-CN" sz="2400" b="1" dirty="0">
                <a:latin typeface="宋体" pitchFamily="2" charset="-122"/>
                <a:ea typeface="宋体" pitchFamily="2" charset="-122"/>
                <a:cs typeface="Arial" panose="020B0604020202020204" pitchFamily="34" charset="0"/>
              </a:rPr>
              <a:t>60</a:t>
            </a:r>
            <a:r>
              <a:rPr lang="zh-CN" altLang="en-US" sz="2400" b="1" dirty="0">
                <a:latin typeface="宋体" pitchFamily="2" charset="-122"/>
                <a:ea typeface="宋体" pitchFamily="2" charset="-122"/>
                <a:cs typeface="Arial" panose="020B0604020202020204" pitchFamily="34" charset="0"/>
              </a:rPr>
              <a:t>年代，早期的工作主要集中在</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基本电化学行为的研究。</a:t>
            </a:r>
            <a:endParaRPr lang="en-US" altLang="zh-CN" sz="2400" b="1" dirty="0">
              <a:latin typeface="宋体" pitchFamily="2" charset="-122"/>
              <a:ea typeface="宋体" pitchFamily="2" charset="-122"/>
              <a:cs typeface="Arial" panose="020B0604020202020204" pitchFamily="34" charset="0"/>
            </a:endParaRPr>
          </a:p>
          <a:p>
            <a:pPr indent="622300">
              <a:lnSpc>
                <a:spcPct val="150000"/>
              </a:lnSpc>
            </a:pPr>
            <a:r>
              <a:rPr lang="zh-CN" altLang="en-US" sz="2400" b="1" dirty="0">
                <a:latin typeface="宋体" pitchFamily="2" charset="-122"/>
                <a:ea typeface="宋体" pitchFamily="2" charset="-122"/>
                <a:cs typeface="Arial" panose="020B0604020202020204" pitchFamily="34" charset="0"/>
              </a:rPr>
              <a:t>电化学</a:t>
            </a:r>
            <a:r>
              <a:rPr lang="en-US" altLang="zh-CN" sz="2400" b="1" dirty="0">
                <a:latin typeface="宋体" pitchFamily="2" charset="-122"/>
                <a:ea typeface="宋体" pitchFamily="2" charset="-122"/>
                <a:cs typeface="Arial" panose="020B0604020202020204" pitchFamily="34" charset="0"/>
              </a:rPr>
              <a:t>DNA</a:t>
            </a:r>
            <a:r>
              <a:rPr lang="zh-CN" altLang="en-US" sz="2400" b="1" dirty="0">
                <a:latin typeface="宋体" pitchFamily="2" charset="-122"/>
                <a:ea typeface="宋体" pitchFamily="2" charset="-122"/>
                <a:cs typeface="Arial" panose="020B0604020202020204" pitchFamily="34" charset="0"/>
              </a:rPr>
              <a:t>传感器已成为一种高效的</a:t>
            </a:r>
            <a:r>
              <a:rPr lang="en-US" altLang="zh-CN" sz="2400" b="1" dirty="0">
                <a:solidFill>
                  <a:srgbClr val="FF0000"/>
                </a:solidFill>
                <a:latin typeface="宋体" pitchFamily="2" charset="-122"/>
                <a:ea typeface="宋体" pitchFamily="2" charset="-122"/>
                <a:cs typeface="Arial" panose="020B0604020202020204" pitchFamily="34" charset="0"/>
              </a:rPr>
              <a:t>DNA</a:t>
            </a:r>
            <a:r>
              <a:rPr lang="zh-CN" altLang="en-US" sz="2400" b="1" dirty="0">
                <a:solidFill>
                  <a:srgbClr val="FF0000"/>
                </a:solidFill>
                <a:latin typeface="宋体" pitchFamily="2" charset="-122"/>
                <a:ea typeface="宋体" pitchFamily="2" charset="-122"/>
                <a:cs typeface="Arial" panose="020B0604020202020204" pitchFamily="34" charset="0"/>
              </a:rPr>
              <a:t>（基因）检测</a:t>
            </a:r>
            <a:r>
              <a:rPr lang="zh-CN" altLang="en-US" sz="2400" b="1" dirty="0">
                <a:latin typeface="宋体" pitchFamily="2" charset="-122"/>
                <a:ea typeface="宋体" pitchFamily="2" charset="-122"/>
                <a:cs typeface="Arial" panose="020B0604020202020204" pitchFamily="34" charset="0"/>
              </a:rPr>
              <a:t>技术。</a:t>
            </a:r>
            <a:endParaRPr lang="en-US" altLang="zh-CN" sz="2400" b="1" dirty="0">
              <a:latin typeface="宋体" pitchFamily="2" charset="-122"/>
              <a:ea typeface="宋体" pitchFamily="2" charset="-122"/>
              <a:cs typeface="Arial" panose="020B0604020202020204" pitchFamily="34" charset="0"/>
            </a:endParaRPr>
          </a:p>
          <a:p>
            <a:pPr indent="622300">
              <a:lnSpc>
                <a:spcPct val="150000"/>
              </a:lnSpc>
            </a:pPr>
            <a:r>
              <a:rPr lang="zh-CN" altLang="en-US" sz="2400" b="1" dirty="0">
                <a:latin typeface="宋体" pitchFamily="2" charset="-122"/>
                <a:ea typeface="宋体" pitchFamily="2" charset="-122"/>
                <a:cs typeface="Arial" panose="020B0604020202020204" pitchFamily="34" charset="0"/>
              </a:rPr>
              <a:t>它与通常的标记（放射性同位素标记、荧光标记等）探针技术相比，不仅具有</a:t>
            </a:r>
            <a:r>
              <a:rPr lang="zh-CN" altLang="en-US" sz="2400" b="1" dirty="0">
                <a:solidFill>
                  <a:srgbClr val="0070C0"/>
                </a:solidFill>
                <a:latin typeface="宋体" pitchFamily="2" charset="-122"/>
                <a:ea typeface="宋体" pitchFamily="2" charset="-122"/>
                <a:cs typeface="Arial" panose="020B0604020202020204" pitchFamily="34" charset="0"/>
              </a:rPr>
              <a:t>分子识别</a:t>
            </a:r>
            <a:r>
              <a:rPr lang="zh-CN" altLang="en-US" sz="2400" b="1" dirty="0">
                <a:latin typeface="宋体" pitchFamily="2" charset="-122"/>
                <a:ea typeface="宋体" pitchFamily="2" charset="-122"/>
                <a:cs typeface="Arial" panose="020B0604020202020204" pitchFamily="34" charset="0"/>
              </a:rPr>
              <a:t>功能，还有无可比拟的</a:t>
            </a:r>
            <a:r>
              <a:rPr lang="zh-CN" altLang="en-US" sz="2400" b="1" dirty="0">
                <a:solidFill>
                  <a:srgbClr val="0070C0"/>
                </a:solidFill>
                <a:latin typeface="宋体" pitchFamily="2" charset="-122"/>
                <a:ea typeface="宋体" pitchFamily="2" charset="-122"/>
                <a:cs typeface="Arial" panose="020B0604020202020204" pitchFamily="34" charset="0"/>
              </a:rPr>
              <a:t>分离纯化基因</a:t>
            </a:r>
            <a:r>
              <a:rPr lang="zh-CN" altLang="en-US" sz="2400" b="1" dirty="0">
                <a:latin typeface="宋体" pitchFamily="2" charset="-122"/>
                <a:ea typeface="宋体" pitchFamily="2" charset="-122"/>
                <a:cs typeface="Arial" panose="020B0604020202020204" pitchFamily="34" charset="0"/>
              </a:rPr>
              <a:t>的功能。 </a:t>
            </a:r>
          </a:p>
        </p:txBody>
      </p:sp>
      <p:sp>
        <p:nvSpPr>
          <p:cNvPr id="39" name="矩形 38"/>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40" name="圆角矩形 39"/>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11.2</a:t>
            </a:r>
          </a:p>
        </p:txBody>
      </p:sp>
      <p:sp>
        <p:nvSpPr>
          <p:cNvPr id="41" name="矩形 40"/>
          <p:cNvSpPr/>
          <p:nvPr/>
        </p:nvSpPr>
        <p:spPr>
          <a:xfrm>
            <a:off x="1960201" y="329520"/>
            <a:ext cx="3469211"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电化学</a:t>
            </a:r>
            <a:r>
              <a:rPr lang="en-US" altLang="zh-CN" sz="3400" b="1" dirty="0">
                <a:solidFill>
                  <a:schemeClr val="bg1"/>
                </a:solidFill>
                <a:latin typeface="宋体" panose="02010600030101010101" pitchFamily="2" charset="-122"/>
                <a:ea typeface="宋体" panose="02010600030101010101" pitchFamily="2" charset="-122"/>
                <a:sym typeface="+mn-ea"/>
              </a:rPr>
              <a:t>DNA</a:t>
            </a:r>
            <a:r>
              <a:rPr lang="zh-CN" altLang="en-US" sz="3400" b="1" dirty="0">
                <a:solidFill>
                  <a:schemeClr val="bg1"/>
                </a:solidFill>
                <a:latin typeface="宋体" panose="02010600030101010101" pitchFamily="2" charset="-122"/>
                <a:ea typeface="宋体" panose="02010600030101010101" pitchFamily="2" charset="-122"/>
                <a:sym typeface="+mn-ea"/>
              </a:rPr>
              <a:t>传感器</a:t>
            </a:r>
          </a:p>
        </p:txBody>
      </p:sp>
      <p:grpSp>
        <p:nvGrpSpPr>
          <p:cNvPr id="42" name="组 42"/>
          <p:cNvGrpSpPr/>
          <p:nvPr/>
        </p:nvGrpSpPr>
        <p:grpSpPr>
          <a:xfrm>
            <a:off x="8590580" y="252857"/>
            <a:ext cx="553419" cy="484288"/>
            <a:chOff x="11454105" y="252856"/>
            <a:chExt cx="737892" cy="484288"/>
          </a:xfrm>
        </p:grpSpPr>
        <p:grpSp>
          <p:nvGrpSpPr>
            <p:cNvPr id="43" name="组 49"/>
            <p:cNvGrpSpPr/>
            <p:nvPr/>
          </p:nvGrpSpPr>
          <p:grpSpPr>
            <a:xfrm>
              <a:off x="12039604" y="252856"/>
              <a:ext cx="152393" cy="484287"/>
              <a:chOff x="12039604" y="252856"/>
              <a:chExt cx="152393" cy="484287"/>
            </a:xfrm>
          </p:grpSpPr>
          <p:sp>
            <p:nvSpPr>
              <p:cNvPr id="47" name="圆角矩形 46"/>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99"/>
            <p:cNvGrpSpPr/>
            <p:nvPr/>
          </p:nvGrpSpPr>
          <p:grpSpPr>
            <a:xfrm>
              <a:off x="11454105" y="252857"/>
              <a:ext cx="491115" cy="484287"/>
              <a:chOff x="1528923" y="220268"/>
              <a:chExt cx="1284096" cy="1266241"/>
            </a:xfrm>
          </p:grpSpPr>
          <p:sp>
            <p:nvSpPr>
              <p:cNvPr id="45" name="圆角矩形 44"/>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1184738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2162" y="2603525"/>
            <a:ext cx="6475423" cy="3690752"/>
          </a:xfrm>
          <a:prstGeom prst="rect">
            <a:avLst/>
          </a:prstGeom>
        </p:spPr>
        <p:txBody>
          <a:bodyPr wrap="square" lIns="91438" tIns="45719" rIns="91438" bIns="45719">
            <a:spAutoFit/>
          </a:bodyPr>
          <a:lstStyle/>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1</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）电化学活性的杂交指示剂作为标识物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2</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）寡聚核苷酸上修饰电化学活性的官能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            团作为识别物</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3</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）利用酶的化学放大功能</a:t>
            </a:r>
          </a:p>
          <a:p>
            <a:pPr>
              <a:spcBef>
                <a:spcPts val="672"/>
              </a:spcBef>
            </a:pP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740230" y="1448051"/>
            <a:ext cx="8139740" cy="4617625"/>
          </a:xfrm>
        </p:spPr>
        <p:txBody>
          <a:bodyPr>
            <a:normAutofit/>
          </a:bodyPr>
          <a:lstStyle/>
          <a:p>
            <a:pPr marL="457200" indent="-457200" eaLnBrk="1" hangingPunct="1">
              <a:lnSpc>
                <a:spcPts val="3500"/>
              </a:lnSpc>
              <a:spcBef>
                <a:spcPts val="0"/>
              </a:spcBef>
              <a:buAutoNum type="arabicPeriod"/>
              <a:defRPr/>
            </a:pPr>
            <a:r>
              <a:rPr lang="zh-CN" altLang="en-US"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rPr>
              <a:t>临床诊断</a:t>
            </a:r>
            <a:endParaRPr lang="en-US" altLang="zh-CN"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利用</a:t>
            </a:r>
            <a:r>
              <a:rPr lang="en-US" altLang="zh-CN" sz="2400" b="1" dirty="0">
                <a:latin typeface="宋体" panose="02010600030101010101" pitchFamily="2" charset="-122"/>
                <a:ea typeface="宋体" panose="02010600030101010101" pitchFamily="2" charset="-122"/>
                <a:cs typeface="Arial" panose="020B0604020202020204" pitchFamily="34" charset="0"/>
              </a:rPr>
              <a:t>DNA</a:t>
            </a:r>
            <a:r>
              <a:rPr lang="zh-CN" altLang="en-US" sz="2400" b="1" dirty="0">
                <a:latin typeface="宋体" panose="02010600030101010101" pitchFamily="2" charset="-122"/>
                <a:ea typeface="宋体" panose="02010600030101010101" pitchFamily="2" charset="-122"/>
                <a:cs typeface="Arial" panose="020B0604020202020204" pitchFamily="34" charset="0"/>
              </a:rPr>
              <a:t>传感器可快速检测细菌和病毒，如测量艾滋病病毒</a:t>
            </a:r>
            <a:r>
              <a:rPr lang="en-US" altLang="zh-CN" sz="2400" b="1" dirty="0">
                <a:latin typeface="宋体" panose="02010600030101010101" pitchFamily="2" charset="-122"/>
                <a:ea typeface="宋体" panose="02010600030101010101" pitchFamily="2" charset="-122"/>
                <a:cs typeface="Arial" panose="020B0604020202020204" pitchFamily="34" charset="0"/>
              </a:rPr>
              <a:t>DNA</a:t>
            </a:r>
            <a:r>
              <a:rPr lang="zh-CN" altLang="en-US" sz="2400" b="1" dirty="0">
                <a:latin typeface="宋体" panose="02010600030101010101" pitchFamily="2" charset="-122"/>
                <a:ea typeface="宋体" panose="02010600030101010101" pitchFamily="2" charset="-122"/>
                <a:cs typeface="Arial" panose="020B0604020202020204" pitchFamily="34" charset="0"/>
              </a:rPr>
              <a:t>序列。</a:t>
            </a:r>
            <a:r>
              <a:rPr lang="zh-CN" altLang="en-US" sz="2400" b="1" kern="1200" dirty="0">
                <a:latin typeface="宋体" panose="02010600030101010101" pitchFamily="2" charset="-122"/>
                <a:ea typeface="宋体" panose="02010600030101010101" pitchFamily="2" charset="-122"/>
                <a:cs typeface="Arial" panose="020B0604020202020204" pitchFamily="34" charset="0"/>
              </a:rPr>
              <a:t> </a:t>
            </a:r>
          </a:p>
          <a:p>
            <a:pPr marL="0" indent="0" eaLnBrk="1" hangingPunct="1">
              <a:lnSpc>
                <a:spcPts val="35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rPr>
              <a:t>药物分析</a:t>
            </a:r>
            <a:endParaRPr lang="en-US" altLang="zh-CN" sz="2400" b="1" kern="1200" dirty="0">
              <a:solidFill>
                <a:srgbClr val="0070C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可用于一些</a:t>
            </a:r>
            <a:r>
              <a:rPr lang="en-US" altLang="zh-CN" sz="2400" b="1" kern="1200" dirty="0">
                <a:latin typeface="宋体" panose="02010600030101010101" pitchFamily="2" charset="-122"/>
                <a:ea typeface="宋体" panose="02010600030101010101" pitchFamily="2" charset="-122"/>
                <a:cs typeface="Arial" panose="020B0604020202020204" pitchFamily="34" charset="0"/>
              </a:rPr>
              <a:t>DNA</a:t>
            </a:r>
            <a:r>
              <a:rPr lang="zh-CN" altLang="en-US" sz="2400" b="1" kern="1200" dirty="0">
                <a:latin typeface="宋体" panose="02010600030101010101" pitchFamily="2" charset="-122"/>
                <a:ea typeface="宋体" panose="02010600030101010101" pitchFamily="2" charset="-122"/>
                <a:cs typeface="Arial" panose="020B0604020202020204" pitchFamily="34" charset="0"/>
              </a:rPr>
              <a:t>结合药物的检测以及新型药物分子的设计，如用于抗疟药阿的平、吩噻类药物电化学测量。</a:t>
            </a:r>
          </a:p>
          <a:p>
            <a:pPr marL="0" indent="0" eaLnBrk="1" hangingPunct="1">
              <a:lnSpc>
                <a:spcPts val="35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rPr>
              <a:t>环境监测</a:t>
            </a:r>
            <a:endParaRPr lang="en-US" altLang="zh-CN" sz="2400" b="1" kern="1200" dirty="0">
              <a:solidFill>
                <a:srgbClr val="00B050"/>
              </a:solidFill>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5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用于受感染微生物的核酸序列分析、微量污染物的检测，研究污染物与</a:t>
            </a:r>
            <a:r>
              <a:rPr lang="en-US" altLang="zh-CN" sz="2400" b="1" kern="1200" dirty="0">
                <a:latin typeface="宋体" panose="02010600030101010101" pitchFamily="2" charset="-122"/>
                <a:ea typeface="宋体" panose="02010600030101010101" pitchFamily="2" charset="-122"/>
                <a:cs typeface="Arial" panose="020B0604020202020204" pitchFamily="34" charset="0"/>
              </a:rPr>
              <a:t>DNA</a:t>
            </a:r>
            <a:r>
              <a:rPr lang="zh-CN" altLang="en-US" sz="2400" b="1" kern="1200" dirty="0">
                <a:latin typeface="宋体" panose="02010600030101010101" pitchFamily="2" charset="-122"/>
                <a:ea typeface="宋体" panose="02010600030101010101" pitchFamily="2" charset="-122"/>
                <a:cs typeface="Arial" panose="020B0604020202020204" pitchFamily="34" charset="0"/>
              </a:rPr>
              <a:t>之间的相互作用。</a:t>
            </a: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11.2</a:t>
            </a:r>
          </a:p>
        </p:txBody>
      </p:sp>
      <p:sp>
        <p:nvSpPr>
          <p:cNvPr id="28" name="矩形 27"/>
          <p:cNvSpPr/>
          <p:nvPr/>
        </p:nvSpPr>
        <p:spPr>
          <a:xfrm>
            <a:off x="1960201" y="329520"/>
            <a:ext cx="4783674"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电化学</a:t>
            </a:r>
            <a:r>
              <a:rPr lang="en-US" altLang="zh-CN" sz="3400" b="1" dirty="0">
                <a:solidFill>
                  <a:schemeClr val="bg1"/>
                </a:solidFill>
                <a:latin typeface="宋体" panose="02010600030101010101" pitchFamily="2" charset="-122"/>
                <a:ea typeface="宋体" panose="02010600030101010101" pitchFamily="2" charset="-122"/>
                <a:sym typeface="+mn-ea"/>
              </a:rPr>
              <a:t>DNA</a:t>
            </a:r>
            <a:r>
              <a:rPr lang="zh-CN" altLang="en-US" sz="3400" b="1" dirty="0">
                <a:solidFill>
                  <a:schemeClr val="bg1"/>
                </a:solidFill>
                <a:latin typeface="宋体" panose="02010600030101010101" pitchFamily="2" charset="-122"/>
                <a:ea typeface="宋体" panose="02010600030101010101" pitchFamily="2" charset="-122"/>
                <a:sym typeface="+mn-ea"/>
              </a:rPr>
              <a:t>传感器</a:t>
            </a:r>
            <a:r>
              <a:rPr lang="en-US" altLang="zh-CN" sz="3400" b="1" dirty="0">
                <a:solidFill>
                  <a:schemeClr val="bg1"/>
                </a:solidFill>
                <a:latin typeface="宋体" panose="02010600030101010101" pitchFamily="2" charset="-122"/>
                <a:ea typeface="宋体" panose="02010600030101010101" pitchFamily="2" charset="-122"/>
                <a:sym typeface="+mn-ea"/>
              </a:rPr>
              <a:t>--</a:t>
            </a:r>
            <a:r>
              <a:rPr lang="zh-CN" altLang="en-US" sz="3400" b="1" dirty="0">
                <a:solidFill>
                  <a:schemeClr val="bg1"/>
                </a:solidFill>
                <a:latin typeface="宋体" panose="02010600030101010101" pitchFamily="2" charset="-122"/>
                <a:ea typeface="宋体" panose="02010600030101010101" pitchFamily="2" charset="-122"/>
                <a:sym typeface="+mn-ea"/>
              </a:rPr>
              <a:t>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327284250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744721" y="2262531"/>
            <a:ext cx="7346466" cy="2775756"/>
          </a:xfrm>
          <a:prstGeom prst="rect">
            <a:avLst/>
          </a:prstGeom>
          <a:noFill/>
        </p:spPr>
        <p:txBody>
          <a:bodyPr wrap="square" lIns="91436" tIns="45718" rIns="91436" bIns="45718" rtlCol="0">
            <a:spAutoFit/>
          </a:bodyPr>
          <a:lstStyle/>
          <a:p>
            <a:pPr indent="622300">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由半导体器件和生物分子识别元件组成。</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22300">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常用场效应晶体管</a:t>
            </a:r>
            <a:r>
              <a:rPr lang="en-US" altLang="zh-CN" sz="2400" b="1" dirty="0">
                <a:latin typeface="宋体" panose="02010600030101010101" pitchFamily="2" charset="-122"/>
                <a:ea typeface="宋体" panose="02010600030101010101" pitchFamily="2" charset="-122"/>
                <a:cs typeface="Arial" panose="020B0604020202020204" pitchFamily="34" charset="0"/>
              </a:rPr>
              <a:t>(field-effect transistor </a:t>
            </a:r>
            <a:r>
              <a:rPr lang="zh-CN" altLang="en-US" sz="2400" b="1" dirty="0">
                <a:latin typeface="宋体" panose="02010600030101010101" pitchFamily="2" charset="-122"/>
                <a:ea typeface="宋体" panose="02010600030101010101" pitchFamily="2" charset="-122"/>
                <a:cs typeface="Arial" panose="020B0604020202020204" pitchFamily="34" charset="0"/>
              </a:rPr>
              <a:t>，即</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，因此，半导体生物传感器又称生物场效应晶体管（</a:t>
            </a:r>
            <a:r>
              <a:rPr lang="en-US" altLang="zh-CN" sz="2400" b="1" dirty="0" err="1">
                <a:latin typeface="宋体" panose="02010600030101010101" pitchFamily="2" charset="-122"/>
                <a:ea typeface="宋体" panose="02010600030101010101" pitchFamily="2" charset="-122"/>
                <a:cs typeface="Arial" panose="020B0604020202020204" pitchFamily="34" charset="0"/>
              </a:rPr>
              <a:t>BioFET</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err="1">
                <a:latin typeface="宋体" panose="02010600030101010101" pitchFamily="2" charset="-122"/>
                <a:ea typeface="宋体" panose="02010600030101010101" pitchFamily="2" charset="-122"/>
                <a:cs typeface="Arial" panose="020B0604020202020204" pitchFamily="34" charset="0"/>
              </a:rPr>
              <a:t>BioFET</a:t>
            </a:r>
            <a:r>
              <a:rPr lang="en-US" altLang="zh-CN" sz="2400" b="1" dirty="0">
                <a:latin typeface="宋体" panose="02010600030101010101" pitchFamily="2" charset="-122"/>
                <a:ea typeface="宋体" panose="02010600030101010101" pitchFamily="2" charset="-122"/>
                <a:cs typeface="Arial" panose="020B0604020202020204" pitchFamily="34" charset="0"/>
              </a:rPr>
              <a:t> </a:t>
            </a:r>
            <a:r>
              <a:rPr lang="zh-CN" altLang="en-US" sz="2400" b="1" dirty="0">
                <a:latin typeface="宋体" panose="02010600030101010101" pitchFamily="2" charset="-122"/>
                <a:ea typeface="宋体" panose="02010600030101010101" pitchFamily="2" charset="-122"/>
                <a:cs typeface="Arial" panose="020B0604020202020204" pitchFamily="34" charset="0"/>
              </a:rPr>
              <a:t>源于两种成熟技术：</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固态集成电路</a:t>
            </a:r>
            <a:r>
              <a:rPr lang="zh-CN" altLang="en-US" sz="2400" b="1" dirty="0">
                <a:latin typeface="宋体" panose="02010600030101010101" pitchFamily="2" charset="-122"/>
                <a:ea typeface="宋体" panose="02010600030101010101" pitchFamily="2" charset="-122"/>
                <a:cs typeface="Arial" panose="020B0604020202020204" pitchFamily="34" charset="0"/>
              </a:rPr>
              <a:t>和</a:t>
            </a:r>
            <a:r>
              <a:rPr lang="zh-CN" altLang="en-US" sz="2400" b="1" dirty="0">
                <a:solidFill>
                  <a:srgbClr val="0070C0"/>
                </a:solidFill>
                <a:latin typeface="宋体" panose="02010600030101010101" pitchFamily="2" charset="-122"/>
                <a:ea typeface="宋体" panose="02010600030101010101" pitchFamily="2" charset="-122"/>
                <a:cs typeface="Arial" panose="020B0604020202020204" pitchFamily="34" charset="0"/>
              </a:rPr>
              <a:t>离子选择性电极</a:t>
            </a:r>
            <a:r>
              <a:rPr lang="zh-CN" altLang="en-US" sz="2400" b="1" dirty="0">
                <a:latin typeface="宋体" panose="02010600030101010101" pitchFamily="2" charset="-122"/>
                <a:ea typeface="宋体" panose="02010600030101010101" pitchFamily="2" charset="-122"/>
                <a:cs typeface="Arial" panose="020B0604020202020204" pitchFamily="34" charset="0"/>
              </a:rPr>
              <a:t>。 </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8" name="矩形 27"/>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1" name="文本框 3"/>
          <p:cNvSpPr txBox="1"/>
          <p:nvPr/>
        </p:nvSpPr>
        <p:spPr>
          <a:xfrm>
            <a:off x="478728" y="1511700"/>
            <a:ext cx="6648562" cy="461665"/>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err="1">
                <a:solidFill>
                  <a:srgbClr val="C00000"/>
                </a:solidFill>
                <a:latin typeface="宋体" panose="02010600030101010101" pitchFamily="2" charset="-122"/>
                <a:ea typeface="宋体" panose="02010600030101010101" pitchFamily="2" charset="-122"/>
              </a:rPr>
              <a:t>Semiconductive</a:t>
            </a:r>
            <a:r>
              <a:rPr lang="en-US" altLang="zh-CN" sz="2400" b="1" dirty="0">
                <a:solidFill>
                  <a:srgbClr val="C00000"/>
                </a:solidFill>
                <a:latin typeface="宋体" panose="02010600030101010101" pitchFamily="2" charset="-122"/>
                <a:ea typeface="宋体" panose="02010600030101010101" pitchFamily="2" charset="-122"/>
              </a:rPr>
              <a:t> Biosensor</a:t>
            </a:r>
          </a:p>
        </p:txBody>
      </p:sp>
    </p:spTree>
    <p:extLst>
      <p:ext uri="{BB962C8B-B14F-4D97-AF65-F5344CB8AC3E}">
        <p14:creationId xmlns:p14="http://schemas.microsoft.com/office/powerpoint/2010/main" val="14405503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571709" y="2264253"/>
            <a:ext cx="6475423" cy="3416318"/>
          </a:xfrm>
          <a:prstGeom prst="rect">
            <a:avLst/>
          </a:prstGeom>
        </p:spPr>
        <p:txBody>
          <a:bodyPr wrap="square" lIns="91438" tIns="45719" rIns="91438" bIns="45719">
            <a:spAutoFit/>
          </a:bodyPr>
          <a:lstStyle/>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构造简单，便于批量制作，成本低。</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固态，机械性能好，耐振动，寿命长。</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输出阻抗低。</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体积小，可微型化。</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可在同一硅片上集成多种传感器。</a:t>
            </a:r>
            <a:endParaRPr lang="en-US" altLang="zh-CN" sz="2400" b="1" dirty="0">
              <a:latin typeface="宋体" pitchFamily="2" charset="-122"/>
              <a:ea typeface="宋体" pitchFamily="2" charset="-122"/>
              <a:cs typeface="Arial" panose="020B0604020202020204" pitchFamily="34" charset="0"/>
            </a:endParaRPr>
          </a:p>
          <a:p>
            <a:pPr marL="342900" indent="-342900">
              <a:lnSpc>
                <a:spcPct val="150000"/>
              </a:lnSpc>
              <a:buClr>
                <a:srgbClr val="7030A0"/>
              </a:buClr>
              <a:buFont typeface="Arial" pitchFamily="34" charset="0"/>
              <a:buChar char="•"/>
            </a:pPr>
            <a:r>
              <a:rPr lang="zh-CN" altLang="en-US" sz="2400" b="1" dirty="0">
                <a:latin typeface="宋体" pitchFamily="2" charset="-122"/>
                <a:ea typeface="宋体" pitchFamily="2" charset="-122"/>
                <a:cs typeface="Arial" panose="020B0604020202020204" pitchFamily="34" charset="0"/>
              </a:rPr>
              <a:t>可直接整合到电路中进行信号处理。</a:t>
            </a:r>
            <a:endParaRPr lang="en-US" altLang="zh-CN" sz="2400" dirty="0">
              <a:latin typeface="宋体" pitchFamily="2" charset="-122"/>
              <a:ea typeface="宋体" pitchFamily="2" charset="-122"/>
              <a:cs typeface="Arial" panose="020B0604020202020204" pitchFamily="34" charset="0"/>
            </a:endParaRPr>
          </a:p>
        </p:txBody>
      </p:sp>
      <p:sp>
        <p:nvSpPr>
          <p:cNvPr id="39" name="矩形 38"/>
          <p:cNvSpPr/>
          <p:nvPr/>
        </p:nvSpPr>
        <p:spPr>
          <a:xfrm>
            <a:off x="1571711" y="1468861"/>
            <a:ext cx="1031791" cy="559767"/>
          </a:xfrm>
          <a:prstGeom prst="rect">
            <a:avLst/>
          </a:prstGeom>
          <a:solidFill>
            <a:srgbClr val="FFC000"/>
          </a:solidFill>
        </p:spPr>
        <p:txBody>
          <a:bodyPr wrap="square" lIns="91438" tIns="45719" rIns="91438" bIns="45719">
            <a:spAutoFit/>
          </a:bodyPr>
          <a:lstStyle/>
          <a:p>
            <a:pPr>
              <a:lnSpc>
                <a:spcPct val="150000"/>
              </a:lnSpc>
            </a:pPr>
            <a:r>
              <a:rPr lang="zh-CN" altLang="en-US" sz="2400" b="1" dirty="0">
                <a:latin typeface="宋体" pitchFamily="2" charset="-122"/>
                <a:ea typeface="宋体" pitchFamily="2" charset="-122"/>
                <a:cs typeface="Arial" panose="020B0604020202020204" pitchFamily="34" charset="0"/>
              </a:rPr>
              <a:t>特点：</a:t>
            </a:r>
            <a:endParaRPr lang="en-US" altLang="zh-CN" sz="2400" b="1" dirty="0">
              <a:latin typeface="宋体" pitchFamily="2" charset="-122"/>
              <a:ea typeface="宋体" pitchFamily="2" charset="-122"/>
              <a:cs typeface="Arial" panose="020B0604020202020204" pitchFamily="34" charset="0"/>
            </a:endParaRPr>
          </a:p>
        </p:txBody>
      </p:sp>
      <p:sp>
        <p:nvSpPr>
          <p:cNvPr id="19" name="矩形 25">
            <a:extLst>
              <a:ext uri="{FF2B5EF4-FFF2-40B4-BE49-F238E27FC236}">
                <a16:creationId xmlns:a16="http://schemas.microsoft.com/office/drawing/2014/main" id="{FDFA7836-5AA7-4CFF-9D9D-DFC3462D38BC}"/>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1" name="圆角矩形 26">
            <a:extLst>
              <a:ext uri="{FF2B5EF4-FFF2-40B4-BE49-F238E27FC236}">
                <a16:creationId xmlns:a16="http://schemas.microsoft.com/office/drawing/2014/main" id="{961A74E5-A977-481E-B547-1E4BCB363A42}"/>
              </a:ext>
            </a:extLst>
          </p:cNvPr>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2" name="矩形 27">
            <a:extLst>
              <a:ext uri="{FF2B5EF4-FFF2-40B4-BE49-F238E27FC236}">
                <a16:creationId xmlns:a16="http://schemas.microsoft.com/office/drawing/2014/main" id="{B043BD75-D701-4CAC-AACA-0E8E06E3678F}"/>
              </a:ext>
            </a:extLst>
          </p:cNvPr>
          <p:cNvSpPr/>
          <p:nvPr/>
        </p:nvSpPr>
        <p:spPr>
          <a:xfrm>
            <a:off x="1960201" y="329520"/>
            <a:ext cx="36856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a:t>
            </a:r>
          </a:p>
        </p:txBody>
      </p:sp>
      <p:grpSp>
        <p:nvGrpSpPr>
          <p:cNvPr id="24" name="组 42">
            <a:extLst>
              <a:ext uri="{FF2B5EF4-FFF2-40B4-BE49-F238E27FC236}">
                <a16:creationId xmlns:a16="http://schemas.microsoft.com/office/drawing/2014/main" id="{E6E7142C-5A24-4EBF-8E14-F19AB3A1B193}"/>
              </a:ext>
            </a:extLst>
          </p:cNvPr>
          <p:cNvGrpSpPr/>
          <p:nvPr/>
        </p:nvGrpSpPr>
        <p:grpSpPr>
          <a:xfrm>
            <a:off x="8590580" y="252857"/>
            <a:ext cx="553419" cy="484288"/>
            <a:chOff x="11454105" y="252856"/>
            <a:chExt cx="737892" cy="484288"/>
          </a:xfrm>
        </p:grpSpPr>
        <p:grpSp>
          <p:nvGrpSpPr>
            <p:cNvPr id="25" name="组 49">
              <a:extLst>
                <a:ext uri="{FF2B5EF4-FFF2-40B4-BE49-F238E27FC236}">
                  <a16:creationId xmlns:a16="http://schemas.microsoft.com/office/drawing/2014/main" id="{C492BFD6-AB1B-49C4-B6C1-98FB69595714}"/>
                </a:ext>
              </a:extLst>
            </p:cNvPr>
            <p:cNvGrpSpPr/>
            <p:nvPr/>
          </p:nvGrpSpPr>
          <p:grpSpPr>
            <a:xfrm>
              <a:off x="12039604" y="252856"/>
              <a:ext cx="152393" cy="484287"/>
              <a:chOff x="12039604" y="252856"/>
              <a:chExt cx="152393" cy="484287"/>
            </a:xfrm>
          </p:grpSpPr>
          <p:sp>
            <p:nvSpPr>
              <p:cNvPr id="44" name="圆角矩形 33">
                <a:extLst>
                  <a:ext uri="{FF2B5EF4-FFF2-40B4-BE49-F238E27FC236}">
                    <a16:creationId xmlns:a16="http://schemas.microsoft.com/office/drawing/2014/main" id="{E00496F5-A8A3-46EA-BC53-AA0CDBA28ADB}"/>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34">
                <a:extLst>
                  <a:ext uri="{FF2B5EF4-FFF2-40B4-BE49-F238E27FC236}">
                    <a16:creationId xmlns:a16="http://schemas.microsoft.com/office/drawing/2014/main" id="{B6C0ABFB-DC60-425B-9E9D-F5D4A013D1A7}"/>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35">
                <a:extLst>
                  <a:ext uri="{FF2B5EF4-FFF2-40B4-BE49-F238E27FC236}">
                    <a16:creationId xmlns:a16="http://schemas.microsoft.com/office/drawing/2014/main" id="{C296CCE8-B3F1-4E32-9028-1653F57DE0C5}"/>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36">
                <a:extLst>
                  <a:ext uri="{FF2B5EF4-FFF2-40B4-BE49-F238E27FC236}">
                    <a16:creationId xmlns:a16="http://schemas.microsoft.com/office/drawing/2014/main" id="{4BC499E6-EAE2-4E4A-B98B-B7D72F8B0F1D}"/>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37">
                <a:extLst>
                  <a:ext uri="{FF2B5EF4-FFF2-40B4-BE49-F238E27FC236}">
                    <a16:creationId xmlns:a16="http://schemas.microsoft.com/office/drawing/2014/main" id="{12C61C48-0AB0-4E6C-B449-7C0D26D18695}"/>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99">
              <a:extLst>
                <a:ext uri="{FF2B5EF4-FFF2-40B4-BE49-F238E27FC236}">
                  <a16:creationId xmlns:a16="http://schemas.microsoft.com/office/drawing/2014/main" id="{C6465111-1CC1-4FAB-BEEB-D015FE5A014E}"/>
                </a:ext>
              </a:extLst>
            </p:cNvPr>
            <p:cNvGrpSpPr/>
            <p:nvPr/>
          </p:nvGrpSpPr>
          <p:grpSpPr>
            <a:xfrm>
              <a:off x="11454105" y="252857"/>
              <a:ext cx="491115" cy="484287"/>
              <a:chOff x="1528923" y="220268"/>
              <a:chExt cx="1284096" cy="1266241"/>
            </a:xfrm>
          </p:grpSpPr>
          <p:sp>
            <p:nvSpPr>
              <p:cNvPr id="42" name="圆角矩形 31">
                <a:extLst>
                  <a:ext uri="{FF2B5EF4-FFF2-40B4-BE49-F238E27FC236}">
                    <a16:creationId xmlns:a16="http://schemas.microsoft.com/office/drawing/2014/main" id="{78E41CB8-A1C2-44F1-BE4E-BF3CFF64D97A}"/>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Freeform 96">
                <a:extLst>
                  <a:ext uri="{FF2B5EF4-FFF2-40B4-BE49-F238E27FC236}">
                    <a16:creationId xmlns:a16="http://schemas.microsoft.com/office/drawing/2014/main" id="{49DBED7D-3F3D-41AE-AE1C-2BCCB251E15F}"/>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20054753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595087" y="1401422"/>
            <a:ext cx="7625186" cy="4707278"/>
          </a:xfrm>
        </p:spPr>
        <p:txBody>
          <a:bodyPr>
            <a:noAutofit/>
          </a:bodyPr>
          <a:lstStyle/>
          <a:p>
            <a:pPr marL="457200" indent="-457200" eaLnBrk="1" hangingPunct="1">
              <a:lnSpc>
                <a:spcPts val="4000"/>
              </a:lnSpc>
              <a:spcBef>
                <a:spcPts val="0"/>
              </a:spcBef>
              <a:buAutoNum type="arabicPeriod"/>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尿素测定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采用铵敏</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或</a:t>
            </a:r>
            <a:r>
              <a:rPr lang="en-US" altLang="zh-CN" sz="2400" b="1" dirty="0">
                <a:latin typeface="宋体" panose="02010600030101010101" pitchFamily="2" charset="-122"/>
                <a:ea typeface="宋体" panose="02010600030101010101" pitchFamily="2" charset="-122"/>
                <a:cs typeface="Arial" panose="020B0604020202020204" pitchFamily="34" charset="0"/>
              </a:rPr>
              <a:t>pH-FET</a:t>
            </a:r>
            <a:r>
              <a:rPr lang="zh-CN" altLang="en-US" sz="2400" b="1" dirty="0">
                <a:latin typeface="宋体" panose="02010600030101010101" pitchFamily="2" charset="-122"/>
                <a:ea typeface="宋体" panose="02010600030101010101" pitchFamily="2" charset="-122"/>
                <a:cs typeface="Arial" panose="020B0604020202020204" pitchFamily="34" charset="0"/>
              </a:rPr>
              <a:t>作为尿素传感器的换能器。</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青霉素测定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第一个结合型</a:t>
            </a:r>
            <a:r>
              <a:rPr lang="en-US" altLang="zh-CN" sz="2400" b="1" dirty="0" err="1">
                <a:latin typeface="宋体" panose="02010600030101010101" pitchFamily="2" charset="-122"/>
                <a:ea typeface="宋体" panose="02010600030101010101" pitchFamily="2" charset="-122"/>
                <a:cs typeface="Arial" panose="020B0604020202020204" pitchFamily="34" charset="0"/>
              </a:rPr>
              <a:t>EnFET</a:t>
            </a:r>
            <a:r>
              <a:rPr lang="zh-CN" altLang="en-US" sz="2400" b="1" dirty="0">
                <a:latin typeface="宋体" panose="02010600030101010101" pitchFamily="2" charset="-122"/>
                <a:ea typeface="宋体" panose="02010600030101010101" pitchFamily="2" charset="-122"/>
                <a:cs typeface="Arial" panose="020B0604020202020204" pitchFamily="34" charset="0"/>
              </a:rPr>
              <a:t>为青霉素</a:t>
            </a:r>
            <a:r>
              <a:rPr lang="en-US" altLang="zh-CN" sz="2400" b="1" dirty="0" err="1">
                <a:latin typeface="宋体" panose="02010600030101010101" pitchFamily="2" charset="-122"/>
                <a:ea typeface="宋体" panose="02010600030101010101" pitchFamily="2" charset="-122"/>
                <a:cs typeface="Arial" panose="020B0604020202020204" pitchFamily="34" charset="0"/>
              </a:rPr>
              <a:t>EnFET</a:t>
            </a:r>
            <a:r>
              <a:rPr lang="zh-CN" altLang="en-US" sz="2400" b="1" dirty="0">
                <a:latin typeface="宋体" panose="02010600030101010101" pitchFamily="2" charset="-122"/>
                <a:ea typeface="宋体" panose="02010600030101010101" pitchFamily="2" charset="-122"/>
                <a:cs typeface="Arial" panose="020B0604020202020204" pitchFamily="34" charset="0"/>
              </a:rPr>
              <a:t>，采用</a:t>
            </a:r>
            <a:r>
              <a:rPr lang="en-US" altLang="zh-CN" sz="2400" b="1" i="1" dirty="0">
                <a:latin typeface="宋体" panose="02010600030101010101" pitchFamily="2" charset="-122"/>
                <a:ea typeface="宋体" panose="02010600030101010101" pitchFamily="2" charset="-122"/>
                <a:cs typeface="Arial" panose="020B0604020202020204" pitchFamily="34" charset="0"/>
              </a:rPr>
              <a:t>β</a:t>
            </a:r>
            <a:r>
              <a:rPr lang="en-US" altLang="zh-CN" sz="2400" b="1" dirty="0">
                <a:latin typeface="宋体" panose="02010600030101010101" pitchFamily="2" charset="-122"/>
                <a:ea typeface="宋体" panose="02010600030101010101" pitchFamily="2" charset="-122"/>
                <a:cs typeface="Arial" panose="020B0604020202020204" pitchFamily="34" charset="0"/>
              </a:rPr>
              <a:t>-</a:t>
            </a:r>
            <a:r>
              <a:rPr lang="zh-CN" altLang="en-US" sz="2400" b="1" dirty="0">
                <a:latin typeface="宋体" panose="02010600030101010101" pitchFamily="2" charset="-122"/>
                <a:ea typeface="宋体" panose="02010600030101010101" pitchFamily="2" charset="-122"/>
                <a:cs typeface="Arial" panose="020B0604020202020204" pitchFamily="34" charset="0"/>
              </a:rPr>
              <a:t>内酰胺酶或青霉素乙酰基转移酶。</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3.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甲醛测定</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采用和甲醛脱氢酶偶联的离子选择性</a:t>
            </a:r>
            <a:r>
              <a:rPr lang="en-US" altLang="zh-CN" sz="2400" b="1" dirty="0">
                <a:latin typeface="宋体" panose="02010600030101010101" pitchFamily="2" charset="-122"/>
                <a:ea typeface="宋体" panose="02010600030101010101" pitchFamily="2" charset="-122"/>
                <a:cs typeface="Arial" panose="020B0604020202020204" pitchFamily="34" charset="0"/>
              </a:rPr>
              <a:t>FET</a:t>
            </a:r>
            <a:r>
              <a:rPr lang="zh-CN" altLang="en-US" sz="2400" b="1" dirty="0">
                <a:latin typeface="宋体" panose="02010600030101010101" pitchFamily="2" charset="-122"/>
                <a:ea typeface="宋体" panose="02010600030101010101" pitchFamily="2" charset="-122"/>
                <a:cs typeface="Arial" panose="020B0604020202020204" pitchFamily="34" charset="0"/>
              </a:rPr>
              <a:t>，或醇氧化酶。</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40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4.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有机磷农药测定</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p:txBody>
      </p:sp>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11.3</a:t>
            </a:r>
          </a:p>
        </p:txBody>
      </p:sp>
      <p:sp>
        <p:nvSpPr>
          <p:cNvPr id="28" name="矩形 27"/>
          <p:cNvSpPr/>
          <p:nvPr/>
        </p:nvSpPr>
        <p:spPr>
          <a:xfrm>
            <a:off x="1960200" y="329520"/>
            <a:ext cx="6260071" cy="615549"/>
          </a:xfrm>
          <a:prstGeom prst="rect">
            <a:avLst/>
          </a:prstGeom>
        </p:spPr>
        <p:txBody>
          <a:bodyPr wrap="squar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半导体生物传感器：应用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81390612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 3"/>
          <p:cNvGrpSpPr/>
          <p:nvPr/>
        </p:nvGrpSpPr>
        <p:grpSpPr>
          <a:xfrm>
            <a:off x="-15826" y="2847434"/>
            <a:ext cx="9159827" cy="1296345"/>
            <a:chOff x="-21102" y="2847433"/>
            <a:chExt cx="12213102" cy="1296345"/>
          </a:xfrm>
        </p:grpSpPr>
        <p:sp>
          <p:nvSpPr>
            <p:cNvPr id="51" name="矩形 50"/>
            <p:cNvSpPr/>
            <p:nvPr/>
          </p:nvSpPr>
          <p:spPr>
            <a:xfrm flipH="1">
              <a:off x="0" y="2872348"/>
              <a:ext cx="12192000" cy="125206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圆角矩形 39"/>
            <p:cNvSpPr/>
            <p:nvPr/>
          </p:nvSpPr>
          <p:spPr>
            <a:xfrm rot="10800000" flipV="1">
              <a:off x="464450" y="2847433"/>
              <a:ext cx="1498935" cy="1291039"/>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r>
                <a:rPr lang="en-US" altLang="zh-CN" sz="6000" b="1" dirty="0">
                  <a:latin typeface="Arial" panose="020B0604020202020204" pitchFamily="34" charset="0"/>
                  <a:cs typeface="Arial" panose="020B0604020202020204" pitchFamily="34" charset="0"/>
                </a:rPr>
                <a:t>12</a:t>
              </a:r>
              <a:endParaRPr lang="zh-CN" altLang="en-US" sz="6000" b="1" dirty="0">
                <a:latin typeface="Arial" panose="020B0604020202020204" pitchFamily="34" charset="0"/>
                <a:cs typeface="Arial" panose="020B0604020202020204" pitchFamily="34" charset="0"/>
              </a:endParaRPr>
            </a:p>
          </p:txBody>
        </p:sp>
        <p:sp>
          <p:nvSpPr>
            <p:cNvPr id="42" name="文本框 41"/>
            <p:cNvSpPr txBox="1"/>
            <p:nvPr/>
          </p:nvSpPr>
          <p:spPr>
            <a:xfrm>
              <a:off x="4449732" y="3093490"/>
              <a:ext cx="6245722" cy="769439"/>
            </a:xfrm>
            <a:prstGeom prst="rect">
              <a:avLst/>
            </a:prstGeom>
            <a:noFill/>
          </p:spPr>
          <p:txBody>
            <a:bodyPr wrap="none" lIns="91438" tIns="45719" rIns="91438" bIns="45719" rtlCol="0">
              <a:spAutoFit/>
            </a:bodyPr>
            <a:lstStyle/>
            <a:p>
              <a:r>
                <a:rPr lang="zh-CN" altLang="en-US" sz="4400" b="1" spc="600" dirty="0">
                  <a:solidFill>
                    <a:schemeClr val="bg1"/>
                  </a:solidFill>
                  <a:latin typeface="宋体" panose="02010600030101010101" pitchFamily="2" charset="-122"/>
                  <a:ea typeface="宋体" panose="02010600030101010101" pitchFamily="2" charset="-122"/>
                </a:rPr>
                <a:t>集成智能传感器</a:t>
              </a:r>
            </a:p>
          </p:txBody>
        </p:sp>
        <p:grpSp>
          <p:nvGrpSpPr>
            <p:cNvPr id="3" name="组 2"/>
            <p:cNvGrpSpPr/>
            <p:nvPr/>
          </p:nvGrpSpPr>
          <p:grpSpPr>
            <a:xfrm>
              <a:off x="-21102" y="2858492"/>
              <a:ext cx="242777" cy="1285286"/>
              <a:chOff x="-21102" y="2858492"/>
              <a:chExt cx="242777" cy="1285286"/>
            </a:xfrm>
          </p:grpSpPr>
          <p:sp>
            <p:nvSpPr>
              <p:cNvPr id="46" name="圆角矩形 45"/>
              <p:cNvSpPr/>
              <p:nvPr/>
            </p:nvSpPr>
            <p:spPr>
              <a:xfrm rot="16200000" flipV="1">
                <a:off x="-13338" y="3643334"/>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rot="16200000" flipV="1">
                <a:off x="-13338" y="3908764"/>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rot="16200000" flipV="1">
                <a:off x="-13338" y="3122170"/>
                <a:ext cx="227250" cy="24277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rot="16200000" flipV="1">
                <a:off x="-13338" y="3387600"/>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44"/>
              <p:cNvSpPr/>
              <p:nvPr/>
            </p:nvSpPr>
            <p:spPr>
              <a:xfrm rot="16200000" flipV="1">
                <a:off x="-13338" y="2850728"/>
                <a:ext cx="227250" cy="242777"/>
              </a:xfrm>
              <a:prstGeom prst="roundRect">
                <a:avLst>
                  <a:gd name="adj" fmla="val 5039"/>
                </a:avLst>
              </a:prstGeom>
              <a:solidFill>
                <a:schemeClr val="accent5">
                  <a:lumMod val="5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8" name="组 27"/>
          <p:cNvGrpSpPr/>
          <p:nvPr/>
        </p:nvGrpSpPr>
        <p:grpSpPr>
          <a:xfrm>
            <a:off x="8590580" y="252857"/>
            <a:ext cx="553419" cy="484288"/>
            <a:chOff x="11454105" y="252856"/>
            <a:chExt cx="737892" cy="484288"/>
          </a:xfrm>
        </p:grpSpPr>
        <p:grpSp>
          <p:nvGrpSpPr>
            <p:cNvPr id="30" name="组 2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Tree>
    <p:extLst>
      <p:ext uri="{BB962C8B-B14F-4D97-AF65-F5344CB8AC3E}">
        <p14:creationId xmlns:p14="http://schemas.microsoft.com/office/powerpoint/2010/main" val="447423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0" name="直接连接符 79"/>
          <p:cNvCxnSpPr/>
          <p:nvPr/>
        </p:nvCxnSpPr>
        <p:spPr>
          <a:xfrm>
            <a:off x="1476883" y="24303"/>
            <a:ext cx="0" cy="5643645"/>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sp>
        <p:nvSpPr>
          <p:cNvPr id="4" name="矩形 3"/>
          <p:cNvSpPr/>
          <p:nvPr/>
        </p:nvSpPr>
        <p:spPr>
          <a:xfrm rot="5400000">
            <a:off x="-2908717" y="2904934"/>
            <a:ext cx="6818603" cy="1008743"/>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endParaRPr lang="zh-CN" altLang="en-US"/>
          </a:p>
        </p:txBody>
      </p:sp>
      <p:grpSp>
        <p:nvGrpSpPr>
          <p:cNvPr id="15" name="组 14"/>
          <p:cNvGrpSpPr/>
          <p:nvPr/>
        </p:nvGrpSpPr>
        <p:grpSpPr>
          <a:xfrm>
            <a:off x="-16725" y="6654792"/>
            <a:ext cx="953603" cy="203211"/>
            <a:chOff x="-22302" y="6654791"/>
            <a:chExt cx="1271471" cy="203210"/>
          </a:xfrm>
        </p:grpSpPr>
        <p:sp>
          <p:nvSpPr>
            <p:cNvPr id="9" name="圆角矩形 8"/>
            <p:cNvSpPr/>
            <p:nvPr/>
          </p:nvSpPr>
          <p:spPr>
            <a:xfrm flipV="1">
              <a:off x="240276"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flipV="1">
              <a:off x="-2230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flipV="1">
              <a:off x="755838" y="6654791"/>
              <a:ext cx="224807" cy="203210"/>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flipV="1">
              <a:off x="493260"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7"/>
            <p:cNvSpPr/>
            <p:nvPr/>
          </p:nvSpPr>
          <p:spPr>
            <a:xfrm flipV="1">
              <a:off x="1024362" y="6654791"/>
              <a:ext cx="224807" cy="203210"/>
            </a:xfrm>
            <a:prstGeom prst="roundRect">
              <a:avLst>
                <a:gd name="adj" fmla="val 5039"/>
              </a:avLst>
            </a:prstGeom>
            <a:solidFill>
              <a:schemeClr val="accent5">
                <a:lumMod val="7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文本框 19"/>
          <p:cNvSpPr txBox="1"/>
          <p:nvPr/>
        </p:nvSpPr>
        <p:spPr>
          <a:xfrm>
            <a:off x="-172954" y="245329"/>
            <a:ext cx="1031043" cy="4519883"/>
          </a:xfrm>
          <a:prstGeom prst="rect">
            <a:avLst/>
          </a:prstGeom>
          <a:noFill/>
        </p:spPr>
        <p:txBody>
          <a:bodyPr vert="eaVert" wrap="square" lIns="91436" tIns="45718" rIns="91436" bIns="45718" rtlCol="0">
            <a:spAutoFit/>
          </a:bodyPr>
          <a:lstStyle/>
          <a:p>
            <a:r>
              <a:rPr lang="en-US" altLang="zh-CN" sz="5500" dirty="0">
                <a:solidFill>
                  <a:schemeClr val="bg1"/>
                </a:solidFill>
                <a:latin typeface="Eras Light ITC" panose="020B0402030504020804" pitchFamily="34" charset="0"/>
              </a:rPr>
              <a:t>CONTENTS</a:t>
            </a:r>
            <a:endParaRPr lang="zh-CN" altLang="en-US" sz="5500" dirty="0">
              <a:solidFill>
                <a:schemeClr val="bg1"/>
              </a:solidFill>
              <a:latin typeface="Eras Light ITC" panose="020B0402030504020804" pitchFamily="34" charset="0"/>
            </a:endParaRPr>
          </a:p>
        </p:txBody>
      </p:sp>
      <p:sp>
        <p:nvSpPr>
          <p:cNvPr id="73" name="圆角矩形 72"/>
          <p:cNvSpPr/>
          <p:nvPr/>
        </p:nvSpPr>
        <p:spPr>
          <a:xfrm rot="10800000" flipV="1">
            <a:off x="2129187" y="1246110"/>
            <a:ext cx="1159049"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12.1</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74" name="圆角矩形 73"/>
          <p:cNvSpPr/>
          <p:nvPr/>
        </p:nvSpPr>
        <p:spPr>
          <a:xfrm rot="10800000" flipV="1">
            <a:off x="2129187" y="2231328"/>
            <a:ext cx="1146566" cy="424269"/>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12.2</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87" name="文本框 86"/>
          <p:cNvSpPr txBox="1"/>
          <p:nvPr/>
        </p:nvSpPr>
        <p:spPr>
          <a:xfrm>
            <a:off x="3576067" y="1135080"/>
            <a:ext cx="4354069"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2" action="ppaction://hlinksldjump"/>
              </a:rPr>
              <a:t>单片集成智能传感器</a:t>
            </a:r>
            <a:endParaRPr lang="zh-CN" altLang="en-US" sz="3600" b="1" dirty="0">
              <a:solidFill>
                <a:schemeClr val="tx2"/>
              </a:solidFill>
              <a:latin typeface="宋体" panose="02010600030101010101" pitchFamily="2" charset="-122"/>
              <a:ea typeface="宋体" panose="02010600030101010101" pitchFamily="2" charset="-122"/>
            </a:endParaRPr>
          </a:p>
        </p:txBody>
      </p:sp>
      <p:sp>
        <p:nvSpPr>
          <p:cNvPr id="88" name="文本框 87">
            <a:hlinkClick r:id="rId3" action="ppaction://hlinksldjump"/>
          </p:cNvPr>
          <p:cNvSpPr txBox="1"/>
          <p:nvPr/>
        </p:nvSpPr>
        <p:spPr>
          <a:xfrm>
            <a:off x="3548855" y="2137456"/>
            <a:ext cx="4817336"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rId4" action="ppaction://hlinksldjump"/>
              </a:rPr>
              <a:t>网络化智能压力传感器</a:t>
            </a:r>
            <a:endParaRPr lang="zh-CN" altLang="en-US" sz="3600" b="1" dirty="0">
              <a:solidFill>
                <a:schemeClr val="tx2"/>
              </a:solidFill>
              <a:latin typeface="宋体" panose="02010600030101010101" pitchFamily="2" charset="-122"/>
              <a:ea typeface="宋体" panose="02010600030101010101" pitchFamily="2" charset="-122"/>
            </a:endParaRPr>
          </a:p>
        </p:txBody>
      </p:sp>
      <p:grpSp>
        <p:nvGrpSpPr>
          <p:cNvPr id="3" name="组 2"/>
          <p:cNvGrpSpPr/>
          <p:nvPr/>
        </p:nvGrpSpPr>
        <p:grpSpPr>
          <a:xfrm>
            <a:off x="8590580" y="252857"/>
            <a:ext cx="553419" cy="484288"/>
            <a:chOff x="11454105" y="252856"/>
            <a:chExt cx="737892" cy="484288"/>
          </a:xfrm>
        </p:grpSpPr>
        <p:grpSp>
          <p:nvGrpSpPr>
            <p:cNvPr id="2" name="组 1"/>
            <p:cNvGrpSpPr/>
            <p:nvPr/>
          </p:nvGrpSpPr>
          <p:grpSpPr>
            <a:xfrm>
              <a:off x="12039604" y="252856"/>
              <a:ext cx="152393" cy="484287"/>
              <a:chOff x="12039604" y="252856"/>
              <a:chExt cx="152393" cy="484287"/>
            </a:xfrm>
          </p:grpSpPr>
          <p:sp>
            <p:nvSpPr>
              <p:cNvPr id="96" name="圆角矩形 95"/>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圆角矩形 98"/>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圆角矩形 94"/>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p:cNvGrpSpPr/>
            <p:nvPr/>
          </p:nvGrpSpPr>
          <p:grpSpPr>
            <a:xfrm>
              <a:off x="11454105" y="252857"/>
              <a:ext cx="491115" cy="484287"/>
              <a:chOff x="1528923" y="220268"/>
              <a:chExt cx="1284096" cy="1266241"/>
            </a:xfrm>
          </p:grpSpPr>
          <p:sp>
            <p:nvSpPr>
              <p:cNvPr id="101" name="圆角矩形 10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Freeform 96"/>
              <p:cNvSpPr>
                <a:spLocks/>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rgbClr val="AD1C21"/>
                  </a:solidFill>
                </a:endParaRPr>
              </a:p>
            </p:txBody>
          </p:sp>
        </p:grpSp>
      </p:grpSp>
      <p:sp>
        <p:nvSpPr>
          <p:cNvPr id="16" name="圆角矩形 72">
            <a:extLst>
              <a:ext uri="{FF2B5EF4-FFF2-40B4-BE49-F238E27FC236}">
                <a16:creationId xmlns:a16="http://schemas.microsoft.com/office/drawing/2014/main" id="{4F185087-379A-4ECF-AC00-2D0B608230D2}"/>
              </a:ext>
            </a:extLst>
          </p:cNvPr>
          <p:cNvSpPr/>
          <p:nvPr/>
        </p:nvSpPr>
        <p:spPr>
          <a:xfrm rot="10800000" flipV="1">
            <a:off x="2129184" y="3249660"/>
            <a:ext cx="1139397" cy="424267"/>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600" b="1" dirty="0">
                <a:latin typeface="Arial" panose="020B0604020202020204" pitchFamily="34" charset="0"/>
                <a:ea typeface="宋体" panose="02010600030101010101" pitchFamily="2" charset="-122"/>
                <a:cs typeface="Arial" panose="020B0604020202020204" pitchFamily="34" charset="0"/>
              </a:rPr>
              <a:t>12.3</a:t>
            </a:r>
            <a:endParaRPr lang="zh-CN" altLang="en-US" sz="3600" b="1" dirty="0">
              <a:latin typeface="Arial" panose="020B0604020202020204" pitchFamily="34" charset="0"/>
              <a:ea typeface="宋体" panose="02010600030101010101" pitchFamily="2" charset="-122"/>
              <a:cs typeface="Arial" panose="020B0604020202020204" pitchFamily="34" charset="0"/>
            </a:endParaRPr>
          </a:p>
        </p:txBody>
      </p:sp>
      <p:sp>
        <p:nvSpPr>
          <p:cNvPr id="18" name="文本框 17">
            <a:extLst>
              <a:ext uri="{FF2B5EF4-FFF2-40B4-BE49-F238E27FC236}">
                <a16:creationId xmlns:a16="http://schemas.microsoft.com/office/drawing/2014/main" id="{E39DC9A3-7A53-4D1A-8D27-109D8684D9D3}"/>
              </a:ext>
            </a:extLst>
          </p:cNvPr>
          <p:cNvSpPr txBox="1"/>
          <p:nvPr/>
        </p:nvSpPr>
        <p:spPr>
          <a:xfrm>
            <a:off x="3576067" y="3114836"/>
            <a:ext cx="3427533" cy="646327"/>
          </a:xfrm>
          <a:prstGeom prst="rect">
            <a:avLst/>
          </a:prstGeom>
          <a:noFill/>
        </p:spPr>
        <p:txBody>
          <a:bodyPr wrap="none" lIns="91436" tIns="45718" rIns="91436" bIns="45718" rtlCol="0">
            <a:spAutoFit/>
          </a:bodyPr>
          <a:lstStyle/>
          <a:p>
            <a:r>
              <a:rPr lang="zh-CN" altLang="en-US" sz="3600" b="1" dirty="0">
                <a:solidFill>
                  <a:schemeClr val="tx2"/>
                </a:solidFill>
                <a:latin typeface="宋体" panose="02010600030101010101" pitchFamily="2" charset="-122"/>
                <a:ea typeface="宋体" panose="02010600030101010101" pitchFamily="2" charset="-122"/>
                <a:hlinkClick r:id="" action="ppaction://noaction"/>
              </a:rPr>
              <a:t>特种集成传感器</a:t>
            </a:r>
            <a:endParaRPr lang="zh-CN" altLang="en-US" sz="3600" b="1" dirty="0">
              <a:solidFill>
                <a:schemeClr val="tx2"/>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0019530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185083" y="4489372"/>
            <a:ext cx="7715249" cy="559765"/>
          </a:xfrm>
          <a:prstGeom prst="rect">
            <a:avLst/>
          </a:prstGeom>
          <a:noFill/>
        </p:spPr>
        <p:txBody>
          <a:bodyPr wrap="square" lIns="91436" tIns="45718" rIns="91436" bIns="45718" rtlCol="0">
            <a:spAutoFit/>
          </a:bodyPr>
          <a:lstStyle/>
          <a:p>
            <a:pPr indent="631825">
              <a:lnSpc>
                <a:spcPct val="150000"/>
              </a:lnSpc>
            </a:pPr>
            <a:r>
              <a:rPr lang="zh-CN" altLang="en-US" sz="2400" b="1" dirty="0">
                <a:latin typeface="宋体" panose="02010600030101010101" pitchFamily="2" charset="-122"/>
                <a:ea typeface="宋体" panose="02010600030101010101" pitchFamily="2" charset="-122"/>
              </a:rPr>
              <a:t>发展方向是单片集成化、智能化、网络化和系统化。</a:t>
            </a:r>
            <a:endParaRPr lang="en-US" altLang="zh-CN" sz="2400" b="1" dirty="0">
              <a:latin typeface="宋体" panose="02010600030101010101" pitchFamily="2" charset="-122"/>
              <a:ea typeface="宋体" panose="02010600030101010101" pitchFamily="2" charset="-122"/>
            </a:endParaRPr>
          </a:p>
        </p:txBody>
      </p:sp>
      <p:sp>
        <p:nvSpPr>
          <p:cNvPr id="22" name="矩形 21"/>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3" name="圆角矩形 22"/>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12.1</a:t>
            </a:r>
          </a:p>
        </p:txBody>
      </p:sp>
      <p:sp>
        <p:nvSpPr>
          <p:cNvPr id="24" name="矩形 23"/>
          <p:cNvSpPr/>
          <p:nvPr/>
        </p:nvSpPr>
        <p:spPr>
          <a:xfrm>
            <a:off x="1960201" y="329520"/>
            <a:ext cx="412323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单片集成智能传感器</a:t>
            </a:r>
          </a:p>
        </p:txBody>
      </p:sp>
      <p:grpSp>
        <p:nvGrpSpPr>
          <p:cNvPr id="25" name="组 42"/>
          <p:cNvGrpSpPr/>
          <p:nvPr/>
        </p:nvGrpSpPr>
        <p:grpSpPr>
          <a:xfrm>
            <a:off x="8590580" y="252857"/>
            <a:ext cx="553419" cy="484288"/>
            <a:chOff x="11454105" y="252856"/>
            <a:chExt cx="737892" cy="484288"/>
          </a:xfrm>
        </p:grpSpPr>
        <p:grpSp>
          <p:nvGrpSpPr>
            <p:cNvPr id="26" name="组 49"/>
            <p:cNvGrpSpPr/>
            <p:nvPr/>
          </p:nvGrpSpPr>
          <p:grpSpPr>
            <a:xfrm>
              <a:off x="12039604" y="252856"/>
              <a:ext cx="152393" cy="484287"/>
              <a:chOff x="12039604" y="252856"/>
              <a:chExt cx="152393" cy="484287"/>
            </a:xfrm>
          </p:grpSpPr>
          <p:sp>
            <p:nvSpPr>
              <p:cNvPr id="30" name="圆角矩形 29"/>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99"/>
            <p:cNvGrpSpPr/>
            <p:nvPr/>
          </p:nvGrpSpPr>
          <p:grpSpPr>
            <a:xfrm>
              <a:off x="11454105" y="252857"/>
              <a:ext cx="491115" cy="484287"/>
              <a:chOff x="1528923" y="220268"/>
              <a:chExt cx="1284096" cy="1266241"/>
            </a:xfrm>
          </p:grpSpPr>
          <p:sp>
            <p:nvSpPr>
              <p:cNvPr id="28" name="圆角矩形 27"/>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18" name="文本框 3"/>
          <p:cNvSpPr txBox="1"/>
          <p:nvPr/>
        </p:nvSpPr>
        <p:spPr>
          <a:xfrm>
            <a:off x="1571711" y="1539831"/>
            <a:ext cx="6648562" cy="830997"/>
          </a:xfrm>
          <a:prstGeom prst="rect">
            <a:avLst/>
          </a:prstGeom>
          <a:noFill/>
        </p:spPr>
        <p:txBody>
          <a:bodyPr wrap="square" rtlCol="0">
            <a:spAutoFit/>
          </a:bodyPr>
          <a:lstStyle/>
          <a:p>
            <a:pPr marL="1524000" indent="-1524000"/>
            <a:r>
              <a:rPr lang="zh-CN" altLang="en-US" sz="2400" b="1" dirty="0">
                <a:solidFill>
                  <a:srgbClr val="C00000"/>
                </a:solidFill>
                <a:latin typeface="宋体" panose="02010600030101010101" pitchFamily="2" charset="-122"/>
                <a:ea typeface="宋体" panose="02010600030101010101" pitchFamily="2" charset="-122"/>
              </a:rPr>
              <a:t>英文名称：</a:t>
            </a:r>
            <a:r>
              <a:rPr lang="en-US" altLang="zh-CN" sz="2400" b="1" dirty="0">
                <a:solidFill>
                  <a:srgbClr val="C00000"/>
                </a:solidFill>
                <a:latin typeface="宋体" panose="02010600030101010101" pitchFamily="2" charset="-122"/>
                <a:ea typeface="宋体" panose="02010600030101010101" pitchFamily="2" charset="-122"/>
              </a:rPr>
              <a:t>Intelligent Sensor</a:t>
            </a:r>
          </a:p>
          <a:p>
            <a:pPr marL="1524000" indent="3175"/>
            <a:r>
              <a:rPr lang="zh-CN" altLang="en-US" sz="2400" b="1" dirty="0">
                <a:solidFill>
                  <a:srgbClr val="C00000"/>
                </a:solidFill>
                <a:latin typeface="宋体" panose="02010600030101010101" pitchFamily="2" charset="-122"/>
                <a:ea typeface="宋体" panose="02010600030101010101" pitchFamily="2" charset="-122"/>
              </a:rPr>
              <a:t>或 </a:t>
            </a:r>
            <a:r>
              <a:rPr lang="en-US" altLang="zh-CN" sz="2400" b="1" dirty="0">
                <a:solidFill>
                  <a:srgbClr val="C00000"/>
                </a:solidFill>
                <a:latin typeface="宋体" panose="02010600030101010101" pitchFamily="2" charset="-122"/>
                <a:ea typeface="宋体" panose="02010600030101010101" pitchFamily="2" charset="-122"/>
              </a:rPr>
              <a:t>Smart Sensor</a:t>
            </a:r>
          </a:p>
        </p:txBody>
      </p:sp>
      <p:sp>
        <p:nvSpPr>
          <p:cNvPr id="19" name="文本框 18">
            <a:extLst>
              <a:ext uri="{FF2B5EF4-FFF2-40B4-BE49-F238E27FC236}">
                <a16:creationId xmlns:a16="http://schemas.microsoft.com/office/drawing/2014/main" id="{961667D5-6E02-42C6-973A-2E8008454BA6}"/>
              </a:ext>
            </a:extLst>
          </p:cNvPr>
          <p:cNvSpPr txBox="1"/>
          <p:nvPr/>
        </p:nvSpPr>
        <p:spPr>
          <a:xfrm>
            <a:off x="377313" y="3093319"/>
            <a:ext cx="8213266" cy="1113762"/>
          </a:xfrm>
          <a:prstGeom prst="rect">
            <a:avLst/>
          </a:prstGeom>
          <a:noFill/>
        </p:spPr>
        <p:txBody>
          <a:bodyPr wrap="square" lIns="91436" tIns="45718" rIns="91436" bIns="45718" rtlCol="0">
            <a:spAutoFit/>
          </a:bodyPr>
          <a:lstStyle/>
          <a:p>
            <a:pPr>
              <a:lnSpc>
                <a:spcPct val="150000"/>
              </a:lnSpc>
            </a:pPr>
            <a:r>
              <a:rPr lang="zh-CN" altLang="en-US" sz="2400" b="1" dirty="0">
                <a:latin typeface="宋体" panose="02010600030101010101" pitchFamily="2" charset="-122"/>
                <a:ea typeface="宋体" panose="02010600030101010101" pitchFamily="2" charset="-122"/>
              </a:rPr>
              <a:t>    智能传感器正处于蓬勃发展的新时期，新技术不断涌现，新产品层出不穷。</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774621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12.1.1</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智能传感器的基本特点</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9" name="文本框 38">
            <a:extLst>
              <a:ext uri="{FF2B5EF4-FFF2-40B4-BE49-F238E27FC236}">
                <a16:creationId xmlns:a16="http://schemas.microsoft.com/office/drawing/2014/main" id="{961667D5-6E02-42C6-973A-2E8008454BA6}"/>
              </a:ext>
            </a:extLst>
          </p:cNvPr>
          <p:cNvSpPr txBox="1"/>
          <p:nvPr/>
        </p:nvSpPr>
        <p:spPr>
          <a:xfrm>
            <a:off x="707524" y="1814579"/>
            <a:ext cx="8362950" cy="2236570"/>
          </a:xfrm>
          <a:prstGeom prst="rect">
            <a:avLst/>
          </a:prstGeom>
          <a:noFill/>
        </p:spPr>
        <p:txBody>
          <a:bodyPr wrap="square" lIns="91436" tIns="45718" rIns="91436" bIns="45718" rtlCol="0">
            <a:spAutoFit/>
          </a:bodyPr>
          <a:lstStyle/>
          <a:p>
            <a:pPr indent="631825">
              <a:lnSpc>
                <a:spcPct val="150000"/>
              </a:lnSpc>
            </a:pPr>
            <a:r>
              <a:rPr lang="zh-CN" altLang="en-US" sz="2400" b="1" dirty="0">
                <a:latin typeface="宋体" panose="02010600030101010101" pitchFamily="2" charset="-122"/>
                <a:ea typeface="宋体" panose="02010600030101010101" pitchFamily="2" charset="-122"/>
                <a:cs typeface="Arial" panose="020B0604020202020204" pitchFamily="34" charset="0"/>
              </a:rPr>
              <a:t>智能传感器就是带</a:t>
            </a:r>
            <a:r>
              <a:rPr lang="zh-CN" altLang="en-US" sz="2400" b="1" dirty="0">
                <a:solidFill>
                  <a:srgbClr val="FF0000"/>
                </a:solidFill>
                <a:latin typeface="宋体" panose="02010600030101010101" pitchFamily="2" charset="-122"/>
                <a:ea typeface="宋体" panose="02010600030101010101" pitchFamily="2" charset="-122"/>
                <a:cs typeface="Arial" panose="020B0604020202020204" pitchFamily="34" charset="0"/>
              </a:rPr>
              <a:t>微处理器</a:t>
            </a:r>
            <a:r>
              <a:rPr lang="zh-CN" altLang="en-US" sz="2400" b="1" dirty="0">
                <a:latin typeface="宋体" panose="02010600030101010101" pitchFamily="2" charset="-122"/>
                <a:ea typeface="宋体" panose="02010600030101010101" pitchFamily="2" charset="-122"/>
                <a:cs typeface="Arial" panose="020B0604020202020204" pitchFamily="34" charset="0"/>
              </a:rPr>
              <a:t>、兼有</a:t>
            </a:r>
            <a:r>
              <a:rPr lang="zh-CN" altLang="en-US" sz="2400" b="1" dirty="0">
                <a:solidFill>
                  <a:srgbClr val="0070C0"/>
                </a:solidFill>
                <a:latin typeface="宋体" panose="02010600030101010101" pitchFamily="2" charset="-122"/>
                <a:ea typeface="宋体" panose="02010600030101010101" pitchFamily="2" charset="-122"/>
                <a:cs typeface="Arial" panose="020B0604020202020204" pitchFamily="34" charset="0"/>
              </a:rPr>
              <a:t>信息监测</a:t>
            </a:r>
            <a:r>
              <a:rPr lang="zh-CN" altLang="en-US" sz="2400" b="1" dirty="0">
                <a:latin typeface="宋体" panose="02010600030101010101" pitchFamily="2" charset="-122"/>
                <a:ea typeface="宋体" panose="02010600030101010101" pitchFamily="2" charset="-122"/>
                <a:cs typeface="Arial" panose="020B0604020202020204" pitchFamily="34" charset="0"/>
              </a:rPr>
              <a:t>和</a:t>
            </a:r>
            <a:r>
              <a:rPr lang="zh-CN" altLang="en-US" sz="2400" b="1" dirty="0">
                <a:solidFill>
                  <a:srgbClr val="00B050"/>
                </a:solidFill>
                <a:latin typeface="宋体" panose="02010600030101010101" pitchFamily="2" charset="-122"/>
                <a:ea typeface="宋体" panose="02010600030101010101" pitchFamily="2" charset="-122"/>
                <a:cs typeface="Arial" panose="020B0604020202020204" pitchFamily="34" charset="0"/>
              </a:rPr>
              <a:t>信息处理</a:t>
            </a:r>
            <a:r>
              <a:rPr lang="zh-CN" altLang="en-US" sz="2400" b="1" dirty="0">
                <a:latin typeface="宋体" panose="02010600030101010101" pitchFamily="2" charset="-122"/>
                <a:ea typeface="宋体" panose="02010600030101010101" pitchFamily="2" charset="-122"/>
                <a:cs typeface="Arial" panose="020B0604020202020204" pitchFamily="34" charset="0"/>
              </a:rPr>
              <a:t>功能的传感器。从一定意义上讲，具有类似人工智能的作用。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3054350" indent="-3054350">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①单片智能传感器：（传感器</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微处理器）→单个芯片</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marL="3054350" indent="-3054350">
              <a:lnSpc>
                <a:spcPct val="150000"/>
              </a:lnSpc>
            </a:pPr>
            <a:r>
              <a:rPr lang="zh-CN" altLang="en-US" sz="2400" b="1" dirty="0">
                <a:latin typeface="Arial" panose="020B0604020202020204" pitchFamily="34" charset="0"/>
                <a:ea typeface="宋体" panose="02010600030101010101" pitchFamily="2" charset="-122"/>
                <a:cs typeface="Arial" panose="020B0604020202020204" pitchFamily="34" charset="0"/>
              </a:rPr>
              <a:t>②智能化传感器系统：传感器</a:t>
            </a:r>
            <a:r>
              <a:rPr lang="en-US" altLang="zh-CN" sz="2400" b="1" dirty="0">
                <a:latin typeface="Arial" panose="020B0604020202020204" pitchFamily="34" charset="0"/>
                <a:ea typeface="宋体" panose="02010600030101010101" pitchFamily="2" charset="-122"/>
                <a:cs typeface="Arial" panose="020B0604020202020204" pitchFamily="34" charset="0"/>
              </a:rPr>
              <a:t>+</a:t>
            </a:r>
            <a:r>
              <a:rPr lang="zh-CN" altLang="en-US" sz="2400" b="1" dirty="0">
                <a:latin typeface="Arial" panose="020B0604020202020204" pitchFamily="34" charset="0"/>
                <a:ea typeface="宋体" panose="02010600030101010101" pitchFamily="2" charset="-122"/>
                <a:cs typeface="Arial" panose="020B0604020202020204" pitchFamily="34" charset="0"/>
              </a:rPr>
              <a:t>微处理器芯片的组合</a:t>
            </a:r>
          </a:p>
        </p:txBody>
      </p:sp>
    </p:spTree>
    <p:extLst>
      <p:ext uri="{BB962C8B-B14F-4D97-AF65-F5344CB8AC3E}">
        <p14:creationId xmlns:p14="http://schemas.microsoft.com/office/powerpoint/2010/main" val="314404640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32162" y="2603525"/>
            <a:ext cx="6475423" cy="3690752"/>
          </a:xfrm>
          <a:prstGeom prst="rect">
            <a:avLst/>
          </a:prstGeom>
        </p:spPr>
        <p:txBody>
          <a:bodyPr wrap="square" lIns="91438" tIns="45719" rIns="91438" bIns="45719">
            <a:spAutoFit/>
          </a:bodyPr>
          <a:lstStyle/>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1</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）电化学活性的杂交指示剂作为标识物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2</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）寡聚核苷酸上修饰电化学活性的官能  </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            团作为识别物</a:t>
            </a:r>
          </a:p>
          <a:p>
            <a:pPr>
              <a:spcBef>
                <a:spcPts val="768"/>
              </a:spcBef>
            </a:pP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a:t>
            </a:r>
            <a:r>
              <a:rPr lang="en-US" altLang="zh-CN" sz="3200" b="1" dirty="0">
                <a:solidFill>
                  <a:schemeClr val="bg1"/>
                </a:solidFill>
                <a:latin typeface="Arial" panose="020B0604020202020204" pitchFamily="34" charset="0"/>
                <a:ea typeface="宋体" panose="02010600030101010101" pitchFamily="2" charset="-122"/>
                <a:cs typeface="Arial" panose="020B0604020202020204" pitchFamily="34" charset="0"/>
              </a:rPr>
              <a:t>3</a:t>
            </a:r>
            <a:r>
              <a:rPr lang="zh-CN" altLang="en-US" sz="3200" b="1" dirty="0">
                <a:solidFill>
                  <a:schemeClr val="bg1"/>
                </a:solidFill>
                <a:latin typeface="Arial" panose="020B0604020202020204" pitchFamily="34" charset="0"/>
                <a:ea typeface="宋体" panose="02010600030101010101" pitchFamily="2" charset="-122"/>
                <a:cs typeface="Arial" panose="020B0604020202020204" pitchFamily="34" charset="0"/>
              </a:rPr>
              <a:t>）利用酶的化学放大功能</a:t>
            </a:r>
          </a:p>
          <a:p>
            <a:pPr>
              <a:spcBef>
                <a:spcPts val="672"/>
              </a:spcBef>
            </a:pPr>
            <a:endParaRPr lang="en-US" altLang="zh-CN" sz="1600" dirty="0">
              <a:solidFill>
                <a:schemeClr val="bg1"/>
              </a:solidFill>
              <a:latin typeface="微软雅黑" panose="020B0503020204020204" pitchFamily="34" charset="-122"/>
              <a:ea typeface="微软雅黑" panose="020B0503020204020204" pitchFamily="34" charset="-122"/>
            </a:endParaRPr>
          </a:p>
        </p:txBody>
      </p:sp>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304802" y="1264423"/>
            <a:ext cx="8734425" cy="5029854"/>
          </a:xfrm>
        </p:spPr>
        <p:txBody>
          <a:bodyPr>
            <a:noAutofit/>
          </a:bodyPr>
          <a:lstStyle/>
          <a:p>
            <a:pPr marL="0" indent="0" eaLnBrk="1" hangingPunct="1">
              <a:lnSpc>
                <a:spcPts val="3800"/>
              </a:lnSpc>
              <a:spcBef>
                <a:spcPts val="0"/>
              </a:spcBef>
              <a:buNone/>
              <a:defRPr/>
            </a:pPr>
            <a:r>
              <a:rPr lang="zh-CN" altLang="en-US" sz="2400" b="1" kern="1200" dirty="0">
                <a:latin typeface="宋体" panose="02010600030101010101" pitchFamily="2" charset="-122"/>
                <a:ea typeface="宋体" panose="02010600030101010101" pitchFamily="2" charset="-122"/>
                <a:cs typeface="Arial" panose="020B0604020202020204" pitchFamily="34" charset="0"/>
              </a:rPr>
              <a:t>智能传感器主要有以下</a:t>
            </a:r>
            <a:r>
              <a:rPr lang="zh-CN" altLang="en-US" sz="2400" b="1" kern="1200" dirty="0">
                <a:solidFill>
                  <a:srgbClr val="FF0000"/>
                </a:solidFill>
                <a:latin typeface="宋体" panose="02010600030101010101" pitchFamily="2" charset="-122"/>
                <a:ea typeface="宋体" panose="02010600030101010101" pitchFamily="2" charset="-122"/>
                <a:cs typeface="Arial" panose="020B0604020202020204" pitchFamily="34" charset="0"/>
              </a:rPr>
              <a:t>功能</a:t>
            </a:r>
            <a:r>
              <a:rPr lang="zh-CN" altLang="en-US" sz="2400" b="1" kern="1200" dirty="0">
                <a:latin typeface="宋体" panose="02010600030101010101" pitchFamily="2" charset="-122"/>
                <a:ea typeface="宋体" panose="02010600030101010101" pitchFamily="2" charset="-122"/>
                <a:cs typeface="Arial" panose="020B0604020202020204" pitchFamily="34" charset="0"/>
              </a:rPr>
              <a:t>：</a:t>
            </a:r>
          </a:p>
          <a:p>
            <a:pPr marL="0" indent="0" eaLnBrk="1" hangingPunct="1">
              <a:lnSpc>
                <a:spcPts val="38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1.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具有自动调零、自校准、自标定功能。</a:t>
            </a:r>
          </a:p>
          <a:p>
            <a:pPr marL="442913" indent="-442913" eaLnBrk="1" hangingPunct="1">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2.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具有逻辑判断和信息处理功能，能进行信号调理或信号处理（对信号进行预处理、线性化、或对温度、静压力等参数进行自动补偿等）。</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3. </a:t>
            </a:r>
            <a:r>
              <a:rPr lang="zh-CN" altLang="en-US" sz="2400" b="1" dirty="0">
                <a:latin typeface="宋体" panose="02010600030101010101" pitchFamily="2" charset="-122"/>
                <a:ea typeface="宋体" panose="02010600030101010101" pitchFamily="2" charset="-122"/>
                <a:cs typeface="Arial" panose="020B0604020202020204" pitchFamily="34" charset="0"/>
              </a:rPr>
              <a:t>具有自诊断功能。</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800"/>
              </a:lnSpc>
              <a:spcBef>
                <a:spcPts val="0"/>
              </a:spcBef>
              <a:buNone/>
              <a:defRPr/>
            </a:pPr>
            <a:r>
              <a:rPr lang="en-US" altLang="zh-CN" sz="2400" b="1" kern="1200" dirty="0">
                <a:latin typeface="宋体" panose="02010600030101010101" pitchFamily="2" charset="-122"/>
                <a:ea typeface="宋体" panose="02010600030101010101" pitchFamily="2" charset="-122"/>
                <a:cs typeface="Arial" panose="020B0604020202020204" pitchFamily="34" charset="0"/>
              </a:rPr>
              <a:t>4. </a:t>
            </a:r>
            <a:r>
              <a:rPr lang="zh-CN" altLang="en-US" sz="2400" b="1" kern="1200" dirty="0">
                <a:latin typeface="宋体" panose="02010600030101010101" pitchFamily="2" charset="-122"/>
                <a:ea typeface="宋体" panose="02010600030101010101" pitchFamily="2" charset="-122"/>
                <a:cs typeface="Arial" panose="020B0604020202020204" pitchFamily="34" charset="0"/>
              </a:rPr>
              <a:t>具有组态功能，使用灵活。</a:t>
            </a:r>
            <a:endParaRPr lang="en-US" altLang="zh-CN" sz="2400" b="1" kern="1200" dirty="0">
              <a:latin typeface="宋体" panose="02010600030101010101" pitchFamily="2" charset="-122"/>
              <a:ea typeface="宋体" panose="02010600030101010101" pitchFamily="2" charset="-122"/>
              <a:cs typeface="Arial" panose="020B0604020202020204" pitchFamily="34" charset="0"/>
            </a:endParaRPr>
          </a:p>
          <a:p>
            <a:pPr marL="0" indent="0" eaLnBrk="1" hangingPunct="1">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5. </a:t>
            </a:r>
            <a:r>
              <a:rPr lang="zh-CN" altLang="en-US" sz="2400" b="1" dirty="0">
                <a:latin typeface="宋体" panose="02010600030101010101" pitchFamily="2" charset="-122"/>
                <a:ea typeface="宋体" panose="02010600030101010101" pitchFamily="2" charset="-122"/>
                <a:cs typeface="Arial" panose="020B0604020202020204" pitchFamily="34" charset="0"/>
              </a:rPr>
              <a:t>具有数据存储和记忆功能，能存取检测数据。</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marL="442913" indent="-442913">
              <a:lnSpc>
                <a:spcPts val="3800"/>
              </a:lnSpc>
              <a:spcBef>
                <a:spcPts val="0"/>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6. </a:t>
            </a:r>
            <a:r>
              <a:rPr lang="zh-CN" altLang="en-US" sz="2400" b="1" dirty="0">
                <a:latin typeface="宋体" panose="02010600030101010101" pitchFamily="2" charset="-122"/>
                <a:ea typeface="宋体" panose="02010600030101010101" pitchFamily="2" charset="-122"/>
                <a:cs typeface="Arial" panose="020B0604020202020204" pitchFamily="34" charset="0"/>
              </a:rPr>
              <a:t>具有双向通信功能，能通过接口与计算机通信。</a:t>
            </a:r>
            <a:endParaRPr lang="zh-CN" altLang="en-US" sz="2400" b="1" kern="1200" dirty="0">
              <a:latin typeface="宋体" panose="02010600030101010101" pitchFamily="2" charset="-122"/>
              <a:ea typeface="宋体" panose="02010600030101010101" pitchFamily="2" charset="-122"/>
              <a:cs typeface="Arial" panose="020B0604020202020204" pitchFamily="34" charset="0"/>
            </a:endParaRP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12.1.1</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智能传感器的基本特点</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7794255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228812" y="2402745"/>
            <a:ext cx="2519522" cy="2810277"/>
          </a:xfrm>
        </p:spPr>
        <p:txBody>
          <a:bodyPr>
            <a:noAutofit/>
          </a:bodyPr>
          <a:lstStyle/>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高精度</a:t>
            </a:r>
          </a:p>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宽量程</a:t>
            </a:r>
          </a:p>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多功能</a:t>
            </a:r>
          </a:p>
          <a:p>
            <a:pPr eaLnBrk="1" hangingPunct="1">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自适应能力强</a:t>
            </a:r>
            <a:endParaRPr lang="en-US" altLang="zh-CN" sz="2400" b="1" dirty="0">
              <a:latin typeface="Arial" panose="020B0604020202020204" pitchFamily="34" charset="0"/>
              <a:ea typeface="宋体" panose="02010600030101010101" pitchFamily="2" charset="-122"/>
              <a:cs typeface="Arial" panose="020B0604020202020204" pitchFamily="34" charset="0"/>
            </a:endParaRPr>
          </a:p>
          <a:p>
            <a:pPr>
              <a:lnSpc>
                <a:spcPct val="150000"/>
              </a:lnSpc>
              <a:spcBef>
                <a:spcPts val="0"/>
              </a:spcBef>
              <a:buClr>
                <a:srgbClr val="7030A0"/>
              </a:buCl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高可靠性</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12.1.1</a:t>
            </a:r>
          </a:p>
        </p:txBody>
      </p:sp>
      <p:sp>
        <p:nvSpPr>
          <p:cNvPr id="27" name="矩形 26"/>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智能传感器的基本特点</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 name="矩形 2"/>
          <p:cNvSpPr/>
          <p:nvPr/>
        </p:nvSpPr>
        <p:spPr>
          <a:xfrm>
            <a:off x="4641986" y="2402745"/>
            <a:ext cx="3435214" cy="2236574"/>
          </a:xfrm>
          <a:prstGeom prst="rect">
            <a:avLst/>
          </a:prstGeom>
        </p:spPr>
        <p:txBody>
          <a:bodyPr wrap="square">
            <a:spAutoFit/>
          </a:bodyPr>
          <a:lstStyle/>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高性价比</a:t>
            </a:r>
          </a:p>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超小型化、微型化</a:t>
            </a:r>
          </a:p>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微功耗</a:t>
            </a:r>
          </a:p>
          <a:p>
            <a:pPr marL="342900" indent="-342900">
              <a:lnSpc>
                <a:spcPct val="150000"/>
              </a:lnSpc>
              <a:buClr>
                <a:srgbClr val="7030A0"/>
              </a:buClr>
              <a:buFont typeface="Arial" panose="020B0604020202020204" pitchFamily="34" charset="0"/>
              <a:buChar char="•"/>
              <a:defRPr/>
            </a:pPr>
            <a:r>
              <a:rPr lang="zh-CN" altLang="en-US" sz="2400" b="1" dirty="0">
                <a:latin typeface="Arial" panose="020B0604020202020204" pitchFamily="34" charset="0"/>
                <a:ea typeface="宋体" panose="02010600030101010101" pitchFamily="2" charset="-122"/>
                <a:cs typeface="Arial" panose="020B0604020202020204" pitchFamily="34" charset="0"/>
              </a:rPr>
              <a:t>高信噪比 </a:t>
            </a:r>
          </a:p>
        </p:txBody>
      </p:sp>
      <p:sp>
        <p:nvSpPr>
          <p:cNvPr id="4" name="矩形 3"/>
          <p:cNvSpPr/>
          <p:nvPr/>
        </p:nvSpPr>
        <p:spPr>
          <a:xfrm>
            <a:off x="1228811" y="1662924"/>
            <a:ext cx="2969083" cy="461665"/>
          </a:xfrm>
          <a:prstGeom prst="rect">
            <a:avLst/>
          </a:prstGeom>
        </p:spPr>
        <p:txBody>
          <a:bodyPr wrap="none">
            <a:spAutoFit/>
          </a:bodyPr>
          <a:lstStyle/>
          <a:p>
            <a:pPr>
              <a:spcBef>
                <a:spcPts val="672"/>
              </a:spcBef>
              <a:defRPr/>
            </a:pPr>
            <a:r>
              <a:rPr lang="zh-CN" altLang="en-US" sz="2400" b="1" dirty="0">
                <a:latin typeface="Arial" panose="020B0604020202020204" pitchFamily="34" charset="0"/>
                <a:ea typeface="宋体" panose="02010600030101010101" pitchFamily="2" charset="-122"/>
                <a:cs typeface="Arial" panose="020B0604020202020204" pitchFamily="34" charset="0"/>
              </a:rPr>
              <a:t>智能传感器的</a:t>
            </a:r>
            <a:r>
              <a:rPr lang="zh-CN" altLang="en-US" sz="2400" b="1" dirty="0">
                <a:solidFill>
                  <a:srgbClr val="FF0000"/>
                </a:solidFill>
                <a:latin typeface="Arial" panose="020B0604020202020204" pitchFamily="34" charset="0"/>
                <a:ea typeface="宋体" panose="02010600030101010101" pitchFamily="2" charset="-122"/>
                <a:cs typeface="Arial" panose="020B0604020202020204" pitchFamily="34" charset="0"/>
              </a:rPr>
              <a:t>特点</a:t>
            </a:r>
            <a:r>
              <a:rPr lang="zh-CN" altLang="en-US" sz="2400" b="1" dirty="0">
                <a:latin typeface="Arial" panose="020B0604020202020204" pitchFamily="34" charset="0"/>
                <a:ea typeface="宋体" panose="02010600030101010101" pitchFamily="2" charset="-122"/>
                <a:cs typeface="Arial" panose="020B0604020202020204" pitchFamily="34" charset="0"/>
              </a:rPr>
              <a:t>：</a:t>
            </a:r>
          </a:p>
        </p:txBody>
      </p:sp>
    </p:spTree>
    <p:extLst>
      <p:ext uri="{BB962C8B-B14F-4D97-AF65-F5344CB8AC3E}">
        <p14:creationId xmlns:p14="http://schemas.microsoft.com/office/powerpoint/2010/main" val="33932539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1571711" y="1607212"/>
            <a:ext cx="5495264" cy="3865159"/>
          </a:xfrm>
          <a:prstGeom prst="rect">
            <a:avLst/>
          </a:prstGeom>
        </p:spPr>
        <p:txBody>
          <a:bodyPr wrap="square" lIns="91438" tIns="45719" rIns="91438" bIns="45719">
            <a:spAutoFit/>
          </a:bodyPr>
          <a:lstStyle/>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1. </a:t>
            </a:r>
            <a:r>
              <a:rPr lang="zh-CN" altLang="en-US" sz="2400" b="1" dirty="0">
                <a:latin typeface="宋体" panose="02010600030101010101" pitchFamily="2" charset="-122"/>
                <a:ea typeface="宋体" panose="02010600030101010101" pitchFamily="2" charset="-122"/>
                <a:cs typeface="Arial" panose="020B0604020202020204" pitchFamily="34" charset="0"/>
              </a:rPr>
              <a:t>采用新技术提高智能化程度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2. </a:t>
            </a:r>
            <a:r>
              <a:rPr lang="zh-CN" altLang="en-US" sz="2400" b="1" dirty="0">
                <a:latin typeface="宋体" panose="02010600030101010101" pitchFamily="2" charset="-122"/>
                <a:ea typeface="宋体" panose="02010600030101010101" pitchFamily="2" charset="-122"/>
                <a:cs typeface="Arial" panose="020B0604020202020204" pitchFamily="34" charset="0"/>
              </a:rPr>
              <a:t>单片传感器系统</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3. </a:t>
            </a:r>
            <a:r>
              <a:rPr lang="zh-CN" altLang="en-US" sz="2400" b="1" dirty="0">
                <a:latin typeface="宋体" panose="02010600030101010101" pitchFamily="2" charset="-122"/>
                <a:ea typeface="宋体" panose="02010600030101010101" pitchFamily="2" charset="-122"/>
                <a:cs typeface="Arial" panose="020B0604020202020204" pitchFamily="34" charset="0"/>
              </a:rPr>
              <a:t>智能微尘传感器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4. </a:t>
            </a:r>
            <a:r>
              <a:rPr lang="zh-CN" altLang="en-US" sz="2400" b="1" dirty="0">
                <a:latin typeface="宋体" panose="02010600030101010101" pitchFamily="2" charset="-122"/>
                <a:ea typeface="宋体" panose="02010600030101010101" pitchFamily="2" charset="-122"/>
                <a:cs typeface="Arial" panose="020B0604020202020204" pitchFamily="34" charset="0"/>
              </a:rPr>
              <a:t>总线技术的标准化与规范化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5. </a:t>
            </a:r>
            <a:r>
              <a:rPr lang="zh-CN" altLang="en-US" sz="2400" b="1" dirty="0">
                <a:latin typeface="宋体" panose="02010600030101010101" pitchFamily="2" charset="-122"/>
                <a:ea typeface="宋体" panose="02010600030101010101" pitchFamily="2" charset="-122"/>
                <a:cs typeface="Arial" panose="020B0604020202020204" pitchFamily="34" charset="0"/>
              </a:rPr>
              <a:t>虚拟传感器和网络传感器 </a:t>
            </a:r>
          </a:p>
          <a:p>
            <a:pPr>
              <a:lnSpc>
                <a:spcPct val="150000"/>
              </a:lnSpc>
              <a:spcBef>
                <a:spcPts val="672"/>
              </a:spcBef>
            </a:pPr>
            <a:r>
              <a:rPr lang="en-US" altLang="zh-CN" sz="2400" b="1" dirty="0">
                <a:latin typeface="宋体" panose="02010600030101010101" pitchFamily="2" charset="-122"/>
                <a:ea typeface="宋体" panose="02010600030101010101" pitchFamily="2" charset="-122"/>
                <a:cs typeface="Arial" panose="020B0604020202020204" pitchFamily="34" charset="0"/>
              </a:rPr>
              <a:t>6. </a:t>
            </a:r>
            <a:r>
              <a:rPr lang="zh-CN" altLang="en-US" sz="2400" b="1" dirty="0">
                <a:latin typeface="宋体" panose="02010600030101010101" pitchFamily="2" charset="-122"/>
                <a:ea typeface="宋体" panose="02010600030101010101" pitchFamily="2" charset="-122"/>
                <a:cs typeface="Arial" panose="020B0604020202020204" pitchFamily="34" charset="0"/>
              </a:rPr>
              <a:t>可靠性与安全性设计</a:t>
            </a:r>
            <a:endParaRPr lang="en-US" altLang="zh-CN" sz="1400" dirty="0">
              <a:latin typeface="宋体" panose="02010600030101010101" pitchFamily="2" charset="-122"/>
              <a:ea typeface="宋体" panose="02010600030101010101" pitchFamily="2" charset="-122"/>
            </a:endParaRP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418746398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4" name="矩形 3"/>
          <p:cNvSpPr/>
          <p:nvPr/>
        </p:nvSpPr>
        <p:spPr>
          <a:xfrm>
            <a:off x="409575" y="1711889"/>
            <a:ext cx="3417209" cy="461665"/>
          </a:xfrm>
          <a:prstGeom prst="rect">
            <a:avLst/>
          </a:prstGeom>
        </p:spPr>
        <p:txBody>
          <a:bodyPr wrap="square">
            <a:spAutoFit/>
          </a:bodyPr>
          <a:lstStyle/>
          <a:p>
            <a:pPr>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单片传感器系统</a:t>
            </a:r>
          </a:p>
        </p:txBody>
      </p:sp>
      <p:sp>
        <p:nvSpPr>
          <p:cNvPr id="39" name="矩形 38">
            <a:extLst>
              <a:ext uri="{FF2B5EF4-FFF2-40B4-BE49-F238E27FC236}">
                <a16:creationId xmlns:a16="http://schemas.microsoft.com/office/drawing/2014/main" id="{D34396BB-6050-4734-BFC1-1F29E2A6538B}"/>
              </a:ext>
            </a:extLst>
          </p:cNvPr>
          <p:cNvSpPr/>
          <p:nvPr/>
        </p:nvSpPr>
        <p:spPr>
          <a:xfrm>
            <a:off x="990601" y="2462213"/>
            <a:ext cx="6608768" cy="1667762"/>
          </a:xfrm>
          <a:prstGeom prst="rect">
            <a:avLst/>
          </a:prstGeom>
        </p:spPr>
        <p:txBody>
          <a:bodyPr wrap="square" lIns="91438" tIns="45719" rIns="91438" bIns="45719">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来自于单片系统（</a:t>
            </a:r>
            <a:r>
              <a:rPr lang="en-US" altLang="zh-CN" sz="2400" b="1" dirty="0">
                <a:latin typeface="宋体" panose="02010600030101010101" pitchFamily="2" charset="-122"/>
                <a:ea typeface="宋体" panose="02010600030101010101" pitchFamily="2" charset="-122"/>
              </a:rPr>
              <a:t>SOC</a:t>
            </a:r>
            <a:r>
              <a:rPr lang="zh-CN" altLang="en-US" sz="2400" b="1" dirty="0">
                <a:latin typeface="宋体" panose="02010600030101010101" pitchFamily="2" charset="-122"/>
                <a:ea typeface="宋体" panose="02010600030101010101" pitchFamily="2" charset="-122"/>
              </a:rPr>
              <a:t>，</a:t>
            </a:r>
            <a:r>
              <a:rPr lang="en-US" altLang="zh-CN" sz="2400" b="1" dirty="0">
                <a:latin typeface="宋体" panose="02010600030101010101" pitchFamily="2" charset="-122"/>
                <a:ea typeface="宋体" panose="02010600030101010101" pitchFamily="2" charset="-122"/>
              </a:rPr>
              <a:t>system on chip</a:t>
            </a:r>
            <a:r>
              <a:rPr lang="zh-CN" altLang="en-US" sz="2400" b="1" dirty="0">
                <a:latin typeface="宋体" panose="02010600030101010101" pitchFamily="2" charset="-122"/>
                <a:ea typeface="宋体" panose="02010600030101010101" pitchFamily="2" charset="-122"/>
              </a:rPr>
              <a:t>）概念，使</a:t>
            </a:r>
            <a:r>
              <a:rPr lang="en-US" altLang="zh-CN" sz="2400" b="1" dirty="0">
                <a:latin typeface="宋体" panose="02010600030101010101" pitchFamily="2" charset="-122"/>
                <a:ea typeface="宋体" panose="02010600030101010101" pitchFamily="2" charset="-122"/>
              </a:rPr>
              <a:t>IC</a:t>
            </a:r>
            <a:r>
              <a:rPr lang="zh-CN" altLang="en-US" sz="2400" b="1" dirty="0">
                <a:latin typeface="宋体" panose="02010600030101010101" pitchFamily="2" charset="-122"/>
                <a:ea typeface="宋体" panose="02010600030101010101" pitchFamily="2" charset="-122"/>
              </a:rPr>
              <a:t>从传统意义上的“集成电路”发展成为全新概念的“集成系统”。</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5455579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611169" y="1662003"/>
            <a:ext cx="5495264" cy="461663"/>
          </a:xfrm>
          <a:prstGeom prst="rect">
            <a:avLst/>
          </a:prstGeom>
        </p:spPr>
        <p:txBody>
          <a:bodyPr wrap="square" lIns="91438" tIns="45719" rIns="91438" bIns="45719">
            <a:spAutoFit/>
          </a:bodyPr>
          <a:lstStyle/>
          <a:p>
            <a:pPr>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虚拟传感器和网络传感器 </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矩形 19">
            <a:extLst>
              <a:ext uri="{FF2B5EF4-FFF2-40B4-BE49-F238E27FC236}">
                <a16:creationId xmlns:a16="http://schemas.microsoft.com/office/drawing/2014/main" id="{D34396BB-6050-4734-BFC1-1F29E2A6538B}"/>
              </a:ext>
            </a:extLst>
          </p:cNvPr>
          <p:cNvSpPr/>
          <p:nvPr/>
        </p:nvSpPr>
        <p:spPr>
          <a:xfrm>
            <a:off x="820719" y="2447516"/>
            <a:ext cx="7319867" cy="2865526"/>
          </a:xfrm>
          <a:prstGeom prst="rect">
            <a:avLst/>
          </a:prstGeom>
        </p:spPr>
        <p:txBody>
          <a:bodyPr wrap="square" lIns="91438" tIns="45719" rIns="91438" bIns="45719">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虚拟传感器是基于软件开发而成的智能传感器，在硬件基础上通过软件来实现测试功能，或利用软件完成传感器的校准及标定。</a:t>
            </a:r>
            <a:endParaRPr lang="en-US" altLang="zh-CN" sz="2400" b="1" dirty="0">
              <a:latin typeface="宋体" panose="02010600030101010101" pitchFamily="2" charset="-122"/>
              <a:ea typeface="宋体" panose="02010600030101010101" pitchFamily="2" charset="-122"/>
            </a:endParaRPr>
          </a:p>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网络传感器是包含数字传感器、网络接口和处理单元的新一代智能传感器。</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82321094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D34396BB-6050-4734-BFC1-1F29E2A6538B}"/>
              </a:ext>
            </a:extLst>
          </p:cNvPr>
          <p:cNvSpPr/>
          <p:nvPr/>
        </p:nvSpPr>
        <p:spPr>
          <a:xfrm>
            <a:off x="532191" y="1669702"/>
            <a:ext cx="5495264" cy="461663"/>
          </a:xfrm>
          <a:prstGeom prst="rect">
            <a:avLst/>
          </a:prstGeom>
        </p:spPr>
        <p:txBody>
          <a:bodyPr wrap="square" lIns="91438" tIns="45719" rIns="91438" bIns="45719">
            <a:spAutoFit/>
          </a:bodyPr>
          <a:lstStyle/>
          <a:p>
            <a:pPr>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可靠性与安全性设计</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12.1.2</a:t>
            </a:r>
          </a:p>
        </p:txBody>
      </p:sp>
      <p:sp>
        <p:nvSpPr>
          <p:cNvPr id="28" name="矩形 27"/>
          <p:cNvSpPr/>
          <p:nvPr/>
        </p:nvSpPr>
        <p:spPr>
          <a:xfrm>
            <a:off x="1960201" y="329520"/>
            <a:ext cx="587371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智能传感器的发展趋势及应用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0" name="矩形 19">
            <a:extLst>
              <a:ext uri="{FF2B5EF4-FFF2-40B4-BE49-F238E27FC236}">
                <a16:creationId xmlns:a16="http://schemas.microsoft.com/office/drawing/2014/main" id="{D34396BB-6050-4734-BFC1-1F29E2A6538B}"/>
              </a:ext>
            </a:extLst>
          </p:cNvPr>
          <p:cNvSpPr/>
          <p:nvPr/>
        </p:nvSpPr>
        <p:spPr>
          <a:xfrm>
            <a:off x="1003277" y="2550235"/>
            <a:ext cx="6597673" cy="1757530"/>
          </a:xfrm>
          <a:prstGeom prst="rect">
            <a:avLst/>
          </a:prstGeom>
        </p:spPr>
        <p:txBody>
          <a:bodyPr wrap="square" lIns="91438" tIns="45719" rIns="91438" bIns="45719">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智能传感器一般都具有自检和自校准功能。</a:t>
            </a:r>
            <a:endParaRPr lang="en-US" altLang="zh-CN" sz="2400" b="1" dirty="0">
              <a:latin typeface="宋体" panose="02010600030101010101" pitchFamily="2" charset="-122"/>
              <a:ea typeface="宋体" panose="02010600030101010101" pitchFamily="2" charset="-122"/>
            </a:endParaRPr>
          </a:p>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rPr>
              <a:t>新型智能传感器普遍增加了</a:t>
            </a:r>
            <a:r>
              <a:rPr lang="en-US" altLang="zh-CN" sz="2400" b="1" dirty="0">
                <a:latin typeface="宋体" panose="02010600030101010101" pitchFamily="2" charset="-122"/>
                <a:ea typeface="宋体" panose="02010600030101010101" pitchFamily="2" charset="-122"/>
              </a:rPr>
              <a:t>ESD</a:t>
            </a:r>
            <a:r>
              <a:rPr lang="zh-CN" altLang="en-US" sz="2400" b="1" dirty="0">
                <a:latin typeface="宋体" panose="02010600030101010101" pitchFamily="2" charset="-122"/>
                <a:ea typeface="宋体" panose="02010600030101010101" pitchFamily="2" charset="-122"/>
              </a:rPr>
              <a:t>保护电路，防止因静电放电（</a:t>
            </a:r>
            <a:r>
              <a:rPr lang="en-US" altLang="zh-CN" sz="2400" b="1" dirty="0">
                <a:latin typeface="宋体" panose="02010600030101010101" pitchFamily="2" charset="-122"/>
                <a:ea typeface="宋体" panose="02010600030101010101" pitchFamily="2" charset="-122"/>
              </a:rPr>
              <a:t>ESD</a:t>
            </a:r>
            <a:r>
              <a:rPr lang="zh-CN" altLang="en-US" sz="2400" b="1" dirty="0">
                <a:latin typeface="宋体" panose="02010600030101010101" pitchFamily="2" charset="-122"/>
                <a:ea typeface="宋体" panose="02010600030101010101" pitchFamily="2" charset="-122"/>
              </a:rPr>
              <a:t>）损坏硬件电路。</a:t>
            </a:r>
            <a:endParaRPr lang="en-US" altLang="zh-CN" sz="24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0947378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961667D5-6E02-42C6-973A-2E8008454BA6}"/>
              </a:ext>
            </a:extLst>
          </p:cNvPr>
          <p:cNvSpPr txBox="1"/>
          <p:nvPr/>
        </p:nvSpPr>
        <p:spPr>
          <a:xfrm>
            <a:off x="744721" y="1807021"/>
            <a:ext cx="7320328" cy="2865524"/>
          </a:xfrm>
          <a:prstGeom prst="rect">
            <a:avLst/>
          </a:prstGeom>
          <a:noFill/>
        </p:spPr>
        <p:txBody>
          <a:bodyPr wrap="square" lIns="91436" tIns="45718" rIns="91436" bIns="45718" rtlCol="0">
            <a:spAutoFit/>
          </a:bodyPr>
          <a:lstStyle/>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网络化的智能精密压力传感器</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indent="631825">
              <a:lnSpc>
                <a:spcPct val="150000"/>
              </a:lnSpc>
              <a:spcBef>
                <a:spcPts val="672"/>
              </a:spcBef>
            </a:pPr>
            <a:r>
              <a:rPr lang="zh-CN" altLang="en-US" sz="2400" b="1" dirty="0">
                <a:latin typeface="宋体" panose="02010600030101010101" pitchFamily="2" charset="-122"/>
                <a:ea typeface="宋体" panose="02010600030101010101" pitchFamily="2" charset="-122"/>
                <a:cs typeface="Arial" panose="020B0604020202020204" pitchFamily="34" charset="0"/>
              </a:rPr>
              <a:t>将压敏电阻、</a:t>
            </a:r>
            <a:r>
              <a:rPr lang="en-US" altLang="zh-CN" sz="2400" b="1" dirty="0">
                <a:latin typeface="宋体" panose="02010600030101010101" pitchFamily="2" charset="-122"/>
                <a:ea typeface="宋体" panose="02010600030101010101" pitchFamily="2" charset="-122"/>
                <a:cs typeface="Arial" panose="020B0604020202020204" pitchFamily="34" charset="0"/>
              </a:rPr>
              <a:t>A/D</a:t>
            </a:r>
            <a:r>
              <a:rPr lang="zh-CN" altLang="en-US" sz="2400" b="1" dirty="0">
                <a:latin typeface="宋体" panose="02010600030101010101" pitchFamily="2" charset="-122"/>
                <a:ea typeface="宋体" panose="02010600030101010101" pitchFamily="2" charset="-122"/>
                <a:cs typeface="Arial" panose="020B0604020202020204" pitchFamily="34" charset="0"/>
              </a:rPr>
              <a:t>转换器、微处理器、存储器（</a:t>
            </a:r>
            <a:r>
              <a:rPr lang="en-US" altLang="zh-CN" sz="2400" b="1" dirty="0">
                <a:latin typeface="宋体" panose="02010600030101010101" pitchFamily="2" charset="-122"/>
                <a:ea typeface="宋体" panose="02010600030101010101" pitchFamily="2" charset="-122"/>
                <a:cs typeface="Arial" panose="020B0604020202020204" pitchFamily="34" charset="0"/>
              </a:rPr>
              <a:t>RAM</a:t>
            </a:r>
            <a:r>
              <a:rPr lang="zh-CN" altLang="en-US" sz="2400" b="1" dirty="0">
                <a:latin typeface="宋体" panose="02010600030101010101" pitchFamily="2" charset="-122"/>
                <a:ea typeface="宋体" panose="02010600030101010101" pitchFamily="2" charset="-122"/>
                <a:cs typeface="Arial" panose="020B0604020202020204" pitchFamily="34" charset="0"/>
              </a:rPr>
              <a:t>、</a:t>
            </a:r>
            <a:r>
              <a:rPr lang="en-US" altLang="zh-CN" sz="2400" b="1" dirty="0">
                <a:latin typeface="宋体" panose="02010600030101010101" pitchFamily="2" charset="-122"/>
                <a:ea typeface="宋体" panose="02010600030101010101" pitchFamily="2" charset="-122"/>
                <a:cs typeface="Arial" panose="020B0604020202020204" pitchFamily="34" charset="0"/>
              </a:rPr>
              <a:t>E</a:t>
            </a:r>
            <a:r>
              <a:rPr lang="en-US" altLang="zh-CN" sz="2400" b="1" baseline="30000" dirty="0">
                <a:latin typeface="宋体" panose="02010600030101010101" pitchFamily="2" charset="-122"/>
                <a:ea typeface="宋体" panose="02010600030101010101" pitchFamily="2" charset="-122"/>
                <a:cs typeface="Arial" panose="020B0604020202020204" pitchFamily="34" charset="0"/>
              </a:rPr>
              <a:t>2</a:t>
            </a:r>
            <a:r>
              <a:rPr lang="en-US" altLang="zh-CN" sz="2400" b="1" dirty="0">
                <a:latin typeface="宋体" panose="02010600030101010101" pitchFamily="2" charset="-122"/>
                <a:ea typeface="宋体" panose="02010600030101010101" pitchFamily="2" charset="-122"/>
                <a:cs typeface="Arial" panose="020B0604020202020204" pitchFamily="34" charset="0"/>
              </a:rPr>
              <a:t>PROM</a:t>
            </a:r>
            <a:r>
              <a:rPr lang="zh-CN" altLang="en-US" sz="2400" b="1" dirty="0">
                <a:latin typeface="宋体" panose="02010600030101010101" pitchFamily="2" charset="-122"/>
                <a:ea typeface="宋体" panose="02010600030101010101" pitchFamily="2" charset="-122"/>
                <a:cs typeface="Arial" panose="020B0604020202020204" pitchFamily="34" charset="0"/>
              </a:rPr>
              <a:t>）和接口电路集于一身，不仅达到了高性能指标，还极大地方便了用户。这些产品已广泛用于工业、环境监测、自动控制、医疗设备等领域。</a:t>
            </a:r>
          </a:p>
        </p:txBody>
      </p:sp>
      <p:sp>
        <p:nvSpPr>
          <p:cNvPr id="26" name="矩形 25"/>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7" name="圆角矩形 26"/>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3400" b="1" dirty="0">
                <a:latin typeface="Arial" panose="020B0604020202020204" pitchFamily="34" charset="0"/>
                <a:ea typeface="宋体" panose="02010600030101010101" pitchFamily="2" charset="-122"/>
                <a:cs typeface="Arial" panose="020B0604020202020204" pitchFamily="34" charset="0"/>
              </a:rPr>
              <a:t>12.2</a:t>
            </a:r>
          </a:p>
        </p:txBody>
      </p:sp>
      <p:sp>
        <p:nvSpPr>
          <p:cNvPr id="28" name="矩形 27"/>
          <p:cNvSpPr/>
          <p:nvPr/>
        </p:nvSpPr>
        <p:spPr>
          <a:xfrm>
            <a:off x="1960201" y="329520"/>
            <a:ext cx="4560856"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网络化智能压力传感器</a:t>
            </a:r>
          </a:p>
        </p:txBody>
      </p:sp>
      <p:grpSp>
        <p:nvGrpSpPr>
          <p:cNvPr id="29" name="组 42"/>
          <p:cNvGrpSpPr/>
          <p:nvPr/>
        </p:nvGrpSpPr>
        <p:grpSpPr>
          <a:xfrm>
            <a:off x="8590580" y="252857"/>
            <a:ext cx="553419" cy="484288"/>
            <a:chOff x="11454105" y="252856"/>
            <a:chExt cx="737892" cy="484288"/>
          </a:xfrm>
        </p:grpSpPr>
        <p:grpSp>
          <p:nvGrpSpPr>
            <p:cNvPr id="30" name="组 49"/>
            <p:cNvGrpSpPr/>
            <p:nvPr/>
          </p:nvGrpSpPr>
          <p:grpSpPr>
            <a:xfrm>
              <a:off x="12039604" y="252856"/>
              <a:ext cx="152393" cy="484287"/>
              <a:chOff x="12039604" y="252856"/>
              <a:chExt cx="152393" cy="484287"/>
            </a:xfrm>
          </p:grpSpPr>
          <p:sp>
            <p:nvSpPr>
              <p:cNvPr id="34" name="圆角矩形 33"/>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99"/>
            <p:cNvGrpSpPr/>
            <p:nvPr/>
          </p:nvGrpSpPr>
          <p:grpSpPr>
            <a:xfrm>
              <a:off x="11454105" y="252857"/>
              <a:ext cx="491115" cy="484287"/>
              <a:chOff x="1528923" y="220268"/>
              <a:chExt cx="1284096" cy="1266241"/>
            </a:xfrm>
          </p:grpSpPr>
          <p:sp>
            <p:nvSpPr>
              <p:cNvPr id="32" name="圆角矩形 31"/>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Tree>
    <p:extLst>
      <p:ext uri="{BB962C8B-B14F-4D97-AF65-F5344CB8AC3E}">
        <p14:creationId xmlns:p14="http://schemas.microsoft.com/office/powerpoint/2010/main" val="77986313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
            <a:extLst>
              <a:ext uri="{FF2B5EF4-FFF2-40B4-BE49-F238E27FC236}">
                <a16:creationId xmlns:a16="http://schemas.microsoft.com/office/drawing/2014/main" id="{B2C56CED-4DA6-4886-B2ED-BAC37A98CCF0}"/>
              </a:ext>
            </a:extLst>
          </p:cNvPr>
          <p:cNvSpPr>
            <a:spLocks noGrp="1"/>
          </p:cNvSpPr>
          <p:nvPr>
            <p:ph idx="1"/>
          </p:nvPr>
        </p:nvSpPr>
        <p:spPr>
          <a:xfrm>
            <a:off x="181621" y="3775038"/>
            <a:ext cx="5095229" cy="2296168"/>
          </a:xfrm>
        </p:spPr>
        <p:txBody>
          <a:bodyPr>
            <a:noAutofit/>
          </a:bodyPr>
          <a:lstStyle/>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适配两只热敏电阻探头测量液位。</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芯片内部有探头故障检测器和电源调节器。具有复位和延迟开关功能，利用复位功能可实现电路切换，利用延迟功能则能抑制瞬态干扰。</a:t>
            </a:r>
          </a:p>
        </p:txBody>
      </p:sp>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12.3.1</a:t>
            </a:r>
          </a:p>
        </p:txBody>
      </p:sp>
      <p:sp>
        <p:nvSpPr>
          <p:cNvPr id="27" name="矩形 26"/>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38" name="内容占位符 2">
            <a:extLst>
              <a:ext uri="{FF2B5EF4-FFF2-40B4-BE49-F238E27FC236}">
                <a16:creationId xmlns:a16="http://schemas.microsoft.com/office/drawing/2014/main" id="{B2C56CED-4DA6-4886-B2ED-BAC37A98CCF0}"/>
              </a:ext>
            </a:extLst>
          </p:cNvPr>
          <p:cNvSpPr txBox="1">
            <a:spLocks/>
          </p:cNvSpPr>
          <p:nvPr/>
        </p:nvSpPr>
        <p:spPr>
          <a:xfrm>
            <a:off x="0" y="1206698"/>
            <a:ext cx="5276850" cy="158304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536575">
              <a:lnSpc>
                <a:spcPct val="150000"/>
              </a:lnSpc>
              <a:spcBef>
                <a:spcPts val="576"/>
              </a:spcBef>
              <a:buNone/>
              <a:defRPr/>
            </a:pPr>
            <a:r>
              <a:rPr lang="en-US" altLang="zh-CN" sz="2400" b="1" dirty="0">
                <a:latin typeface="宋体" panose="02010600030101010101" pitchFamily="2" charset="-122"/>
                <a:ea typeface="宋体" panose="02010600030101010101" pitchFamily="2" charset="-122"/>
                <a:cs typeface="Arial" panose="020B0604020202020204" pitchFamily="34" charset="0"/>
              </a:rPr>
              <a:t>LM1042</a:t>
            </a:r>
            <a:r>
              <a:rPr lang="zh-CN" altLang="en-US" sz="2400" b="1" dirty="0">
                <a:latin typeface="宋体" panose="02010600030101010101" pitchFamily="2" charset="-122"/>
                <a:ea typeface="宋体" panose="02010600030101010101" pitchFamily="2" charset="-122"/>
                <a:cs typeface="Arial" panose="020B0604020202020204" pitchFamily="34" charset="0"/>
              </a:rPr>
              <a:t>通过热敏电阻探头来测量非可燃性液体的液面高度，并能检测出热敏电阻探头的短路和开路故障。</a:t>
            </a:r>
          </a:p>
        </p:txBody>
      </p:sp>
      <p:sp>
        <p:nvSpPr>
          <p:cNvPr id="2" name="矩形 1"/>
          <p:cNvSpPr/>
          <p:nvPr/>
        </p:nvSpPr>
        <p:spPr>
          <a:xfrm>
            <a:off x="438578" y="2959226"/>
            <a:ext cx="1731564" cy="646331"/>
          </a:xfrm>
          <a:prstGeom prst="rect">
            <a:avLst/>
          </a:prstGeom>
          <a:solidFill>
            <a:srgbClr val="92D050"/>
          </a:solidFill>
        </p:spPr>
        <p:txBody>
          <a:bodyPr wrap="none">
            <a:spAutoFit/>
          </a:bodyPr>
          <a:lstStyle/>
          <a:p>
            <a:pPr>
              <a:lnSpc>
                <a:spcPct val="150000"/>
              </a:lnSpc>
              <a:spcBef>
                <a:spcPts val="576"/>
              </a:spcBef>
              <a:defRPr/>
            </a:pPr>
            <a:r>
              <a:rPr lang="zh-CN" altLang="en-US" sz="2400" b="1" dirty="0">
                <a:latin typeface="宋体" panose="02010600030101010101" pitchFamily="2" charset="-122"/>
                <a:ea typeface="宋体" panose="02010600030101010101" pitchFamily="2" charset="-122"/>
                <a:cs typeface="Arial" panose="020B0604020202020204" pitchFamily="34" charset="0"/>
              </a:rPr>
              <a:t>性能特点：</a:t>
            </a:r>
          </a:p>
        </p:txBody>
      </p:sp>
      <p:sp>
        <p:nvSpPr>
          <p:cNvPr id="21" name="Text Box 59">
            <a:extLst>
              <a:ext uri="{FF2B5EF4-FFF2-40B4-BE49-F238E27FC236}">
                <a16:creationId xmlns:a16="http://schemas.microsoft.com/office/drawing/2014/main" id="{B198084C-AD8D-4591-92BB-75F8D3C5A656}"/>
              </a:ext>
            </a:extLst>
          </p:cNvPr>
          <p:cNvSpPr txBox="1">
            <a:spLocks noChangeArrowheads="1"/>
          </p:cNvSpPr>
          <p:nvPr/>
        </p:nvSpPr>
        <p:spPr bwMode="auto">
          <a:xfrm>
            <a:off x="5697567" y="5349233"/>
            <a:ext cx="3261349" cy="993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12-12 LM1042</a:t>
            </a:r>
            <a:r>
              <a:rPr kumimoji="0" lang="zh-CN" altLang="en-US" sz="2400" b="1" dirty="0">
                <a:solidFill>
                  <a:srgbClr val="3333CC"/>
                </a:solidFill>
                <a:latin typeface="宋体" pitchFamily="2" charset="-122"/>
              </a:rPr>
              <a:t>的基本</a:t>
            </a:r>
            <a:endParaRPr kumimoji="0" lang="en-US" altLang="zh-CN" sz="2400" b="1" dirty="0">
              <a:solidFill>
                <a:srgbClr val="3333CC"/>
              </a:solidFill>
              <a:latin typeface="宋体" pitchFamily="2" charset="-122"/>
            </a:endParaRPr>
          </a:p>
          <a:p>
            <a:pPr marL="982663" indent="-982663" algn="r" eaLnBrk="1" hangingPunct="1">
              <a:lnSpc>
                <a:spcPct val="120000"/>
              </a:lnSpc>
              <a:spcBef>
                <a:spcPct val="20000"/>
              </a:spcBef>
            </a:pPr>
            <a:r>
              <a:rPr kumimoji="0" lang="zh-CN" altLang="en-US" sz="2400" b="1" dirty="0">
                <a:solidFill>
                  <a:srgbClr val="3333CC"/>
                </a:solidFill>
                <a:latin typeface="宋体" pitchFamily="2" charset="-122"/>
              </a:rPr>
              <a:t>测量原理</a:t>
            </a:r>
          </a:p>
        </p:txBody>
      </p:sp>
      <p:pic>
        <p:nvPicPr>
          <p:cNvPr id="23" name="图片 14">
            <a:extLst>
              <a:ext uri="{FF2B5EF4-FFF2-40B4-BE49-F238E27FC236}">
                <a16:creationId xmlns:a16="http://schemas.microsoft.com/office/drawing/2014/main" id="{D3DFD98F-DCA4-4B76-8331-5EDEE0190936}"/>
              </a:ext>
            </a:extLst>
          </p:cNvPr>
          <p:cNvPicPr>
            <a:picLocks noChangeAspect="1"/>
          </p:cNvPicPr>
          <p:nvPr/>
        </p:nvPicPr>
        <p:blipFill>
          <a:blip r:embed="rId3"/>
          <a:stretch>
            <a:fillRect/>
          </a:stretch>
        </p:blipFill>
        <p:spPr>
          <a:xfrm>
            <a:off x="5643443" y="1950213"/>
            <a:ext cx="3415547" cy="3313737"/>
          </a:xfrm>
          <a:prstGeom prst="rect">
            <a:avLst/>
          </a:prstGeom>
        </p:spPr>
      </p:pic>
    </p:spTree>
    <p:extLst>
      <p:ext uri="{BB962C8B-B14F-4D97-AF65-F5344CB8AC3E}">
        <p14:creationId xmlns:p14="http://schemas.microsoft.com/office/powerpoint/2010/main" val="320344542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12.3.1</a:t>
            </a:r>
          </a:p>
        </p:txBody>
      </p:sp>
      <p:sp>
        <p:nvSpPr>
          <p:cNvPr id="27" name="矩形 26"/>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28" name="组 42"/>
          <p:cNvGrpSpPr/>
          <p:nvPr/>
        </p:nvGrpSpPr>
        <p:grpSpPr>
          <a:xfrm>
            <a:off x="8590580" y="252857"/>
            <a:ext cx="553419" cy="484288"/>
            <a:chOff x="11454105" y="252856"/>
            <a:chExt cx="737892" cy="484288"/>
          </a:xfrm>
        </p:grpSpPr>
        <p:grpSp>
          <p:nvGrpSpPr>
            <p:cNvPr id="29" name="组 49"/>
            <p:cNvGrpSpPr/>
            <p:nvPr/>
          </p:nvGrpSpPr>
          <p:grpSpPr>
            <a:xfrm>
              <a:off x="12039604" y="252856"/>
              <a:ext cx="152393" cy="484287"/>
              <a:chOff x="12039604" y="252856"/>
              <a:chExt cx="152393" cy="484287"/>
            </a:xfrm>
          </p:grpSpPr>
          <p:sp>
            <p:nvSpPr>
              <p:cNvPr id="33" name="圆角矩形 32"/>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0" name="组合 99"/>
            <p:cNvGrpSpPr/>
            <p:nvPr/>
          </p:nvGrpSpPr>
          <p:grpSpPr>
            <a:xfrm>
              <a:off x="11454105" y="252857"/>
              <a:ext cx="491115" cy="484287"/>
              <a:chOff x="1528923" y="220268"/>
              <a:chExt cx="1284096" cy="1266241"/>
            </a:xfrm>
          </p:grpSpPr>
          <p:sp>
            <p:nvSpPr>
              <p:cNvPr id="31" name="圆角矩形 30"/>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2" name="矩形 25">
            <a:extLst>
              <a:ext uri="{FF2B5EF4-FFF2-40B4-BE49-F238E27FC236}">
                <a16:creationId xmlns:a16="http://schemas.microsoft.com/office/drawing/2014/main" id="{FB97B8F6-313D-46FB-995C-4C7F641FB7DA}"/>
              </a:ext>
            </a:extLst>
          </p:cNvPr>
          <p:cNvSpPr/>
          <p:nvPr/>
        </p:nvSpPr>
        <p:spPr>
          <a:xfrm>
            <a:off x="185083" y="1380306"/>
            <a:ext cx="5139548" cy="461665"/>
          </a:xfrm>
          <a:prstGeom prst="rect">
            <a:avLst/>
          </a:prstGeom>
          <a:ln>
            <a:noFill/>
          </a:ln>
        </p:spPr>
        <p:txBody>
          <a:bodyPr wrap="none">
            <a:spAutoFit/>
          </a:bodyPr>
          <a:lstStyle/>
          <a:p>
            <a:r>
              <a:rPr lang="en-US" altLang="zh-CN" sz="2400" b="1" dirty="0">
                <a:latin typeface="宋体" panose="02010600030101010101" pitchFamily="2" charset="-122"/>
                <a:ea typeface="宋体" panose="02010600030101010101" pitchFamily="2" charset="-122"/>
              </a:rPr>
              <a:t>LM1042</a:t>
            </a:r>
            <a:r>
              <a:rPr lang="zh-CN" altLang="en-US" sz="2400" b="1" dirty="0">
                <a:latin typeface="宋体" panose="02010600030101010101" pitchFamily="2" charset="-122"/>
                <a:ea typeface="宋体" panose="02010600030101010101" pitchFamily="2" charset="-122"/>
              </a:rPr>
              <a:t>型集成液位传感器的典型应用</a:t>
            </a:r>
          </a:p>
        </p:txBody>
      </p:sp>
      <p:sp>
        <p:nvSpPr>
          <p:cNvPr id="39" name="矩形 39">
            <a:extLst>
              <a:ext uri="{FF2B5EF4-FFF2-40B4-BE49-F238E27FC236}">
                <a16:creationId xmlns:a16="http://schemas.microsoft.com/office/drawing/2014/main" id="{997DB664-A79E-4F56-AE5D-8F62B0362552}"/>
              </a:ext>
            </a:extLst>
          </p:cNvPr>
          <p:cNvSpPr/>
          <p:nvPr/>
        </p:nvSpPr>
        <p:spPr>
          <a:xfrm>
            <a:off x="185083" y="2372671"/>
            <a:ext cx="4255558" cy="2775760"/>
          </a:xfrm>
          <a:prstGeom prst="rect">
            <a:avLst/>
          </a:prstGeom>
        </p:spPr>
        <p:txBody>
          <a:bodyPr wrap="square">
            <a:spAutoFit/>
          </a:bodyPr>
          <a:lstStyle/>
          <a:p>
            <a:pPr indent="631825">
              <a:lnSpc>
                <a:spcPct val="150000"/>
              </a:lnSpc>
            </a:pPr>
            <a:r>
              <a:rPr lang="zh-CN" altLang="en-US" sz="2400" b="1" dirty="0">
                <a:latin typeface="宋体" panose="02010600030101010101" pitchFamily="2" charset="-122"/>
                <a:ea typeface="宋体" panose="02010600030101010101" pitchFamily="2" charset="-122"/>
              </a:rPr>
              <a:t>利用油压开关来选择探头，在汽车点火时选择探头</a:t>
            </a:r>
            <a:r>
              <a:rPr lang="en-US" altLang="zh-CN" sz="2400" b="1" dirty="0">
                <a:latin typeface="宋体" panose="02010600030101010101" pitchFamily="2" charset="-122"/>
                <a:ea typeface="宋体" panose="02010600030101010101" pitchFamily="2" charset="-122"/>
              </a:rPr>
              <a:t>1</a:t>
            </a:r>
            <a:r>
              <a:rPr lang="zh-CN" altLang="en-US" sz="2400" b="1" dirty="0">
                <a:latin typeface="宋体" panose="02010600030101010101" pitchFamily="2" charset="-122"/>
                <a:ea typeface="宋体" panose="02010600030101010101" pitchFamily="2" charset="-122"/>
              </a:rPr>
              <a:t>测量油箱中的液位；</a:t>
            </a:r>
            <a:endParaRPr lang="en-US" altLang="zh-CN" sz="2400" b="1" dirty="0">
              <a:latin typeface="宋体" panose="02010600030101010101" pitchFamily="2" charset="-122"/>
              <a:ea typeface="宋体" panose="02010600030101010101" pitchFamily="2" charset="-122"/>
            </a:endParaRPr>
          </a:p>
          <a:p>
            <a:pPr indent="631825">
              <a:lnSpc>
                <a:spcPct val="150000"/>
              </a:lnSpc>
            </a:pPr>
            <a:r>
              <a:rPr lang="zh-CN" altLang="en-US" sz="2400" b="1" dirty="0">
                <a:latin typeface="宋体" panose="02010600030101010101" pitchFamily="2" charset="-122"/>
                <a:ea typeface="宋体" panose="02010600030101010101" pitchFamily="2" charset="-122"/>
              </a:rPr>
              <a:t>发动机开始工作后，改由辅助探头</a:t>
            </a:r>
            <a:r>
              <a:rPr lang="en-US" altLang="zh-CN" sz="2400" b="1" dirty="0">
                <a:latin typeface="宋体" panose="02010600030101010101" pitchFamily="2" charset="-122"/>
                <a:ea typeface="宋体" panose="02010600030101010101" pitchFamily="2" charset="-122"/>
              </a:rPr>
              <a:t>2</a:t>
            </a:r>
            <a:r>
              <a:rPr lang="zh-CN" altLang="en-US" sz="2400" b="1" dirty="0">
                <a:latin typeface="宋体" panose="02010600030101010101" pitchFamily="2" charset="-122"/>
                <a:ea typeface="宋体" panose="02010600030101010101" pitchFamily="2" charset="-122"/>
              </a:rPr>
              <a:t>测量液位。</a:t>
            </a:r>
          </a:p>
        </p:txBody>
      </p:sp>
      <p:sp>
        <p:nvSpPr>
          <p:cNvPr id="40" name="Text Box 59">
            <a:extLst>
              <a:ext uri="{FF2B5EF4-FFF2-40B4-BE49-F238E27FC236}">
                <a16:creationId xmlns:a16="http://schemas.microsoft.com/office/drawing/2014/main" id="{8E3940DE-F7AB-474E-8765-58635DA5570A}"/>
              </a:ext>
            </a:extLst>
          </p:cNvPr>
          <p:cNvSpPr txBox="1">
            <a:spLocks noChangeArrowheads="1"/>
          </p:cNvSpPr>
          <p:nvPr/>
        </p:nvSpPr>
        <p:spPr bwMode="auto">
          <a:xfrm>
            <a:off x="4951351" y="5148431"/>
            <a:ext cx="392861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12-16 LM1042</a:t>
            </a:r>
            <a:r>
              <a:rPr kumimoji="0" lang="zh-CN" altLang="en-US" sz="2400" b="1" dirty="0">
                <a:solidFill>
                  <a:srgbClr val="3333CC"/>
                </a:solidFill>
                <a:latin typeface="宋体" pitchFamily="2" charset="-122"/>
              </a:rPr>
              <a:t>在汽车中的应用电路</a:t>
            </a:r>
          </a:p>
        </p:txBody>
      </p:sp>
      <p:pic>
        <p:nvPicPr>
          <p:cNvPr id="41" name="图片 2">
            <a:extLst>
              <a:ext uri="{FF2B5EF4-FFF2-40B4-BE49-F238E27FC236}">
                <a16:creationId xmlns:a16="http://schemas.microsoft.com/office/drawing/2014/main" id="{A1EFAABC-C7F0-4CED-94C6-4C98DB1733F4}"/>
              </a:ext>
            </a:extLst>
          </p:cNvPr>
          <p:cNvPicPr>
            <a:picLocks noChangeAspect="1"/>
          </p:cNvPicPr>
          <p:nvPr/>
        </p:nvPicPr>
        <p:blipFill>
          <a:blip r:embed="rId3"/>
          <a:stretch>
            <a:fillRect/>
          </a:stretch>
        </p:blipFill>
        <p:spPr>
          <a:xfrm>
            <a:off x="4592158" y="2049361"/>
            <a:ext cx="4494693" cy="2964700"/>
          </a:xfrm>
          <a:prstGeom prst="rect">
            <a:avLst/>
          </a:prstGeom>
        </p:spPr>
      </p:pic>
    </p:spTree>
    <p:extLst>
      <p:ext uri="{BB962C8B-B14F-4D97-AF65-F5344CB8AC3E}">
        <p14:creationId xmlns:p14="http://schemas.microsoft.com/office/powerpoint/2010/main" val="225007521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矩形 22"/>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24" name="圆角矩形 23"/>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12.3.1</a:t>
            </a:r>
          </a:p>
        </p:txBody>
      </p:sp>
      <p:sp>
        <p:nvSpPr>
          <p:cNvPr id="25" name="矩形 24"/>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27" name="组 42"/>
          <p:cNvGrpSpPr/>
          <p:nvPr/>
        </p:nvGrpSpPr>
        <p:grpSpPr>
          <a:xfrm>
            <a:off x="8590580" y="252857"/>
            <a:ext cx="553419" cy="484288"/>
            <a:chOff x="11454105" y="252856"/>
            <a:chExt cx="737892" cy="484288"/>
          </a:xfrm>
        </p:grpSpPr>
        <p:grpSp>
          <p:nvGrpSpPr>
            <p:cNvPr id="28" name="组 49"/>
            <p:cNvGrpSpPr/>
            <p:nvPr/>
          </p:nvGrpSpPr>
          <p:grpSpPr>
            <a:xfrm>
              <a:off x="12039604" y="252856"/>
              <a:ext cx="152393" cy="484287"/>
              <a:chOff x="12039604" y="252856"/>
              <a:chExt cx="152393" cy="484287"/>
            </a:xfrm>
          </p:grpSpPr>
          <p:sp>
            <p:nvSpPr>
              <p:cNvPr id="32" name="圆角矩形 31"/>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34"/>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圆角矩形 35"/>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99"/>
            <p:cNvGrpSpPr/>
            <p:nvPr/>
          </p:nvGrpSpPr>
          <p:grpSpPr>
            <a:xfrm>
              <a:off x="11454105" y="252857"/>
              <a:ext cx="491115" cy="484287"/>
              <a:chOff x="1528923" y="220268"/>
              <a:chExt cx="1284096" cy="1266241"/>
            </a:xfrm>
          </p:grpSpPr>
          <p:sp>
            <p:nvSpPr>
              <p:cNvPr id="30" name="圆角矩形 29"/>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Freeform 96"/>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26" name="矩形 1">
            <a:extLst>
              <a:ext uri="{FF2B5EF4-FFF2-40B4-BE49-F238E27FC236}">
                <a16:creationId xmlns:a16="http://schemas.microsoft.com/office/drawing/2014/main" id="{EECB4509-B88F-4A26-AF9B-70BCB7B021E8}"/>
              </a:ext>
            </a:extLst>
          </p:cNvPr>
          <p:cNvSpPr/>
          <p:nvPr/>
        </p:nvSpPr>
        <p:spPr>
          <a:xfrm>
            <a:off x="404536" y="1263382"/>
            <a:ext cx="6359325" cy="461665"/>
          </a:xfrm>
          <a:prstGeom prst="rect">
            <a:avLst/>
          </a:prstGeom>
          <a:ln>
            <a:solidFill>
              <a:srgbClr val="00B050"/>
            </a:solidFill>
          </a:ln>
        </p:spPr>
        <p:txBody>
          <a:bodyPr wrap="square">
            <a:spAutoFit/>
          </a:bodyPr>
          <a:lstStyle/>
          <a:p>
            <a:r>
              <a:rPr lang="en-US" altLang="zh-CN" sz="2400" b="1" dirty="0">
                <a:latin typeface="宋体" panose="02010600030101010101" pitchFamily="2" charset="-122"/>
                <a:ea typeface="宋体" panose="02010600030101010101" pitchFamily="2" charset="-122"/>
                <a:cs typeface="Arial" panose="020B0604020202020204" pitchFamily="34" charset="0"/>
              </a:rPr>
              <a:t>MC14468</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离子烟雾检测</a:t>
            </a:r>
            <a:r>
              <a:rPr lang="zh-CN" altLang="en-US" sz="2400" b="1" dirty="0">
                <a:latin typeface="宋体" panose="02010600030101010101" pitchFamily="2" charset="-122"/>
                <a:ea typeface="宋体" panose="02010600030101010101" pitchFamily="2" charset="-122"/>
                <a:cs typeface="Arial" panose="020B0604020202020204" pitchFamily="34" charset="0"/>
              </a:rPr>
              <a:t>报警电路</a:t>
            </a:r>
            <a:endParaRPr lang="zh-CN" altLang="en-US" sz="2400" dirty="0"/>
          </a:p>
        </p:txBody>
      </p:sp>
      <p:sp>
        <p:nvSpPr>
          <p:cNvPr id="42" name="内容占位符 2">
            <a:extLst>
              <a:ext uri="{FF2B5EF4-FFF2-40B4-BE49-F238E27FC236}">
                <a16:creationId xmlns:a16="http://schemas.microsoft.com/office/drawing/2014/main" id="{E05ABF45-6C46-482E-9ED8-7D995BD9C5BB}"/>
              </a:ext>
            </a:extLst>
          </p:cNvPr>
          <p:cNvSpPr>
            <a:spLocks noGrp="1"/>
          </p:cNvSpPr>
          <p:nvPr>
            <p:ph idx="1"/>
          </p:nvPr>
        </p:nvSpPr>
        <p:spPr>
          <a:xfrm>
            <a:off x="512219" y="2073066"/>
            <a:ext cx="4202656" cy="3142510"/>
          </a:xfrm>
        </p:spPr>
        <p:txBody>
          <a:bodyPr>
            <a:noAutofit/>
          </a:bodyPr>
          <a:lstStyle/>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采用大规模</a:t>
            </a:r>
            <a:r>
              <a:rPr lang="en-US" altLang="zh-CN" sz="2400" b="1" dirty="0">
                <a:latin typeface="宋体" panose="02010600030101010101" pitchFamily="2" charset="-122"/>
                <a:ea typeface="宋体" panose="02010600030101010101" pitchFamily="2" charset="-122"/>
                <a:cs typeface="Arial" panose="020B0604020202020204" pitchFamily="34" charset="0"/>
              </a:rPr>
              <a:t>CMOS</a:t>
            </a:r>
            <a:r>
              <a:rPr lang="zh-CN" altLang="en-US" sz="2400" b="1" dirty="0">
                <a:latin typeface="宋体" panose="02010600030101010101" pitchFamily="2" charset="-122"/>
                <a:ea typeface="宋体" panose="02010600030101010101" pitchFamily="2" charset="-122"/>
                <a:cs typeface="Arial" panose="020B0604020202020204" pitchFamily="34" charset="0"/>
              </a:rPr>
              <a:t>集成电路，需配离子室；</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利用压电陶瓷蜂鸣器和</a:t>
            </a:r>
            <a:r>
              <a:rPr lang="en-US" altLang="zh-CN" sz="2400" b="1" dirty="0">
                <a:latin typeface="宋体" panose="02010600030101010101" pitchFamily="2" charset="-122"/>
                <a:ea typeface="宋体" panose="02010600030101010101" pitchFamily="2" charset="-122"/>
                <a:cs typeface="Arial" panose="020B0604020202020204" pitchFamily="34" charset="0"/>
              </a:rPr>
              <a:t>LED</a:t>
            </a:r>
            <a:r>
              <a:rPr lang="zh-CN" altLang="en-US" sz="2400" b="1" dirty="0">
                <a:latin typeface="宋体" panose="02010600030101010101" pitchFamily="2" charset="-122"/>
                <a:ea typeface="宋体" panose="02010600030101010101" pitchFamily="2" charset="-122"/>
                <a:cs typeface="Arial" panose="020B0604020202020204" pitchFamily="34" charset="0"/>
              </a:rPr>
              <a:t>进行声、光报警；</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用外部电阻设定检测灵敏度、欠电压报警阈值；</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完善的保护电路；</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35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具有自检功能。</a:t>
            </a:r>
          </a:p>
        </p:txBody>
      </p:sp>
      <p:sp>
        <p:nvSpPr>
          <p:cNvPr id="45" name="Text Box 59">
            <a:extLst>
              <a:ext uri="{FF2B5EF4-FFF2-40B4-BE49-F238E27FC236}">
                <a16:creationId xmlns:a16="http://schemas.microsoft.com/office/drawing/2014/main" id="{6576A16F-8C4D-4DC3-ACDC-330BA7292B46}"/>
              </a:ext>
            </a:extLst>
          </p:cNvPr>
          <p:cNvSpPr txBox="1">
            <a:spLocks noChangeArrowheads="1"/>
          </p:cNvSpPr>
          <p:nvPr/>
        </p:nvSpPr>
        <p:spPr bwMode="auto">
          <a:xfrm>
            <a:off x="5284187" y="4868735"/>
            <a:ext cx="3947184"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12-20 </a:t>
            </a:r>
            <a:r>
              <a:rPr kumimoji="0" lang="zh-CN" altLang="en-US" sz="2400" b="1" dirty="0">
                <a:solidFill>
                  <a:srgbClr val="3333CC"/>
                </a:solidFill>
                <a:latin typeface="宋体" pitchFamily="2" charset="-122"/>
              </a:rPr>
              <a:t>由</a:t>
            </a:r>
            <a:r>
              <a:rPr kumimoji="0" lang="en-US" altLang="zh-CN" sz="2400" b="1" dirty="0">
                <a:solidFill>
                  <a:srgbClr val="3333CC"/>
                </a:solidFill>
                <a:latin typeface="宋体" pitchFamily="2" charset="-122"/>
              </a:rPr>
              <a:t>MC14468</a:t>
            </a:r>
            <a:r>
              <a:rPr kumimoji="0" lang="zh-CN" altLang="en-US" sz="2400" b="1" dirty="0">
                <a:solidFill>
                  <a:srgbClr val="3333CC"/>
                </a:solidFill>
                <a:latin typeface="宋体" pitchFamily="2" charset="-122"/>
              </a:rPr>
              <a:t>构成的烟雾检测报警电路</a:t>
            </a:r>
          </a:p>
        </p:txBody>
      </p:sp>
      <p:pic>
        <p:nvPicPr>
          <p:cNvPr id="46" name="图片 6">
            <a:extLst>
              <a:ext uri="{FF2B5EF4-FFF2-40B4-BE49-F238E27FC236}">
                <a16:creationId xmlns:a16="http://schemas.microsoft.com/office/drawing/2014/main" id="{7F77C197-0957-49AD-9CCF-FFB9D691D782}"/>
              </a:ext>
            </a:extLst>
          </p:cNvPr>
          <p:cNvPicPr>
            <a:picLocks noChangeAspect="1"/>
          </p:cNvPicPr>
          <p:nvPr/>
        </p:nvPicPr>
        <p:blipFill>
          <a:blip r:embed="rId3"/>
          <a:stretch>
            <a:fillRect/>
          </a:stretch>
        </p:blipFill>
        <p:spPr>
          <a:xfrm>
            <a:off x="5019390" y="2155282"/>
            <a:ext cx="4124608" cy="2355651"/>
          </a:xfrm>
          <a:prstGeom prst="rect">
            <a:avLst/>
          </a:prstGeom>
        </p:spPr>
      </p:pic>
    </p:spTree>
    <p:extLst>
      <p:ext uri="{BB962C8B-B14F-4D97-AF65-F5344CB8AC3E}">
        <p14:creationId xmlns:p14="http://schemas.microsoft.com/office/powerpoint/2010/main" val="325718258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圆角矩形 24"/>
          <p:cNvSpPr/>
          <p:nvPr/>
        </p:nvSpPr>
        <p:spPr>
          <a:xfrm rot="10800000" flipV="1">
            <a:off x="185084" y="338484"/>
            <a:ext cx="1119276" cy="627545"/>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r>
              <a:rPr lang="en-US" altLang="zh-CN" sz="2400" b="1" dirty="0">
                <a:latin typeface="Arial" panose="020B0604020202020204" pitchFamily="34" charset="0"/>
                <a:ea typeface="宋体" panose="02010600030101010101" pitchFamily="2" charset="-122"/>
                <a:cs typeface="Arial" panose="020B0604020202020204" pitchFamily="34" charset="0"/>
              </a:rPr>
              <a:t>12.3.2</a:t>
            </a:r>
          </a:p>
        </p:txBody>
      </p:sp>
      <p:sp>
        <p:nvSpPr>
          <p:cNvPr id="50" name="矩形 22">
            <a:extLst>
              <a:ext uri="{FF2B5EF4-FFF2-40B4-BE49-F238E27FC236}">
                <a16:creationId xmlns:a16="http://schemas.microsoft.com/office/drawing/2014/main" id="{0C0D7E4E-29DF-4E6E-B5BB-AE5ED1E54AD7}"/>
              </a:ext>
            </a:extLst>
          </p:cNvPr>
          <p:cNvSpPr/>
          <p:nvPr/>
        </p:nvSpPr>
        <p:spPr>
          <a:xfrm>
            <a:off x="1571711" y="354313"/>
            <a:ext cx="7839637" cy="620462"/>
          </a:xfrm>
          <a:prstGeom prst="rect">
            <a:avLst/>
          </a:prstGeom>
          <a:gradFill>
            <a:gsLst>
              <a:gs pos="0">
                <a:schemeClr val="accent1">
                  <a:lumMod val="5000"/>
                  <a:lumOff val="95000"/>
                  <a:alpha val="0"/>
                </a:schemeClr>
              </a:gs>
              <a:gs pos="78000">
                <a:schemeClr val="accent5"/>
              </a:gs>
            </a:gsLst>
            <a:lin ang="10800000" scaled="0"/>
          </a:gradFill>
          <a:ln>
            <a:noFill/>
          </a:ln>
          <a:effectLst>
            <a:outerShdw blurRad="393700" dist="76200" dir="5820000" sx="99000" sy="99000" algn="t"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endParaRPr lang="zh-CN" altLang="en-US"/>
          </a:p>
        </p:txBody>
      </p:sp>
      <p:sp>
        <p:nvSpPr>
          <p:cNvPr id="51" name="矩形 24">
            <a:extLst>
              <a:ext uri="{FF2B5EF4-FFF2-40B4-BE49-F238E27FC236}">
                <a16:creationId xmlns:a16="http://schemas.microsoft.com/office/drawing/2014/main" id="{453D848E-D7F4-4F3F-856F-61FC5C11EFF1}"/>
              </a:ext>
            </a:extLst>
          </p:cNvPr>
          <p:cNvSpPr/>
          <p:nvPr/>
        </p:nvSpPr>
        <p:spPr>
          <a:xfrm>
            <a:off x="1960201" y="329520"/>
            <a:ext cx="3247997" cy="615549"/>
          </a:xfrm>
          <a:prstGeom prst="rect">
            <a:avLst/>
          </a:prstGeom>
        </p:spPr>
        <p:txBody>
          <a:bodyPr wrap="none" lIns="91436" tIns="45718" rIns="91436" bIns="45718">
            <a:spAutoFit/>
          </a:bodyPr>
          <a:lstStyle/>
          <a:p>
            <a:pPr marL="838200" indent="-838200"/>
            <a:r>
              <a:rPr lang="zh-CN" altLang="en-US" sz="3400" b="1" dirty="0">
                <a:solidFill>
                  <a:schemeClr val="bg1"/>
                </a:solidFill>
                <a:latin typeface="宋体" panose="02010600030101010101" pitchFamily="2" charset="-122"/>
                <a:ea typeface="宋体" panose="02010600030101010101" pitchFamily="2" charset="-122"/>
                <a:sym typeface="+mn-ea"/>
              </a:rPr>
              <a:t>特种集成传感器</a:t>
            </a:r>
          </a:p>
        </p:txBody>
      </p:sp>
      <p:grpSp>
        <p:nvGrpSpPr>
          <p:cNvPr id="52" name="组 42">
            <a:extLst>
              <a:ext uri="{FF2B5EF4-FFF2-40B4-BE49-F238E27FC236}">
                <a16:creationId xmlns:a16="http://schemas.microsoft.com/office/drawing/2014/main" id="{01A05F2C-9CD8-466F-BA79-21A42AA136C1}"/>
              </a:ext>
            </a:extLst>
          </p:cNvPr>
          <p:cNvGrpSpPr/>
          <p:nvPr/>
        </p:nvGrpSpPr>
        <p:grpSpPr>
          <a:xfrm>
            <a:off x="8590580" y="252857"/>
            <a:ext cx="553419" cy="484288"/>
            <a:chOff x="11454105" y="252856"/>
            <a:chExt cx="737892" cy="484288"/>
          </a:xfrm>
        </p:grpSpPr>
        <p:grpSp>
          <p:nvGrpSpPr>
            <p:cNvPr id="53" name="组 49">
              <a:extLst>
                <a:ext uri="{FF2B5EF4-FFF2-40B4-BE49-F238E27FC236}">
                  <a16:creationId xmlns:a16="http://schemas.microsoft.com/office/drawing/2014/main" id="{33D6EB63-E8AC-489C-BC38-2AD15EA9B064}"/>
                </a:ext>
              </a:extLst>
            </p:cNvPr>
            <p:cNvGrpSpPr/>
            <p:nvPr/>
          </p:nvGrpSpPr>
          <p:grpSpPr>
            <a:xfrm>
              <a:off x="12039604" y="252856"/>
              <a:ext cx="152393" cy="484287"/>
              <a:chOff x="12039604" y="252856"/>
              <a:chExt cx="152393" cy="484287"/>
            </a:xfrm>
          </p:grpSpPr>
          <p:sp>
            <p:nvSpPr>
              <p:cNvPr id="57" name="圆角矩形 31">
                <a:extLst>
                  <a:ext uri="{FF2B5EF4-FFF2-40B4-BE49-F238E27FC236}">
                    <a16:creationId xmlns:a16="http://schemas.microsoft.com/office/drawing/2014/main" id="{65796495-6FFA-4EC9-9EB6-DA2450EDD4D1}"/>
                  </a:ext>
                </a:extLst>
              </p:cNvPr>
              <p:cNvSpPr/>
              <p:nvPr/>
            </p:nvSpPr>
            <p:spPr>
              <a:xfrm rot="16200000" flipV="1">
                <a:off x="12072988" y="518121"/>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32">
                <a:extLst>
                  <a:ext uri="{FF2B5EF4-FFF2-40B4-BE49-F238E27FC236}">
                    <a16:creationId xmlns:a16="http://schemas.microsoft.com/office/drawing/2014/main" id="{16E9585E-1262-48E1-8948-C276817B40A2}"/>
                  </a:ext>
                </a:extLst>
              </p:cNvPr>
              <p:cNvSpPr/>
              <p:nvPr/>
            </p:nvSpPr>
            <p:spPr>
              <a:xfrm rot="16200000" flipV="1">
                <a:off x="12072988" y="618134"/>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33">
                <a:extLst>
                  <a:ext uri="{FF2B5EF4-FFF2-40B4-BE49-F238E27FC236}">
                    <a16:creationId xmlns:a16="http://schemas.microsoft.com/office/drawing/2014/main" id="{023A498A-993F-412C-8C53-CD8E7C0A22D4}"/>
                  </a:ext>
                </a:extLst>
              </p:cNvPr>
              <p:cNvSpPr/>
              <p:nvPr/>
            </p:nvSpPr>
            <p:spPr>
              <a:xfrm rot="16200000" flipV="1">
                <a:off x="12072988" y="321750"/>
                <a:ext cx="85626" cy="152392"/>
              </a:xfrm>
              <a:prstGeom prst="roundRect">
                <a:avLst>
                  <a:gd name="adj" fmla="val 5039"/>
                </a:avLst>
              </a:prstGeom>
              <a:solidFill>
                <a:srgbClr val="4472C4"/>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34">
                <a:extLst>
                  <a:ext uri="{FF2B5EF4-FFF2-40B4-BE49-F238E27FC236}">
                    <a16:creationId xmlns:a16="http://schemas.microsoft.com/office/drawing/2014/main" id="{1B92795D-0AC1-4387-AA78-C8AC44EAD68A}"/>
                  </a:ext>
                </a:extLst>
              </p:cNvPr>
              <p:cNvSpPr/>
              <p:nvPr/>
            </p:nvSpPr>
            <p:spPr>
              <a:xfrm rot="16200000" flipV="1">
                <a:off x="12072988" y="42176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圆角矩形 35">
                <a:extLst>
                  <a:ext uri="{FF2B5EF4-FFF2-40B4-BE49-F238E27FC236}">
                    <a16:creationId xmlns:a16="http://schemas.microsoft.com/office/drawing/2014/main" id="{EE5F83AA-C33A-4C05-85F1-AADAADD06319}"/>
                  </a:ext>
                </a:extLst>
              </p:cNvPr>
              <p:cNvSpPr/>
              <p:nvPr/>
            </p:nvSpPr>
            <p:spPr>
              <a:xfrm rot="16200000" flipV="1">
                <a:off x="12072987" y="219473"/>
                <a:ext cx="85626" cy="152392"/>
              </a:xfrm>
              <a:prstGeom prst="roundRect">
                <a:avLst>
                  <a:gd name="adj" fmla="val 5039"/>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99">
              <a:extLst>
                <a:ext uri="{FF2B5EF4-FFF2-40B4-BE49-F238E27FC236}">
                  <a16:creationId xmlns:a16="http://schemas.microsoft.com/office/drawing/2014/main" id="{E798E8EC-E4BF-40BA-8BFF-13FBC1AE5578}"/>
                </a:ext>
              </a:extLst>
            </p:cNvPr>
            <p:cNvGrpSpPr/>
            <p:nvPr/>
          </p:nvGrpSpPr>
          <p:grpSpPr>
            <a:xfrm>
              <a:off x="11454105" y="252857"/>
              <a:ext cx="491115" cy="484287"/>
              <a:chOff x="1528923" y="220268"/>
              <a:chExt cx="1284096" cy="1266241"/>
            </a:xfrm>
          </p:grpSpPr>
          <p:sp>
            <p:nvSpPr>
              <p:cNvPr id="55" name="圆角矩形 29">
                <a:extLst>
                  <a:ext uri="{FF2B5EF4-FFF2-40B4-BE49-F238E27FC236}">
                    <a16:creationId xmlns:a16="http://schemas.microsoft.com/office/drawing/2014/main" id="{51500A1D-E19F-4F08-8D30-2CDD40130F5F}"/>
                  </a:ext>
                </a:extLst>
              </p:cNvPr>
              <p:cNvSpPr/>
              <p:nvPr/>
            </p:nvSpPr>
            <p:spPr>
              <a:xfrm rot="16200000" flipV="1">
                <a:off x="1537850" y="211341"/>
                <a:ext cx="1266241" cy="1284096"/>
              </a:xfrm>
              <a:prstGeom prst="roundRect">
                <a:avLst>
                  <a:gd name="adj" fmla="val 5039"/>
                </a:avLst>
              </a:prstGeom>
              <a:solidFill>
                <a:schemeClr val="accent5"/>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Freeform 96">
                <a:extLst>
                  <a:ext uri="{FF2B5EF4-FFF2-40B4-BE49-F238E27FC236}">
                    <a16:creationId xmlns:a16="http://schemas.microsoft.com/office/drawing/2014/main" id="{1AD75A57-F750-46B5-9702-92B9C31CEB87}"/>
                  </a:ext>
                </a:extLst>
              </p:cNvPr>
              <p:cNvSpPr/>
              <p:nvPr/>
            </p:nvSpPr>
            <p:spPr bwMode="auto">
              <a:xfrm>
                <a:off x="1804148" y="499514"/>
                <a:ext cx="733647" cy="707752"/>
              </a:xfrm>
              <a:custGeom>
                <a:avLst/>
                <a:gdLst>
                  <a:gd name="T0" fmla="*/ 184 w 216"/>
                  <a:gd name="T1" fmla="*/ 0 h 208"/>
                  <a:gd name="T2" fmla="*/ 152 w 216"/>
                  <a:gd name="T3" fmla="*/ 32 h 208"/>
                  <a:gd name="T4" fmla="*/ 154 w 216"/>
                  <a:gd name="T5" fmla="*/ 41 h 208"/>
                  <a:gd name="T6" fmla="*/ 60 w 216"/>
                  <a:gd name="T7" fmla="*/ 80 h 208"/>
                  <a:gd name="T8" fmla="*/ 32 w 216"/>
                  <a:gd name="T9" fmla="*/ 64 h 208"/>
                  <a:gd name="T10" fmla="*/ 0 w 216"/>
                  <a:gd name="T11" fmla="*/ 96 h 208"/>
                  <a:gd name="T12" fmla="*/ 32 w 216"/>
                  <a:gd name="T13" fmla="*/ 128 h 208"/>
                  <a:gd name="T14" fmla="*/ 56 w 216"/>
                  <a:gd name="T15" fmla="*/ 118 h 208"/>
                  <a:gd name="T16" fmla="*/ 116 w 216"/>
                  <a:gd name="T17" fmla="*/ 161 h 208"/>
                  <a:gd name="T18" fmla="*/ 112 w 216"/>
                  <a:gd name="T19" fmla="*/ 176 h 208"/>
                  <a:gd name="T20" fmla="*/ 144 w 216"/>
                  <a:gd name="T21" fmla="*/ 208 h 208"/>
                  <a:gd name="T22" fmla="*/ 176 w 216"/>
                  <a:gd name="T23" fmla="*/ 176 h 208"/>
                  <a:gd name="T24" fmla="*/ 144 w 216"/>
                  <a:gd name="T25" fmla="*/ 144 h 208"/>
                  <a:gd name="T26" fmla="*/ 121 w 216"/>
                  <a:gd name="T27" fmla="*/ 154 h 208"/>
                  <a:gd name="T28" fmla="*/ 61 w 216"/>
                  <a:gd name="T29" fmla="*/ 111 h 208"/>
                  <a:gd name="T30" fmla="*/ 64 w 216"/>
                  <a:gd name="T31" fmla="*/ 96 h 208"/>
                  <a:gd name="T32" fmla="*/ 63 w 216"/>
                  <a:gd name="T33" fmla="*/ 87 h 208"/>
                  <a:gd name="T34" fmla="*/ 157 w 216"/>
                  <a:gd name="T35" fmla="*/ 48 h 208"/>
                  <a:gd name="T36" fmla="*/ 184 w 216"/>
                  <a:gd name="T37" fmla="*/ 64 h 208"/>
                  <a:gd name="T38" fmla="*/ 216 w 216"/>
                  <a:gd name="T39" fmla="*/ 32 h 208"/>
                  <a:gd name="T40" fmla="*/ 184 w 216"/>
                  <a:gd name="T41" fmla="*/ 0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6" h="208">
                    <a:moveTo>
                      <a:pt x="184" y="0"/>
                    </a:moveTo>
                    <a:cubicBezTo>
                      <a:pt x="167" y="0"/>
                      <a:pt x="152" y="14"/>
                      <a:pt x="152" y="32"/>
                    </a:cubicBezTo>
                    <a:cubicBezTo>
                      <a:pt x="152" y="35"/>
                      <a:pt x="153" y="38"/>
                      <a:pt x="154" y="41"/>
                    </a:cubicBezTo>
                    <a:cubicBezTo>
                      <a:pt x="60" y="80"/>
                      <a:pt x="60" y="80"/>
                      <a:pt x="60" y="80"/>
                    </a:cubicBezTo>
                    <a:cubicBezTo>
                      <a:pt x="55" y="70"/>
                      <a:pt x="44" y="64"/>
                      <a:pt x="32" y="64"/>
                    </a:cubicBezTo>
                    <a:cubicBezTo>
                      <a:pt x="15" y="64"/>
                      <a:pt x="0" y="78"/>
                      <a:pt x="0" y="96"/>
                    </a:cubicBezTo>
                    <a:cubicBezTo>
                      <a:pt x="0" y="113"/>
                      <a:pt x="15" y="128"/>
                      <a:pt x="32" y="128"/>
                    </a:cubicBezTo>
                    <a:cubicBezTo>
                      <a:pt x="42" y="128"/>
                      <a:pt x="50" y="124"/>
                      <a:pt x="56" y="118"/>
                    </a:cubicBezTo>
                    <a:cubicBezTo>
                      <a:pt x="116" y="161"/>
                      <a:pt x="116" y="161"/>
                      <a:pt x="116" y="161"/>
                    </a:cubicBezTo>
                    <a:cubicBezTo>
                      <a:pt x="114" y="165"/>
                      <a:pt x="112" y="170"/>
                      <a:pt x="112" y="176"/>
                    </a:cubicBezTo>
                    <a:cubicBezTo>
                      <a:pt x="112" y="193"/>
                      <a:pt x="127" y="208"/>
                      <a:pt x="144" y="208"/>
                    </a:cubicBezTo>
                    <a:cubicBezTo>
                      <a:pt x="162" y="208"/>
                      <a:pt x="176" y="193"/>
                      <a:pt x="176" y="176"/>
                    </a:cubicBezTo>
                    <a:cubicBezTo>
                      <a:pt x="176" y="158"/>
                      <a:pt x="162" y="144"/>
                      <a:pt x="144" y="144"/>
                    </a:cubicBezTo>
                    <a:cubicBezTo>
                      <a:pt x="135" y="144"/>
                      <a:pt x="127" y="148"/>
                      <a:pt x="121" y="154"/>
                    </a:cubicBezTo>
                    <a:cubicBezTo>
                      <a:pt x="61" y="111"/>
                      <a:pt x="61" y="111"/>
                      <a:pt x="61" y="111"/>
                    </a:cubicBezTo>
                    <a:cubicBezTo>
                      <a:pt x="63" y="107"/>
                      <a:pt x="64" y="101"/>
                      <a:pt x="64" y="96"/>
                    </a:cubicBezTo>
                    <a:cubicBezTo>
                      <a:pt x="64" y="93"/>
                      <a:pt x="64" y="90"/>
                      <a:pt x="63" y="87"/>
                    </a:cubicBezTo>
                    <a:cubicBezTo>
                      <a:pt x="157" y="48"/>
                      <a:pt x="157" y="48"/>
                      <a:pt x="157" y="48"/>
                    </a:cubicBezTo>
                    <a:cubicBezTo>
                      <a:pt x="162" y="57"/>
                      <a:pt x="173" y="64"/>
                      <a:pt x="184" y="64"/>
                    </a:cubicBezTo>
                    <a:cubicBezTo>
                      <a:pt x="202" y="64"/>
                      <a:pt x="216" y="49"/>
                      <a:pt x="216" y="32"/>
                    </a:cubicBezTo>
                    <a:cubicBezTo>
                      <a:pt x="216" y="14"/>
                      <a:pt x="202" y="0"/>
                      <a:pt x="184" y="0"/>
                    </a:cubicBezTo>
                    <a:close/>
                  </a:path>
                </a:pathLst>
              </a:custGeom>
              <a:solidFill>
                <a:schemeClr val="bg1"/>
              </a:solidFill>
              <a:ln>
                <a:noFill/>
              </a:ln>
            </p:spPr>
            <p:txBody>
              <a:bodyPr vert="horz" wrap="square" lIns="91440" tIns="45720" rIns="91440" bIns="45720" numCol="1" anchor="t" anchorCtr="0" compatLnSpc="1"/>
              <a:lstStyle/>
              <a:p>
                <a:endParaRPr lang="zh-CN" altLang="en-US">
                  <a:solidFill>
                    <a:srgbClr val="AD1C21"/>
                  </a:solidFill>
                </a:endParaRPr>
              </a:p>
            </p:txBody>
          </p:sp>
        </p:grpSp>
      </p:grpSp>
      <p:sp>
        <p:nvSpPr>
          <p:cNvPr id="63" name="内容占位符 2">
            <a:extLst>
              <a:ext uri="{FF2B5EF4-FFF2-40B4-BE49-F238E27FC236}">
                <a16:creationId xmlns:a16="http://schemas.microsoft.com/office/drawing/2014/main" id="{04B47B8B-9EE7-4D57-9F66-C3B3C159A138}"/>
              </a:ext>
            </a:extLst>
          </p:cNvPr>
          <p:cNvSpPr>
            <a:spLocks noGrp="1"/>
          </p:cNvSpPr>
          <p:nvPr>
            <p:ph idx="1"/>
          </p:nvPr>
        </p:nvSpPr>
        <p:spPr>
          <a:xfrm>
            <a:off x="288014" y="2127878"/>
            <a:ext cx="4569735" cy="4539621"/>
          </a:xfrm>
        </p:spPr>
        <p:txBody>
          <a:bodyPr>
            <a:noAutofit/>
          </a:bodyPr>
          <a:lstStyle/>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专门设置了增益可编程光信号放大器、烟雾比较器、报警逻辑电路、蜂鸣器调制及驱动器、定时控制逻辑及两路基准源；</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需配红外发射二极管、接收二极管和光电室；</a:t>
            </a:r>
            <a:endParaRPr lang="en-US" altLang="zh-CN" sz="2400" b="1" dirty="0">
              <a:latin typeface="宋体" panose="02010600030101010101" pitchFamily="2" charset="-122"/>
              <a:ea typeface="宋体" panose="02010600030101010101" pitchFamily="2" charset="-122"/>
              <a:cs typeface="Arial" panose="020B0604020202020204" pitchFamily="34" charset="0"/>
            </a:endParaRPr>
          </a:p>
          <a:p>
            <a:pPr eaLnBrk="1" hangingPunct="1">
              <a:lnSpc>
                <a:spcPct val="150000"/>
              </a:lnSpc>
              <a:spcBef>
                <a:spcPts val="576"/>
              </a:spcBef>
              <a:buClr>
                <a:srgbClr val="7030A0"/>
              </a:buClr>
              <a:defRPr/>
            </a:pPr>
            <a:r>
              <a:rPr lang="zh-CN" altLang="en-US" sz="2400" b="1" dirty="0">
                <a:latin typeface="宋体" panose="02010600030101010101" pitchFamily="2" charset="-122"/>
                <a:ea typeface="宋体" panose="02010600030101010101" pitchFamily="2" charset="-122"/>
                <a:cs typeface="Arial" panose="020B0604020202020204" pitchFamily="34" charset="0"/>
              </a:rPr>
              <a:t>自检模式可模拟烟雾条件，自校准模式，微功耗。</a:t>
            </a:r>
          </a:p>
        </p:txBody>
      </p:sp>
      <p:sp>
        <p:nvSpPr>
          <p:cNvPr id="64" name="矩形 1">
            <a:extLst>
              <a:ext uri="{FF2B5EF4-FFF2-40B4-BE49-F238E27FC236}">
                <a16:creationId xmlns:a16="http://schemas.microsoft.com/office/drawing/2014/main" id="{064DE596-4965-41A8-AF1B-2ED80FA20243}"/>
              </a:ext>
            </a:extLst>
          </p:cNvPr>
          <p:cNvSpPr/>
          <p:nvPr/>
        </p:nvSpPr>
        <p:spPr>
          <a:xfrm>
            <a:off x="354689" y="1271053"/>
            <a:ext cx="6655395" cy="461665"/>
          </a:xfrm>
          <a:prstGeom prst="rect">
            <a:avLst/>
          </a:prstGeom>
          <a:ln>
            <a:solidFill>
              <a:srgbClr val="00B0F0"/>
            </a:solidFill>
          </a:ln>
        </p:spPr>
        <p:txBody>
          <a:bodyPr wrap="square">
            <a:spAutoFit/>
          </a:bodyPr>
          <a:lstStyle/>
          <a:p>
            <a:pPr>
              <a:spcBef>
                <a:spcPts val="576"/>
              </a:spcBef>
              <a:defRPr/>
            </a:pPr>
            <a:r>
              <a:rPr lang="en-US" altLang="zh-CN" sz="2400" b="1" dirty="0">
                <a:latin typeface="宋体" panose="02010600030101010101" pitchFamily="2" charset="-122"/>
                <a:ea typeface="宋体" panose="02010600030101010101" pitchFamily="2" charset="-122"/>
                <a:cs typeface="Arial" panose="020B0604020202020204" pitchFamily="34" charset="0"/>
              </a:rPr>
              <a:t>MC145010</a:t>
            </a:r>
            <a:r>
              <a:rPr lang="zh-CN" altLang="en-US" sz="2400" b="1" dirty="0">
                <a:solidFill>
                  <a:srgbClr val="C00000"/>
                </a:solidFill>
                <a:latin typeface="宋体" panose="02010600030101010101" pitchFamily="2" charset="-122"/>
                <a:ea typeface="宋体" panose="02010600030101010101" pitchFamily="2" charset="-122"/>
                <a:cs typeface="Arial" panose="020B0604020202020204" pitchFamily="34" charset="0"/>
              </a:rPr>
              <a:t>光电型烟雾检测</a:t>
            </a:r>
            <a:r>
              <a:rPr lang="zh-CN" altLang="en-US" sz="2400" b="1" dirty="0">
                <a:latin typeface="宋体" panose="02010600030101010101" pitchFamily="2" charset="-122"/>
                <a:ea typeface="宋体" panose="02010600030101010101" pitchFamily="2" charset="-122"/>
                <a:cs typeface="Arial" panose="020B0604020202020204" pitchFamily="34" charset="0"/>
              </a:rPr>
              <a:t>报警电路</a:t>
            </a:r>
          </a:p>
        </p:txBody>
      </p:sp>
      <p:sp>
        <p:nvSpPr>
          <p:cNvPr id="65" name="Text Box 59">
            <a:extLst>
              <a:ext uri="{FF2B5EF4-FFF2-40B4-BE49-F238E27FC236}">
                <a16:creationId xmlns:a16="http://schemas.microsoft.com/office/drawing/2014/main" id="{FD2C4BDC-6F96-4707-B2BA-2AFA003A0175}"/>
              </a:ext>
            </a:extLst>
          </p:cNvPr>
          <p:cNvSpPr txBox="1">
            <a:spLocks noChangeArrowheads="1"/>
          </p:cNvSpPr>
          <p:nvPr/>
        </p:nvSpPr>
        <p:spPr bwMode="auto">
          <a:xfrm>
            <a:off x="5301055" y="5578474"/>
            <a:ext cx="3728649" cy="919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3200">
                <a:solidFill>
                  <a:schemeClr val="tx1"/>
                </a:solidFill>
                <a:latin typeface="Times New Roman" charset="0"/>
                <a:ea typeface="宋体" pitchFamily="2" charset="-122"/>
              </a:defRPr>
            </a:lvl1pPr>
            <a:lvl2pPr>
              <a:defRPr kumimoji="1" sz="2800">
                <a:solidFill>
                  <a:schemeClr val="tx1"/>
                </a:solidFill>
                <a:latin typeface="Times New Roman" charset="0"/>
                <a:ea typeface="宋体" pitchFamily="2" charset="-122"/>
              </a:defRPr>
            </a:lvl2pPr>
            <a:lvl3pPr>
              <a:defRPr kumimoji="1" sz="2400">
                <a:solidFill>
                  <a:schemeClr val="tx1"/>
                </a:solidFill>
                <a:latin typeface="Times New Roman" charset="0"/>
                <a:ea typeface="宋体" pitchFamily="2" charset="-122"/>
              </a:defRPr>
            </a:lvl3pPr>
            <a:lvl4pPr>
              <a:defRPr kumimoji="1" sz="2000">
                <a:solidFill>
                  <a:schemeClr val="tx1"/>
                </a:solidFill>
                <a:latin typeface="Times New Roman" charset="0"/>
                <a:ea typeface="宋体" pitchFamily="2" charset="-122"/>
              </a:defRPr>
            </a:lvl4pPr>
            <a:lvl5pPr>
              <a:defRPr kumimoji="1" sz="2000">
                <a:solidFill>
                  <a:schemeClr val="tx1"/>
                </a:solidFill>
                <a:latin typeface="Times New Roman" charset="0"/>
                <a:ea typeface="宋体" pitchFamily="2" charset="-122"/>
              </a:defRPr>
            </a:lvl5pPr>
            <a:lvl6pPr eaLnBrk="0" fontAlgn="base" hangingPunct="0">
              <a:spcBef>
                <a:spcPct val="20000"/>
              </a:spcBef>
              <a:spcAft>
                <a:spcPct val="0"/>
              </a:spcAft>
              <a:buChar char="»"/>
              <a:defRPr kumimoji="1" sz="2000">
                <a:solidFill>
                  <a:schemeClr val="tx1"/>
                </a:solidFill>
                <a:latin typeface="Times New Roman" charset="0"/>
                <a:ea typeface="宋体" pitchFamily="2" charset="-122"/>
              </a:defRPr>
            </a:lvl6pPr>
            <a:lvl7pPr eaLnBrk="0" fontAlgn="base" hangingPunct="0">
              <a:spcBef>
                <a:spcPct val="20000"/>
              </a:spcBef>
              <a:spcAft>
                <a:spcPct val="0"/>
              </a:spcAft>
              <a:buChar char="»"/>
              <a:defRPr kumimoji="1" sz="2000">
                <a:solidFill>
                  <a:schemeClr val="tx1"/>
                </a:solidFill>
                <a:latin typeface="Times New Roman" charset="0"/>
                <a:ea typeface="宋体" pitchFamily="2" charset="-122"/>
              </a:defRPr>
            </a:lvl7pPr>
            <a:lvl8pPr eaLnBrk="0" fontAlgn="base" hangingPunct="0">
              <a:spcBef>
                <a:spcPct val="20000"/>
              </a:spcBef>
              <a:spcAft>
                <a:spcPct val="0"/>
              </a:spcAft>
              <a:buChar char="»"/>
              <a:defRPr kumimoji="1" sz="2000">
                <a:solidFill>
                  <a:schemeClr val="tx1"/>
                </a:solidFill>
                <a:latin typeface="Times New Roman" charset="0"/>
                <a:ea typeface="宋体" pitchFamily="2" charset="-122"/>
              </a:defRPr>
            </a:lvl8pPr>
            <a:lvl9pPr eaLnBrk="0" fontAlgn="base" hangingPunct="0">
              <a:spcBef>
                <a:spcPct val="20000"/>
              </a:spcBef>
              <a:spcAft>
                <a:spcPct val="0"/>
              </a:spcAft>
              <a:buChar char="»"/>
              <a:defRPr kumimoji="1" sz="2000">
                <a:solidFill>
                  <a:schemeClr val="tx1"/>
                </a:solidFill>
                <a:latin typeface="Times New Roman" charset="0"/>
                <a:ea typeface="宋体" pitchFamily="2" charset="-122"/>
              </a:defRPr>
            </a:lvl9pPr>
          </a:lstStyle>
          <a:p>
            <a:pPr marL="982663" indent="-982663" eaLnBrk="1" hangingPunct="1">
              <a:lnSpc>
                <a:spcPct val="120000"/>
              </a:lnSpc>
              <a:spcBef>
                <a:spcPct val="20000"/>
              </a:spcBef>
            </a:pPr>
            <a:r>
              <a:rPr kumimoji="0" lang="zh-CN" altLang="en-US" sz="2400" b="1" dirty="0">
                <a:solidFill>
                  <a:srgbClr val="3333CC"/>
                </a:solidFill>
                <a:latin typeface="宋体" pitchFamily="2" charset="-122"/>
              </a:rPr>
              <a:t>图</a:t>
            </a:r>
            <a:r>
              <a:rPr kumimoji="0" lang="en-US" altLang="zh-CN" sz="2400" b="1" dirty="0">
                <a:solidFill>
                  <a:srgbClr val="3333CC"/>
                </a:solidFill>
                <a:latin typeface="宋体" pitchFamily="2" charset="-122"/>
              </a:rPr>
              <a:t>12-23 </a:t>
            </a:r>
            <a:r>
              <a:rPr kumimoji="0" lang="zh-CN" altLang="en-US" sz="2400" b="1" dirty="0">
                <a:solidFill>
                  <a:srgbClr val="3333CC"/>
                </a:solidFill>
                <a:latin typeface="宋体" pitchFamily="2" charset="-122"/>
              </a:rPr>
              <a:t>由</a:t>
            </a:r>
            <a:r>
              <a:rPr kumimoji="0" lang="en-US" altLang="zh-CN" sz="2400" b="1" dirty="0">
                <a:solidFill>
                  <a:srgbClr val="3333CC"/>
                </a:solidFill>
                <a:latin typeface="宋体" pitchFamily="2" charset="-122"/>
              </a:rPr>
              <a:t>MC145010</a:t>
            </a:r>
            <a:r>
              <a:rPr kumimoji="0" lang="zh-CN" altLang="en-US" sz="2400" b="1" dirty="0">
                <a:solidFill>
                  <a:srgbClr val="3333CC"/>
                </a:solidFill>
                <a:latin typeface="宋体" pitchFamily="2" charset="-122"/>
              </a:rPr>
              <a:t>构成的烟雾报警电路</a:t>
            </a:r>
          </a:p>
        </p:txBody>
      </p:sp>
      <p:pic>
        <p:nvPicPr>
          <p:cNvPr id="66" name="图片 9">
            <a:extLst>
              <a:ext uri="{FF2B5EF4-FFF2-40B4-BE49-F238E27FC236}">
                <a16:creationId xmlns:a16="http://schemas.microsoft.com/office/drawing/2014/main" id="{442788F6-A850-4CDC-90E2-A4625FA8D432}"/>
              </a:ext>
            </a:extLst>
          </p:cNvPr>
          <p:cNvPicPr>
            <a:picLocks noChangeAspect="1"/>
          </p:cNvPicPr>
          <p:nvPr/>
        </p:nvPicPr>
        <p:blipFill>
          <a:blip r:embed="rId3"/>
          <a:stretch>
            <a:fillRect/>
          </a:stretch>
        </p:blipFill>
        <p:spPr>
          <a:xfrm>
            <a:off x="5074276" y="2389091"/>
            <a:ext cx="3955428" cy="2967023"/>
          </a:xfrm>
          <a:prstGeom prst="rect">
            <a:avLst/>
          </a:prstGeom>
        </p:spPr>
      </p:pic>
    </p:spTree>
    <p:extLst>
      <p:ext uri="{BB962C8B-B14F-4D97-AF65-F5344CB8AC3E}">
        <p14:creationId xmlns:p14="http://schemas.microsoft.com/office/powerpoint/2010/main" val="234843139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274</TotalTime>
  <Words>3457</Words>
  <Application>Microsoft Macintosh PowerPoint</Application>
  <PresentationFormat>On-screen Show (4:3)</PresentationFormat>
  <Paragraphs>413</Paragraphs>
  <Slides>63</Slides>
  <Notes>32</Notes>
  <HiddenSlides>1</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2</vt:i4>
      </vt:variant>
      <vt:variant>
        <vt:lpstr>Slide Titles</vt:lpstr>
      </vt:variant>
      <vt:variant>
        <vt:i4>63</vt:i4>
      </vt:variant>
    </vt:vector>
  </HeadingPairs>
  <TitlesOfParts>
    <vt:vector size="79" baseType="lpstr">
      <vt:lpstr>.PingFang SC</vt:lpstr>
      <vt:lpstr>.PingFangSC-Semibold</vt:lpstr>
      <vt:lpstr>等线</vt:lpstr>
      <vt:lpstr>等线 Light</vt:lpstr>
      <vt:lpstr>宋体</vt:lpstr>
      <vt:lpstr>宋体</vt:lpstr>
      <vt:lpstr>UICTFontTextStyleBody</vt:lpstr>
      <vt:lpstr>Arial</vt:lpstr>
      <vt:lpstr>Cambria Math</vt:lpstr>
      <vt:lpstr>Eras Light ITC</vt:lpstr>
      <vt:lpstr>Microsoft YaHei</vt:lpstr>
      <vt:lpstr>Times New Roman</vt:lpstr>
      <vt:lpstr>Wingdings</vt:lpstr>
      <vt:lpstr>Office 主题​​</vt:lpstr>
      <vt:lpstr>Image</vt:lpstr>
      <vt:lpstr>Flash 影片</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单 熙媛</dc:creator>
  <cp:lastModifiedBy>W. Huo</cp:lastModifiedBy>
  <cp:revision>161</cp:revision>
  <dcterms:created xsi:type="dcterms:W3CDTF">2023-11-27T10:40:32Z</dcterms:created>
  <dcterms:modified xsi:type="dcterms:W3CDTF">2023-11-28T01:40:37Z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1033-4.0.1.6533</vt:lpwstr>
  </property>
</Properties>
</file>