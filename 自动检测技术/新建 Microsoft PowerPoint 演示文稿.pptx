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6" r:id="rId2"/>
    <p:sldId id="297" r:id="rId3"/>
    <p:sldId id="289" r:id="rId4"/>
    <p:sldId id="298" r:id="rId5"/>
    <p:sldId id="299" r:id="rId6"/>
    <p:sldId id="300" r:id="rId7"/>
    <p:sldId id="315" r:id="rId8"/>
    <p:sldId id="316" r:id="rId9"/>
    <p:sldId id="319" r:id="rId10"/>
    <p:sldId id="320" r:id="rId11"/>
    <p:sldId id="321" r:id="rId12"/>
    <p:sldId id="310" r:id="rId13"/>
    <p:sldId id="322" r:id="rId14"/>
    <p:sldId id="311" r:id="rId15"/>
    <p:sldId id="31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6E0A6-8BA4-4408-A595-89164BF1D0A7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E1474-FB04-44E9-846B-4E929F82E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86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36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43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78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624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172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59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655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169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217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863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417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0E0CF-DDF1-62B3-097E-15BC64021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F18DD2-1D02-D2A8-7059-DF9FF622B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43B80-A284-EC5A-C573-CAC25375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9C7B44-74B5-17D9-DE19-15E4BD3D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C2330-4D5E-B7AE-794D-BDC2AB9D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97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105B9-4C30-CC41-939D-E6F068C3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6B49-7642-E9EA-1923-2263D4E5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9B0AA6-8E62-330A-F14D-6A5E2FD1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E5C13-B721-995C-5002-08D84C74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739BD-FA09-8624-0503-29A6681F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50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2FE14-3432-6DCC-FDC4-3DB5E2C2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A1AF3E-4DA1-3576-9EBA-983C5012D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CAA19-232F-3F6E-89E9-798B71EE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6E87D-420D-6756-5299-D67A98F5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F7F5A1-663D-4FE7-F672-06046B68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42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9FD134-AA45-D1F7-E862-6ABE4E548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30633-3DB1-1C48-5E0C-18E8AC7F3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C3ECC3-BBA1-AD05-1834-4A31E953A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73A061-675B-5855-82B7-B760984F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B47F62-3ACF-6EC8-4896-313D3949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63822B-287B-D74F-6C41-AF0D3ECD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49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A3E4E-45F1-5DDF-DC0B-738759D7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B2105B-8FF8-2F48-FD4F-24144E65C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30C312-2484-7F70-6E45-6C239F855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D2F545-FBCD-4603-6164-E1CE65A17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DBD90B-C266-D90A-9378-9B3DA7641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B65698-3C19-8909-F743-93149633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D2F9C7-7C04-203C-23DE-8BF16F75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A75CEB-6740-A97D-3572-53905EDF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30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B8290-5485-1652-9409-F204F043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3FF778-DC76-6057-23D8-53D56703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C242D2-7785-1981-5DEA-286648EC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D99F31-A039-263F-FB57-6E8F2F10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66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4C6221-75DD-EBB4-0773-9EC6535C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B2DB35-F9B1-B397-E52A-980F9CFB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A77517-EFA7-6178-E175-1A23061C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6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B2191-912B-3AC2-E1B7-15338713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9AB9B-EC81-4ADC-642F-7C07C6B42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2B6543-E6BA-AE77-AE64-883AAA827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0718E7-3E4E-6661-2CA5-3FA0D14C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705433-A147-3832-EC20-21252B88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A22C2A-0480-A42A-CABC-27DA30FC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5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ADB38-BF98-B6D4-E457-A6555E2B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F2118F-545C-AEF3-26A1-532D4B8E79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90F145-2D19-14C4-CF63-A5F962684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9255EA-A188-CDCE-426D-903DCA58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CE4D9-653D-9E29-7962-4DEC1315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410416-D807-3BE6-8FF3-7B0AD3EA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48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EA8CE-BF79-CA77-B81C-95787F3D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BC5BF3-216A-B4E7-39BC-52B677C5E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EA7E2F-FA77-BBEA-B283-A0C127EA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A3A6FB-524D-2CD3-F926-02AA475B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10F8E9-0B3E-386D-BC75-7AF82FC3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41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7B5305-0130-CC13-D6A9-5FE0FCF09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CB989D-4625-DCBD-A8AA-4601E6D12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5920B-0FA5-BE6F-1367-2E9EED56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54BED-DCC4-4447-A3D3-755B5005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FD14D-6E06-6AEA-327A-8710DC4B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6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E0BF7B-022A-1C27-EC30-30A15CF8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8AFFF-9E09-F94A-00E3-9A7325DEE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C9364-8978-E9B0-B87D-DB5E22B5F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C0DCB-7FAD-42E5-957F-FCFCBE873BE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48B27F-5662-67C7-ED4A-A0C473320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4FBDC2-712B-9B14-E4A1-744063127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96AA2-D2FB-4572-963D-8AD16DD74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02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1508175" y="2847435"/>
            <a:ext cx="9159827" cy="1296345"/>
            <a:chOff x="-21102" y="2847433"/>
            <a:chExt cx="12213102" cy="1296345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0" y="2847433"/>
              <a:ext cx="149893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zh-CN" altLang="en-US" sz="6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449732" y="3093490"/>
              <a:ext cx="6245722" cy="769439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400" b="1" spc="6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集成智能传感器</a:t>
              </a:r>
            </a:p>
          </p:txBody>
        </p:sp>
        <p:grpSp>
          <p:nvGrpSpPr>
            <p:cNvPr id="3" name="组 2"/>
            <p:cNvGrpSpPr/>
            <p:nvPr/>
          </p:nvGrpSpPr>
          <p:grpSpPr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338" y="364333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338" y="390876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338" y="312217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338" y="338760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338" y="2850728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8" name="组 27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2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74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3000883" y="24304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1384717" y="2904935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1507276" y="6654793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351047" y="245330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3" name="圆角矩形 72"/>
          <p:cNvSpPr/>
          <p:nvPr/>
        </p:nvSpPr>
        <p:spPr>
          <a:xfrm rot="10800000" flipV="1">
            <a:off x="3653188" y="1246111"/>
            <a:ext cx="1159049" cy="424267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3653187" y="2231329"/>
            <a:ext cx="1146566" cy="424269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12.2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100068" y="1135081"/>
            <a:ext cx="435406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2" action="ppaction://hlinksldjump"/>
              </a:rPr>
              <a:t>单片集成智能传感器</a:t>
            </a:r>
            <a:endParaRPr lang="zh-CN" altLang="en-US" sz="36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本框 87">
            <a:hlinkClick r:id="rId3" action="ppaction://hlinksldjump"/>
          </p:cNvPr>
          <p:cNvSpPr txBox="1"/>
          <p:nvPr/>
        </p:nvSpPr>
        <p:spPr>
          <a:xfrm>
            <a:off x="5072855" y="2137457"/>
            <a:ext cx="4817336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网络化智能压力传感器</a:t>
            </a:r>
            <a:endParaRPr lang="zh-CN" altLang="en-US" sz="36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6" name="圆角矩形 72">
            <a:extLst>
              <a:ext uri="{FF2B5EF4-FFF2-40B4-BE49-F238E27FC236}">
                <a16:creationId xmlns:a16="http://schemas.microsoft.com/office/drawing/2014/main" id="{4F185087-379A-4ECF-AC00-2D0B608230D2}"/>
              </a:ext>
            </a:extLst>
          </p:cNvPr>
          <p:cNvSpPr/>
          <p:nvPr/>
        </p:nvSpPr>
        <p:spPr>
          <a:xfrm rot="10800000" flipV="1">
            <a:off x="3653185" y="3249661"/>
            <a:ext cx="1139397" cy="424267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12.3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9DC9A3-7A53-4D1A-8D27-109D8684D9D3}"/>
              </a:ext>
            </a:extLst>
          </p:cNvPr>
          <p:cNvSpPr txBox="1"/>
          <p:nvPr/>
        </p:nvSpPr>
        <p:spPr>
          <a:xfrm>
            <a:off x="5100068" y="3114837"/>
            <a:ext cx="3427533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特种集成传感器</a:t>
            </a:r>
            <a:endParaRPr lang="zh-CN" altLang="en-US" sz="36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1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961667D5-6E02-42C6-973A-2E8008454BA6}"/>
              </a:ext>
            </a:extLst>
          </p:cNvPr>
          <p:cNvSpPr txBox="1"/>
          <p:nvPr/>
        </p:nvSpPr>
        <p:spPr>
          <a:xfrm>
            <a:off x="1709084" y="4489373"/>
            <a:ext cx="7715249" cy="5597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indent="631825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发展方向是单片集成化、智能化、网络化和系统化。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</a:t>
            </a:r>
          </a:p>
        </p:txBody>
      </p:sp>
      <p:sp>
        <p:nvSpPr>
          <p:cNvPr id="24" name="矩形 23"/>
          <p:cNvSpPr/>
          <p:nvPr/>
        </p:nvSpPr>
        <p:spPr>
          <a:xfrm>
            <a:off x="3484202" y="329521"/>
            <a:ext cx="41232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单片集成智能传感器</a:t>
            </a:r>
          </a:p>
        </p:txBody>
      </p:sp>
      <p:grpSp>
        <p:nvGrpSpPr>
          <p:cNvPr id="25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6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0" name="圆角矩形 29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圆角矩形 30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圆角矩形 31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28" name="圆角矩形 27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文本框 3"/>
          <p:cNvSpPr txBox="1"/>
          <p:nvPr/>
        </p:nvSpPr>
        <p:spPr>
          <a:xfrm>
            <a:off x="3095711" y="1539832"/>
            <a:ext cx="6648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0" indent="-1524000"/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英文名称：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Intelligent Sensor</a:t>
            </a:r>
          </a:p>
          <a:p>
            <a:pPr marL="1524000" indent="3175"/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Smart Sensor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1667D5-6E02-42C6-973A-2E8008454BA6}"/>
              </a:ext>
            </a:extLst>
          </p:cNvPr>
          <p:cNvSpPr txBox="1"/>
          <p:nvPr/>
        </p:nvSpPr>
        <p:spPr>
          <a:xfrm>
            <a:off x="1901313" y="3093319"/>
            <a:ext cx="8213266" cy="111376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智能传感器正处于蓬勃发展的新时期，新技术不断涌现，新产品层出不穷。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746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12.1.1</a:t>
            </a:r>
          </a:p>
        </p:txBody>
      </p:sp>
      <p:sp>
        <p:nvSpPr>
          <p:cNvPr id="28" name="矩形 27"/>
          <p:cNvSpPr/>
          <p:nvPr/>
        </p:nvSpPr>
        <p:spPr>
          <a:xfrm>
            <a:off x="3484201" y="329521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智能传感器的基本特点</a:t>
            </a:r>
          </a:p>
        </p:txBody>
      </p:sp>
      <p:grpSp>
        <p:nvGrpSpPr>
          <p:cNvPr id="29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961667D5-6E02-42C6-973A-2E8008454BA6}"/>
              </a:ext>
            </a:extLst>
          </p:cNvPr>
          <p:cNvSpPr txBox="1"/>
          <p:nvPr/>
        </p:nvSpPr>
        <p:spPr>
          <a:xfrm>
            <a:off x="2231524" y="1814579"/>
            <a:ext cx="8362950" cy="223657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indent="631825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智能传感器就是带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微处理器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、兼有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信息监测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信息处理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功能的传感器。从一定意义上讲，具有类似人工智能的作用。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054350" indent="-3054350"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①单片智能传感器：（传感器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微处理器）→单个芯片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054350" indent="-3054350"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②智能化传感器系统：传感器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微处理器芯片的组合</a:t>
            </a:r>
          </a:p>
        </p:txBody>
      </p:sp>
    </p:spTree>
    <p:extLst>
      <p:ext uri="{BB962C8B-B14F-4D97-AF65-F5344CB8AC3E}">
        <p14:creationId xmlns:p14="http://schemas.microsoft.com/office/powerpoint/2010/main" val="314404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56163" y="2603525"/>
            <a:ext cx="6475423" cy="369075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ts val="768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）电化学活性的杂交指示剂作为标识物  </a:t>
            </a:r>
          </a:p>
          <a:p>
            <a:pPr>
              <a:spcBef>
                <a:spcPts val="768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）寡聚核苷酸上修饰电化学活性的官能  </a:t>
            </a:r>
          </a:p>
          <a:p>
            <a:pPr>
              <a:spcBef>
                <a:spcPts val="768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团作为识别物</a:t>
            </a:r>
          </a:p>
          <a:p>
            <a:pPr>
              <a:spcBef>
                <a:spcPts val="768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）利用酶的化学放大功能</a:t>
            </a:r>
          </a:p>
          <a:p>
            <a:pPr>
              <a:spcBef>
                <a:spcPts val="672"/>
              </a:spcBef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B2C56CED-4DA6-4886-B2ED-BAC37A98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3" y="1264423"/>
            <a:ext cx="8734425" cy="5029854"/>
          </a:xfrm>
        </p:spPr>
        <p:txBody>
          <a:bodyPr>
            <a:noAutofit/>
          </a:bodyPr>
          <a:lstStyle/>
          <a:p>
            <a:pPr marL="0" indent="0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智能传感器主要有以下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功能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</a:p>
          <a:p>
            <a:pPr marL="0" indent="0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具有自动调零、自校准、自标定功能。</a:t>
            </a:r>
          </a:p>
          <a:p>
            <a:pPr marL="442913" indent="-442913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具有逻辑判断和信息处理功能，能进行信号调理或信号处理（对信号进行预处理、线性化、或对温度、静压力等参数进行自动补偿等）。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3.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具有自诊断功能。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具有组态功能，使用灵活。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5.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具有数据存储和记忆功能，能存取检测数据。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42913" indent="-442913">
              <a:lnSpc>
                <a:spcPts val="38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6.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具有双向通信功能，能通过接口与计算机通信。</a:t>
            </a:r>
          </a:p>
        </p:txBody>
      </p:sp>
      <p:sp>
        <p:nvSpPr>
          <p:cNvPr id="24" name="矩形 23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12.1.1</a:t>
            </a:r>
          </a:p>
        </p:txBody>
      </p:sp>
      <p:sp>
        <p:nvSpPr>
          <p:cNvPr id="27" name="矩形 26"/>
          <p:cNvSpPr/>
          <p:nvPr/>
        </p:nvSpPr>
        <p:spPr>
          <a:xfrm>
            <a:off x="3484201" y="329521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智能传感器的基本特点</a:t>
            </a:r>
          </a:p>
        </p:txBody>
      </p:sp>
      <p:grpSp>
        <p:nvGrpSpPr>
          <p:cNvPr id="28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9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94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B2C56CED-4DA6-4886-B2ED-BAC37A98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2812" y="2402746"/>
            <a:ext cx="2519522" cy="281027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高精度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宽量程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多功能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自适应能力强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高可靠性</a:t>
            </a:r>
          </a:p>
        </p:txBody>
      </p:sp>
      <p:sp>
        <p:nvSpPr>
          <p:cNvPr id="24" name="矩形 23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12.1.1</a:t>
            </a:r>
          </a:p>
        </p:txBody>
      </p:sp>
      <p:sp>
        <p:nvSpPr>
          <p:cNvPr id="27" name="矩形 26"/>
          <p:cNvSpPr/>
          <p:nvPr/>
        </p:nvSpPr>
        <p:spPr>
          <a:xfrm>
            <a:off x="3484201" y="329521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智能传感器的基本特点</a:t>
            </a:r>
          </a:p>
        </p:txBody>
      </p:sp>
      <p:grpSp>
        <p:nvGrpSpPr>
          <p:cNvPr id="28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9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6165986" y="2402745"/>
            <a:ext cx="3435214" cy="2236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高性价比</a:t>
            </a: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超小型化、微型化</a:t>
            </a: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微功耗</a:t>
            </a:r>
          </a:p>
          <a:p>
            <a:pPr marL="342900" indent="-342900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高信噪比 </a:t>
            </a:r>
          </a:p>
        </p:txBody>
      </p:sp>
      <p:sp>
        <p:nvSpPr>
          <p:cNvPr id="4" name="矩形 3"/>
          <p:cNvSpPr/>
          <p:nvPr/>
        </p:nvSpPr>
        <p:spPr>
          <a:xfrm>
            <a:off x="2752812" y="1662925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72"/>
              </a:spcBef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智能传感器的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特点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3932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34396BB-6050-4734-BFC1-1F29E2A6538B}"/>
              </a:ext>
            </a:extLst>
          </p:cNvPr>
          <p:cNvSpPr/>
          <p:nvPr/>
        </p:nvSpPr>
        <p:spPr>
          <a:xfrm>
            <a:off x="3095711" y="1607213"/>
            <a:ext cx="5495264" cy="386515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50000"/>
              </a:lnSpc>
              <a:spcBef>
                <a:spcPts val="672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采用新技术提高智能化程度 </a:t>
            </a:r>
          </a:p>
          <a:p>
            <a:pPr>
              <a:lnSpc>
                <a:spcPct val="150000"/>
              </a:lnSpc>
              <a:spcBef>
                <a:spcPts val="672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单片传感器系统</a:t>
            </a:r>
          </a:p>
          <a:p>
            <a:pPr>
              <a:lnSpc>
                <a:spcPct val="150000"/>
              </a:lnSpc>
              <a:spcBef>
                <a:spcPts val="672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3.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智能微尘传感器 </a:t>
            </a:r>
          </a:p>
          <a:p>
            <a:pPr>
              <a:lnSpc>
                <a:spcPct val="150000"/>
              </a:lnSpc>
              <a:spcBef>
                <a:spcPts val="672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总线技术的标准化与规范化 </a:t>
            </a:r>
          </a:p>
          <a:p>
            <a:pPr>
              <a:lnSpc>
                <a:spcPct val="150000"/>
              </a:lnSpc>
              <a:spcBef>
                <a:spcPts val="672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5.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虚拟传感器和网络传感器 </a:t>
            </a:r>
          </a:p>
          <a:p>
            <a:pPr>
              <a:lnSpc>
                <a:spcPct val="150000"/>
              </a:lnSpc>
              <a:spcBef>
                <a:spcPts val="672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6.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可靠性与安全性设计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12.1.2</a:t>
            </a:r>
          </a:p>
        </p:txBody>
      </p:sp>
      <p:sp>
        <p:nvSpPr>
          <p:cNvPr id="28" name="矩形 27"/>
          <p:cNvSpPr/>
          <p:nvPr/>
        </p:nvSpPr>
        <p:spPr>
          <a:xfrm>
            <a:off x="3484201" y="329521"/>
            <a:ext cx="587371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智能传感器的发展趋势及应用</a:t>
            </a:r>
          </a:p>
        </p:txBody>
      </p:sp>
      <p:grpSp>
        <p:nvGrpSpPr>
          <p:cNvPr id="29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746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12.1.2</a:t>
            </a:r>
          </a:p>
        </p:txBody>
      </p:sp>
      <p:sp>
        <p:nvSpPr>
          <p:cNvPr id="28" name="矩形 27"/>
          <p:cNvSpPr/>
          <p:nvPr/>
        </p:nvSpPr>
        <p:spPr>
          <a:xfrm>
            <a:off x="3484201" y="329521"/>
            <a:ext cx="587371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智能传感器的发展趋势及应用</a:t>
            </a:r>
          </a:p>
        </p:txBody>
      </p:sp>
      <p:grpSp>
        <p:nvGrpSpPr>
          <p:cNvPr id="29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矩形 3"/>
          <p:cNvSpPr/>
          <p:nvPr/>
        </p:nvSpPr>
        <p:spPr>
          <a:xfrm>
            <a:off x="1933576" y="1711890"/>
            <a:ext cx="3417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单片传感器系统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4396BB-6050-4734-BFC1-1F29E2A6538B}"/>
              </a:ext>
            </a:extLst>
          </p:cNvPr>
          <p:cNvSpPr/>
          <p:nvPr/>
        </p:nvSpPr>
        <p:spPr>
          <a:xfrm>
            <a:off x="2514601" y="2462213"/>
            <a:ext cx="6608768" cy="166776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来自于单片系统（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SOC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system on chip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）概念，使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从传统意义上的“集成电路”发展成为全新概念的“集成系统”。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455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34396BB-6050-4734-BFC1-1F29E2A6538B}"/>
              </a:ext>
            </a:extLst>
          </p:cNvPr>
          <p:cNvSpPr/>
          <p:nvPr/>
        </p:nvSpPr>
        <p:spPr>
          <a:xfrm>
            <a:off x="2135169" y="1662004"/>
            <a:ext cx="5495264" cy="46166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虚拟传感器和网络传感器 </a:t>
            </a:r>
          </a:p>
        </p:txBody>
      </p:sp>
      <p:sp>
        <p:nvSpPr>
          <p:cNvPr id="26" name="矩形 25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12.1.2</a:t>
            </a:r>
          </a:p>
        </p:txBody>
      </p:sp>
      <p:sp>
        <p:nvSpPr>
          <p:cNvPr id="28" name="矩形 27"/>
          <p:cNvSpPr/>
          <p:nvPr/>
        </p:nvSpPr>
        <p:spPr>
          <a:xfrm>
            <a:off x="3484201" y="329521"/>
            <a:ext cx="587371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智能传感器的发展趋势及应用</a:t>
            </a:r>
          </a:p>
        </p:txBody>
      </p:sp>
      <p:grpSp>
        <p:nvGrpSpPr>
          <p:cNvPr id="29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34396BB-6050-4734-BFC1-1F29E2A6538B}"/>
              </a:ext>
            </a:extLst>
          </p:cNvPr>
          <p:cNvSpPr/>
          <p:nvPr/>
        </p:nvSpPr>
        <p:spPr>
          <a:xfrm>
            <a:off x="2344720" y="2447516"/>
            <a:ext cx="7319867" cy="286552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虚拟传感器是基于软件开发而成的智能传感器，在硬件基础上通过软件来实现测试功能，或利用软件完成传感器的校准及标定。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网络传感器是包含数字传感器、网络接口和处理单元的新一代智能传感器。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321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34396BB-6050-4734-BFC1-1F29E2A6538B}"/>
              </a:ext>
            </a:extLst>
          </p:cNvPr>
          <p:cNvSpPr/>
          <p:nvPr/>
        </p:nvSpPr>
        <p:spPr>
          <a:xfrm>
            <a:off x="2056191" y="1669703"/>
            <a:ext cx="5495264" cy="46166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可靠性与安全性设计</a:t>
            </a:r>
          </a:p>
        </p:txBody>
      </p:sp>
      <p:sp>
        <p:nvSpPr>
          <p:cNvPr id="26" name="矩形 25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12.1.2</a:t>
            </a:r>
          </a:p>
        </p:txBody>
      </p:sp>
      <p:sp>
        <p:nvSpPr>
          <p:cNvPr id="28" name="矩形 27"/>
          <p:cNvSpPr/>
          <p:nvPr/>
        </p:nvSpPr>
        <p:spPr>
          <a:xfrm>
            <a:off x="3484201" y="329521"/>
            <a:ext cx="587371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智能传感器的发展趋势及应用</a:t>
            </a:r>
          </a:p>
        </p:txBody>
      </p:sp>
      <p:grpSp>
        <p:nvGrpSpPr>
          <p:cNvPr id="29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34396BB-6050-4734-BFC1-1F29E2A6538B}"/>
              </a:ext>
            </a:extLst>
          </p:cNvPr>
          <p:cNvSpPr/>
          <p:nvPr/>
        </p:nvSpPr>
        <p:spPr>
          <a:xfrm>
            <a:off x="2527278" y="2550235"/>
            <a:ext cx="6597673" cy="175753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智能传感器一般都具有自检和自校准功能。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新型智能传感器普遍增加了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ESD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保护电路，防止因静电放电（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ESD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）损坏硬件电路。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73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961667D5-6E02-42C6-973A-2E8008454BA6}"/>
              </a:ext>
            </a:extLst>
          </p:cNvPr>
          <p:cNvSpPr txBox="1"/>
          <p:nvPr/>
        </p:nvSpPr>
        <p:spPr>
          <a:xfrm>
            <a:off x="2268721" y="1807021"/>
            <a:ext cx="7320328" cy="286552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网络化的智能精密压力传感器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indent="631825">
              <a:lnSpc>
                <a:spcPct val="150000"/>
              </a:lnSpc>
              <a:spcBef>
                <a:spcPts val="672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将压敏电阻、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A/D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转换器、微处理器、存储器（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RAM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400" b="1" baseline="30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PROM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）和接口电路集于一身，不仅达到了高性能指标，还极大地方便了用户。这些产品已广泛用于工业、环境监测、自动控制、医疗设备等领域。</a:t>
            </a:r>
          </a:p>
        </p:txBody>
      </p:sp>
      <p:sp>
        <p:nvSpPr>
          <p:cNvPr id="26" name="矩形 25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12.2</a:t>
            </a:r>
          </a:p>
        </p:txBody>
      </p:sp>
      <p:sp>
        <p:nvSpPr>
          <p:cNvPr id="28" name="矩形 27"/>
          <p:cNvSpPr/>
          <p:nvPr/>
        </p:nvSpPr>
        <p:spPr>
          <a:xfrm>
            <a:off x="3484201" y="329521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网络化智能压力传感器</a:t>
            </a:r>
          </a:p>
        </p:txBody>
      </p:sp>
      <p:grpSp>
        <p:nvGrpSpPr>
          <p:cNvPr id="29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3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986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B2C56CED-4DA6-4886-B2ED-BAC37A98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5622" y="3775038"/>
            <a:ext cx="5095229" cy="22961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适配两只热敏电阻探头测量液位。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芯片内部有探头故障检测器和电源调节器。具有复位和延迟开关功能，利用复位功能可实现电路切换，利用延迟功能则能抑制瞬态干扰。</a:t>
            </a:r>
          </a:p>
        </p:txBody>
      </p:sp>
      <p:sp>
        <p:nvSpPr>
          <p:cNvPr id="24" name="矩形 23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12.3.1</a:t>
            </a:r>
          </a:p>
        </p:txBody>
      </p:sp>
      <p:sp>
        <p:nvSpPr>
          <p:cNvPr id="27" name="矩形 26"/>
          <p:cNvSpPr/>
          <p:nvPr/>
        </p:nvSpPr>
        <p:spPr>
          <a:xfrm>
            <a:off x="3484202" y="329521"/>
            <a:ext cx="32479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特种集成传感器</a:t>
            </a:r>
          </a:p>
        </p:txBody>
      </p:sp>
      <p:grpSp>
        <p:nvGrpSpPr>
          <p:cNvPr id="28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9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8" name="内容占位符 2">
            <a:extLst>
              <a:ext uri="{FF2B5EF4-FFF2-40B4-BE49-F238E27FC236}">
                <a16:creationId xmlns:a16="http://schemas.microsoft.com/office/drawing/2014/main" id="{B2C56CED-4DA6-4886-B2ED-BAC37A98CCF0}"/>
              </a:ext>
            </a:extLst>
          </p:cNvPr>
          <p:cNvSpPr txBox="1">
            <a:spLocks/>
          </p:cNvSpPr>
          <p:nvPr/>
        </p:nvSpPr>
        <p:spPr>
          <a:xfrm>
            <a:off x="1524000" y="1206699"/>
            <a:ext cx="5276850" cy="1583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36575">
              <a:lnSpc>
                <a:spcPct val="150000"/>
              </a:lnSpc>
              <a:spcBef>
                <a:spcPts val="576"/>
              </a:spcBef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LM1042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通过热敏电阻探头来测量非可燃性液体的液面高度，并能检测出热敏电阻探头的短路和开路故障。</a:t>
            </a:r>
          </a:p>
        </p:txBody>
      </p:sp>
      <p:sp>
        <p:nvSpPr>
          <p:cNvPr id="2" name="矩形 1"/>
          <p:cNvSpPr/>
          <p:nvPr/>
        </p:nvSpPr>
        <p:spPr>
          <a:xfrm>
            <a:off x="1962578" y="2959227"/>
            <a:ext cx="1731564" cy="559769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576"/>
              </a:spcBef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性能特点：</a:t>
            </a:r>
          </a:p>
        </p:txBody>
      </p:sp>
      <p:sp>
        <p:nvSpPr>
          <p:cNvPr id="21" name="Text Box 59">
            <a:extLst>
              <a:ext uri="{FF2B5EF4-FFF2-40B4-BE49-F238E27FC236}">
                <a16:creationId xmlns:a16="http://schemas.microsoft.com/office/drawing/2014/main" id="{B198084C-AD8D-4591-92BB-75F8D3C5A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568" y="5349233"/>
            <a:ext cx="3261349" cy="993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9pPr>
          </a:lstStyle>
          <a:p>
            <a:pPr marL="982663" indent="-982663">
              <a:lnSpc>
                <a:spcPct val="120000"/>
              </a:lnSpc>
              <a:spcBef>
                <a:spcPct val="20000"/>
              </a:spcBef>
            </a:pP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图</a:t>
            </a:r>
            <a:r>
              <a:rPr kumimoji="0" lang="en-US" altLang="zh-CN" sz="2400" b="1" dirty="0">
                <a:solidFill>
                  <a:srgbClr val="3333CC"/>
                </a:solidFill>
                <a:latin typeface="宋体" pitchFamily="2" charset="-122"/>
              </a:rPr>
              <a:t>12-12 LM1042</a:t>
            </a: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的基本</a:t>
            </a:r>
            <a:endParaRPr kumimoji="0" lang="en-US" altLang="zh-CN" sz="2400" b="1" dirty="0">
              <a:solidFill>
                <a:srgbClr val="3333CC"/>
              </a:solidFill>
              <a:latin typeface="宋体" pitchFamily="2" charset="-122"/>
            </a:endParaRPr>
          </a:p>
          <a:p>
            <a:pPr marL="982663" indent="-982663" algn="r">
              <a:lnSpc>
                <a:spcPct val="120000"/>
              </a:lnSpc>
              <a:spcBef>
                <a:spcPct val="20000"/>
              </a:spcBef>
            </a:pP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测量原理</a:t>
            </a:r>
          </a:p>
        </p:txBody>
      </p:sp>
      <p:pic>
        <p:nvPicPr>
          <p:cNvPr id="23" name="图片 14">
            <a:extLst>
              <a:ext uri="{FF2B5EF4-FFF2-40B4-BE49-F238E27FC236}">
                <a16:creationId xmlns:a16="http://schemas.microsoft.com/office/drawing/2014/main" id="{D3DFD98F-DCA4-4B76-8331-5EDEE019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44" y="1950214"/>
            <a:ext cx="3415547" cy="33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12.3.1</a:t>
            </a:r>
          </a:p>
        </p:txBody>
      </p:sp>
      <p:sp>
        <p:nvSpPr>
          <p:cNvPr id="27" name="矩形 26"/>
          <p:cNvSpPr/>
          <p:nvPr/>
        </p:nvSpPr>
        <p:spPr>
          <a:xfrm>
            <a:off x="3484202" y="329521"/>
            <a:ext cx="32479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特种集成传感器</a:t>
            </a:r>
          </a:p>
        </p:txBody>
      </p:sp>
      <p:grpSp>
        <p:nvGrpSpPr>
          <p:cNvPr id="28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9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矩形 25">
            <a:extLst>
              <a:ext uri="{FF2B5EF4-FFF2-40B4-BE49-F238E27FC236}">
                <a16:creationId xmlns:a16="http://schemas.microsoft.com/office/drawing/2014/main" id="{FB97B8F6-313D-46FB-995C-4C7F641FB7DA}"/>
              </a:ext>
            </a:extLst>
          </p:cNvPr>
          <p:cNvSpPr/>
          <p:nvPr/>
        </p:nvSpPr>
        <p:spPr>
          <a:xfrm>
            <a:off x="1709083" y="1380307"/>
            <a:ext cx="5139548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LM1042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型集成液位传感器的典型应用</a:t>
            </a:r>
          </a:p>
        </p:txBody>
      </p:sp>
      <p:sp>
        <p:nvSpPr>
          <p:cNvPr id="39" name="矩形 39">
            <a:extLst>
              <a:ext uri="{FF2B5EF4-FFF2-40B4-BE49-F238E27FC236}">
                <a16:creationId xmlns:a16="http://schemas.microsoft.com/office/drawing/2014/main" id="{997DB664-A79E-4F56-AE5D-8F62B0362552}"/>
              </a:ext>
            </a:extLst>
          </p:cNvPr>
          <p:cNvSpPr/>
          <p:nvPr/>
        </p:nvSpPr>
        <p:spPr>
          <a:xfrm>
            <a:off x="1709083" y="2372671"/>
            <a:ext cx="4255558" cy="277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31825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利用油压开关来选择探头，在汽车点火时选择探头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测量油箱中的液位；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31825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发动机开始工作后，改由辅助探头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测量液位。</a:t>
            </a:r>
          </a:p>
        </p:txBody>
      </p:sp>
      <p:sp>
        <p:nvSpPr>
          <p:cNvPr id="40" name="Text Box 59">
            <a:extLst>
              <a:ext uri="{FF2B5EF4-FFF2-40B4-BE49-F238E27FC236}">
                <a16:creationId xmlns:a16="http://schemas.microsoft.com/office/drawing/2014/main" id="{8E3940DE-F7AB-474E-8765-58635DA55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352" y="5148432"/>
            <a:ext cx="3928619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9pPr>
          </a:lstStyle>
          <a:p>
            <a:pPr marL="982663" indent="-982663">
              <a:lnSpc>
                <a:spcPct val="120000"/>
              </a:lnSpc>
              <a:spcBef>
                <a:spcPct val="20000"/>
              </a:spcBef>
            </a:pP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图</a:t>
            </a:r>
            <a:r>
              <a:rPr kumimoji="0" lang="en-US" altLang="zh-CN" sz="2400" b="1" dirty="0">
                <a:solidFill>
                  <a:srgbClr val="3333CC"/>
                </a:solidFill>
                <a:latin typeface="宋体" pitchFamily="2" charset="-122"/>
              </a:rPr>
              <a:t>12-16 LM1042</a:t>
            </a: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在汽车中的应用电路</a:t>
            </a:r>
          </a:p>
        </p:txBody>
      </p:sp>
      <p:pic>
        <p:nvPicPr>
          <p:cNvPr id="41" name="图片 2">
            <a:extLst>
              <a:ext uri="{FF2B5EF4-FFF2-40B4-BE49-F238E27FC236}">
                <a16:creationId xmlns:a16="http://schemas.microsoft.com/office/drawing/2014/main" id="{A1EFAABC-C7F0-4CED-94C6-4C98DB173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159" y="2049361"/>
            <a:ext cx="4494693" cy="296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7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12.3.1</a:t>
            </a:r>
          </a:p>
        </p:txBody>
      </p:sp>
      <p:sp>
        <p:nvSpPr>
          <p:cNvPr id="25" name="矩形 24"/>
          <p:cNvSpPr/>
          <p:nvPr/>
        </p:nvSpPr>
        <p:spPr>
          <a:xfrm>
            <a:off x="3484202" y="329521"/>
            <a:ext cx="32479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特种集成传感器</a:t>
            </a:r>
          </a:p>
        </p:txBody>
      </p:sp>
      <p:grpSp>
        <p:nvGrpSpPr>
          <p:cNvPr id="27" name="组 42"/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28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0" name="圆角矩形 29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6" name="矩形 1">
            <a:extLst>
              <a:ext uri="{FF2B5EF4-FFF2-40B4-BE49-F238E27FC236}">
                <a16:creationId xmlns:a16="http://schemas.microsoft.com/office/drawing/2014/main" id="{EECB4509-B88F-4A26-AF9B-70BCB7B021E8}"/>
              </a:ext>
            </a:extLst>
          </p:cNvPr>
          <p:cNvSpPr/>
          <p:nvPr/>
        </p:nvSpPr>
        <p:spPr>
          <a:xfrm>
            <a:off x="1928537" y="1263383"/>
            <a:ext cx="6359325" cy="46166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MC14468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离子烟雾检测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报警电路</a:t>
            </a:r>
            <a:endParaRPr lang="zh-CN" altLang="en-US" sz="2400" dirty="0"/>
          </a:p>
        </p:txBody>
      </p:sp>
      <p:sp>
        <p:nvSpPr>
          <p:cNvPr id="42" name="内容占位符 2">
            <a:extLst>
              <a:ext uri="{FF2B5EF4-FFF2-40B4-BE49-F238E27FC236}">
                <a16:creationId xmlns:a16="http://schemas.microsoft.com/office/drawing/2014/main" id="{E05ABF45-6C46-482E-9ED8-7D995BD9C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219" y="2073066"/>
            <a:ext cx="4202656" cy="3142510"/>
          </a:xfrm>
        </p:spPr>
        <p:txBody>
          <a:bodyPr>
            <a:noAutofit/>
          </a:bodyPr>
          <a:lstStyle/>
          <a:p>
            <a:pPr>
              <a:lnSpc>
                <a:spcPct val="135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采用大规模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CMOS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集成电路，需配离子室；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5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利用压电陶瓷蜂鸣器和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LED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进行声、光报警；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5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用外部电阻设定检测灵敏度、欠电压报警阈值；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5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完善的保护电路；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5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具有自检功能。</a:t>
            </a:r>
          </a:p>
        </p:txBody>
      </p:sp>
      <p:sp>
        <p:nvSpPr>
          <p:cNvPr id="45" name="Text Box 59">
            <a:extLst>
              <a:ext uri="{FF2B5EF4-FFF2-40B4-BE49-F238E27FC236}">
                <a16:creationId xmlns:a16="http://schemas.microsoft.com/office/drawing/2014/main" id="{6576A16F-8C4D-4DC3-ACDC-330BA729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187" y="4868736"/>
            <a:ext cx="3947184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9pPr>
          </a:lstStyle>
          <a:p>
            <a:pPr marL="982663" indent="-982663">
              <a:lnSpc>
                <a:spcPct val="120000"/>
              </a:lnSpc>
              <a:spcBef>
                <a:spcPct val="20000"/>
              </a:spcBef>
            </a:pP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图</a:t>
            </a:r>
            <a:r>
              <a:rPr kumimoji="0" lang="en-US" altLang="zh-CN" sz="2400" b="1" dirty="0">
                <a:solidFill>
                  <a:srgbClr val="3333CC"/>
                </a:solidFill>
                <a:latin typeface="宋体" pitchFamily="2" charset="-122"/>
              </a:rPr>
              <a:t>12-20 </a:t>
            </a: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由</a:t>
            </a:r>
            <a:r>
              <a:rPr kumimoji="0" lang="en-US" altLang="zh-CN" sz="2400" b="1" dirty="0">
                <a:solidFill>
                  <a:srgbClr val="3333CC"/>
                </a:solidFill>
                <a:latin typeface="宋体" pitchFamily="2" charset="-122"/>
              </a:rPr>
              <a:t>MC14468</a:t>
            </a: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构成的烟雾检测报警电路</a:t>
            </a:r>
          </a:p>
        </p:txBody>
      </p:sp>
      <p:pic>
        <p:nvPicPr>
          <p:cNvPr id="46" name="图片 6">
            <a:extLst>
              <a:ext uri="{FF2B5EF4-FFF2-40B4-BE49-F238E27FC236}">
                <a16:creationId xmlns:a16="http://schemas.microsoft.com/office/drawing/2014/main" id="{7F77C197-0957-49AD-9CCF-FFB9D691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390" y="2155283"/>
            <a:ext cx="4124608" cy="235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8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 24"/>
          <p:cNvSpPr/>
          <p:nvPr/>
        </p:nvSpPr>
        <p:spPr>
          <a:xfrm rot="10800000" flipV="1">
            <a:off x="1709084" y="338485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12.3.2</a:t>
            </a:r>
          </a:p>
        </p:txBody>
      </p:sp>
      <p:sp>
        <p:nvSpPr>
          <p:cNvPr id="50" name="矩形 22">
            <a:extLst>
              <a:ext uri="{FF2B5EF4-FFF2-40B4-BE49-F238E27FC236}">
                <a16:creationId xmlns:a16="http://schemas.microsoft.com/office/drawing/2014/main" id="{0C0D7E4E-29DF-4E6E-B5BB-AE5ED1E54AD7}"/>
              </a:ext>
            </a:extLst>
          </p:cNvPr>
          <p:cNvSpPr/>
          <p:nvPr/>
        </p:nvSpPr>
        <p:spPr>
          <a:xfrm>
            <a:off x="3095712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51" name="矩形 24">
            <a:extLst>
              <a:ext uri="{FF2B5EF4-FFF2-40B4-BE49-F238E27FC236}">
                <a16:creationId xmlns:a16="http://schemas.microsoft.com/office/drawing/2014/main" id="{453D848E-D7F4-4F3F-856F-61FC5C11EFF1}"/>
              </a:ext>
            </a:extLst>
          </p:cNvPr>
          <p:cNvSpPr/>
          <p:nvPr/>
        </p:nvSpPr>
        <p:spPr>
          <a:xfrm>
            <a:off x="3484202" y="329521"/>
            <a:ext cx="32479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特种集成传感器</a:t>
            </a:r>
          </a:p>
        </p:txBody>
      </p:sp>
      <p:grpSp>
        <p:nvGrpSpPr>
          <p:cNvPr id="52" name="组 42">
            <a:extLst>
              <a:ext uri="{FF2B5EF4-FFF2-40B4-BE49-F238E27FC236}">
                <a16:creationId xmlns:a16="http://schemas.microsoft.com/office/drawing/2014/main" id="{01A05F2C-9CD8-466F-BA79-21A42AA136C1}"/>
              </a:ext>
            </a:extLst>
          </p:cNvPr>
          <p:cNvGrpSpPr/>
          <p:nvPr/>
        </p:nvGrpSpPr>
        <p:grpSpPr>
          <a:xfrm>
            <a:off x="10114581" y="252857"/>
            <a:ext cx="553419" cy="484288"/>
            <a:chOff x="11454105" y="252856"/>
            <a:chExt cx="737892" cy="484288"/>
          </a:xfrm>
        </p:grpSpPr>
        <p:grpSp>
          <p:nvGrpSpPr>
            <p:cNvPr id="53" name="组 49">
              <a:extLst>
                <a:ext uri="{FF2B5EF4-FFF2-40B4-BE49-F238E27FC236}">
                  <a16:creationId xmlns:a16="http://schemas.microsoft.com/office/drawing/2014/main" id="{33D6EB63-E8AC-489C-BC38-2AD15EA9B064}"/>
                </a:ext>
              </a:extLst>
            </p:cNvPr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7" name="圆角矩形 31">
                <a:extLst>
                  <a:ext uri="{FF2B5EF4-FFF2-40B4-BE49-F238E27FC236}">
                    <a16:creationId xmlns:a16="http://schemas.microsoft.com/office/drawing/2014/main" id="{65796495-6FFA-4EC9-9EB6-DA2450EDD4D1}"/>
                  </a:ext>
                </a:extLst>
              </p:cNvPr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圆角矩形 32">
                <a:extLst>
                  <a:ext uri="{FF2B5EF4-FFF2-40B4-BE49-F238E27FC236}">
                    <a16:creationId xmlns:a16="http://schemas.microsoft.com/office/drawing/2014/main" id="{16E9585E-1262-48E1-8948-C276817B40A2}"/>
                  </a:ext>
                </a:extLst>
              </p:cNvPr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圆角矩形 33">
                <a:extLst>
                  <a:ext uri="{FF2B5EF4-FFF2-40B4-BE49-F238E27FC236}">
                    <a16:creationId xmlns:a16="http://schemas.microsoft.com/office/drawing/2014/main" id="{023A498A-993F-412C-8C53-CD8E7C0A22D4}"/>
                  </a:ext>
                </a:extLst>
              </p:cNvPr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圆角矩形 34">
                <a:extLst>
                  <a:ext uri="{FF2B5EF4-FFF2-40B4-BE49-F238E27FC236}">
                    <a16:creationId xmlns:a16="http://schemas.microsoft.com/office/drawing/2014/main" id="{1B92795D-0AC1-4387-AA78-C8AC44EAD68A}"/>
                  </a:ext>
                </a:extLst>
              </p:cNvPr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圆角矩形 35">
                <a:extLst>
                  <a:ext uri="{FF2B5EF4-FFF2-40B4-BE49-F238E27FC236}">
                    <a16:creationId xmlns:a16="http://schemas.microsoft.com/office/drawing/2014/main" id="{EE5F83AA-C33A-4C05-85F1-AADAADD06319}"/>
                  </a:ext>
                </a:extLst>
              </p:cNvPr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4" name="组合 99">
              <a:extLst>
                <a:ext uri="{FF2B5EF4-FFF2-40B4-BE49-F238E27FC236}">
                  <a16:creationId xmlns:a16="http://schemas.microsoft.com/office/drawing/2014/main" id="{E798E8EC-E4BF-40BA-8BFF-13FBC1AE5578}"/>
                </a:ext>
              </a:extLst>
            </p:cNvPr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5" name="圆角矩形 29">
                <a:extLst>
                  <a:ext uri="{FF2B5EF4-FFF2-40B4-BE49-F238E27FC236}">
                    <a16:creationId xmlns:a16="http://schemas.microsoft.com/office/drawing/2014/main" id="{51500A1D-E19F-4F08-8D30-2CDD40130F5F}"/>
                  </a:ext>
                </a:extLst>
              </p:cNvPr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Freeform 96">
                <a:extLst>
                  <a:ext uri="{FF2B5EF4-FFF2-40B4-BE49-F238E27FC236}">
                    <a16:creationId xmlns:a16="http://schemas.microsoft.com/office/drawing/2014/main" id="{1AD75A57-F750-46B5-9702-92B9C31CEB87}"/>
                  </a:ext>
                </a:extLst>
              </p:cNvPr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63" name="内容占位符 2">
            <a:extLst>
              <a:ext uri="{FF2B5EF4-FFF2-40B4-BE49-F238E27FC236}">
                <a16:creationId xmlns:a16="http://schemas.microsoft.com/office/drawing/2014/main" id="{04B47B8B-9EE7-4D57-9F66-C3B3C159A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015" y="2127879"/>
            <a:ext cx="4569735" cy="453962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专门设置了增益可编程光信号放大器、烟雾比较器、报警逻辑电路、蜂鸣器调制及驱动器、定时控制逻辑及两路基准源；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需配红外发射二极管、接收二极管和光电室；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576"/>
              </a:spcBef>
              <a:buClr>
                <a:srgbClr val="7030A0"/>
              </a:buClr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自检模式可模拟烟雾条件，自校准模式，微功耗。</a:t>
            </a:r>
          </a:p>
        </p:txBody>
      </p:sp>
      <p:sp>
        <p:nvSpPr>
          <p:cNvPr id="64" name="矩形 1">
            <a:extLst>
              <a:ext uri="{FF2B5EF4-FFF2-40B4-BE49-F238E27FC236}">
                <a16:creationId xmlns:a16="http://schemas.microsoft.com/office/drawing/2014/main" id="{064DE596-4965-41A8-AF1B-2ED80FA20243}"/>
              </a:ext>
            </a:extLst>
          </p:cNvPr>
          <p:cNvSpPr/>
          <p:nvPr/>
        </p:nvSpPr>
        <p:spPr>
          <a:xfrm>
            <a:off x="1878690" y="1271054"/>
            <a:ext cx="6655395" cy="46166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76"/>
              </a:spcBef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MC145010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光电型烟雾检测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报警电路</a:t>
            </a:r>
          </a:p>
        </p:txBody>
      </p:sp>
      <p:sp>
        <p:nvSpPr>
          <p:cNvPr id="65" name="Text Box 59">
            <a:extLst>
              <a:ext uri="{FF2B5EF4-FFF2-40B4-BE49-F238E27FC236}">
                <a16:creationId xmlns:a16="http://schemas.microsoft.com/office/drawing/2014/main" id="{FD2C4BDC-6F96-4707-B2BA-2AFA003A0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056" y="5578475"/>
            <a:ext cx="3728649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pitchFamily="2" charset="-122"/>
              </a:defRPr>
            </a:lvl9pPr>
          </a:lstStyle>
          <a:p>
            <a:pPr marL="982663" indent="-982663">
              <a:lnSpc>
                <a:spcPct val="120000"/>
              </a:lnSpc>
              <a:spcBef>
                <a:spcPct val="20000"/>
              </a:spcBef>
            </a:pP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图</a:t>
            </a:r>
            <a:r>
              <a:rPr kumimoji="0" lang="en-US" altLang="zh-CN" sz="2400" b="1" dirty="0">
                <a:solidFill>
                  <a:srgbClr val="3333CC"/>
                </a:solidFill>
                <a:latin typeface="宋体" pitchFamily="2" charset="-122"/>
              </a:rPr>
              <a:t>12-23 </a:t>
            </a: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由</a:t>
            </a:r>
            <a:r>
              <a:rPr kumimoji="0" lang="en-US" altLang="zh-CN" sz="2400" b="1" dirty="0">
                <a:solidFill>
                  <a:srgbClr val="3333CC"/>
                </a:solidFill>
                <a:latin typeface="宋体" pitchFamily="2" charset="-122"/>
              </a:rPr>
              <a:t>MC145010</a:t>
            </a:r>
            <a:r>
              <a:rPr kumimoji="0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构成的烟雾报警电路</a:t>
            </a:r>
          </a:p>
        </p:txBody>
      </p:sp>
      <p:pic>
        <p:nvPicPr>
          <p:cNvPr id="66" name="图片 9">
            <a:extLst>
              <a:ext uri="{FF2B5EF4-FFF2-40B4-BE49-F238E27FC236}">
                <a16:creationId xmlns:a16="http://schemas.microsoft.com/office/drawing/2014/main" id="{442788F6-A850-4CDC-90E2-A4625FA8D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76" y="2389092"/>
            <a:ext cx="3955428" cy="296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836</Words>
  <Application>Microsoft Office PowerPoint</Application>
  <PresentationFormat>宽屏</PresentationFormat>
  <Paragraphs>112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宋体</vt:lpstr>
      <vt:lpstr>微软雅黑</vt:lpstr>
      <vt:lpstr>Arial</vt:lpstr>
      <vt:lpstr>Eras Light ITC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振毫 刘</dc:creator>
  <cp:lastModifiedBy>振毫 刘</cp:lastModifiedBy>
  <cp:revision>1</cp:revision>
  <dcterms:created xsi:type="dcterms:W3CDTF">2026-06-25T15:21:12Z</dcterms:created>
  <dcterms:modified xsi:type="dcterms:W3CDTF">2026-06-25T15:22:19Z</dcterms:modified>
</cp:coreProperties>
</file>