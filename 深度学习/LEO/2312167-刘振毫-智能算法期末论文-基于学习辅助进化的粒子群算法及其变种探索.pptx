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4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5.xml" ContentType="application/vnd.openxmlformats-officedocument.presentationml.notesSlide+xml"/>
  <Override PartName="/ppt/tags/tag67.xml" ContentType="application/vnd.openxmlformats-officedocument.presentationml.tags+xml"/>
  <Override PartName="/ppt/notesSlides/notesSlide6.xml" ContentType="application/vnd.openxmlformats-officedocument.presentationml.notesSlide+xml"/>
  <Override PartName="/ppt/tags/tag68.xml" ContentType="application/vnd.openxmlformats-officedocument.presentationml.tags+xml"/>
  <Override PartName="/ppt/notesSlides/notesSlide7.xml" ContentType="application/vnd.openxmlformats-officedocument.presentationml.notesSlide+xml"/>
  <Override PartName="/ppt/tags/tag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2" r:id="rId2"/>
    <p:sldMasterId id="2147483703" r:id="rId3"/>
    <p:sldMasterId id="2147483714" r:id="rId4"/>
    <p:sldMasterId id="2147483725" r:id="rId5"/>
  </p:sldMasterIdLst>
  <p:notesMasterIdLst>
    <p:notesMasterId r:id="rId20"/>
  </p:notesMasterIdLst>
  <p:sldIdLst>
    <p:sldId id="257" r:id="rId6"/>
    <p:sldId id="258" r:id="rId7"/>
    <p:sldId id="290" r:id="rId8"/>
    <p:sldId id="292" r:id="rId9"/>
    <p:sldId id="303" r:id="rId10"/>
    <p:sldId id="298" r:id="rId11"/>
    <p:sldId id="299" r:id="rId12"/>
    <p:sldId id="304" r:id="rId13"/>
    <p:sldId id="291" r:id="rId14"/>
    <p:sldId id="305" r:id="rId15"/>
    <p:sldId id="261" r:id="rId16"/>
    <p:sldId id="293" r:id="rId17"/>
    <p:sldId id="264" r:id="rId18"/>
    <p:sldId id="270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854" userDrawn="1">
          <p15:clr>
            <a:srgbClr val="A4A3A4"/>
          </p15:clr>
        </p15:guide>
        <p15:guide id="3" orient="horz" pos="968" userDrawn="1">
          <p15:clr>
            <a:srgbClr val="A4A3A4"/>
          </p15:clr>
        </p15:guide>
        <p15:guide id="4" pos="27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DF3"/>
    <a:srgbClr val="EDA182"/>
    <a:srgbClr val="AAC4DD"/>
    <a:srgbClr val="F2C6B0"/>
    <a:srgbClr val="F3F5F7"/>
    <a:srgbClr val="163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96" y="462"/>
      </p:cViewPr>
      <p:guideLst>
        <p:guide orient="horz" pos="2212"/>
        <p:guide pos="3854"/>
        <p:guide orient="horz" pos="968"/>
        <p:guide pos="27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0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43753-EE0A-466C-B4F8-21D9C2E9EA46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90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90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890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0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553BD-886F-4E5A-AB83-DF8F9144A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01530-F995-1A7D-D342-23FE25DD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C13F9F-BA82-E7D6-715A-0B17767B6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67112-A520-BABD-8594-5D3937F9136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879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01530-F995-1A7D-D342-23FE25DD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C13F9F-BA82-E7D6-715A-0B17767B6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67112-A520-BABD-8594-5D3937F9136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879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FD53-0EDF-AA17-B7E3-F2892200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B5B273-FB41-602B-1396-15968C727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2E5F19-0CA9-0D71-0C97-B8CA61647C9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306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26F1-A831-D46F-D127-4B047368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5B9472-39C7-1DFC-C52F-23DDD62A0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A80F5-182C-CCEE-831E-9FE8AA60F36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868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AB2CD-B021-774C-C362-601C0611E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4DEE5E-E1E4-24E8-D6EA-A71BE1C16A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0973D7-3065-0D8F-00A9-5F9DE02A6B9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380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kumimoji="1" lang="zh-CN" altLang="en-US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"/>
                <a:sym typeface="+mn-ea"/>
              </a:rPr>
              <a:t>传统的定位算法（如基于水力模型的逆分析法）依赖于管网的精确建模和传感器数据的准确性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8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0.xml"/><Relationship Id="rId4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40.xml"/><Relationship Id="rId4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44.xml"/><Relationship Id="rId7" Type="http://schemas.openxmlformats.org/officeDocument/2006/relationships/slideLayout" Target="../slideLayouts/slideLayout40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3.png"/><Relationship Id="rId5" Type="http://schemas.openxmlformats.org/officeDocument/2006/relationships/tags" Target="../tags/tag46.xml"/><Relationship Id="rId10" Type="http://schemas.openxmlformats.org/officeDocument/2006/relationships/image" Target="../media/image2.png"/><Relationship Id="rId4" Type="http://schemas.openxmlformats.org/officeDocument/2006/relationships/tags" Target="../tags/tag45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0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Layout" Target="../slideLayouts/slideLayout40.xml"/><Relationship Id="rId5" Type="http://schemas.openxmlformats.org/officeDocument/2006/relationships/tags" Target="../tags/tag52.xml"/><Relationship Id="rId10" Type="http://schemas.openxmlformats.org/officeDocument/2006/relationships/image" Target="../media/image3.png"/><Relationship Id="rId4" Type="http://schemas.openxmlformats.org/officeDocument/2006/relationships/tags" Target="../tags/tag51.xm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5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Layout" Target="../slideLayouts/slideLayout40.xml"/><Relationship Id="rId5" Type="http://schemas.openxmlformats.org/officeDocument/2006/relationships/tags" Target="../tags/tag57.xml"/><Relationship Id="rId10" Type="http://schemas.openxmlformats.org/officeDocument/2006/relationships/image" Target="../media/image3.png"/><Relationship Id="rId4" Type="http://schemas.openxmlformats.org/officeDocument/2006/relationships/tags" Target="../tags/tag56.xml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6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40.xml"/><Relationship Id="rId5" Type="http://schemas.openxmlformats.org/officeDocument/2006/relationships/tags" Target="../tags/tag62.xml"/><Relationship Id="rId10" Type="http://schemas.openxmlformats.org/officeDocument/2006/relationships/image" Target="../media/image3.png"/><Relationship Id="rId4" Type="http://schemas.openxmlformats.org/officeDocument/2006/relationships/tags" Target="../tags/tag61.xml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5.xml"/><Relationship Id="rId7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0.xml"/><Relationship Id="rId4" Type="http://schemas.openxmlformats.org/officeDocument/2006/relationships/tags" Target="../tags/tag66.xml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6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8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0.xml"/><Relationship Id="rId1" Type="http://schemas.openxmlformats.org/officeDocument/2006/relationships/tags" Target="../tags/tag69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矩形 4"/>
          <p:cNvSpPr/>
          <p:nvPr/>
        </p:nvSpPr>
        <p:spPr>
          <a:xfrm>
            <a:off x="1054735" y="2266633"/>
            <a:ext cx="1008253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基于学习辅助进化的</a:t>
            </a:r>
          </a:p>
          <a:p>
            <a:pPr algn="ctr"/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粒子群算法研究</a:t>
            </a:r>
          </a:p>
          <a:p>
            <a:pPr algn="ctr"/>
            <a:r>
              <a:rPr lang="en-US" altLang="zh-CN" sz="2400" b="1" dirty="0"/>
              <a:t>                              ————LEO</a:t>
            </a:r>
            <a:r>
              <a:rPr lang="zh-CN" altLang="en-US" sz="2400" b="1" dirty="0"/>
              <a:t>及其变种</a:t>
            </a:r>
          </a:p>
        </p:txBody>
      </p:sp>
      <p:sp>
        <p:nvSpPr>
          <p:cNvPr id="1048637" name="矩形 5"/>
          <p:cNvSpPr/>
          <p:nvPr/>
        </p:nvSpPr>
        <p:spPr>
          <a:xfrm>
            <a:off x="3123871" y="2080242"/>
            <a:ext cx="271781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8638" name="矩形 12"/>
          <p:cNvSpPr/>
          <p:nvPr/>
        </p:nvSpPr>
        <p:spPr>
          <a:xfrm>
            <a:off x="1314132" y="5139373"/>
            <a:ext cx="50061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分享人：刘振毫</a:t>
            </a:r>
          </a:p>
          <a:p>
            <a:pPr algn="ctr"/>
            <a:endParaRPr lang="zh-CN" altLang="en-US" sz="32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7153" name="图片 52" descr="校徽紫色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445" y="241300"/>
            <a:ext cx="4446270" cy="2872740"/>
          </a:xfrm>
          <a:prstGeom prst="rect">
            <a:avLst/>
          </a:prstGeom>
        </p:spPr>
      </p:pic>
      <p:sp>
        <p:nvSpPr>
          <p:cNvPr id="1048639" name="文本框 1"/>
          <p:cNvSpPr txBox="1"/>
          <p:nvPr/>
        </p:nvSpPr>
        <p:spPr>
          <a:xfrm>
            <a:off x="6826869" y="5139373"/>
            <a:ext cx="3803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时间：</a:t>
            </a: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2025.12.23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标题 1"/>
          <p:cNvSpPr txBox="1"/>
          <p:nvPr/>
        </p:nvSpPr>
        <p:spPr>
          <a:xfrm rot="16200000">
            <a:off x="-900991" y="3373448"/>
            <a:ext cx="2293400" cy="74038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78" name="标题 1"/>
          <p:cNvSpPr txBox="1"/>
          <p:nvPr/>
        </p:nvSpPr>
        <p:spPr>
          <a:xfrm>
            <a:off x="-19050" y="-12700"/>
            <a:ext cx="12230100" cy="6883400"/>
          </a:xfrm>
          <a:prstGeom prst="rect">
            <a:avLst/>
          </a:prstGeom>
          <a:gradFill>
            <a:gsLst>
              <a:gs pos="18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79" name="标题 1"/>
          <p:cNvSpPr txBox="1"/>
          <p:nvPr/>
        </p:nvSpPr>
        <p:spPr>
          <a:xfrm>
            <a:off x="32286" y="12700"/>
            <a:ext cx="6096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chemeClr val="accent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0" name="标题 1"/>
          <p:cNvSpPr txBox="1"/>
          <p:nvPr/>
        </p:nvSpPr>
        <p:spPr>
          <a:xfrm>
            <a:off x="2880977" y="554029"/>
            <a:ext cx="8714113" cy="5775342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 cap="sq">
            <a:solidFill>
              <a:schemeClr val="accent1">
                <a:lumMod val="75000"/>
              </a:schemeClr>
            </a:solidFill>
            <a:miter/>
          </a:ln>
          <a:effectLst>
            <a:outerShdw blurRad="393700" dist="228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1" name="标题 1"/>
          <p:cNvSpPr txBox="1"/>
          <p:nvPr/>
        </p:nvSpPr>
        <p:spPr>
          <a:xfrm>
            <a:off x="473875" y="3090547"/>
            <a:ext cx="2209800" cy="11722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60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cs typeface="OPPOSans H"/>
              </a:rPr>
              <a:t>目 录</a:t>
            </a:r>
            <a:endParaRPr kumimoji="1"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2" name="标题 1"/>
          <p:cNvSpPr txBox="1"/>
          <p:nvPr/>
        </p:nvSpPr>
        <p:spPr>
          <a:xfrm>
            <a:off x="80127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3" name="标题 1"/>
          <p:cNvSpPr txBox="1"/>
          <p:nvPr/>
        </p:nvSpPr>
        <p:spPr>
          <a:xfrm>
            <a:off x="103682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4" name="标题 1"/>
          <p:cNvSpPr txBox="1"/>
          <p:nvPr/>
        </p:nvSpPr>
        <p:spPr>
          <a:xfrm>
            <a:off x="127237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5" name="组合 65"/>
          <p:cNvGrpSpPr/>
          <p:nvPr>
            <p:custDataLst>
              <p:tags r:id="rId1"/>
            </p:custDataLst>
          </p:nvPr>
        </p:nvGrpSpPr>
        <p:grpSpPr>
          <a:xfrm>
            <a:off x="3380284" y="1513001"/>
            <a:ext cx="3621243" cy="530824"/>
            <a:chOff x="3380284" y="1513001"/>
            <a:chExt cx="3621243" cy="530824"/>
          </a:xfrm>
        </p:grpSpPr>
        <p:sp>
          <p:nvSpPr>
            <p:cNvPr id="1048585" name="标题 1"/>
            <p:cNvSpPr txBox="1"/>
            <p:nvPr>
              <p:custDataLst>
                <p:tags r:id="rId28"/>
              </p:custDataLst>
            </p:nvPr>
          </p:nvSpPr>
          <p:spPr>
            <a:xfrm>
              <a:off x="3751401" y="1513001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586" name="标题 1"/>
            <p:cNvSpPr txBox="1"/>
            <p:nvPr>
              <p:custDataLst>
                <p:tags r:id="rId29"/>
              </p:custDataLst>
            </p:nvPr>
          </p:nvSpPr>
          <p:spPr>
            <a:xfrm>
              <a:off x="6921436" y="1513001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587" name="标题 1"/>
            <p:cNvSpPr txBox="1"/>
            <p:nvPr>
              <p:custDataLst>
                <p:tags r:id="rId30"/>
              </p:custDataLst>
            </p:nvPr>
          </p:nvSpPr>
          <p:spPr>
            <a:xfrm>
              <a:off x="3380284" y="1513001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588" name="标题 1"/>
            <p:cNvSpPr txBox="1"/>
            <p:nvPr>
              <p:custDataLst>
                <p:tags r:id="rId31"/>
              </p:custDataLst>
            </p:nvPr>
          </p:nvSpPr>
          <p:spPr>
            <a:xfrm>
              <a:off x="3474995" y="1607712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590" name="标题 1"/>
            <p:cNvSpPr txBox="1"/>
            <p:nvPr>
              <p:custDataLst>
                <p:tags r:id="rId32"/>
              </p:custDataLst>
            </p:nvPr>
          </p:nvSpPr>
          <p:spPr>
            <a:xfrm>
              <a:off x="3472063" y="1607712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OPPOSans H"/>
                </a:rPr>
                <a:t>01</a:t>
              </a:r>
              <a:endPara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27" name="组合 64"/>
          <p:cNvGrpSpPr/>
          <p:nvPr>
            <p:custDataLst>
              <p:tags r:id="rId2"/>
            </p:custDataLst>
          </p:nvPr>
        </p:nvGrpSpPr>
        <p:grpSpPr>
          <a:xfrm>
            <a:off x="3380284" y="2673247"/>
            <a:ext cx="3621243" cy="530824"/>
            <a:chOff x="3380284" y="2748860"/>
            <a:chExt cx="3621243" cy="530824"/>
          </a:xfrm>
        </p:grpSpPr>
        <p:sp>
          <p:nvSpPr>
            <p:cNvPr id="1048597" name="标题 1"/>
            <p:cNvSpPr txBox="1"/>
            <p:nvPr>
              <p:custDataLst>
                <p:tags r:id="rId22"/>
              </p:custDataLst>
            </p:nvPr>
          </p:nvSpPr>
          <p:spPr>
            <a:xfrm>
              <a:off x="3751401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598" name="标题 1"/>
            <p:cNvSpPr txBox="1"/>
            <p:nvPr>
              <p:custDataLst>
                <p:tags r:id="rId23"/>
              </p:custDataLst>
            </p:nvPr>
          </p:nvSpPr>
          <p:spPr>
            <a:xfrm>
              <a:off x="6921436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599" name="标题 1"/>
            <p:cNvSpPr txBox="1"/>
            <p:nvPr>
              <p:custDataLst>
                <p:tags r:id="rId24"/>
              </p:custDataLst>
            </p:nvPr>
          </p:nvSpPr>
          <p:spPr>
            <a:xfrm>
              <a:off x="3380284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600" name="标题 1"/>
            <p:cNvSpPr txBox="1"/>
            <p:nvPr>
              <p:custDataLst>
                <p:tags r:id="rId25"/>
              </p:custDataLst>
            </p:nvPr>
          </p:nvSpPr>
          <p:spPr>
            <a:xfrm>
              <a:off x="3474995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601" name="标题 1"/>
            <p:cNvSpPr txBox="1"/>
            <p:nvPr>
              <p:custDataLst>
                <p:tags r:id="rId26"/>
              </p:custDataLst>
            </p:nvPr>
          </p:nvSpPr>
          <p:spPr>
            <a:xfrm>
              <a:off x="4190446" y="2748860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>
                <a:lnSpc>
                  <a:spcPct val="150000"/>
                </a:lnSpc>
              </a:pPr>
              <a:endPara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602" name="标题 1"/>
            <p:cNvSpPr txBox="1"/>
            <p:nvPr>
              <p:custDataLst>
                <p:tags r:id="rId27"/>
              </p:custDataLst>
            </p:nvPr>
          </p:nvSpPr>
          <p:spPr>
            <a:xfrm>
              <a:off x="3472063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OPPOSans H"/>
                </a:rPr>
                <a:t>02</a:t>
              </a:r>
              <a:endPara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28" name="组合 61"/>
          <p:cNvGrpSpPr/>
          <p:nvPr>
            <p:custDataLst>
              <p:tags r:id="rId3"/>
            </p:custDataLst>
          </p:nvPr>
        </p:nvGrpSpPr>
        <p:grpSpPr>
          <a:xfrm>
            <a:off x="3380284" y="3832617"/>
            <a:ext cx="3621243" cy="530824"/>
            <a:chOff x="7680810" y="2748860"/>
            <a:chExt cx="3621243" cy="530824"/>
          </a:xfrm>
        </p:grpSpPr>
        <p:sp>
          <p:nvSpPr>
            <p:cNvPr id="1048603" name="标题 1"/>
            <p:cNvSpPr txBox="1"/>
            <p:nvPr>
              <p:custDataLst>
                <p:tags r:id="rId17"/>
              </p:custDataLst>
            </p:nvPr>
          </p:nvSpPr>
          <p:spPr>
            <a:xfrm>
              <a:off x="8051927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604" name="标题 1"/>
            <p:cNvSpPr txBox="1"/>
            <p:nvPr>
              <p:custDataLst>
                <p:tags r:id="rId18"/>
              </p:custDataLst>
            </p:nvPr>
          </p:nvSpPr>
          <p:spPr>
            <a:xfrm>
              <a:off x="11221962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605" name="标题 1"/>
            <p:cNvSpPr txBox="1"/>
            <p:nvPr>
              <p:custDataLst>
                <p:tags r:id="rId19"/>
              </p:custDataLst>
            </p:nvPr>
          </p:nvSpPr>
          <p:spPr>
            <a:xfrm>
              <a:off x="7680810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606" name="标题 1"/>
            <p:cNvSpPr txBox="1"/>
            <p:nvPr>
              <p:custDataLst>
                <p:tags r:id="rId20"/>
              </p:custDataLst>
            </p:nvPr>
          </p:nvSpPr>
          <p:spPr>
            <a:xfrm>
              <a:off x="7775521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48608" name="标题 1"/>
            <p:cNvSpPr txBox="1"/>
            <p:nvPr>
              <p:custDataLst>
                <p:tags r:id="rId21"/>
              </p:custDataLst>
            </p:nvPr>
          </p:nvSpPr>
          <p:spPr>
            <a:xfrm>
              <a:off x="7772589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OPPOSans H"/>
                </a:rPr>
                <a:t>03</a:t>
              </a:r>
              <a:endPara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2" name="Text 6">
            <a:extLst>
              <a:ext uri="{FF2B5EF4-FFF2-40B4-BE49-F238E27FC236}">
                <a16:creationId xmlns:a16="http://schemas.microsoft.com/office/drawing/2014/main" id="{8F078B79-E4D5-AD19-CD35-CA0A89D68D1A}"/>
              </a:ext>
            </a:extLst>
          </p:cNvPr>
          <p:cNvSpPr/>
          <p:nvPr/>
        </p:nvSpPr>
        <p:spPr>
          <a:xfrm>
            <a:off x="3970958" y="1549813"/>
            <a:ext cx="303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研究背景与意义</a:t>
            </a:r>
            <a:endParaRPr lang="en-US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985F905A-8484-C3E0-5724-227391EFC575}"/>
              </a:ext>
            </a:extLst>
          </p:cNvPr>
          <p:cNvSpPr/>
          <p:nvPr/>
        </p:nvSpPr>
        <p:spPr>
          <a:xfrm>
            <a:off x="3911898" y="2725569"/>
            <a:ext cx="30015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LEO算法原理</a:t>
            </a:r>
            <a:endParaRPr lang="en-US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23091801-4183-AE17-2289-8122F863C94D}"/>
              </a:ext>
            </a:extLst>
          </p:cNvPr>
          <p:cNvSpPr/>
          <p:nvPr/>
        </p:nvSpPr>
        <p:spPr>
          <a:xfrm>
            <a:off x="3953968" y="3852829"/>
            <a:ext cx="654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LEO算法变种</a:t>
            </a:r>
            <a:endParaRPr lang="en-US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9" name="组合 64">
            <a:extLst>
              <a:ext uri="{FF2B5EF4-FFF2-40B4-BE49-F238E27FC236}">
                <a16:creationId xmlns:a16="http://schemas.microsoft.com/office/drawing/2014/main" id="{9173590B-1282-534D-B323-8EFED3089D6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7668687" y="2122837"/>
            <a:ext cx="3621243" cy="530824"/>
            <a:chOff x="3380284" y="2748860"/>
            <a:chExt cx="3621243" cy="530824"/>
          </a:xfrm>
        </p:grpSpPr>
        <p:sp>
          <p:nvSpPr>
            <p:cNvPr id="30" name="标题 1">
              <a:extLst>
                <a:ext uri="{FF2B5EF4-FFF2-40B4-BE49-F238E27FC236}">
                  <a16:creationId xmlns:a16="http://schemas.microsoft.com/office/drawing/2014/main" id="{2A4151EE-8C2F-504E-1D3E-8DC5F72946B1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3751401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标题 1">
              <a:extLst>
                <a:ext uri="{FF2B5EF4-FFF2-40B4-BE49-F238E27FC236}">
                  <a16:creationId xmlns:a16="http://schemas.microsoft.com/office/drawing/2014/main" id="{5C11329B-ED46-D55C-896C-BE3BAE021F2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6921436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2" name="标题 1">
              <a:extLst>
                <a:ext uri="{FF2B5EF4-FFF2-40B4-BE49-F238E27FC236}">
                  <a16:creationId xmlns:a16="http://schemas.microsoft.com/office/drawing/2014/main" id="{2C3D4DE9-064A-BE22-74FD-57633D982FD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3380284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3" name="标题 1">
              <a:extLst>
                <a:ext uri="{FF2B5EF4-FFF2-40B4-BE49-F238E27FC236}">
                  <a16:creationId xmlns:a16="http://schemas.microsoft.com/office/drawing/2014/main" id="{53568159-A86D-0F4E-0DCE-1964E7DFA7C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3474995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4" name="标题 1">
              <a:extLst>
                <a:ext uri="{FF2B5EF4-FFF2-40B4-BE49-F238E27FC236}">
                  <a16:creationId xmlns:a16="http://schemas.microsoft.com/office/drawing/2014/main" id="{B623DCF7-34E7-300B-A4FB-7E69A7E56D08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190446" y="2748860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>
                <a:lnSpc>
                  <a:spcPct val="150000"/>
                </a:lnSpc>
              </a:pPr>
              <a:endPara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5" name="标题 1">
              <a:extLst>
                <a:ext uri="{FF2B5EF4-FFF2-40B4-BE49-F238E27FC236}">
                  <a16:creationId xmlns:a16="http://schemas.microsoft.com/office/drawing/2014/main" id="{2B7CA770-F4BB-42E9-FF82-58E443AA63B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3472063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OPPOSans H"/>
                </a:rPr>
                <a:t>04</a:t>
              </a:r>
              <a:endPara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grpSp>
        <p:nvGrpSpPr>
          <p:cNvPr id="36" name="组合 61">
            <a:extLst>
              <a:ext uri="{FF2B5EF4-FFF2-40B4-BE49-F238E27FC236}">
                <a16:creationId xmlns:a16="http://schemas.microsoft.com/office/drawing/2014/main" id="{DBF03EFE-55D0-6BB9-A79D-4A66536D1BC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668687" y="3324295"/>
            <a:ext cx="3621243" cy="530824"/>
            <a:chOff x="7680810" y="2748860"/>
            <a:chExt cx="3621243" cy="530824"/>
          </a:xfrm>
        </p:grpSpPr>
        <p:sp>
          <p:nvSpPr>
            <p:cNvPr id="37" name="标题 1">
              <a:extLst>
                <a:ext uri="{FF2B5EF4-FFF2-40B4-BE49-F238E27FC236}">
                  <a16:creationId xmlns:a16="http://schemas.microsoft.com/office/drawing/2014/main" id="{4C5EFB12-233E-A859-690A-A12B4051A7BD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8051927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8" name="标题 1">
              <a:extLst>
                <a:ext uri="{FF2B5EF4-FFF2-40B4-BE49-F238E27FC236}">
                  <a16:creationId xmlns:a16="http://schemas.microsoft.com/office/drawing/2014/main" id="{46BB2601-AB1E-11A1-0478-8BCF442D2EBA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1221962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9" name="标题 1">
              <a:extLst>
                <a:ext uri="{FF2B5EF4-FFF2-40B4-BE49-F238E27FC236}">
                  <a16:creationId xmlns:a16="http://schemas.microsoft.com/office/drawing/2014/main" id="{9775E14B-C8EF-1C3C-C7E4-0E3482B3DCE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7680810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0" name="标题 1">
              <a:extLst>
                <a:ext uri="{FF2B5EF4-FFF2-40B4-BE49-F238E27FC236}">
                  <a16:creationId xmlns:a16="http://schemas.microsoft.com/office/drawing/2014/main" id="{7C6DE836-78B3-B39E-9361-3B5D7A5998F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7775521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1" name="标题 1">
              <a:extLst>
                <a:ext uri="{FF2B5EF4-FFF2-40B4-BE49-F238E27FC236}">
                  <a16:creationId xmlns:a16="http://schemas.microsoft.com/office/drawing/2014/main" id="{B052CE5B-099A-D3F6-9CE0-673D2944D37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7772589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OPPOSans H"/>
                </a:rPr>
                <a:t>05</a:t>
              </a:r>
              <a:endParaRPr kumimoji="1" lang="zh-CN" altLang="en-US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42" name="Text 26">
            <a:extLst>
              <a:ext uri="{FF2B5EF4-FFF2-40B4-BE49-F238E27FC236}">
                <a16:creationId xmlns:a16="http://schemas.microsoft.com/office/drawing/2014/main" id="{07EB75B6-14CD-F44F-B9E0-122B50154110}"/>
              </a:ext>
            </a:extLst>
          </p:cNvPr>
          <p:cNvSpPr/>
          <p:nvPr/>
        </p:nvSpPr>
        <p:spPr>
          <a:xfrm>
            <a:off x="8260421" y="3397919"/>
            <a:ext cx="654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结论与未来工作</a:t>
            </a:r>
            <a:endParaRPr lang="en-US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E3CE3830-D228-EC8C-8F6E-B2A8D31C6477}"/>
              </a:ext>
            </a:extLst>
          </p:cNvPr>
          <p:cNvSpPr/>
          <p:nvPr/>
        </p:nvSpPr>
        <p:spPr>
          <a:xfrm>
            <a:off x="8236818" y="2122836"/>
            <a:ext cx="300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实验设置与结果</a:t>
            </a:r>
            <a:endParaRPr lang="en-US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/>
          <p:cNvSpPr txBox="1"/>
          <p:nvPr>
            <p:custDataLst>
              <p:tags r:id="rId1"/>
            </p:custDataLst>
          </p:nvPr>
        </p:nvSpPr>
        <p:spPr>
          <a:xfrm>
            <a:off x="5009542" y="2414956"/>
            <a:ext cx="623926" cy="60379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48627" name="标题 1"/>
          <p:cNvSpPr txBox="1"/>
          <p:nvPr>
            <p:custDataLst>
              <p:tags r:id="rId2"/>
            </p:custDataLst>
          </p:nvPr>
        </p:nvSpPr>
        <p:spPr>
          <a:xfrm>
            <a:off x="1389380" y="5930265"/>
            <a:ext cx="8811895" cy="157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628" name="标题 1"/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29" name="标题 1"/>
          <p:cNvSpPr txBox="1"/>
          <p:nvPr>
            <p:custDataLst>
              <p:tags r:id="rId3"/>
            </p:custDataLst>
          </p:nvPr>
        </p:nvSpPr>
        <p:spPr>
          <a:xfrm>
            <a:off x="1517650" y="5377180"/>
            <a:ext cx="9229725" cy="4895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endParaRPr kumimoji="1" lang="zh-CN" altLang="en-US" sz="2800" b="1" dirty="0" err="1">
              <a:ln w="12700">
                <a:noFill/>
              </a:ln>
              <a:solidFill>
                <a:schemeClr val="bg2">
                  <a:lumMod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Source Han Sans CN Bold"/>
            </a:endParaRPr>
          </a:p>
        </p:txBody>
      </p:sp>
      <p:sp>
        <p:nvSpPr>
          <p:cNvPr id="1048633" name="标题 1"/>
          <p:cNvSpPr txBox="1"/>
          <p:nvPr/>
        </p:nvSpPr>
        <p:spPr>
          <a:xfrm>
            <a:off x="760412" y="482915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1</a:t>
            </a:r>
            <a:r>
              <a:rPr kumimoji="1" lang="zh-CN" altLang="en-US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研究背景与意义</a:t>
            </a:r>
          </a:p>
        </p:txBody>
      </p:sp>
      <p:pic>
        <p:nvPicPr>
          <p:cNvPr id="2097152" name="图片 24" descr="校徽紫色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2665" y="1363980"/>
            <a:ext cx="10252710" cy="482900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>
                <a:ln w="12700">
                  <a:noFill/>
                </a:ln>
                <a:solidFill>
                  <a:schemeClr val="bg2">
                    <a:lumMod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 CN Bold"/>
                <a:sym typeface="+mn-ea"/>
              </a:rPr>
              <a:t>传统</a:t>
            </a:r>
            <a:r>
              <a:rPr kumimoji="1" lang="en-US" altLang="zh-CN" sz="2800" b="1" dirty="0">
                <a:ln w="12700">
                  <a:noFill/>
                </a:ln>
                <a:solidFill>
                  <a:schemeClr val="bg2">
                    <a:lumMod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 CN Bold"/>
                <a:sym typeface="+mn-ea"/>
              </a:rPr>
              <a:t>PSO</a:t>
            </a:r>
            <a:r>
              <a:rPr kumimoji="1" lang="zh-CN" altLang="en-US" sz="2800" b="1" dirty="0">
                <a:ln w="12700">
                  <a:noFill/>
                </a:ln>
                <a:solidFill>
                  <a:schemeClr val="bg2">
                    <a:lumMod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 CN Bold"/>
                <a:sym typeface="+mn-ea"/>
              </a:rPr>
              <a:t>存在不足</a:t>
            </a: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传统</a:t>
            </a:r>
            <a:r>
              <a:rPr kumimoji="1" lang="en-US" altLang="zh-CN" sz="2400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PSO</a:t>
            </a: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在处理高维复杂优化问题时，容易出现早熟收敛和局部最优问题。随着问题维度增加，搜索空间呈指数级增长，算法需要更智能的搜索策略。</a:t>
            </a:r>
          </a:p>
          <a:p>
            <a:pPr>
              <a:lnSpc>
                <a:spcPct val="150000"/>
              </a:lnSpc>
            </a:pPr>
            <a:r>
              <a:rPr kumimoji="1" lang="zh-CN" altLang="en-US" sz="2800" b="1" dirty="0">
                <a:ln w="12700">
                  <a:noFill/>
                </a:ln>
                <a:solidFill>
                  <a:schemeClr val="bg2">
                    <a:lumMod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 CN Bold"/>
                <a:sym typeface="+mn-ea"/>
              </a:rPr>
              <a:t>解决问题的方式</a:t>
            </a: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旨在探索基于学习辅助进化的粒子群算法（</a:t>
            </a:r>
            <a:r>
              <a:rPr kumimoji="1"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LEO</a:t>
            </a: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）及其变种，通过引入人工神经网络学习正向和反向经验、上下文向量和局部邻居信息，解决传统</a:t>
            </a:r>
            <a:r>
              <a:rPr kumimoji="1"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PSO</a:t>
            </a: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在高维复杂问题中的困境。</a:t>
            </a:r>
          </a:p>
          <a:p>
            <a:pPr>
              <a:lnSpc>
                <a:spcPct val="150000"/>
              </a:lnSpc>
            </a:pPr>
            <a:endParaRPr kumimoji="1" lang="zh-CN" altLang="en-US" sz="2400" b="1" dirty="0" err="1">
              <a:ln w="12700">
                <a:noFill/>
              </a:ln>
              <a:solidFill>
                <a:schemeClr val="bg2">
                  <a:lumMod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Source Han Sans CN Bold"/>
            </a:endParaRPr>
          </a:p>
          <a:p>
            <a:pPr>
              <a:lnSpc>
                <a:spcPct val="150000"/>
              </a:lnSpc>
            </a:pPr>
            <a:endParaRPr kumimoji="1" lang="zh-CN" altLang="en-US" sz="2400" b="0" i="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/>
          <p:cNvSpPr txBox="1"/>
          <p:nvPr>
            <p:custDataLst>
              <p:tags r:id="rId1"/>
            </p:custDataLst>
          </p:nvPr>
        </p:nvSpPr>
        <p:spPr>
          <a:xfrm>
            <a:off x="5009542" y="2414956"/>
            <a:ext cx="623926" cy="60379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48627" name="标题 1"/>
          <p:cNvSpPr txBox="1"/>
          <p:nvPr>
            <p:custDataLst>
              <p:tags r:id="rId2"/>
            </p:custDataLst>
          </p:nvPr>
        </p:nvSpPr>
        <p:spPr>
          <a:xfrm>
            <a:off x="1389380" y="5930265"/>
            <a:ext cx="8811895" cy="157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628" name="标题 1"/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29" name="标题 1"/>
          <p:cNvSpPr txBox="1"/>
          <p:nvPr>
            <p:custDataLst>
              <p:tags r:id="rId3"/>
            </p:custDataLst>
          </p:nvPr>
        </p:nvSpPr>
        <p:spPr>
          <a:xfrm>
            <a:off x="1517650" y="5377180"/>
            <a:ext cx="9229725" cy="4895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endParaRPr kumimoji="1" lang="zh-CN" altLang="en-US" sz="2800" b="1" dirty="0" err="1">
              <a:ln w="12700">
                <a:noFill/>
              </a:ln>
              <a:solidFill>
                <a:schemeClr val="bg2">
                  <a:lumMod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Source Han Sans CN Bold"/>
            </a:endParaRPr>
          </a:p>
        </p:txBody>
      </p:sp>
      <p:sp>
        <p:nvSpPr>
          <p:cNvPr id="1048633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2</a:t>
            </a:r>
            <a:r>
              <a:rPr kumimoji="1" lang="zh-CN" altLang="en-US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标准</a:t>
            </a: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PSO</a:t>
            </a:r>
            <a:r>
              <a:rPr kumimoji="1" lang="zh-CN" altLang="en-US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算法原理</a:t>
            </a:r>
          </a:p>
        </p:txBody>
      </p:sp>
      <p:pic>
        <p:nvPicPr>
          <p:cNvPr id="2097152" name="图片 24" descr="校徽紫色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02664" y="1089025"/>
            <a:ext cx="9585325" cy="4687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>
                <a:ln w="12700">
                  <a:noFill/>
                </a:ln>
                <a:solidFill>
                  <a:schemeClr val="bg2">
                    <a:lumMod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 CN Bold"/>
                <a:sym typeface="+mn-ea"/>
              </a:rPr>
              <a:t>核心思想</a:t>
            </a: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将每个优化问题的潜在解视为搜索空间中的一个粒子。每个粒子具有 位置 和 速度 两个属性，通过跟踪个体最优解（</a:t>
            </a:r>
            <a:r>
              <a:rPr kumimoji="1"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pBest</a:t>
            </a: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）和全局最优解（</a:t>
            </a:r>
            <a:r>
              <a:rPr kumimoji="1"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gBest</a:t>
            </a:r>
            <a:r>
              <a:rPr kumimoji="1" lang="zh-CN" altLang="en-US" sz="2400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）来更新自身的位置和速度。</a:t>
            </a:r>
          </a:p>
          <a:p>
            <a:pPr>
              <a:lnSpc>
                <a:spcPct val="150000"/>
              </a:lnSpc>
            </a:pPr>
            <a:r>
              <a:rPr kumimoji="1" lang="zh-CN" altLang="en-US" sz="2800" b="1" dirty="0">
                <a:ln w="12700">
                  <a:noFill/>
                </a:ln>
                <a:solidFill>
                  <a:schemeClr val="bg2">
                    <a:lumMod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Source Han Sans CN Bold"/>
                <a:sym typeface="+mn-ea"/>
              </a:rPr>
              <a:t>数学模型</a:t>
            </a:r>
          </a:p>
          <a:p>
            <a:pPr algn="ctr">
              <a:lnSpc>
                <a:spcPct val="150000"/>
              </a:lnSpc>
            </a:pP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Vit+1 = </a:t>
            </a:r>
            <a:r>
              <a:rPr kumimoji="1" lang="el-GR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ω·</a:t>
            </a: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Vit + </a:t>
            </a:r>
            <a:r>
              <a:rPr kumimoji="1"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c₁r</a:t>
            </a: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₁(</a:t>
            </a:r>
            <a:r>
              <a:rPr kumimoji="1"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pBestit</a:t>
            </a: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 - </a:t>
            </a:r>
            <a:r>
              <a:rPr kumimoji="1"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Xit</a:t>
            </a: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) + </a:t>
            </a:r>
            <a:r>
              <a:rPr kumimoji="1"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c₂r</a:t>
            </a: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₂(</a:t>
            </a:r>
            <a:r>
              <a:rPr kumimoji="1"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gBestt</a:t>
            </a: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 - </a:t>
            </a:r>
            <a:r>
              <a:rPr kumimoji="1" lang="en-US" altLang="zh-CN" sz="2400" b="1" dirty="0" err="1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Xit</a:t>
            </a:r>
            <a:r>
              <a:rPr kumimoji="1"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kumimoji="1" lang="sv-SE" altLang="zh-CN" sz="2400" b="1" dirty="0">
                <a:ln w="12700">
                  <a:noFill/>
                </a:ln>
                <a:latin typeface="等线" panose="02010600030101010101" pitchFamily="2" charset="-122"/>
                <a:ea typeface="等线" panose="02010600030101010101" pitchFamily="2" charset="-122"/>
                <a:cs typeface="Source Han Sans CN Bold"/>
              </a:rPr>
              <a:t>Xit+1 = Xit + Vit+1</a:t>
            </a:r>
          </a:p>
          <a:p>
            <a:pPr>
              <a:lnSpc>
                <a:spcPct val="150000"/>
              </a:lnSpc>
            </a:pPr>
            <a:endParaRPr kumimoji="1" lang="zh-CN" altLang="en-US" sz="2400" b="1" dirty="0">
              <a:ln w="12700">
                <a:noFill/>
              </a:ln>
              <a:solidFill>
                <a:schemeClr val="bg2">
                  <a:lumMod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Source Han Sans CN Bold"/>
            </a:endParaRPr>
          </a:p>
          <a:p>
            <a:pPr>
              <a:lnSpc>
                <a:spcPct val="150000"/>
              </a:lnSpc>
            </a:pPr>
            <a:endParaRPr kumimoji="1" lang="zh-CN" altLang="en-US" sz="2400" b="0" i="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046D-9165-3221-D194-48401224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>
            <a:extLst>
              <a:ext uri="{FF2B5EF4-FFF2-40B4-BE49-F238E27FC236}">
                <a16:creationId xmlns:a16="http://schemas.microsoft.com/office/drawing/2014/main" id="{2C40DDB5-2C9E-C8A2-2557-079B59E8DE1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02670" y="1086254"/>
            <a:ext cx="623926" cy="60379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48627" name="标题 1">
            <a:extLst>
              <a:ext uri="{FF2B5EF4-FFF2-40B4-BE49-F238E27FC236}">
                <a16:creationId xmlns:a16="http://schemas.microsoft.com/office/drawing/2014/main" id="{8564B8AB-EEB7-65B1-1BB8-57E8219828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89380" y="5930265"/>
            <a:ext cx="8811895" cy="157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628" name="标题 1">
            <a:extLst>
              <a:ext uri="{FF2B5EF4-FFF2-40B4-BE49-F238E27FC236}">
                <a16:creationId xmlns:a16="http://schemas.microsoft.com/office/drawing/2014/main" id="{7996A15B-3F33-356F-1C40-063007DD0AF3}"/>
              </a:ext>
            </a:extLst>
          </p:cNvPr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29" name="标题 1">
            <a:extLst>
              <a:ext uri="{FF2B5EF4-FFF2-40B4-BE49-F238E27FC236}">
                <a16:creationId xmlns:a16="http://schemas.microsoft.com/office/drawing/2014/main" id="{58A06F3D-0BD0-BDE7-56BD-6239C597B1C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38605" y="4928235"/>
            <a:ext cx="9229725" cy="48958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endParaRPr kumimoji="1" lang="zh-CN" altLang="en-US" sz="2800" b="1" dirty="0" err="1">
              <a:ln w="12700">
                <a:noFill/>
              </a:ln>
              <a:solidFill>
                <a:schemeClr val="bg2">
                  <a:lumMod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Source Han Sans CN Bold"/>
            </a:endParaRPr>
          </a:p>
        </p:txBody>
      </p:sp>
      <p:sp>
        <p:nvSpPr>
          <p:cNvPr id="1048633" name="标题 1">
            <a:extLst>
              <a:ext uri="{FF2B5EF4-FFF2-40B4-BE49-F238E27FC236}">
                <a16:creationId xmlns:a16="http://schemas.microsoft.com/office/drawing/2014/main" id="{A3D520C3-6316-BD29-2D99-FDC2785E7AB7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3.1</a:t>
            </a:r>
            <a:r>
              <a:rPr lang="en-US" altLang="zh-CN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</a:t>
            </a:r>
            <a:r>
              <a:rPr lang="zh-CN" altLang="en-US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</a:t>
            </a:r>
            <a:endParaRPr kumimoji="1" lang="zh-CN" altLang="en-US" sz="2800" b="1" dirty="0">
              <a:ln w="12700">
                <a:noFill/>
              </a:ln>
              <a:latin typeface="+mj-ea"/>
              <a:ea typeface="+mj-ea"/>
              <a:cs typeface="Source Han Sans CN Bold"/>
            </a:endParaRPr>
          </a:p>
        </p:txBody>
      </p:sp>
      <p:pic>
        <p:nvPicPr>
          <p:cNvPr id="2097152" name="图片 24" descr="校徽紫色版">
            <a:extLst>
              <a:ext uri="{FF2B5EF4-FFF2-40B4-BE49-F238E27FC236}">
                <a16:creationId xmlns:a16="http://schemas.microsoft.com/office/drawing/2014/main" id="{D10D9C35-69AF-F320-B1A0-722C737468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pic>
        <p:nvPicPr>
          <p:cNvPr id="2097157" name="图片 16">
            <a:extLst>
              <a:ext uri="{FF2B5EF4-FFF2-40B4-BE49-F238E27FC236}">
                <a16:creationId xmlns:a16="http://schemas.microsoft.com/office/drawing/2014/main" id="{D987CC5B-4009-ADFF-BC8C-9E39CA98B2D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rcRect/>
          <a:stretch>
            <a:fillRect/>
          </a:stretch>
        </p:blipFill>
        <p:spPr>
          <a:xfrm>
            <a:off x="5948628" y="1569153"/>
            <a:ext cx="294743" cy="33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1" name="标题 1">
            <a:extLst>
              <a:ext uri="{FF2B5EF4-FFF2-40B4-BE49-F238E27FC236}">
                <a16:creationId xmlns:a16="http://schemas.microsoft.com/office/drawing/2014/main" id="{D1DBD1F3-F36C-09CB-549A-70FB6B0877A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96672" y="1769178"/>
            <a:ext cx="5310224" cy="29441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spcBef>
                <a:spcPts val="300"/>
              </a:spcBef>
            </a:pP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整体的 </a:t>
            </a:r>
            <a:r>
              <a:rPr lang="en-US" altLang="zh-CN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LEO 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框架如图 </a:t>
            </a:r>
            <a:r>
              <a:rPr lang="en-US" altLang="zh-CN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所示，它包含两个部分，即进化部分和学习部分。与传统的进化计算</a:t>
            </a:r>
            <a:r>
              <a:rPr lang="en-US" altLang="zh-CN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(EC)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框架相比，</a:t>
            </a:r>
            <a:r>
              <a:rPr lang="en-US" altLang="zh-CN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LE0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的主要创新之处在于，它不仅使用传统的进化算子，还使用学习辅助的进化算子来生成新的有潜力的个体。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008625-1FF4-01FA-5E17-30EDDAEE0D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844" y="1146213"/>
            <a:ext cx="6039228" cy="413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44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046D-9165-3221-D194-48401224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>
            <a:extLst>
              <a:ext uri="{FF2B5EF4-FFF2-40B4-BE49-F238E27FC236}">
                <a16:creationId xmlns:a16="http://schemas.microsoft.com/office/drawing/2014/main" id="{2C40DDB5-2C9E-C8A2-2557-079B59E8DE1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02670" y="1086254"/>
            <a:ext cx="623926" cy="60379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48627" name="标题 1">
            <a:extLst>
              <a:ext uri="{FF2B5EF4-FFF2-40B4-BE49-F238E27FC236}">
                <a16:creationId xmlns:a16="http://schemas.microsoft.com/office/drawing/2014/main" id="{8564B8AB-EEB7-65B1-1BB8-57E8219828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89380" y="5930265"/>
            <a:ext cx="8811895" cy="157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628" name="标题 1">
            <a:extLst>
              <a:ext uri="{FF2B5EF4-FFF2-40B4-BE49-F238E27FC236}">
                <a16:creationId xmlns:a16="http://schemas.microsoft.com/office/drawing/2014/main" id="{7996A15B-3F33-356F-1C40-063007DD0AF3}"/>
              </a:ext>
            </a:extLst>
          </p:cNvPr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33" name="标题 1">
            <a:extLst>
              <a:ext uri="{FF2B5EF4-FFF2-40B4-BE49-F238E27FC236}">
                <a16:creationId xmlns:a16="http://schemas.microsoft.com/office/drawing/2014/main" id="{A3D520C3-6316-BD29-2D99-FDC2785E7AB7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3.2</a:t>
            </a:r>
            <a:r>
              <a:rPr lang="en-US" altLang="zh-CN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LEO+</a:t>
            </a:r>
            <a:r>
              <a:rPr lang="zh-CN" altLang="en-US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上下文向量</a:t>
            </a:r>
          </a:p>
        </p:txBody>
      </p:sp>
      <p:pic>
        <p:nvPicPr>
          <p:cNvPr id="2097152" name="图片 24" descr="校徽紫色版">
            <a:extLst>
              <a:ext uri="{FF2B5EF4-FFF2-40B4-BE49-F238E27FC236}">
                <a16:creationId xmlns:a16="http://schemas.microsoft.com/office/drawing/2014/main" id="{D10D9C35-69AF-F320-B1A0-722C737468F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pic>
        <p:nvPicPr>
          <p:cNvPr id="2097157" name="图片 16">
            <a:extLst>
              <a:ext uri="{FF2B5EF4-FFF2-40B4-BE49-F238E27FC236}">
                <a16:creationId xmlns:a16="http://schemas.microsoft.com/office/drawing/2014/main" id="{D987CC5B-4009-ADFF-BC8C-9E39CA98B2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5948628" y="1569153"/>
            <a:ext cx="294743" cy="33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1" name="标题 1">
            <a:extLst>
              <a:ext uri="{FF2B5EF4-FFF2-40B4-BE49-F238E27FC236}">
                <a16:creationId xmlns:a16="http://schemas.microsoft.com/office/drawing/2014/main" id="{D1DBD1F3-F36C-09CB-549A-70FB6B0877A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96672" y="1769178"/>
            <a:ext cx="5310224" cy="29441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spcBef>
                <a:spcPts val="300"/>
              </a:spcBef>
            </a:pPr>
            <a:r>
              <a:rPr lang="en-US" altLang="zh-CN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LEO+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上下文向量：在</a:t>
            </a:r>
            <a:r>
              <a:rPr lang="en-US" altLang="zh-CN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LEO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基础上，引入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上下文向量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概念，为</a:t>
            </a:r>
            <a:r>
              <a:rPr lang="en-US" altLang="zh-CN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ANN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提供更丰富的输入特征。</a:t>
            </a:r>
          </a:p>
          <a:p>
            <a:pPr>
              <a:spcBef>
                <a:spcPts val="300"/>
              </a:spcBef>
            </a:pPr>
            <a:endParaRPr lang="zh-CN" altLang="en-US" sz="2400" dirty="0">
              <a:solidFill>
                <a:srgbClr val="40404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008625-1FF4-01FA-5E17-30EDDAEE0D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844" y="1146213"/>
            <a:ext cx="6039228" cy="413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7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C9EB-4015-6867-B068-ABDD009D8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>
            <a:extLst>
              <a:ext uri="{FF2B5EF4-FFF2-40B4-BE49-F238E27FC236}">
                <a16:creationId xmlns:a16="http://schemas.microsoft.com/office/drawing/2014/main" id="{71E171C7-3651-C56A-A267-8C248DBC0E3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02670" y="1086254"/>
            <a:ext cx="623926" cy="60379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48627" name="标题 1">
            <a:extLst>
              <a:ext uri="{FF2B5EF4-FFF2-40B4-BE49-F238E27FC236}">
                <a16:creationId xmlns:a16="http://schemas.microsoft.com/office/drawing/2014/main" id="{159B6817-6194-2F12-3565-F348B7C728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89380" y="5930265"/>
            <a:ext cx="8811895" cy="157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628" name="标题 1">
            <a:extLst>
              <a:ext uri="{FF2B5EF4-FFF2-40B4-BE49-F238E27FC236}">
                <a16:creationId xmlns:a16="http://schemas.microsoft.com/office/drawing/2014/main" id="{89D60AD7-D70B-A5E8-143B-8E8E5E9C4877}"/>
              </a:ext>
            </a:extLst>
          </p:cNvPr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33" name="标题 1">
            <a:extLst>
              <a:ext uri="{FF2B5EF4-FFF2-40B4-BE49-F238E27FC236}">
                <a16:creationId xmlns:a16="http://schemas.microsoft.com/office/drawing/2014/main" id="{3B2F2D97-97FE-AB79-4643-D43A7C23B049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3.3</a:t>
            </a:r>
            <a:r>
              <a:rPr lang="en-US" altLang="zh-CN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LEO+</a:t>
            </a:r>
            <a:r>
              <a:rPr lang="zh-CN" altLang="en-US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局部邻居</a:t>
            </a:r>
            <a:endParaRPr kumimoji="1" lang="zh-CN" altLang="en-US" sz="2800" b="1" dirty="0">
              <a:ln w="12700">
                <a:noFill/>
              </a:ln>
              <a:latin typeface="+mj-ea"/>
              <a:ea typeface="+mj-ea"/>
              <a:cs typeface="Source Han Sans CN Bold"/>
            </a:endParaRPr>
          </a:p>
        </p:txBody>
      </p:sp>
      <p:pic>
        <p:nvPicPr>
          <p:cNvPr id="2097152" name="图片 24" descr="校徽紫色版">
            <a:extLst>
              <a:ext uri="{FF2B5EF4-FFF2-40B4-BE49-F238E27FC236}">
                <a16:creationId xmlns:a16="http://schemas.microsoft.com/office/drawing/2014/main" id="{05E95464-4F2C-8040-7EDC-99255B323BC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pic>
        <p:nvPicPr>
          <p:cNvPr id="2097157" name="图片 16">
            <a:extLst>
              <a:ext uri="{FF2B5EF4-FFF2-40B4-BE49-F238E27FC236}">
                <a16:creationId xmlns:a16="http://schemas.microsoft.com/office/drawing/2014/main" id="{CF0AC973-CC05-D5DC-0B2F-35FC2B3AA04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5948628" y="1569153"/>
            <a:ext cx="294743" cy="33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1" name="标题 1">
            <a:extLst>
              <a:ext uri="{FF2B5EF4-FFF2-40B4-BE49-F238E27FC236}">
                <a16:creationId xmlns:a16="http://schemas.microsoft.com/office/drawing/2014/main" id="{300EEAC8-9FF8-7DA8-AB2F-3E34A3D6E99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96672" y="1769178"/>
            <a:ext cx="5310224" cy="29441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spcBef>
                <a:spcPts val="300"/>
              </a:spcBef>
            </a:pPr>
            <a:r>
              <a:rPr lang="en-US" altLang="zh-CN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LEO+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局部邻居：在</a:t>
            </a:r>
            <a:r>
              <a:rPr lang="en-US" altLang="zh-CN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LEO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基础上，引入局部邻居信息，采用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环形拓扑结构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，每个粒子只与周围</a:t>
            </a:r>
            <a:r>
              <a:rPr lang="en-US" altLang="zh-CN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k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个邻居交互。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761A76-104F-E359-73DB-B25AD94792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844" y="1146213"/>
            <a:ext cx="6039228" cy="413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5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068F-A849-07DE-77A0-153BE320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>
            <a:extLst>
              <a:ext uri="{FF2B5EF4-FFF2-40B4-BE49-F238E27FC236}">
                <a16:creationId xmlns:a16="http://schemas.microsoft.com/office/drawing/2014/main" id="{B28A54AD-85DF-6598-3D5E-F3432A01026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02670" y="1086254"/>
            <a:ext cx="623926" cy="60379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48627" name="标题 1">
            <a:extLst>
              <a:ext uri="{FF2B5EF4-FFF2-40B4-BE49-F238E27FC236}">
                <a16:creationId xmlns:a16="http://schemas.microsoft.com/office/drawing/2014/main" id="{391D7882-A216-FAC1-EFBE-F6DEF4B677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89380" y="5930265"/>
            <a:ext cx="8811895" cy="157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kumimoji="1"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628" name="标题 1">
            <a:extLst>
              <a:ext uri="{FF2B5EF4-FFF2-40B4-BE49-F238E27FC236}">
                <a16:creationId xmlns:a16="http://schemas.microsoft.com/office/drawing/2014/main" id="{C56B8A04-DFD7-63C5-5BB4-ADD6BA77C081}"/>
              </a:ext>
            </a:extLst>
          </p:cNvPr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33" name="标题 1">
            <a:extLst>
              <a:ext uri="{FF2B5EF4-FFF2-40B4-BE49-F238E27FC236}">
                <a16:creationId xmlns:a16="http://schemas.microsoft.com/office/drawing/2014/main" id="{6527FBE5-9423-2B24-823E-8D64FEB588D5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3.4</a:t>
            </a:r>
            <a:r>
              <a:rPr lang="en-US" altLang="zh-CN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LEO+</a:t>
            </a:r>
            <a:r>
              <a:rPr lang="zh-CN" altLang="en-US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上下文向量</a:t>
            </a:r>
            <a:r>
              <a:rPr lang="en-US" altLang="zh-CN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r>
              <a:rPr lang="zh-CN" altLang="en-US" sz="28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局部邻居</a:t>
            </a:r>
          </a:p>
        </p:txBody>
      </p:sp>
      <p:pic>
        <p:nvPicPr>
          <p:cNvPr id="2097152" name="图片 24" descr="校徽紫色版">
            <a:extLst>
              <a:ext uri="{FF2B5EF4-FFF2-40B4-BE49-F238E27FC236}">
                <a16:creationId xmlns:a16="http://schemas.microsoft.com/office/drawing/2014/main" id="{BD64CE30-4B89-41B6-254F-AE3F36F0335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pic>
        <p:nvPicPr>
          <p:cNvPr id="2097157" name="图片 16">
            <a:extLst>
              <a:ext uri="{FF2B5EF4-FFF2-40B4-BE49-F238E27FC236}">
                <a16:creationId xmlns:a16="http://schemas.microsoft.com/office/drawing/2014/main" id="{670E20A8-784E-7BB7-75E8-2CBCDE5441F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5948628" y="1569153"/>
            <a:ext cx="294743" cy="33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1" name="标题 1">
            <a:extLst>
              <a:ext uri="{FF2B5EF4-FFF2-40B4-BE49-F238E27FC236}">
                <a16:creationId xmlns:a16="http://schemas.microsoft.com/office/drawing/2014/main" id="{53A41C38-1AE7-7A03-A73C-5D78CA1E381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507932" y="2332103"/>
            <a:ext cx="5310224" cy="29441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>
              <a:spcBef>
                <a:spcPts val="300"/>
              </a:spcBef>
            </a:pP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同时引入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上下文向量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局部邻居</a:t>
            </a:r>
            <a:r>
              <a:rPr lang="zh-CN" altLang="en-US" sz="2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信息，结合前两种变种。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08C006-6DD8-2856-9F79-9A0EB2986C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844" y="1146213"/>
            <a:ext cx="6039228" cy="413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8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 1"/>
          <p:cNvSpPr txBox="1"/>
          <p:nvPr>
            <p:custDataLst>
              <p:tags r:id="rId1"/>
            </p:custDataLst>
          </p:nvPr>
        </p:nvSpPr>
        <p:spPr>
          <a:xfrm>
            <a:off x="5002670" y="1086254"/>
            <a:ext cx="623926" cy="60379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bg1"/>
            </a:solidFill>
            <a:prstDash val="solid"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628" name="标题 1"/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33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4.1</a:t>
            </a:r>
            <a:r>
              <a:rPr kumimoji="1" lang="zh-CN" altLang="en-US" sz="2800" b="1" dirty="0">
                <a:ln w="12700">
                  <a:noFill/>
                </a:ln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实验设置与评价指标</a:t>
            </a:r>
          </a:p>
        </p:txBody>
      </p:sp>
      <p:pic>
        <p:nvPicPr>
          <p:cNvPr id="2097152" name="图片 24" descr="校徽紫色版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pic>
        <p:nvPicPr>
          <p:cNvPr id="2097156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2492659" y="1597353"/>
            <a:ext cx="331587" cy="278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2097157" name="图片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5948628" y="1569153"/>
            <a:ext cx="294743" cy="336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2097174" name="Text 5">
            <a:extLst>
              <a:ext uri="{FF2B5EF4-FFF2-40B4-BE49-F238E27FC236}">
                <a16:creationId xmlns:a16="http://schemas.microsoft.com/office/drawing/2014/main" id="{E965C276-A897-EB9B-A115-90D82DA72AF3}"/>
              </a:ext>
            </a:extLst>
          </p:cNvPr>
          <p:cNvSpPr/>
          <p:nvPr/>
        </p:nvSpPr>
        <p:spPr>
          <a:xfrm>
            <a:off x="947321" y="1254246"/>
            <a:ext cx="4775200" cy="355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单目标测试函数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76" name="Shape 7">
            <a:extLst>
              <a:ext uri="{FF2B5EF4-FFF2-40B4-BE49-F238E27FC236}">
                <a16:creationId xmlns:a16="http://schemas.microsoft.com/office/drawing/2014/main" id="{5ED49B8B-ED3F-DF3A-B5CF-285FE187992D}"/>
              </a:ext>
            </a:extLst>
          </p:cNvPr>
          <p:cNvSpPr/>
          <p:nvPr/>
        </p:nvSpPr>
        <p:spPr>
          <a:xfrm>
            <a:off x="1061585" y="186362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2097177" name="Text 8">
            <a:extLst>
              <a:ext uri="{FF2B5EF4-FFF2-40B4-BE49-F238E27FC236}">
                <a16:creationId xmlns:a16="http://schemas.microsoft.com/office/drawing/2014/main" id="{E4108B6F-955D-99B9-355E-BFE39356150C}"/>
              </a:ext>
            </a:extLst>
          </p:cNvPr>
          <p:cNvSpPr/>
          <p:nvPr/>
        </p:nvSpPr>
        <p:spPr>
          <a:xfrm>
            <a:off x="1061586" y="1762068"/>
            <a:ext cx="2089726" cy="355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IEEE CEC 2021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78" name="Text 9">
            <a:extLst>
              <a:ext uri="{FF2B5EF4-FFF2-40B4-BE49-F238E27FC236}">
                <a16:creationId xmlns:a16="http://schemas.microsoft.com/office/drawing/2014/main" id="{D0AA91C3-ED15-1DD8-D8E0-592758C21F1F}"/>
              </a:ext>
            </a:extLst>
          </p:cNvPr>
          <p:cNvSpPr/>
          <p:nvPr/>
        </p:nvSpPr>
        <p:spPr>
          <a:xfrm>
            <a:off x="1048885" y="2168324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F01：移位球函数（单峰）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79" name="Text 10">
            <a:extLst>
              <a:ext uri="{FF2B5EF4-FFF2-40B4-BE49-F238E27FC236}">
                <a16:creationId xmlns:a16="http://schemas.microsoft.com/office/drawing/2014/main" id="{6ED76C53-E638-4BD7-A31F-0BDDDF96BA30}"/>
              </a:ext>
            </a:extLst>
          </p:cNvPr>
          <p:cNvSpPr/>
          <p:nvPr/>
        </p:nvSpPr>
        <p:spPr>
          <a:xfrm>
            <a:off x="1048885" y="2523700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F02：移位Rastrigin（多峰）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80" name="Text 11">
            <a:extLst>
              <a:ext uri="{FF2B5EF4-FFF2-40B4-BE49-F238E27FC236}">
                <a16:creationId xmlns:a16="http://schemas.microsoft.com/office/drawing/2014/main" id="{3FB119BE-0C59-2C0A-75FF-836344A5530A}"/>
              </a:ext>
            </a:extLst>
          </p:cNvPr>
          <p:cNvSpPr/>
          <p:nvPr/>
        </p:nvSpPr>
        <p:spPr>
          <a:xfrm>
            <a:off x="1048885" y="2879090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F03：移位Ackley（多峰）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82" name="Shape 13">
            <a:extLst>
              <a:ext uri="{FF2B5EF4-FFF2-40B4-BE49-F238E27FC236}">
                <a16:creationId xmlns:a16="http://schemas.microsoft.com/office/drawing/2014/main" id="{01789C93-5E3F-1282-71EE-B5E8B470D38C}"/>
              </a:ext>
            </a:extLst>
          </p:cNvPr>
          <p:cNvSpPr/>
          <p:nvPr/>
        </p:nvSpPr>
        <p:spPr>
          <a:xfrm>
            <a:off x="1074285" y="353916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12700"/>
                </a:moveTo>
                <a:cubicBezTo>
                  <a:pt x="19725" y="12700"/>
                  <a:pt x="25400" y="18375"/>
                  <a:pt x="25400" y="25400"/>
                </a:cubicBezTo>
                <a:lnTo>
                  <a:pt x="25400" y="158750"/>
                </a:lnTo>
                <a:cubicBezTo>
                  <a:pt x="25400" y="162243"/>
                  <a:pt x="28258" y="165100"/>
                  <a:pt x="31750" y="165100"/>
                </a:cubicBezTo>
                <a:lnTo>
                  <a:pt x="190500" y="165100"/>
                </a:lnTo>
                <a:cubicBezTo>
                  <a:pt x="197525" y="165100"/>
                  <a:pt x="203200" y="170775"/>
                  <a:pt x="203200" y="177800"/>
                </a:cubicBezTo>
                <a:cubicBezTo>
                  <a:pt x="203200" y="184825"/>
                  <a:pt x="197525" y="190500"/>
                  <a:pt x="190500" y="190500"/>
                </a:cubicBezTo>
                <a:lnTo>
                  <a:pt x="31750" y="190500"/>
                </a:lnTo>
                <a:cubicBezTo>
                  <a:pt x="14208" y="190500"/>
                  <a:pt x="0" y="176292"/>
                  <a:pt x="0" y="158750"/>
                </a:cubicBezTo>
                <a:lnTo>
                  <a:pt x="0" y="25400"/>
                </a:lnTo>
                <a:cubicBezTo>
                  <a:pt x="0" y="18375"/>
                  <a:pt x="5675" y="12700"/>
                  <a:pt x="12700" y="12700"/>
                </a:cubicBezTo>
                <a:close/>
                <a:moveTo>
                  <a:pt x="50800" y="38100"/>
                </a:moveTo>
                <a:cubicBezTo>
                  <a:pt x="50800" y="31075"/>
                  <a:pt x="56475" y="25400"/>
                  <a:pt x="63500" y="25400"/>
                </a:cubicBezTo>
                <a:lnTo>
                  <a:pt x="139700" y="25400"/>
                </a:lnTo>
                <a:cubicBezTo>
                  <a:pt x="146725" y="25400"/>
                  <a:pt x="152400" y="31075"/>
                  <a:pt x="152400" y="38100"/>
                </a:cubicBezTo>
                <a:cubicBezTo>
                  <a:pt x="152400" y="45125"/>
                  <a:pt x="146725" y="50800"/>
                  <a:pt x="139700" y="50800"/>
                </a:cubicBezTo>
                <a:lnTo>
                  <a:pt x="63500" y="50800"/>
                </a:lnTo>
                <a:cubicBezTo>
                  <a:pt x="56475" y="50800"/>
                  <a:pt x="50800" y="45125"/>
                  <a:pt x="50800" y="38100"/>
                </a:cubicBezTo>
                <a:close/>
                <a:moveTo>
                  <a:pt x="63500" y="69850"/>
                </a:moveTo>
                <a:lnTo>
                  <a:pt x="114300" y="69850"/>
                </a:lnTo>
                <a:cubicBezTo>
                  <a:pt x="121325" y="69850"/>
                  <a:pt x="127000" y="75525"/>
                  <a:pt x="127000" y="82550"/>
                </a:cubicBezTo>
                <a:cubicBezTo>
                  <a:pt x="127000" y="89575"/>
                  <a:pt x="121325" y="95250"/>
                  <a:pt x="114300" y="95250"/>
                </a:cubicBezTo>
                <a:lnTo>
                  <a:pt x="63500" y="95250"/>
                </a:lnTo>
                <a:cubicBezTo>
                  <a:pt x="56475" y="95250"/>
                  <a:pt x="50800" y="89575"/>
                  <a:pt x="50800" y="82550"/>
                </a:cubicBezTo>
                <a:cubicBezTo>
                  <a:pt x="50800" y="75525"/>
                  <a:pt x="56475" y="69850"/>
                  <a:pt x="63500" y="69850"/>
                </a:cubicBezTo>
                <a:close/>
                <a:moveTo>
                  <a:pt x="63500" y="114300"/>
                </a:moveTo>
                <a:lnTo>
                  <a:pt x="165100" y="114300"/>
                </a:lnTo>
                <a:cubicBezTo>
                  <a:pt x="172125" y="114300"/>
                  <a:pt x="177800" y="119975"/>
                  <a:pt x="177800" y="127000"/>
                </a:cubicBezTo>
                <a:cubicBezTo>
                  <a:pt x="177800" y="134025"/>
                  <a:pt x="172125" y="139700"/>
                  <a:pt x="165100" y="139700"/>
                </a:cubicBezTo>
                <a:lnTo>
                  <a:pt x="63500" y="139700"/>
                </a:lnTo>
                <a:cubicBezTo>
                  <a:pt x="56475" y="139700"/>
                  <a:pt x="50800" y="134025"/>
                  <a:pt x="50800" y="127000"/>
                </a:cubicBezTo>
                <a:cubicBezTo>
                  <a:pt x="50800" y="119975"/>
                  <a:pt x="56475" y="114300"/>
                  <a:pt x="63500" y="1143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2097183" name="Text 14">
            <a:extLst>
              <a:ext uri="{FF2B5EF4-FFF2-40B4-BE49-F238E27FC236}">
                <a16:creationId xmlns:a16="http://schemas.microsoft.com/office/drawing/2014/main" id="{C2EB3EDD-CE13-1462-F0E2-EF7096A36852}"/>
              </a:ext>
            </a:extLst>
          </p:cNvPr>
          <p:cNvSpPr/>
          <p:nvPr/>
        </p:nvSpPr>
        <p:spPr>
          <a:xfrm>
            <a:off x="1074250" y="3483418"/>
            <a:ext cx="1910250" cy="309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经典测试函数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84" name="Text 15">
            <a:extLst>
              <a:ext uri="{FF2B5EF4-FFF2-40B4-BE49-F238E27FC236}">
                <a16:creationId xmlns:a16="http://schemas.microsoft.com/office/drawing/2014/main" id="{5B7636A7-95CD-DBEF-0CB2-203BF81831D6}"/>
              </a:ext>
            </a:extLst>
          </p:cNvPr>
          <p:cNvSpPr/>
          <p:nvPr/>
        </p:nvSpPr>
        <p:spPr>
          <a:xfrm>
            <a:off x="1081770" y="3818400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Sphere：单峰，测收敛速度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85" name="Text 16">
            <a:extLst>
              <a:ext uri="{FF2B5EF4-FFF2-40B4-BE49-F238E27FC236}">
                <a16:creationId xmlns:a16="http://schemas.microsoft.com/office/drawing/2014/main" id="{F74273DA-45FD-771B-A710-44C37E398D89}"/>
              </a:ext>
            </a:extLst>
          </p:cNvPr>
          <p:cNvSpPr/>
          <p:nvPr/>
        </p:nvSpPr>
        <p:spPr>
          <a:xfrm>
            <a:off x="1048885" y="4199232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Rastrigin：多峰，测全局搜索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86" name="Text 17">
            <a:extLst>
              <a:ext uri="{FF2B5EF4-FFF2-40B4-BE49-F238E27FC236}">
                <a16:creationId xmlns:a16="http://schemas.microsoft.com/office/drawing/2014/main" id="{4941104D-64EC-BCE5-414E-C05BE2220E97}"/>
              </a:ext>
            </a:extLst>
          </p:cNvPr>
          <p:cNvSpPr/>
          <p:nvPr/>
        </p:nvSpPr>
        <p:spPr>
          <a:xfrm>
            <a:off x="1048885" y="4554621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Ackley：多峰，测探索开发平衡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87" name="Text 18">
            <a:extLst>
              <a:ext uri="{FF2B5EF4-FFF2-40B4-BE49-F238E27FC236}">
                <a16:creationId xmlns:a16="http://schemas.microsoft.com/office/drawing/2014/main" id="{DBF984DB-9B2C-DE74-3F04-79A79012FB2C}"/>
              </a:ext>
            </a:extLst>
          </p:cNvPr>
          <p:cNvSpPr/>
          <p:nvPr/>
        </p:nvSpPr>
        <p:spPr>
          <a:xfrm>
            <a:off x="1048885" y="4910011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Step：非连续，测粗搜索能力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89" name="Text 20">
            <a:extLst>
              <a:ext uri="{FF2B5EF4-FFF2-40B4-BE49-F238E27FC236}">
                <a16:creationId xmlns:a16="http://schemas.microsoft.com/office/drawing/2014/main" id="{A113AA12-A001-E362-A40F-DFD78894938B}"/>
              </a:ext>
            </a:extLst>
          </p:cNvPr>
          <p:cNvSpPr/>
          <p:nvPr/>
        </p:nvSpPr>
        <p:spPr>
          <a:xfrm>
            <a:off x="947321" y="5379486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测试维度：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90" name="Text 21">
            <a:extLst>
              <a:ext uri="{FF2B5EF4-FFF2-40B4-BE49-F238E27FC236}">
                <a16:creationId xmlns:a16="http://schemas.microsoft.com/office/drawing/2014/main" id="{632AB3B7-B838-F16A-D83D-D49522609674}"/>
              </a:ext>
            </a:extLst>
          </p:cNvPr>
          <p:cNvSpPr/>
          <p:nvPr/>
        </p:nvSpPr>
        <p:spPr>
          <a:xfrm>
            <a:off x="947321" y="5684175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10D、20D、100D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92" name="Text 23">
            <a:extLst>
              <a:ext uri="{FF2B5EF4-FFF2-40B4-BE49-F238E27FC236}">
                <a16:creationId xmlns:a16="http://schemas.microsoft.com/office/drawing/2014/main" id="{D711911B-C277-62B9-F667-0F52E0254527}"/>
              </a:ext>
            </a:extLst>
          </p:cNvPr>
          <p:cNvSpPr/>
          <p:nvPr/>
        </p:nvSpPr>
        <p:spPr>
          <a:xfrm>
            <a:off x="5948629" y="1293765"/>
            <a:ext cx="4904584" cy="355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多目标测试函数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93" name="Shape 24">
            <a:extLst>
              <a:ext uri="{FF2B5EF4-FFF2-40B4-BE49-F238E27FC236}">
                <a16:creationId xmlns:a16="http://schemas.microsoft.com/office/drawing/2014/main" id="{7977D948-7BA9-E3B3-A666-7ECB40685D7B}"/>
              </a:ext>
            </a:extLst>
          </p:cNvPr>
          <p:cNvSpPr/>
          <p:nvPr/>
        </p:nvSpPr>
        <p:spPr>
          <a:xfrm>
            <a:off x="6078013" y="1711372"/>
            <a:ext cx="4648200" cy="1574800"/>
          </a:xfrm>
          <a:custGeom>
            <a:avLst/>
            <a:gdLst/>
            <a:ahLst/>
            <a:cxnLst/>
            <a:rect l="l" t="t" r="r" b="b"/>
            <a:pathLst>
              <a:path w="4648200" h="1574800">
                <a:moveTo>
                  <a:pt x="101606" y="0"/>
                </a:moveTo>
                <a:lnTo>
                  <a:pt x="4546594" y="0"/>
                </a:lnTo>
                <a:cubicBezTo>
                  <a:pt x="4602709" y="0"/>
                  <a:pt x="4648200" y="45491"/>
                  <a:pt x="4648200" y="101606"/>
                </a:cubicBezTo>
                <a:lnTo>
                  <a:pt x="4648200" y="1473194"/>
                </a:lnTo>
                <a:cubicBezTo>
                  <a:pt x="4648200" y="1529309"/>
                  <a:pt x="4602709" y="1574800"/>
                  <a:pt x="45465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2097194" name="Shape 25">
            <a:extLst>
              <a:ext uri="{FF2B5EF4-FFF2-40B4-BE49-F238E27FC236}">
                <a16:creationId xmlns:a16="http://schemas.microsoft.com/office/drawing/2014/main" id="{859A8B27-D37B-455C-B268-1B12B11CC2E6}"/>
              </a:ext>
            </a:extLst>
          </p:cNvPr>
          <p:cNvSpPr/>
          <p:nvPr/>
        </p:nvSpPr>
        <p:spPr>
          <a:xfrm>
            <a:off x="6204977" y="186362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2097195" name="Text 26">
            <a:extLst>
              <a:ext uri="{FF2B5EF4-FFF2-40B4-BE49-F238E27FC236}">
                <a16:creationId xmlns:a16="http://schemas.microsoft.com/office/drawing/2014/main" id="{72AAF651-8AFD-D0D9-30A0-B8F5CC838109}"/>
              </a:ext>
            </a:extLst>
          </p:cNvPr>
          <p:cNvSpPr/>
          <p:nvPr/>
        </p:nvSpPr>
        <p:spPr>
          <a:xfrm>
            <a:off x="6251158" y="1810186"/>
            <a:ext cx="2003841" cy="3075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DTLZ测试套件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96" name="Text 27">
            <a:extLst>
              <a:ext uri="{FF2B5EF4-FFF2-40B4-BE49-F238E27FC236}">
                <a16:creationId xmlns:a16="http://schemas.microsoft.com/office/drawing/2014/main" id="{C8C344C8-2214-6724-D6D5-2B9C10D055CB}"/>
              </a:ext>
            </a:extLst>
          </p:cNvPr>
          <p:cNvSpPr/>
          <p:nvPr/>
        </p:nvSpPr>
        <p:spPr>
          <a:xfrm>
            <a:off x="6179577" y="2168324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DTLZ1：线性多目标问题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97" name="Text 28">
            <a:extLst>
              <a:ext uri="{FF2B5EF4-FFF2-40B4-BE49-F238E27FC236}">
                <a16:creationId xmlns:a16="http://schemas.microsoft.com/office/drawing/2014/main" id="{903AF1A8-A004-DCE7-C81A-FB27DB68F4F7}"/>
              </a:ext>
            </a:extLst>
          </p:cNvPr>
          <p:cNvSpPr/>
          <p:nvPr/>
        </p:nvSpPr>
        <p:spPr>
          <a:xfrm>
            <a:off x="6179577" y="2523700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DTLZ2：球面多目标问题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198" name="Text 29">
            <a:extLst>
              <a:ext uri="{FF2B5EF4-FFF2-40B4-BE49-F238E27FC236}">
                <a16:creationId xmlns:a16="http://schemas.microsoft.com/office/drawing/2014/main" id="{FC1C35D5-2A6F-CEEF-C2C2-7646D0E77BE9}"/>
              </a:ext>
            </a:extLst>
          </p:cNvPr>
          <p:cNvSpPr/>
          <p:nvPr/>
        </p:nvSpPr>
        <p:spPr>
          <a:xfrm>
            <a:off x="6179577" y="2879090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DTLZ3：带多峰特性的球面问题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200" name="Text 31">
            <a:extLst>
              <a:ext uri="{FF2B5EF4-FFF2-40B4-BE49-F238E27FC236}">
                <a16:creationId xmlns:a16="http://schemas.microsoft.com/office/drawing/2014/main" id="{DB784579-E5D2-5D46-0352-302AA91A0194}"/>
              </a:ext>
            </a:extLst>
          </p:cNvPr>
          <p:cNvSpPr/>
          <p:nvPr/>
        </p:nvSpPr>
        <p:spPr>
          <a:xfrm>
            <a:off x="6090676" y="3231549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目标数设置：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201" name="Text 32">
            <a:extLst>
              <a:ext uri="{FF2B5EF4-FFF2-40B4-BE49-F238E27FC236}">
                <a16:creationId xmlns:a16="http://schemas.microsoft.com/office/drawing/2014/main" id="{F9C4A71A-155A-7806-AA1A-480B59E48254}"/>
              </a:ext>
            </a:extLst>
          </p:cNvPr>
          <p:cNvSpPr/>
          <p:nvPr/>
        </p:nvSpPr>
        <p:spPr>
          <a:xfrm>
            <a:off x="6179577" y="3548395"/>
            <a:ext cx="454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5、10、15、20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203" name="Text 34">
            <a:extLst>
              <a:ext uri="{FF2B5EF4-FFF2-40B4-BE49-F238E27FC236}">
                <a16:creationId xmlns:a16="http://schemas.microsoft.com/office/drawing/2014/main" id="{BAD5DB53-D91D-77A5-171B-1A1CDF530DE9}"/>
              </a:ext>
            </a:extLst>
          </p:cNvPr>
          <p:cNvSpPr/>
          <p:nvPr/>
        </p:nvSpPr>
        <p:spPr>
          <a:xfrm>
            <a:off x="5948628" y="3912832"/>
            <a:ext cx="4879111" cy="355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阿里妈妈数黑体" pitchFamily="34" charset="-120"/>
              </a:rPr>
              <a:t>评价指标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206" name="Shape 37">
            <a:extLst>
              <a:ext uri="{FF2B5EF4-FFF2-40B4-BE49-F238E27FC236}">
                <a16:creationId xmlns:a16="http://schemas.microsoft.com/office/drawing/2014/main" id="{4893691A-964C-B5E9-EB33-C2F0217A6A2A}"/>
              </a:ext>
            </a:extLst>
          </p:cNvPr>
          <p:cNvSpPr/>
          <p:nvPr/>
        </p:nvSpPr>
        <p:spPr>
          <a:xfrm>
            <a:off x="6251158" y="499319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7800" y="101600"/>
                </a:moveTo>
                <a:cubicBezTo>
                  <a:pt x="177800" y="59544"/>
                  <a:pt x="143656" y="25400"/>
                  <a:pt x="101600" y="25400"/>
                </a:cubicBezTo>
                <a:cubicBezTo>
                  <a:pt x="59544" y="25400"/>
                  <a:pt x="25400" y="59544"/>
                  <a:pt x="25400" y="101600"/>
                </a:cubicBezTo>
                <a:cubicBezTo>
                  <a:pt x="25400" y="143656"/>
                  <a:pt x="59544" y="177800"/>
                  <a:pt x="101600" y="177800"/>
                </a:cubicBezTo>
                <a:cubicBezTo>
                  <a:pt x="143656" y="177800"/>
                  <a:pt x="177800" y="143656"/>
                  <a:pt x="177800" y="101600"/>
                </a:cubicBezTo>
                <a:close/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01600" y="133350"/>
                </a:moveTo>
                <a:cubicBezTo>
                  <a:pt x="119123" y="133350"/>
                  <a:pt x="133350" y="119123"/>
                  <a:pt x="133350" y="101600"/>
                </a:cubicBezTo>
                <a:cubicBezTo>
                  <a:pt x="133350" y="84077"/>
                  <a:pt x="119123" y="69850"/>
                  <a:pt x="101600" y="69850"/>
                </a:cubicBezTo>
                <a:cubicBezTo>
                  <a:pt x="84077" y="69850"/>
                  <a:pt x="69850" y="84077"/>
                  <a:pt x="69850" y="101600"/>
                </a:cubicBezTo>
                <a:cubicBezTo>
                  <a:pt x="69850" y="119123"/>
                  <a:pt x="84077" y="133350"/>
                  <a:pt x="101600" y="133350"/>
                </a:cubicBezTo>
                <a:close/>
                <a:moveTo>
                  <a:pt x="101600" y="44450"/>
                </a:moveTo>
                <a:cubicBezTo>
                  <a:pt x="133142" y="44450"/>
                  <a:pt x="158750" y="70058"/>
                  <a:pt x="158750" y="101600"/>
                </a:cubicBezTo>
                <a:cubicBezTo>
                  <a:pt x="158750" y="133142"/>
                  <a:pt x="133142" y="158750"/>
                  <a:pt x="101600" y="158750"/>
                </a:cubicBezTo>
                <a:cubicBezTo>
                  <a:pt x="70058" y="158750"/>
                  <a:pt x="44450" y="133142"/>
                  <a:pt x="44450" y="101600"/>
                </a:cubicBezTo>
                <a:cubicBezTo>
                  <a:pt x="44450" y="70058"/>
                  <a:pt x="70058" y="44450"/>
                  <a:pt x="101600" y="44450"/>
                </a:cubicBezTo>
                <a:close/>
                <a:moveTo>
                  <a:pt x="88900" y="101600"/>
                </a:moveTo>
                <a:cubicBezTo>
                  <a:pt x="88900" y="94591"/>
                  <a:pt x="94591" y="88900"/>
                  <a:pt x="101600" y="88900"/>
                </a:cubicBezTo>
                <a:cubicBezTo>
                  <a:pt x="108609" y="88900"/>
                  <a:pt x="114300" y="94591"/>
                  <a:pt x="114300" y="101600"/>
                </a:cubicBezTo>
                <a:cubicBezTo>
                  <a:pt x="114300" y="108609"/>
                  <a:pt x="108609" y="114300"/>
                  <a:pt x="101600" y="114300"/>
                </a:cubicBezTo>
                <a:cubicBezTo>
                  <a:pt x="94591" y="114300"/>
                  <a:pt x="88900" y="108609"/>
                  <a:pt x="88900" y="1016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2097207" name="Text 38">
            <a:extLst>
              <a:ext uri="{FF2B5EF4-FFF2-40B4-BE49-F238E27FC236}">
                <a16:creationId xmlns:a16="http://schemas.microsoft.com/office/drawing/2014/main" id="{AF4CD8A3-FAAB-196E-7445-291F9855DA61}"/>
              </a:ext>
            </a:extLst>
          </p:cNvPr>
          <p:cNvSpPr/>
          <p:nvPr/>
        </p:nvSpPr>
        <p:spPr>
          <a:xfrm>
            <a:off x="6096000" y="4422783"/>
            <a:ext cx="1769846" cy="3535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单目标优化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208" name="Text 39">
            <a:extLst>
              <a:ext uri="{FF2B5EF4-FFF2-40B4-BE49-F238E27FC236}">
                <a16:creationId xmlns:a16="http://schemas.microsoft.com/office/drawing/2014/main" id="{D77C8A62-081A-2BD2-9286-A503D4CBBEFC}"/>
              </a:ext>
            </a:extLst>
          </p:cNvPr>
          <p:cNvSpPr/>
          <p:nvPr/>
        </p:nvSpPr>
        <p:spPr>
          <a:xfrm>
            <a:off x="6200285" y="4864814"/>
            <a:ext cx="45085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最优适应度值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（值越小越好）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211" name="Shape 42">
            <a:extLst>
              <a:ext uri="{FF2B5EF4-FFF2-40B4-BE49-F238E27FC236}">
                <a16:creationId xmlns:a16="http://schemas.microsoft.com/office/drawing/2014/main" id="{314DF92B-1964-CB48-0810-7E52778719CC}"/>
              </a:ext>
            </a:extLst>
          </p:cNvPr>
          <p:cNvSpPr/>
          <p:nvPr/>
        </p:nvSpPr>
        <p:spPr>
          <a:xfrm>
            <a:off x="6238458" y="595796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2987" y="204867"/>
                </a:moveTo>
                <a:cubicBezTo>
                  <a:pt x="75565" y="212288"/>
                  <a:pt x="63500" y="212288"/>
                  <a:pt x="56039" y="204867"/>
                </a:cubicBezTo>
                <a:lnTo>
                  <a:pt x="11152" y="159980"/>
                </a:lnTo>
                <a:cubicBezTo>
                  <a:pt x="3731" y="152559"/>
                  <a:pt x="3731" y="140494"/>
                  <a:pt x="11152" y="133033"/>
                </a:cubicBezTo>
                <a:lnTo>
                  <a:pt x="17899" y="126286"/>
                </a:lnTo>
                <a:lnTo>
                  <a:pt x="47069" y="155456"/>
                </a:lnTo>
                <a:cubicBezTo>
                  <a:pt x="50800" y="159187"/>
                  <a:pt x="56832" y="159187"/>
                  <a:pt x="60523" y="155456"/>
                </a:cubicBezTo>
                <a:cubicBezTo>
                  <a:pt x="64214" y="151725"/>
                  <a:pt x="64254" y="145693"/>
                  <a:pt x="60523" y="142002"/>
                </a:cubicBezTo>
                <a:lnTo>
                  <a:pt x="31353" y="112832"/>
                </a:lnTo>
                <a:lnTo>
                  <a:pt x="44807" y="99378"/>
                </a:lnTo>
                <a:lnTo>
                  <a:pt x="65008" y="119578"/>
                </a:lnTo>
                <a:cubicBezTo>
                  <a:pt x="68739" y="123309"/>
                  <a:pt x="74771" y="123309"/>
                  <a:pt x="78462" y="119578"/>
                </a:cubicBezTo>
                <a:cubicBezTo>
                  <a:pt x="82153" y="115848"/>
                  <a:pt x="82193" y="109815"/>
                  <a:pt x="78462" y="106124"/>
                </a:cubicBezTo>
                <a:lnTo>
                  <a:pt x="58261" y="85923"/>
                </a:lnTo>
                <a:lnTo>
                  <a:pt x="71715" y="72469"/>
                </a:lnTo>
                <a:lnTo>
                  <a:pt x="100886" y="101640"/>
                </a:lnTo>
                <a:cubicBezTo>
                  <a:pt x="104616" y="105370"/>
                  <a:pt x="110649" y="105370"/>
                  <a:pt x="114340" y="101640"/>
                </a:cubicBezTo>
                <a:cubicBezTo>
                  <a:pt x="118031" y="97909"/>
                  <a:pt x="118070" y="91877"/>
                  <a:pt x="114340" y="88186"/>
                </a:cubicBezTo>
                <a:lnTo>
                  <a:pt x="85169" y="59015"/>
                </a:lnTo>
                <a:lnTo>
                  <a:pt x="98623" y="45561"/>
                </a:lnTo>
                <a:lnTo>
                  <a:pt x="118824" y="65762"/>
                </a:lnTo>
                <a:cubicBezTo>
                  <a:pt x="122555" y="69493"/>
                  <a:pt x="128588" y="69493"/>
                  <a:pt x="132278" y="65762"/>
                </a:cubicBezTo>
                <a:cubicBezTo>
                  <a:pt x="135969" y="62032"/>
                  <a:pt x="136009" y="55999"/>
                  <a:pt x="132278" y="52308"/>
                </a:cubicBezTo>
                <a:lnTo>
                  <a:pt x="112078" y="32107"/>
                </a:lnTo>
                <a:lnTo>
                  <a:pt x="125532" y="18653"/>
                </a:lnTo>
                <a:lnTo>
                  <a:pt x="154702" y="47823"/>
                </a:lnTo>
                <a:cubicBezTo>
                  <a:pt x="158433" y="51554"/>
                  <a:pt x="164465" y="51554"/>
                  <a:pt x="168156" y="47823"/>
                </a:cubicBezTo>
                <a:cubicBezTo>
                  <a:pt x="171847" y="44093"/>
                  <a:pt x="171887" y="38060"/>
                  <a:pt x="168156" y="34369"/>
                </a:cubicBezTo>
                <a:lnTo>
                  <a:pt x="138986" y="5199"/>
                </a:lnTo>
                <a:lnTo>
                  <a:pt x="145733" y="-1548"/>
                </a:lnTo>
                <a:cubicBezTo>
                  <a:pt x="153154" y="-8969"/>
                  <a:pt x="165219" y="-8969"/>
                  <a:pt x="172680" y="-1548"/>
                </a:cubicBezTo>
                <a:lnTo>
                  <a:pt x="217686" y="43220"/>
                </a:lnTo>
                <a:cubicBezTo>
                  <a:pt x="225108" y="50641"/>
                  <a:pt x="225108" y="62706"/>
                  <a:pt x="217686" y="70168"/>
                </a:cubicBezTo>
                <a:lnTo>
                  <a:pt x="82987" y="204867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</p:sp>
      <p:sp>
        <p:nvSpPr>
          <p:cNvPr id="2097212" name="Text 43">
            <a:extLst>
              <a:ext uri="{FF2B5EF4-FFF2-40B4-BE49-F238E27FC236}">
                <a16:creationId xmlns:a16="http://schemas.microsoft.com/office/drawing/2014/main" id="{9FA447A4-9857-9C7A-66E2-3A431431591D}"/>
              </a:ext>
            </a:extLst>
          </p:cNvPr>
          <p:cNvSpPr/>
          <p:nvPr/>
        </p:nvSpPr>
        <p:spPr>
          <a:xfrm>
            <a:off x="6085205" y="5403458"/>
            <a:ext cx="1309996" cy="2991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多目标优化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97213" name="Text 44">
            <a:extLst>
              <a:ext uri="{FF2B5EF4-FFF2-40B4-BE49-F238E27FC236}">
                <a16:creationId xmlns:a16="http://schemas.microsoft.com/office/drawing/2014/main" id="{EDF72B17-DEE1-7C39-322D-70E7A88ED746}"/>
              </a:ext>
            </a:extLst>
          </p:cNvPr>
          <p:cNvSpPr/>
          <p:nvPr/>
        </p:nvSpPr>
        <p:spPr>
          <a:xfrm>
            <a:off x="6238458" y="5784076"/>
            <a:ext cx="45085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IGD</a:t>
            </a:r>
            <a:r>
              <a:rPr lang="en-US" sz="2000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 (值越小越好)</a:t>
            </a:r>
            <a:endParaRPr lang="en-US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E01D-2EBB-9360-0887-28955CD6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标题 1">
            <a:extLst>
              <a:ext uri="{FF2B5EF4-FFF2-40B4-BE49-F238E27FC236}">
                <a16:creationId xmlns:a16="http://schemas.microsoft.com/office/drawing/2014/main" id="{5B2C147E-DB22-6852-77FF-F3037C2B881D}"/>
              </a:ext>
            </a:extLst>
          </p:cNvPr>
          <p:cNvSpPr txBox="1"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48633" name="标题 1">
            <a:extLst>
              <a:ext uri="{FF2B5EF4-FFF2-40B4-BE49-F238E27FC236}">
                <a16:creationId xmlns:a16="http://schemas.microsoft.com/office/drawing/2014/main" id="{0098ACDD-5F9A-F65E-1842-794C497B1C2A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latin typeface="+mj-ea"/>
                <a:ea typeface="+mj-ea"/>
                <a:cs typeface="Source Han Sans CN Bold"/>
              </a:rPr>
              <a:t>4.2</a:t>
            </a:r>
            <a:r>
              <a:rPr kumimoji="1" lang="zh-CN" altLang="en-US" sz="2800" b="1" dirty="0">
                <a:ln w="12700">
                  <a:noFill/>
                </a:ln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参数设置</a:t>
            </a:r>
          </a:p>
        </p:txBody>
      </p:sp>
      <p:pic>
        <p:nvPicPr>
          <p:cNvPr id="2097152" name="图片 24" descr="校徽紫色版">
            <a:extLst>
              <a:ext uri="{FF2B5EF4-FFF2-40B4-BE49-F238E27FC236}">
                <a16:creationId xmlns:a16="http://schemas.microsoft.com/office/drawing/2014/main" id="{3B47EEBE-E8CB-1E37-8D89-1237D3FC02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sp>
        <p:nvSpPr>
          <p:cNvPr id="5" name="Text 48">
            <a:extLst>
              <a:ext uri="{FF2B5EF4-FFF2-40B4-BE49-F238E27FC236}">
                <a16:creationId xmlns:a16="http://schemas.microsoft.com/office/drawing/2014/main" id="{8ECFB0C0-1FE8-9008-D757-B8977A8AFCB2}"/>
              </a:ext>
            </a:extLst>
          </p:cNvPr>
          <p:cNvSpPr/>
          <p:nvPr/>
        </p:nvSpPr>
        <p:spPr>
          <a:xfrm>
            <a:off x="1319212" y="1668232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粒子群大小</a:t>
            </a:r>
          </a:p>
        </p:txBody>
      </p:sp>
      <p:sp>
        <p:nvSpPr>
          <p:cNvPr id="6" name="Text 49">
            <a:extLst>
              <a:ext uri="{FF2B5EF4-FFF2-40B4-BE49-F238E27FC236}">
                <a16:creationId xmlns:a16="http://schemas.microsoft.com/office/drawing/2014/main" id="{56BEB462-46B9-8F36-C8E9-045D758FA62E}"/>
              </a:ext>
            </a:extLst>
          </p:cNvPr>
          <p:cNvSpPr/>
          <p:nvPr/>
        </p:nvSpPr>
        <p:spPr>
          <a:xfrm>
            <a:off x="3492247" y="1668232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51">
            <a:extLst>
              <a:ext uri="{FF2B5EF4-FFF2-40B4-BE49-F238E27FC236}">
                <a16:creationId xmlns:a16="http://schemas.microsoft.com/office/drawing/2014/main" id="{49093470-5ABD-48EF-0C5D-0B0158638645}"/>
              </a:ext>
            </a:extLst>
          </p:cNvPr>
          <p:cNvSpPr/>
          <p:nvPr/>
        </p:nvSpPr>
        <p:spPr>
          <a:xfrm>
            <a:off x="1319212" y="217587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最大迭代次数</a:t>
            </a:r>
          </a:p>
        </p:txBody>
      </p:sp>
      <p:sp>
        <p:nvSpPr>
          <p:cNvPr id="9" name="Text 52">
            <a:extLst>
              <a:ext uri="{FF2B5EF4-FFF2-40B4-BE49-F238E27FC236}">
                <a16:creationId xmlns:a16="http://schemas.microsoft.com/office/drawing/2014/main" id="{C69624C8-C284-5FAF-1020-8A650BA4CD04}"/>
              </a:ext>
            </a:extLst>
          </p:cNvPr>
          <p:cNvSpPr/>
          <p:nvPr/>
        </p:nvSpPr>
        <p:spPr>
          <a:xfrm>
            <a:off x="3492247" y="217587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500 / 100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54">
            <a:extLst>
              <a:ext uri="{FF2B5EF4-FFF2-40B4-BE49-F238E27FC236}">
                <a16:creationId xmlns:a16="http://schemas.microsoft.com/office/drawing/2014/main" id="{207BB075-6730-4675-B27F-5AB0DD8C1DEF}"/>
              </a:ext>
            </a:extLst>
          </p:cNvPr>
          <p:cNvSpPr/>
          <p:nvPr/>
        </p:nvSpPr>
        <p:spPr>
          <a:xfrm>
            <a:off x="1319212" y="268351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惯性权重ω</a:t>
            </a:r>
          </a:p>
        </p:txBody>
      </p:sp>
      <p:sp>
        <p:nvSpPr>
          <p:cNvPr id="12" name="Text 55">
            <a:extLst>
              <a:ext uri="{FF2B5EF4-FFF2-40B4-BE49-F238E27FC236}">
                <a16:creationId xmlns:a16="http://schemas.microsoft.com/office/drawing/2014/main" id="{804C8CB9-8B42-6AFE-CC07-02ADAA40AF05}"/>
              </a:ext>
            </a:extLst>
          </p:cNvPr>
          <p:cNvSpPr/>
          <p:nvPr/>
        </p:nvSpPr>
        <p:spPr>
          <a:xfrm>
            <a:off x="3492247" y="268351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0.7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 57">
            <a:extLst>
              <a:ext uri="{FF2B5EF4-FFF2-40B4-BE49-F238E27FC236}">
                <a16:creationId xmlns:a16="http://schemas.microsoft.com/office/drawing/2014/main" id="{4FD2F9BC-5A25-E62D-7E4F-CDCE409AE9E4}"/>
              </a:ext>
            </a:extLst>
          </p:cNvPr>
          <p:cNvSpPr/>
          <p:nvPr/>
        </p:nvSpPr>
        <p:spPr>
          <a:xfrm>
            <a:off x="1319212" y="319115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学习因子c₁, c₂</a:t>
            </a:r>
          </a:p>
        </p:txBody>
      </p:sp>
      <p:sp>
        <p:nvSpPr>
          <p:cNvPr id="15" name="Text 58">
            <a:extLst>
              <a:ext uri="{FF2B5EF4-FFF2-40B4-BE49-F238E27FC236}">
                <a16:creationId xmlns:a16="http://schemas.microsoft.com/office/drawing/2014/main" id="{348DC93C-E57E-822B-5807-F79E3A5C9288}"/>
              </a:ext>
            </a:extLst>
          </p:cNvPr>
          <p:cNvSpPr/>
          <p:nvPr/>
        </p:nvSpPr>
        <p:spPr>
          <a:xfrm>
            <a:off x="3492247" y="319115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1.5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 60">
            <a:extLst>
              <a:ext uri="{FF2B5EF4-FFF2-40B4-BE49-F238E27FC236}">
                <a16:creationId xmlns:a16="http://schemas.microsoft.com/office/drawing/2014/main" id="{EF7CB8CA-13B0-17E9-141F-0D072641B8A8}"/>
              </a:ext>
            </a:extLst>
          </p:cNvPr>
          <p:cNvSpPr/>
          <p:nvPr/>
        </p:nvSpPr>
        <p:spPr>
          <a:xfrm>
            <a:off x="1319212" y="3698794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学习概率lp</a:t>
            </a:r>
          </a:p>
        </p:txBody>
      </p:sp>
      <p:sp>
        <p:nvSpPr>
          <p:cNvPr id="18" name="Text 61">
            <a:extLst>
              <a:ext uri="{FF2B5EF4-FFF2-40B4-BE49-F238E27FC236}">
                <a16:creationId xmlns:a16="http://schemas.microsoft.com/office/drawing/2014/main" id="{45A3E689-698F-3D3D-A408-DFDB9BE592D6}"/>
              </a:ext>
            </a:extLst>
          </p:cNvPr>
          <p:cNvSpPr/>
          <p:nvPr/>
        </p:nvSpPr>
        <p:spPr>
          <a:xfrm>
            <a:off x="3492247" y="3698794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63">
            <a:extLst>
              <a:ext uri="{FF2B5EF4-FFF2-40B4-BE49-F238E27FC236}">
                <a16:creationId xmlns:a16="http://schemas.microsoft.com/office/drawing/2014/main" id="{5649A077-D52E-CDE8-9405-E1737DD25DAD}"/>
              </a:ext>
            </a:extLst>
          </p:cNvPr>
          <p:cNvSpPr/>
          <p:nvPr/>
        </p:nvSpPr>
        <p:spPr>
          <a:xfrm>
            <a:off x="1319212" y="412786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经验库大小</a:t>
            </a:r>
          </a:p>
        </p:txBody>
      </p:sp>
      <p:sp>
        <p:nvSpPr>
          <p:cNvPr id="21" name="Text 64">
            <a:extLst>
              <a:ext uri="{FF2B5EF4-FFF2-40B4-BE49-F238E27FC236}">
                <a16:creationId xmlns:a16="http://schemas.microsoft.com/office/drawing/2014/main" id="{ECFB45FB-7BBC-1381-C7C1-1A8F867862CB}"/>
              </a:ext>
            </a:extLst>
          </p:cNvPr>
          <p:cNvSpPr/>
          <p:nvPr/>
        </p:nvSpPr>
        <p:spPr>
          <a:xfrm>
            <a:off x="3492247" y="412786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Text 66">
            <a:extLst>
              <a:ext uri="{FF2B5EF4-FFF2-40B4-BE49-F238E27FC236}">
                <a16:creationId xmlns:a16="http://schemas.microsoft.com/office/drawing/2014/main" id="{51050770-95A3-F7A9-372D-2696E26C7EF5}"/>
              </a:ext>
            </a:extLst>
          </p:cNvPr>
          <p:cNvSpPr/>
          <p:nvPr/>
        </p:nvSpPr>
        <p:spPr>
          <a:xfrm>
            <a:off x="6224590" y="1668232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神经网络学习率</a:t>
            </a:r>
          </a:p>
        </p:txBody>
      </p:sp>
      <p:sp>
        <p:nvSpPr>
          <p:cNvPr id="24" name="Text 67">
            <a:extLst>
              <a:ext uri="{FF2B5EF4-FFF2-40B4-BE49-F238E27FC236}">
                <a16:creationId xmlns:a16="http://schemas.microsoft.com/office/drawing/2014/main" id="{12C0DCFF-01D9-7869-814F-E4DDF7B30AEB}"/>
              </a:ext>
            </a:extLst>
          </p:cNvPr>
          <p:cNvSpPr/>
          <p:nvPr/>
        </p:nvSpPr>
        <p:spPr>
          <a:xfrm>
            <a:off x="8397625" y="1668232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0.01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Text 69">
            <a:extLst>
              <a:ext uri="{FF2B5EF4-FFF2-40B4-BE49-F238E27FC236}">
                <a16:creationId xmlns:a16="http://schemas.microsoft.com/office/drawing/2014/main" id="{F74D59C1-081C-A09E-B01C-53F0F23F9643}"/>
              </a:ext>
            </a:extLst>
          </p:cNvPr>
          <p:cNvSpPr/>
          <p:nvPr/>
        </p:nvSpPr>
        <p:spPr>
          <a:xfrm>
            <a:off x="6224590" y="217587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交叉概率β</a:t>
            </a:r>
          </a:p>
        </p:txBody>
      </p:sp>
      <p:sp>
        <p:nvSpPr>
          <p:cNvPr id="27" name="Text 70">
            <a:extLst>
              <a:ext uri="{FF2B5EF4-FFF2-40B4-BE49-F238E27FC236}">
                <a16:creationId xmlns:a16="http://schemas.microsoft.com/office/drawing/2014/main" id="{9B3B3DFF-D103-6D5B-6081-52D3D9DE3BB2}"/>
              </a:ext>
            </a:extLst>
          </p:cNvPr>
          <p:cNvSpPr/>
          <p:nvPr/>
        </p:nvSpPr>
        <p:spPr>
          <a:xfrm>
            <a:off x="8397625" y="217587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0.5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Text 72">
            <a:extLst>
              <a:ext uri="{FF2B5EF4-FFF2-40B4-BE49-F238E27FC236}">
                <a16:creationId xmlns:a16="http://schemas.microsoft.com/office/drawing/2014/main" id="{CB67C6E9-F4E3-CCAC-E9AC-97AE4BB54B74}"/>
              </a:ext>
            </a:extLst>
          </p:cNvPr>
          <p:cNvSpPr/>
          <p:nvPr/>
        </p:nvSpPr>
        <p:spPr>
          <a:xfrm>
            <a:off x="6224590" y="268351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差分权重α</a:t>
            </a:r>
          </a:p>
        </p:txBody>
      </p:sp>
      <p:sp>
        <p:nvSpPr>
          <p:cNvPr id="30" name="Text 73">
            <a:extLst>
              <a:ext uri="{FF2B5EF4-FFF2-40B4-BE49-F238E27FC236}">
                <a16:creationId xmlns:a16="http://schemas.microsoft.com/office/drawing/2014/main" id="{178003D6-2415-BC26-16F9-2062C929AD89}"/>
              </a:ext>
            </a:extLst>
          </p:cNvPr>
          <p:cNvSpPr/>
          <p:nvPr/>
        </p:nvSpPr>
        <p:spPr>
          <a:xfrm>
            <a:off x="8397625" y="268351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0.5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Text 75">
            <a:extLst>
              <a:ext uri="{FF2B5EF4-FFF2-40B4-BE49-F238E27FC236}">
                <a16:creationId xmlns:a16="http://schemas.microsoft.com/office/drawing/2014/main" id="{F4ED345C-F8CD-1422-5888-66C5200B8C42}"/>
              </a:ext>
            </a:extLst>
          </p:cNvPr>
          <p:cNvSpPr/>
          <p:nvPr/>
        </p:nvSpPr>
        <p:spPr>
          <a:xfrm>
            <a:off x="6224590" y="3191141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局部邻居数k</a:t>
            </a:r>
          </a:p>
        </p:txBody>
      </p:sp>
      <p:sp>
        <p:nvSpPr>
          <p:cNvPr id="33" name="Text 76">
            <a:extLst>
              <a:ext uri="{FF2B5EF4-FFF2-40B4-BE49-F238E27FC236}">
                <a16:creationId xmlns:a16="http://schemas.microsoft.com/office/drawing/2014/main" id="{5FF7A67D-C53F-C6BE-ED2B-CFBB72B58250}"/>
              </a:ext>
            </a:extLst>
          </p:cNvPr>
          <p:cNvSpPr/>
          <p:nvPr/>
        </p:nvSpPr>
        <p:spPr>
          <a:xfrm>
            <a:off x="8397625" y="3191141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Text 78">
            <a:extLst>
              <a:ext uri="{FF2B5EF4-FFF2-40B4-BE49-F238E27FC236}">
                <a16:creationId xmlns:a16="http://schemas.microsoft.com/office/drawing/2014/main" id="{9F154034-B668-8002-C141-9690B89F8721}"/>
              </a:ext>
            </a:extLst>
          </p:cNvPr>
          <p:cNvSpPr/>
          <p:nvPr/>
        </p:nvSpPr>
        <p:spPr>
          <a:xfrm>
            <a:off x="6224590" y="3698781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运行次数</a:t>
            </a:r>
          </a:p>
        </p:txBody>
      </p:sp>
      <p:sp>
        <p:nvSpPr>
          <p:cNvPr id="36" name="Text 79">
            <a:extLst>
              <a:ext uri="{FF2B5EF4-FFF2-40B4-BE49-F238E27FC236}">
                <a16:creationId xmlns:a16="http://schemas.microsoft.com/office/drawing/2014/main" id="{1356B5B3-73C8-669C-7D26-58F56C245A6F}"/>
              </a:ext>
            </a:extLst>
          </p:cNvPr>
          <p:cNvSpPr/>
          <p:nvPr/>
        </p:nvSpPr>
        <p:spPr>
          <a:xfrm>
            <a:off x="8397625" y="3698781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sz="24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17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标题 1"/>
          <p:cNvSpPr txBox="1"/>
          <p:nvPr/>
        </p:nvSpPr>
        <p:spPr>
          <a:xfrm>
            <a:off x="660400" y="466776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j-ea"/>
                <a:ea typeface="+mj-ea"/>
                <a:cs typeface="Source Han Sans CN Bold"/>
              </a:rPr>
              <a:t>4.3</a:t>
            </a:r>
            <a:r>
              <a:rPr kumimoji="1" lang="zh-CN" altLang="en-US" sz="2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j-ea"/>
                <a:ea typeface="+mj-ea"/>
                <a:cs typeface="Source Han Sans CN Bold"/>
              </a:rPr>
              <a:t>单目标实验结果分析</a:t>
            </a:r>
          </a:p>
        </p:txBody>
      </p:sp>
      <p:pic>
        <p:nvPicPr>
          <p:cNvPr id="2097162" name="图片 5" descr="校徽紫色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F89FF9BC-927E-40A8-1B34-4F6C1FD8BDFA}"/>
              </a:ext>
            </a:extLst>
          </p:cNvPr>
          <p:cNvSpPr/>
          <p:nvPr/>
        </p:nvSpPr>
        <p:spPr>
          <a:xfrm>
            <a:off x="660400" y="1070082"/>
            <a:ext cx="728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在IEEE CEC 2021单目标测试函数上的实验结果表明，</a:t>
            </a:r>
            <a:r>
              <a:rPr lang="en-US" b="1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LEO及其变种在收敛速度和求解精度方面均优于标准PSO</a:t>
            </a: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420CBE-E1B2-C0A3-8BCE-8C69E832DBAE}"/>
              </a:ext>
            </a:extLst>
          </p:cNvPr>
          <p:cNvSpPr/>
          <p:nvPr/>
        </p:nvSpPr>
        <p:spPr>
          <a:xfrm>
            <a:off x="698464" y="1882597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F01 (10D)</a:t>
            </a: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B7D220C-C171-179B-2285-7C31C2F5F2D5}"/>
              </a:ext>
            </a:extLst>
          </p:cNvPr>
          <p:cNvSpPr/>
          <p:nvPr/>
        </p:nvSpPr>
        <p:spPr>
          <a:xfrm>
            <a:off x="711164" y="223816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LEO: 8.77e+00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E27F90B-68C3-D0A7-2302-E80A20375310}"/>
              </a:ext>
            </a:extLst>
          </p:cNvPr>
          <p:cNvSpPr/>
          <p:nvPr/>
        </p:nvSpPr>
        <p:spPr>
          <a:xfrm>
            <a:off x="711164" y="2542848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PSO: 1.02e+02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0D8647-1A72-E7F7-4FF1-8D12924CAD1F}"/>
              </a:ext>
            </a:extLst>
          </p:cNvPr>
          <p:cNvSpPr/>
          <p:nvPr/>
        </p:nvSpPr>
        <p:spPr>
          <a:xfrm>
            <a:off x="717514" y="2847536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提升 ~91%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2D3D638-FDCB-BF02-6B03-0E7083F75C92}"/>
              </a:ext>
            </a:extLst>
          </p:cNvPr>
          <p:cNvSpPr/>
          <p:nvPr/>
        </p:nvSpPr>
        <p:spPr>
          <a:xfrm>
            <a:off x="3129143" y="1882597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F02 (20D)</a:t>
            </a: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B4B94D-723E-CF7B-96A0-7A73664D61F1}"/>
              </a:ext>
            </a:extLst>
          </p:cNvPr>
          <p:cNvSpPr/>
          <p:nvPr/>
        </p:nvSpPr>
        <p:spPr>
          <a:xfrm>
            <a:off x="3141843" y="223816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LEO: 3.46e+01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94B4C38-FD2C-D986-6A1C-59E7DA99A0F1}"/>
              </a:ext>
            </a:extLst>
          </p:cNvPr>
          <p:cNvSpPr/>
          <p:nvPr/>
        </p:nvSpPr>
        <p:spPr>
          <a:xfrm>
            <a:off x="3141843" y="2542848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PSO: 4.09e+02</a:t>
            </a: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772444C-9281-95C3-B64B-9513F0653565}"/>
              </a:ext>
            </a:extLst>
          </p:cNvPr>
          <p:cNvSpPr/>
          <p:nvPr/>
        </p:nvSpPr>
        <p:spPr>
          <a:xfrm>
            <a:off x="3148193" y="2847536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提升 ~92%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55F816C-0068-1ABC-101F-8C59C3F96090}"/>
              </a:ext>
            </a:extLst>
          </p:cNvPr>
          <p:cNvSpPr/>
          <p:nvPr/>
        </p:nvSpPr>
        <p:spPr>
          <a:xfrm>
            <a:off x="5560002" y="1882597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F03 (100D)</a:t>
            </a:r>
            <a:endParaRPr lang="en-U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37E4D51-4A8E-E46E-7208-0FCBAB92F684}"/>
              </a:ext>
            </a:extLst>
          </p:cNvPr>
          <p:cNvSpPr/>
          <p:nvPr/>
        </p:nvSpPr>
        <p:spPr>
          <a:xfrm>
            <a:off x="5572702" y="2238160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LEO: 2.20e+03</a:t>
            </a:r>
            <a:endParaRPr lang="en-US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4BB5E5B-DDEF-196E-E593-2537D43CCB61}"/>
              </a:ext>
            </a:extLst>
          </p:cNvPr>
          <p:cNvSpPr/>
          <p:nvPr/>
        </p:nvSpPr>
        <p:spPr>
          <a:xfrm>
            <a:off x="5572702" y="2542848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PSO: 4.09e+04</a:t>
            </a:r>
            <a:endParaRPr lang="en-US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49A3075-9428-B38A-0D07-25D921FB2DDF}"/>
              </a:ext>
            </a:extLst>
          </p:cNvPr>
          <p:cNvSpPr/>
          <p:nvPr/>
        </p:nvSpPr>
        <p:spPr>
          <a:xfrm>
            <a:off x="5579052" y="2847536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提升 ~95%</a:t>
            </a:r>
            <a:endParaRPr lang="en-US" dirty="0"/>
          </a:p>
        </p:txBody>
      </p:sp>
      <p:sp>
        <p:nvSpPr>
          <p:cNvPr id="29" name="Text 35">
            <a:extLst>
              <a:ext uri="{FF2B5EF4-FFF2-40B4-BE49-F238E27FC236}">
                <a16:creationId xmlns:a16="http://schemas.microsoft.com/office/drawing/2014/main" id="{97073D46-F2CD-B88D-695D-81A2605678A5}"/>
              </a:ext>
            </a:extLst>
          </p:cNvPr>
          <p:cNvSpPr/>
          <p:nvPr/>
        </p:nvSpPr>
        <p:spPr>
          <a:xfrm>
            <a:off x="717514" y="3248353"/>
            <a:ext cx="728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测试了经验库大小为</a:t>
            </a:r>
            <a:r>
              <a:rPr lang="en-US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300和500</a:t>
            </a: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的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增加了反向经验的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LEO</a:t>
            </a:r>
            <a:r>
              <a:rPr lang="en-US" dirty="0" err="1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算法</a:t>
            </a: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。</a:t>
            </a:r>
            <a:endParaRPr 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Text 38">
            <a:extLst>
              <a:ext uri="{FF2B5EF4-FFF2-40B4-BE49-F238E27FC236}">
                <a16:creationId xmlns:a16="http://schemas.microsoft.com/office/drawing/2014/main" id="{BC137D62-FF28-8F64-7E7E-953AAFE31413}"/>
              </a:ext>
            </a:extLst>
          </p:cNvPr>
          <p:cNvSpPr/>
          <p:nvPr/>
        </p:nvSpPr>
        <p:spPr>
          <a:xfrm>
            <a:off x="1155700" y="3806868"/>
            <a:ext cx="16571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经验库大小影响</a:t>
            </a:r>
            <a:endParaRPr 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Text 39">
            <a:extLst>
              <a:ext uri="{FF2B5EF4-FFF2-40B4-BE49-F238E27FC236}">
                <a16:creationId xmlns:a16="http://schemas.microsoft.com/office/drawing/2014/main" id="{529D660C-F09F-17B5-ED3E-AD1C1BA0CBEC}"/>
              </a:ext>
            </a:extLst>
          </p:cNvPr>
          <p:cNvSpPr/>
          <p:nvPr/>
        </p:nvSpPr>
        <p:spPr>
          <a:xfrm>
            <a:off x="869770" y="4162245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100/1000：性能与LEO基本持平</a:t>
            </a:r>
            <a:endParaRPr 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4" name="Text 40">
            <a:extLst>
              <a:ext uri="{FF2B5EF4-FFF2-40B4-BE49-F238E27FC236}">
                <a16:creationId xmlns:a16="http://schemas.microsoft.com/office/drawing/2014/main" id="{641EEDA1-0634-0103-678E-D0D197CBFFFD}"/>
              </a:ext>
            </a:extLst>
          </p:cNvPr>
          <p:cNvSpPr/>
          <p:nvPr/>
        </p:nvSpPr>
        <p:spPr>
          <a:xfrm>
            <a:off x="869770" y="4517634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300：显著提高性能</a:t>
            </a:r>
            <a:endParaRPr 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5" name="Text 41">
            <a:extLst>
              <a:ext uri="{FF2B5EF4-FFF2-40B4-BE49-F238E27FC236}">
                <a16:creationId xmlns:a16="http://schemas.microsoft.com/office/drawing/2014/main" id="{B9DAD0EA-66E7-87F0-3A5A-DA0735795C83}"/>
              </a:ext>
            </a:extLst>
          </p:cNvPr>
          <p:cNvSpPr/>
          <p:nvPr/>
        </p:nvSpPr>
        <p:spPr>
          <a:xfrm>
            <a:off x="869770" y="4873011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• 500：性能进一步提升</a:t>
            </a:r>
            <a:endParaRPr 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7" name="Text 43">
            <a:extLst>
              <a:ext uri="{FF2B5EF4-FFF2-40B4-BE49-F238E27FC236}">
                <a16:creationId xmlns:a16="http://schemas.microsoft.com/office/drawing/2014/main" id="{333E98B8-0916-409D-B6AA-018B84075B64}"/>
              </a:ext>
            </a:extLst>
          </p:cNvPr>
          <p:cNvSpPr/>
          <p:nvPr/>
        </p:nvSpPr>
        <p:spPr>
          <a:xfrm>
            <a:off x="869770" y="5228386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总结</a:t>
            </a:r>
            <a:r>
              <a:rPr lang="en-US" b="1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：</a:t>
            </a:r>
            <a:endParaRPr 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Text 44">
            <a:extLst>
              <a:ext uri="{FF2B5EF4-FFF2-40B4-BE49-F238E27FC236}">
                <a16:creationId xmlns:a16="http://schemas.microsoft.com/office/drawing/2014/main" id="{E9702F31-8586-D7C5-F0EE-6959D504210A}"/>
              </a:ext>
            </a:extLst>
          </p:cNvPr>
          <p:cNvSpPr/>
          <p:nvPr/>
        </p:nvSpPr>
        <p:spPr>
          <a:xfrm>
            <a:off x="869770" y="5583776"/>
            <a:ext cx="6985000" cy="58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err="1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适当增加经验库大小可使ANN学习更多经验，从而提高算法性能</a:t>
            </a:r>
            <a:r>
              <a:rPr 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MiSans" pitchFamily="34" charset="-120"/>
              </a:rPr>
              <a:t>具体关联有待进一步测试。</a:t>
            </a:r>
            <a:endParaRPr 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标题 1"/>
          <p:cNvSpPr txBox="1"/>
          <p:nvPr/>
        </p:nvSpPr>
        <p:spPr>
          <a:xfrm>
            <a:off x="660400" y="466776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j-ea"/>
                <a:ea typeface="+mj-ea"/>
                <a:cs typeface="Source Han Sans CN Bold"/>
              </a:rPr>
              <a:t>4.4</a:t>
            </a:r>
            <a:r>
              <a:rPr kumimoji="1" lang="zh-CN" altLang="en-US" sz="2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j-ea"/>
                <a:ea typeface="+mj-ea"/>
                <a:cs typeface="Source Han Sans CN Bold"/>
              </a:rPr>
              <a:t>多目标实验结果与综合分析</a:t>
            </a:r>
          </a:p>
        </p:txBody>
      </p:sp>
      <p:pic>
        <p:nvPicPr>
          <p:cNvPr id="2097162" name="图片 5" descr="校徽紫色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377045" y="-278130"/>
            <a:ext cx="2713990" cy="175323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166779-EA8F-BAA1-E6B9-680A979B01B1}"/>
              </a:ext>
            </a:extLst>
          </p:cNvPr>
          <p:cNvSpPr txBox="1"/>
          <p:nvPr/>
        </p:nvSpPr>
        <p:spPr>
          <a:xfrm>
            <a:off x="6934200" y="1475105"/>
            <a:ext cx="4406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2400" b="1" dirty="0"/>
              <a:t>收敛性能</a:t>
            </a:r>
            <a:r>
              <a:rPr lang="zh-CN" altLang="zh-CN" sz="2400" dirty="0"/>
              <a:t>：所有算法在</a:t>
            </a:r>
            <a:r>
              <a:rPr lang="en-US" altLang="zh-CN" sz="2400" dirty="0"/>
              <a:t>DTLZ1</a:t>
            </a:r>
            <a:r>
              <a:rPr lang="zh-CN" altLang="zh-CN" sz="2400" dirty="0"/>
              <a:t>函数上都表现出了很好的收敛性能，</a:t>
            </a:r>
            <a:r>
              <a:rPr lang="en-US" altLang="zh-CN" sz="2400" dirty="0"/>
              <a:t>IGD</a:t>
            </a:r>
            <a:r>
              <a:rPr lang="zh-CN" altLang="zh-CN" sz="2400" dirty="0"/>
              <a:t>值均为</a:t>
            </a:r>
            <a:r>
              <a:rPr lang="en-US" altLang="zh-CN" sz="2400" dirty="0"/>
              <a:t>0.0</a:t>
            </a:r>
            <a:r>
              <a:rPr lang="zh-CN" altLang="zh-CN" sz="2400" dirty="0"/>
              <a:t>，表明它们都能够找到接近真实</a:t>
            </a:r>
            <a:r>
              <a:rPr lang="en-US" altLang="zh-CN" sz="2400" dirty="0"/>
              <a:t>Pareto</a:t>
            </a:r>
            <a:r>
              <a:rPr lang="zh-CN" altLang="zh-CN" sz="2400" dirty="0"/>
              <a:t>前沿的解。</a:t>
            </a:r>
          </a:p>
          <a:p>
            <a:pPr lvl="0"/>
            <a:r>
              <a:rPr lang="zh-CN" altLang="zh-CN" sz="2400" b="1" dirty="0"/>
              <a:t>变种优势</a:t>
            </a:r>
            <a:r>
              <a:rPr lang="zh-CN" altLang="zh-CN" sz="2400" dirty="0"/>
              <a:t>：虽然在</a:t>
            </a:r>
            <a:r>
              <a:rPr lang="en-US" altLang="zh-CN" sz="2400" dirty="0"/>
              <a:t>DTLZ1</a:t>
            </a:r>
            <a:r>
              <a:rPr lang="zh-CN" altLang="zh-CN" sz="2400" dirty="0"/>
              <a:t>函数上所有算法的</a:t>
            </a:r>
            <a:r>
              <a:rPr lang="en-US" altLang="zh-CN" sz="2400" dirty="0"/>
              <a:t>IGD</a:t>
            </a:r>
            <a:r>
              <a:rPr lang="zh-CN" altLang="zh-CN" sz="2400" dirty="0"/>
              <a:t>值相同，但从收敛曲线可以看出，</a:t>
            </a:r>
            <a:r>
              <a:rPr lang="en-US" altLang="zh-CN" sz="2400" dirty="0"/>
              <a:t>LEO+</a:t>
            </a:r>
            <a:r>
              <a:rPr lang="zh-CN" altLang="zh-CN" sz="2400" dirty="0"/>
              <a:t>上下文向量</a:t>
            </a:r>
            <a:r>
              <a:rPr lang="en-US" altLang="zh-CN" sz="2400" dirty="0"/>
              <a:t>+</a:t>
            </a:r>
            <a:r>
              <a:rPr lang="zh-CN" altLang="zh-CN" sz="2400" dirty="0"/>
              <a:t>局部邻居变种在高维的收敛速度更快，能够更早地接近最优解。</a:t>
            </a:r>
          </a:p>
          <a:p>
            <a:endParaRPr lang="zh-CN" altLang="en-US" sz="2400" dirty="0"/>
          </a:p>
        </p:txBody>
      </p:sp>
      <p:pic>
        <p:nvPicPr>
          <p:cNvPr id="5" name="Picture" descr="DTLZ1_20目标收敛曲线">
            <a:extLst>
              <a:ext uri="{FF2B5EF4-FFF2-40B4-BE49-F238E27FC236}">
                <a16:creationId xmlns:a16="http://schemas.microsoft.com/office/drawing/2014/main" id="{33805DBB-5732-27C5-492F-4583DE14A8E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26365" y="1785676"/>
            <a:ext cx="6706235" cy="405632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+mj-ea"/>
                <a:ea typeface="+mj-ea"/>
                <a:cs typeface="Source Han Sans CN Bold"/>
              </a:rPr>
              <a:t>5</a:t>
            </a:r>
            <a:r>
              <a:rPr lang="en-US" altLang="zh-CN" sz="2800" b="1" dirty="0">
                <a:latin typeface="+mj-ea"/>
                <a:ea typeface="+mj-ea"/>
                <a:cs typeface="阿里妈妈数黑体" pitchFamily="34" charset="-120"/>
              </a:rPr>
              <a:t>结论与未来工作</a:t>
            </a:r>
            <a:endParaRPr lang="en-US" altLang="zh-CN" sz="1400" b="1" dirty="0">
              <a:latin typeface="+mj-ea"/>
              <a:ea typeface="+mj-ea"/>
            </a:endParaRPr>
          </a:p>
        </p:txBody>
      </p:sp>
      <p:pic>
        <p:nvPicPr>
          <p:cNvPr id="2097167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1048706" name="文本框 13"/>
          <p:cNvSpPr txBox="1"/>
          <p:nvPr/>
        </p:nvSpPr>
        <p:spPr>
          <a:xfrm>
            <a:off x="4978859" y="4069724"/>
            <a:ext cx="1962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A93F47-1238-71EE-7C41-C4C0455E347F}"/>
              </a:ext>
            </a:extLst>
          </p:cNvPr>
          <p:cNvSpPr txBox="1"/>
          <p:nvPr/>
        </p:nvSpPr>
        <p:spPr>
          <a:xfrm>
            <a:off x="783520" y="1502833"/>
            <a:ext cx="97374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实验结果表明：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LEO‍ </a:t>
            </a: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及其变种在收敛速度、求解精度和稳定性方面均优于传统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PSO</a:t>
            </a: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pPr marL="342900" indent="-342900">
              <a:buAutoNum type="arabicPeriod"/>
            </a:pP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上下文向量和局部邻居信息都能提高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LEO‍</a:t>
            </a: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的性能，两者结合的效果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在高维时</a:t>
            </a: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最好；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AutoNum type="arabicPeriod"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LEO‍</a:t>
            </a: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及其变种在高维问题上具有更好的性能，对维度的敏感性较低。</a:t>
            </a:r>
          </a:p>
          <a:p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153A09-B413-9917-517D-FA3B760565B3}"/>
              </a:ext>
            </a:extLst>
          </p:cNvPr>
          <p:cNvSpPr txBox="1"/>
          <p:nvPr/>
        </p:nvSpPr>
        <p:spPr>
          <a:xfrm>
            <a:off x="783520" y="3594120"/>
            <a:ext cx="9558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未来工作</a:t>
            </a:r>
            <a:r>
              <a:rPr lang="en-US" altLang="zh-CN" sz="2400" b="1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  <a:endParaRPr lang="zh-CN" altLang="zh-CN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0"/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探索更有效的经验学习机制，如反向经验等；</a:t>
            </a:r>
          </a:p>
          <a:p>
            <a:pPr lvl="0"/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开发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LEO‍ </a:t>
            </a: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的并行版本，提高算法的计算效率；</a:t>
            </a:r>
          </a:p>
          <a:p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将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LEO‍ </a:t>
            </a:r>
            <a:r>
              <a:rPr lang="zh-CN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应用于实际工程问题，如参数优化、路径规划等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矩形 2"/>
          <p:cNvSpPr/>
          <p:nvPr/>
        </p:nvSpPr>
        <p:spPr>
          <a:xfrm>
            <a:off x="596900" y="549275"/>
            <a:ext cx="10909300" cy="5643880"/>
          </a:xfrm>
          <a:prstGeom prst="rect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80" name="矩形 4"/>
          <p:cNvSpPr/>
          <p:nvPr/>
        </p:nvSpPr>
        <p:spPr>
          <a:xfrm>
            <a:off x="2153285" y="2705100"/>
            <a:ext cx="905700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敬请各位老师批评指正</a:t>
            </a:r>
            <a:r>
              <a:rPr lang="en-US" altLang="zh-CN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</a:p>
        </p:txBody>
      </p:sp>
      <p:sp>
        <p:nvSpPr>
          <p:cNvPr id="1048781" name="矩形 5"/>
          <p:cNvSpPr/>
          <p:nvPr/>
        </p:nvSpPr>
        <p:spPr>
          <a:xfrm>
            <a:off x="3123871" y="2258042"/>
            <a:ext cx="271781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7177" name="图片 52" descr="校徽紫色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255" y="549275"/>
            <a:ext cx="3704590" cy="2393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479,331241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3.45,&quot;left&quot;:109.4,&quot;top&quot;:140.6,&quot;width&quot;:690.2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4.57173228346454,&quot;left&quot;:43.37503937007874,&quot;top&quot;:104.42826771653543,&quot;width&quot;:879.724960629921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0_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1_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838</Words>
  <Application>Microsoft Office PowerPoint</Application>
  <PresentationFormat>宽屏</PresentationFormat>
  <Paragraphs>125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MiSans</vt:lpstr>
      <vt:lpstr>等线</vt:lpstr>
      <vt:lpstr>Arial</vt:lpstr>
      <vt:lpstr>Impact</vt:lpstr>
      <vt:lpstr>Office 主题​​</vt:lpstr>
      <vt:lpstr>9_Office 主题​​</vt:lpstr>
      <vt:lpstr>10_Office 主题​​</vt:lpstr>
      <vt:lpstr>11_Office 主题​​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振毫 刘</cp:lastModifiedBy>
  <cp:revision>37</cp:revision>
  <dcterms:created xsi:type="dcterms:W3CDTF">2025-04-19T01:49:00Z</dcterms:created>
  <dcterms:modified xsi:type="dcterms:W3CDTF">2025-12-24T09:55:39Z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KSOTemplateUUID">
    <vt:lpwstr>v1.0_mb_znHGC65DvJoUAL1zlx+X1w==</vt:lpwstr>
  </property>
  <property fmtid="{D5CDD505-2E9C-101B-9397-08002B2CF9AE}" pid="4" name="ICV">
    <vt:lpwstr>73D6946E5FE14DDAB07C309D4EA5DD93_13</vt:lpwstr>
  </property>
</Properties>
</file>