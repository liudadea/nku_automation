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14" y="2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85687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  <p:sldLayoutId id="215748370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机器人导论实验报告</a:t>
            </a:r>
            <a:endParaRPr lang="en-US" sz="54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基于MoveIt2 </a:t>
            </a:r>
            <a:r>
              <a:rPr lang="en-US" sz="2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Jazzy的Panda机械臂点位与轨迹控制系统</a:t>
            </a:r>
            <a:endParaRPr lang="en-US" sz="2800" dirty="0"/>
          </a:p>
        </p:txBody>
      </p:sp>
      <p:sp>
        <p:nvSpPr>
          <p:cNvPr id="5" name="AutoShape 5"/>
          <p:cNvSpPr/>
          <p:nvPr/>
        </p:nvSpPr>
        <p:spPr>
          <a:xfrm>
            <a:off x="1016000" y="4970483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课程名称：机器人导论实验</a:t>
            </a:r>
            <a:r>
              <a:rPr lang="en-US" sz="2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| </a:t>
            </a:r>
            <a:r>
              <a:rPr lang="en-US" sz="2400" b="0" i="0" u="none" strike="noStrike" dirty="0" err="1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姓名：刘振毫</a:t>
            </a:r>
            <a:r>
              <a:rPr lang="en-US" sz="2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| 学号：2312167 | 日期：2026.5.31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016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16000" y="2356624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 绪论</a:t>
            </a:r>
            <a:endParaRPr lang="en-US" sz="3200"/>
          </a:p>
        </p:txBody>
      </p:sp>
      <p:sp>
        <p:nvSpPr>
          <p:cNvPr id="4" name="AutoShape 4"/>
          <p:cNvSpPr/>
          <p:nvPr/>
        </p:nvSpPr>
        <p:spPr>
          <a:xfrm>
            <a:off x="6095999" y="2356624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 系统环境与配置</a:t>
            </a:r>
            <a:endParaRPr lang="en-US" sz="3200"/>
          </a:p>
        </p:txBody>
      </p:sp>
      <p:sp>
        <p:nvSpPr>
          <p:cNvPr id="5" name="AutoShape 5"/>
          <p:cNvSpPr/>
          <p:nvPr/>
        </p:nvSpPr>
        <p:spPr>
          <a:xfrm>
            <a:off x="1016000" y="3626624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 系统设计与实现</a:t>
            </a:r>
            <a:endParaRPr lang="en-US" sz="3200"/>
          </a:p>
        </p:txBody>
      </p:sp>
      <p:sp>
        <p:nvSpPr>
          <p:cNvPr id="6" name="AutoShape 6"/>
          <p:cNvSpPr/>
          <p:nvPr/>
        </p:nvSpPr>
        <p:spPr>
          <a:xfrm>
            <a:off x="6095999" y="3626624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4. 兼容性问题与解决方案</a:t>
            </a:r>
            <a:endParaRPr lang="en-US" sz="3200"/>
          </a:p>
        </p:txBody>
      </p:sp>
      <p:sp>
        <p:nvSpPr>
          <p:cNvPr id="7" name="AutoShape 7"/>
          <p:cNvSpPr/>
          <p:nvPr/>
        </p:nvSpPr>
        <p:spPr>
          <a:xfrm>
            <a:off x="1016000" y="4896624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5. 运动模式实现</a:t>
            </a:r>
            <a:endParaRPr lang="en-US" sz="3200"/>
          </a:p>
        </p:txBody>
      </p:sp>
      <p:sp>
        <p:nvSpPr>
          <p:cNvPr id="8" name="AutoShape 8"/>
          <p:cNvSpPr/>
          <p:nvPr/>
        </p:nvSpPr>
        <p:spPr>
          <a:xfrm>
            <a:off x="6095999" y="4896624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6. 总结与展望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 绪论：研究背景与动机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46868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机器人技术核心价值</a:t>
            </a:r>
            <a:endParaRPr lang="en-US" sz="240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现代制造业与智能装备的核心。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6096000" y="2046868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机械臂执行中枢地位</a:t>
            </a:r>
            <a:endParaRPr lang="en-US" sz="240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运动控制精度决定系统可靠性。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3697868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ROS与MoveIt生态活力</a:t>
            </a:r>
            <a:endParaRPr lang="en-US" sz="2400" dirty="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机器人软件的主流平台与核心框架</a:t>
            </a:r>
            <a:endParaRPr lang="en-US" sz="2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0" y="3697868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版本迭代技术断层</a:t>
            </a:r>
            <a:endParaRPr lang="en-US" sz="240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ROS 2 Jazzy对moveit_py的重构带来挑战。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绪论：研究对象与目标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200722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研究对象</a:t>
            </a:r>
            <a:endParaRPr lang="en-US" sz="2400"/>
          </a:p>
        </p:txBody>
      </p:sp>
      <p:sp>
        <p:nvSpPr>
          <p:cNvPr id="4" name="AutoShape 4"/>
          <p:cNvSpPr/>
          <p:nvPr/>
        </p:nvSpPr>
        <p:spPr>
          <a:xfrm>
            <a:off x="762000" y="2769220"/>
            <a:ext cx="4278351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Franka Emika Panda机械臂，一款广泛用于科研的7自由度协作机械臂。</a:t>
            </a:r>
            <a:endParaRPr lang="en-US" sz="2400" dirty="0"/>
          </a:p>
        </p:txBody>
      </p:sp>
      <p:sp>
        <p:nvSpPr>
          <p:cNvPr id="5" name="AutoShape 5"/>
          <p:cNvSpPr/>
          <p:nvPr/>
        </p:nvSpPr>
        <p:spPr>
          <a:xfrm>
            <a:off x="6350000" y="200722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研究目标</a:t>
            </a:r>
            <a:endParaRPr lang="en-US" sz="2400" dirty="0"/>
          </a:p>
        </p:txBody>
      </p:sp>
      <p:sp>
        <p:nvSpPr>
          <p:cNvPr id="6" name="AutoShape 6"/>
          <p:cNvSpPr/>
          <p:nvPr/>
        </p:nvSpPr>
        <p:spPr>
          <a:xfrm>
            <a:off x="6350000" y="2769220"/>
            <a:ext cx="4278351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基于ROS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2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Jazzy与MoveIt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2.12，设计并实现点位与轨迹控制系统，解决moveit_py新API的兼容性问题。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524000"/>
            <a:ext cx="10668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环境搭建：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搭建基于ROS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2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Jazzy的Panda机械臂仿真环境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400" dirty="0"/>
          </a:p>
          <a:p>
            <a:pPr marL="0" indent="0" algn="l">
              <a:lnSpc>
                <a:spcPct val="150000"/>
              </a:lnSpc>
            </a:pP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控制器设计：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基于moveit_py设计并实现机械臂控制器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50000"/>
              </a:lnSpc>
            </a:pP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3. 问题解决：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分析并解决MoveIt2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Jazzy版本下七项关键兼容性问题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50000"/>
              </a:lnSpc>
            </a:pP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实验验证：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通过仿真实验验证系统功能与稳定性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A354112-239A-77CA-497C-52C2A7A5FDA8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绪论</a:t>
            </a:r>
            <a:r>
              <a:rPr lang="en-US" sz="3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3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工作内容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016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631210"/>
              </p:ext>
            </p:extLst>
          </p:nvPr>
        </p:nvGraphicFramePr>
        <p:xfrm>
          <a:off x="2286000" y="2794000"/>
          <a:ext cx="762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操作系统</a:t>
                      </a:r>
                      <a:endParaRPr lang="en-US" sz="24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Ubuntu 24.04 LTS</a:t>
                      </a:r>
                      <a:endParaRPr lang="en-US" sz="24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ROS 2</a:t>
                      </a:r>
                      <a:endParaRPr lang="en-US" sz="24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Jazzy Jalisco</a:t>
                      </a:r>
                      <a:endParaRPr lang="en-US" sz="24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MoveIt</a:t>
                      </a:r>
                      <a:endParaRPr lang="en-US" sz="24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2.12</a:t>
                      </a:r>
                      <a:endParaRPr lang="en-US" sz="24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AutoShape 2">
            <a:extLst>
              <a:ext uri="{FF2B5EF4-FFF2-40B4-BE49-F238E27FC236}">
                <a16:creationId xmlns:a16="http://schemas.microsoft.com/office/drawing/2014/main" id="{06E374C7-0850-8DCA-6A8A-F22A52203BF0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600" b="1" dirty="0"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altLang="zh-CN" sz="3600" b="1" dirty="0" err="1">
                <a:latin typeface="Noto Sans SC"/>
                <a:ea typeface="Noto Sans SC"/>
                <a:cs typeface="Noto Sans SC"/>
                <a:sym typeface="Noto Sans SC"/>
              </a:rPr>
              <a:t>系统环境与配置：软件环境要求</a:t>
            </a:r>
            <a:endParaRPr lang="en-US" altLang="zh-CN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70000" y="17780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8890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-jazzy-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rclpy</a:t>
            </a:r>
            <a:endParaRPr lang="en-US" sz="2400" dirty="0"/>
          </a:p>
          <a:p>
            <a:pPr marL="0" indent="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-jazzy-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moveit</a:t>
            </a:r>
            <a:endParaRPr lang="en-US" sz="2400" b="0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-jazzy-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moveit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</a:t>
            </a:r>
            <a:endParaRPr lang="en-US" sz="2400" b="0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ros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-jazzy-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moveit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-configs-utils</a:t>
            </a:r>
          </a:p>
          <a:p>
            <a:pPr marL="0" indent="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ros-jazzy-rviz2</a:t>
            </a:r>
          </a:p>
          <a:p>
            <a:pPr marL="0" indent="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• ros-jazzy-ros2-control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92C5D4A-5603-B9DE-9F97-2B44FDEF2258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600" b="1" dirty="0"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altLang="zh-CN" sz="3600" b="1" dirty="0" err="1">
                <a:latin typeface="Noto Sans SC"/>
                <a:ea typeface="Noto Sans SC"/>
                <a:cs typeface="Noto Sans SC"/>
                <a:sym typeface="Noto Sans SC"/>
              </a:rPr>
              <a:t>系统环境与配置：核心依赖包</a:t>
            </a:r>
            <a:endParaRPr lang="en-US" altLang="zh-CN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</a:t>
            </a:r>
            <a:endParaRPr lang="en-US" sz="2400" dirty="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采用标准ROS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2工作空间结构，使用colcon编译。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778000"/>
            <a:ext cx="508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开发效率</a:t>
            </a:r>
            <a:endParaRPr lang="en-US" sz="240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使用--symlink-install参数，Python脚本修改后无需重新编译。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508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环境变量</a:t>
            </a:r>
            <a:endParaRPr lang="en-US" sz="240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在~/.bashrc中添加source路径，并设置RMW实现为FastRTPS。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3556000"/>
            <a:ext cx="508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软件渲染</a:t>
            </a:r>
            <a:endParaRPr lang="en-US" sz="2400" dirty="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NVIDIA GPU</a:t>
            </a:r>
            <a:r>
              <a:rPr lang="zh-CN" alt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驱动报错设置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LIBGL_ALWAYS_SOFTWARE=1。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1E9EBF5-0C23-9C45-D826-E2775B3590EB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600" b="1" dirty="0"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altLang="zh-CN" sz="3600" b="1" dirty="0" err="1">
                <a:latin typeface="Noto Sans SC"/>
                <a:ea typeface="Noto Sans SC"/>
                <a:cs typeface="Noto Sans SC"/>
                <a:sym typeface="Noto Sans SC"/>
              </a:rPr>
              <a:t>系统环境与配置：工作空间构建</a:t>
            </a:r>
            <a:endParaRPr lang="en-US" altLang="zh-CN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9652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PandaController</a:t>
            </a: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</a:p>
          <a:p>
            <a:pPr marL="0" indent="0" algn="l">
              <a:lnSpc>
                <a:spcPct val="133333"/>
              </a:lnSpc>
              <a:defRPr/>
            </a:pP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MoveItPy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实例创建与配置</a:t>
            </a:r>
            <a:endParaRPr lang="en-US" sz="2400" b="0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PlanningComponent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endParaRPr lang="en-US" sz="2400" b="0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AllowedCollisionMatrix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设置</a:t>
            </a:r>
            <a:endParaRPr lang="en-US" sz="2400" b="0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轨迹可视化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DisplayTrajectory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+ Marker)</a:t>
            </a: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go_to_pose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()</a:t>
            </a: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go_through_poses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()</a:t>
            </a: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follow_cartesian_path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()</a:t>
            </a: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demo_six_points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()</a:t>
            </a: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├──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demo_eight_shape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()</a:t>
            </a:r>
          </a:p>
          <a:p>
            <a:pPr marL="0" indent="508000" algn="l">
              <a:lnSpc>
                <a:spcPct val="133333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└──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demo_ellipse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()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A59D0B7-3FDE-66D2-AC9C-1E3AF9A4246B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600" b="1" dirty="0"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altLang="zh-CN" sz="3600" b="1" dirty="0" err="1">
                <a:latin typeface="Noto Sans SC"/>
                <a:ea typeface="Noto Sans SC"/>
                <a:cs typeface="Noto Sans SC"/>
                <a:sym typeface="Noto Sans SC"/>
              </a:rPr>
              <a:t>系统设计与实现：控制器总体架构</a:t>
            </a:r>
            <a:endParaRPr lang="en-US" altLang="zh-CN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889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单点位姿控制</a:t>
            </a: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go_to_pose</a:t>
            </a: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2400" dirty="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创建PoseStamped目标，调用OMPL规划并执行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4445000" y="2032000"/>
            <a:ext cx="3302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多路径点顺序运动</a:t>
            </a: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go_through_poses</a:t>
            </a: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2400" dirty="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依次对每个路径点调用规划，每次规划前更新起点为当前状态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8128000" y="2032000"/>
            <a:ext cx="3302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近似笛卡尔路径跟随</a:t>
            </a: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follow_cartesian_path</a:t>
            </a:r>
            <a:r>
              <a:rPr lang="en-US" sz="24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2400" dirty="0"/>
          </a:p>
          <a:p>
            <a:pPr marL="0" indent="0" algn="l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采用路径下采样+逐点OMPL规划的替代方案</a:t>
            </a:r>
            <a:r>
              <a:rPr lang="en-US" sz="2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7175F9B-76C5-FDC7-9A5C-48FA57920541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600" b="1" dirty="0"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altLang="zh-CN" sz="3600" b="1" dirty="0" err="1">
                <a:latin typeface="Noto Sans SC"/>
                <a:ea typeface="Noto Sans SC"/>
                <a:cs typeface="Noto Sans SC"/>
                <a:sym typeface="Noto Sans SC"/>
              </a:rPr>
              <a:t>系统设计与实现：核心运动控制函数</a:t>
            </a:r>
            <a:endParaRPr lang="en-US" altLang="zh-CN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 MoveIt2 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Jazzy兼容性问题与解决方案</a:t>
            </a:r>
            <a:endParaRPr lang="en-US" sz="11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694480"/>
              </p:ext>
            </p:extLst>
          </p:nvPr>
        </p:nvGraphicFramePr>
        <p:xfrm>
          <a:off x="762000" y="1650380"/>
          <a:ext cx="9652000" cy="481698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8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问题</a:t>
                      </a:r>
                      <a:endParaRPr lang="en-US" sz="24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解决方案</a:t>
                      </a:r>
                      <a:endParaRPr lang="en-US" sz="2400"/>
                    </a:p>
                  </a:txBody>
                  <a:tcPr marL="2540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set_pose_target() 移除</a:t>
                      </a:r>
                      <a:endParaRPr lang="en-US" sz="2400"/>
                    </a:p>
                  </a:txBody>
                  <a:tcPr marL="254000" marR="101600" marT="127000" marB="1270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改用set_goal_state()配合PoseStamped</a:t>
                      </a:r>
                      <a:endParaRPr lang="en-US" sz="2400"/>
                    </a:p>
                  </a:txBody>
                  <a:tcPr marL="254000" marR="101600" marT="127000" marB="1270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compute_cartesian_path() 缺失</a:t>
                      </a:r>
                      <a:endParaRPr lang="en-US" sz="2400"/>
                    </a:p>
                  </a:txBody>
                  <a:tcPr marL="254000" marR="101600" marT="127000" marB="127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逐点OMPL规划 + 路径下采样</a:t>
                      </a:r>
                      <a:endParaRPr lang="en-US" sz="2400"/>
                    </a:p>
                  </a:txBody>
                  <a:tcPr marL="254000" marR="101600" marT="127000" marB="127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planning_pipelines 格式错误</a:t>
                      </a:r>
                      <a:endParaRPr lang="en-US" sz="2400"/>
                    </a:p>
                  </a:txBody>
                  <a:tcPr marL="254000" marR="101600" marT="127000" marB="127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重构为嵌套字典格式</a:t>
                      </a:r>
                      <a:endParaRPr lang="en-US" sz="2400"/>
                    </a:p>
                  </a:txBody>
                  <a:tcPr marL="254000" marR="101600" marT="127000" marB="127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plan_request_params 缺失</a:t>
                      </a:r>
                      <a:endParaRPr lang="en-US" sz="2400"/>
                    </a:p>
                  </a:txBody>
                  <a:tcPr marL="254000" marR="101600" marT="127000" marB="127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添加全局规划请求参数</a:t>
                      </a:r>
                      <a:endParaRPr lang="en-US" sz="2400" dirty="0"/>
                    </a:p>
                  </a:txBody>
                  <a:tcPr marL="254000" marR="101600" marT="127000" marB="127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479979"/>
              </p:ext>
            </p:extLst>
          </p:nvPr>
        </p:nvGraphicFramePr>
        <p:xfrm>
          <a:off x="762000" y="1524000"/>
          <a:ext cx="9144000" cy="457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问题</a:t>
                      </a:r>
                      <a:endParaRPr lang="en-US" sz="24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解决方案</a:t>
                      </a:r>
                      <a:endParaRPr lang="en-US" sz="24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Panda初始位置自碰撞</a:t>
                      </a:r>
                      <a:endParaRPr lang="en-US" sz="2400"/>
                    </a:p>
                  </a:txBody>
                  <a:tcPr marL="254000" marR="2540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ACM豁免 + 移除碰撞检查适配器</a:t>
                      </a:r>
                      <a:endParaRPr lang="en-US" sz="2400"/>
                    </a:p>
                  </a:txBody>
                  <a:tcPr marL="254000" marR="2540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execute() 签名变化</a:t>
                      </a:r>
                      <a:endParaRPr lang="en-US" sz="2400"/>
                    </a:p>
                  </a:txBody>
                  <a:tcPr marL="254000" marR="2540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传递controllers参数为空列表</a:t>
                      </a:r>
                      <a:endParaRPr lang="en-US" sz="2400"/>
                    </a:p>
                  </a:txBody>
                  <a:tcPr marL="254000" marR="2540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轨迹可视化重复</a:t>
                      </a:r>
                      <a:endParaRPr lang="en-US" sz="2400"/>
                    </a:p>
                  </a:txBody>
                  <a:tcPr marL="254000" marR="2540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333"/>
                        </a:lnSpc>
                        <a:defRPr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移除DisplayMotionPath适配器</a:t>
                      </a:r>
                      <a:endParaRPr lang="en-US" sz="2400" dirty="0"/>
                    </a:p>
                  </a:txBody>
                  <a:tcPr marL="254000" marR="2540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AutoShape 2">
            <a:extLst>
              <a:ext uri="{FF2B5EF4-FFF2-40B4-BE49-F238E27FC236}">
                <a16:creationId xmlns:a16="http://schemas.microsoft.com/office/drawing/2014/main" id="{806731FB-E33D-3883-4AD8-B272A150BA3A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 MoveIt2 </a:t>
            </a:r>
            <a:r>
              <a:rPr lang="en-US" sz="36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Jazzy兼容性问题与解决方案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05 运动模式实现：六点位折线运动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17034" y="2032000"/>
            <a:ext cx="3810000" cy="19043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wrap="square" lIns="254000" tIns="190500" rIns="254000" bIns="190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逻辑</a:t>
            </a:r>
            <a:endParaRPr lang="en-US" sz="2400" dirty="0"/>
          </a:p>
          <a:p>
            <a:pPr marL="0"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预定义6个空间目标点位，机械臂依次到达各点形成折线路径。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617034" y="3936380"/>
            <a:ext cx="3810000" cy="190438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wrap="square" lIns="254000" tIns="190500" rIns="254000" bIns="190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用途</a:t>
            </a:r>
            <a:endParaRPr lang="en-US" sz="2400" dirty="0"/>
          </a:p>
          <a:p>
            <a:pPr marL="0" indent="0" algn="ctr">
              <a:lnSpc>
                <a:spcPct val="116666"/>
              </a:lnSpc>
              <a:spcBef>
                <a:spcPts val="800"/>
              </a:spcBef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验证单点位姿控制与多路径点顺序执行的基本功能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09768"/>
              </p:ext>
            </p:extLst>
          </p:nvPr>
        </p:nvGraphicFramePr>
        <p:xfrm>
          <a:off x="5080000" y="2032000"/>
          <a:ext cx="5080000" cy="349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11182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目标点位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11182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 (m)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11182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Y (m)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11182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Z (m)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 1</a:t>
                      </a:r>
                      <a:endParaRPr lang="en-US" sz="24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 2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 3</a:t>
                      </a:r>
                      <a:endParaRPr lang="en-US" sz="24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0.7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 4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0.7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 5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-0.1</a:t>
                      </a:r>
                      <a:endParaRPr lang="en-US" sz="24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0.7</a:t>
                      </a:r>
                      <a:endParaRPr lang="en-US" sz="24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52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8字形轨迹运动</a:t>
            </a:r>
            <a:endParaRPr lang="en-US" sz="2400" dirty="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基于利萨如曲线参数方程生成轨迹。中心</a:t>
            </a:r>
            <a:r>
              <a:rPr lang="en-US" sz="24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(0.4, 0.0, 0.6)，半径0.08m。</a:t>
            </a:r>
            <a:endParaRPr lang="en-US" sz="2400" dirty="0"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椭圆轨迹运动</a:t>
            </a:r>
            <a:endParaRPr lang="en-US" sz="2400" dirty="0"/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基于标准椭圆参数方程生成轨迹。中心(0.4, 0.0, 0.6)，长半轴0.1m，短半轴0.05m。</a:t>
            </a:r>
            <a:endParaRPr lang="en-US" sz="240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004B09B-E8A8-5C06-C399-2F0D0D8622A8}"/>
              </a:ext>
            </a:extLst>
          </p:cNvPr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600" b="1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05 </a:t>
            </a:r>
            <a:r>
              <a:rPr lang="en-US" altLang="zh-CN" sz="3600" b="1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运动模式实现：连续轨迹运动</a:t>
            </a:r>
            <a:endParaRPr lang="en-US" altLang="zh-CN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82698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核心技术突破与落地</a:t>
            </a:r>
            <a:endParaRPr lang="en-US" sz="2400" dirty="0"/>
          </a:p>
        </p:txBody>
      </p:sp>
      <p:sp>
        <p:nvSpPr>
          <p:cNvPr id="4" name="AutoShape 4"/>
          <p:cNvSpPr/>
          <p:nvPr/>
        </p:nvSpPr>
        <p:spPr>
          <a:xfrm>
            <a:off x="762000" y="2165195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成功搭建基于 ROS 2 Jazzy 与 MoveIt 2.12 的 Panda 机械臂控制系统，攻克 `moveit_py` 新 API 7 项兼容性难题；稳定支持点位控制、8字形及椭圆轨迹运动模式，实现实时轨迹可视化，沉淀可复用技术底座。</a:t>
            </a:r>
            <a:endParaRPr lang="en-US" sz="2400"/>
          </a:p>
        </p:txBody>
      </p:sp>
      <p:sp>
        <p:nvSpPr>
          <p:cNvPr id="5" name="AutoShape 5"/>
          <p:cNvSpPr/>
          <p:nvPr/>
        </p:nvSpPr>
        <p:spPr>
          <a:xfrm>
            <a:off x="762000" y="3435195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行业技术参考价值</a:t>
            </a:r>
            <a:endParaRPr lang="en-US" sz="2400"/>
          </a:p>
        </p:txBody>
      </p:sp>
      <p:sp>
        <p:nvSpPr>
          <p:cNvPr id="6" name="AutoShape 6"/>
          <p:cNvSpPr/>
          <p:nvPr/>
        </p:nvSpPr>
        <p:spPr>
          <a:xfrm>
            <a:off x="762000" y="3943195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沉淀从环境配置、接口适配到算法实现的完整工程化方案，填补 MoveIt 2 最新版本中文社区资料空白，为国内开发者提供重要实操指引与避坑指南。</a:t>
            </a:r>
            <a:endParaRPr lang="en-US" sz="2400"/>
          </a:p>
        </p:txBody>
      </p:sp>
      <p:sp>
        <p:nvSpPr>
          <p:cNvPr id="7" name="AutoShape 7"/>
          <p:cNvSpPr/>
          <p:nvPr/>
        </p:nvSpPr>
        <p:spPr>
          <a:xfrm>
            <a:off x="762000" y="5330592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局限与下一步计划：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OMPL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算法规划效率待优化，轨迹精度存在微小偏差；后续将探索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`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moveit_py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`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新接口，引入力控与视觉模块，部署至真实硬件完成闭环验证</a:t>
            </a: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矩形 2"/>
          <p:cNvSpPr/>
          <p:nvPr/>
        </p:nvSpPr>
        <p:spPr>
          <a:xfrm>
            <a:off x="596900" y="549275"/>
            <a:ext cx="10909300" cy="5643880"/>
          </a:xfrm>
          <a:prstGeom prst="rect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80" name="矩形 4"/>
          <p:cNvSpPr/>
          <p:nvPr/>
        </p:nvSpPr>
        <p:spPr>
          <a:xfrm>
            <a:off x="2153285" y="2705100"/>
            <a:ext cx="905700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敬请老师批评指正</a:t>
            </a:r>
            <a:r>
              <a:rPr lang="en-US" altLang="zh-CN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</a:t>
            </a:r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</a:t>
            </a:r>
          </a:p>
        </p:txBody>
      </p:sp>
      <p:sp>
        <p:nvSpPr>
          <p:cNvPr id="1048781" name="矩形 5"/>
          <p:cNvSpPr/>
          <p:nvPr/>
        </p:nvSpPr>
        <p:spPr>
          <a:xfrm>
            <a:off x="3123871" y="2258042"/>
            <a:ext cx="271781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7177" name="图片 52" descr="校徽紫色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255" y="549275"/>
            <a:ext cx="3704590" cy="2393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588</Words>
  <Application>Microsoft Office PowerPoint</Application>
  <PresentationFormat>宽屏</PresentationFormat>
  <Paragraphs>164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振毫 刘</cp:lastModifiedBy>
  <cp:revision>2</cp:revision>
  <dcterms:modified xsi:type="dcterms:W3CDTF">2026-06-01T05:36:12Z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{"Label":"1","ContentProducer":"001191110102MACQD9K64010000","ProduceID":"7646293708153752769","ReservedCode1":"","ContentPropagator":"","PropagateID":"","ReservedCode2":""}</vt:lpwstr>
  </property>
</Properties>
</file>